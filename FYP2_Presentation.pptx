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293" r:id="rId37"/>
    <p:sldId id="294" r:id="rId38"/>
    <p:sldId id="295" r:id="rId39"/>
  </p:sldIdLst>
  <p:sldSz cx="12192000" cy="6858000"/>
  <p:notesSz cx="6858000" cy="9144000"/>
  <p:custShowLst>
    <p:custShow name="Panel overview - approximately 6 minutes" id="0">
      <p:sldLst>
        <p:sld r:id="rId2"/>
        <p:sld r:id="rId3"/>
        <p:sld r:id="rId4"/>
        <p:sld r:id="rId5"/>
        <p:sld r:id="rId6"/>
        <p:sld r:id="rId10"/>
        <p:sld r:id="rId17"/>
        <p:sld r:id="rId21"/>
        <p:sld r:id="rId23"/>
        <p:sld r:id="rId25"/>
        <p:sld r:id="rId27"/>
        <p:sld r:id="rId29"/>
        <p:sld r:id="rId31"/>
        <p:sld r:id="rId33"/>
        <p:sld r:id="rId36"/>
        <p:sld r:id="rId39"/>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71" autoAdjust="0"/>
  </p:normalViewPr>
  <p:slideViewPr>
    <p:cSldViewPr snapToGrid="0">
      <p:cViewPr varScale="1">
        <p:scale>
          <a:sx n="64" d="100"/>
          <a:sy n="64" d="100"/>
        </p:scale>
        <p:origin x="95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Review priority</c:v>
          </c:tx>
          <c:spPr>
            <a:solidFill>
              <a:srgbClr val="087F8C"/>
            </a:solidFill>
          </c:spPr>
          <c:invertIfNegative val="1"/>
          <c:dLbls>
            <c:spPr>
              <a:noFill/>
              <a:ln>
                <a:noFill/>
              </a:ln>
              <a:effectLst/>
            </c:spPr>
            <c:txPr>
              <a:bodyPr anchorCtr="1"/>
              <a:lstStyle/>
              <a:p>
                <a:pPr>
                  <a:defRPr sz="2250" b="1">
                    <a:solidFill>
                      <a:srgbClr val="172F3A"/>
                    </a:solidFill>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Two fresh events</c:v>
                </c:pt>
                <c:pt idx="1">
                  <c:v>Phone dismissed</c:v>
                </c:pt>
                <c:pt idx="2">
                  <c:v>30 minutes later</c:v>
                </c:pt>
              </c:strCache>
            </c:strRef>
          </c:cat>
          <c:val>
            <c:numRef>
              <c:f>'Chart Data'!$B$2:$B$4</c:f>
              <c:numCache>
                <c:formatCode>0</c:formatCode>
                <c:ptCount val="3"/>
                <c:pt idx="0">
                  <c:v>56</c:v>
                </c:pt>
                <c:pt idx="1">
                  <c:v>32</c:v>
                </c:pt>
                <c:pt idx="2">
                  <c:v>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223-4829-B21A-5690BBCCCFB9}"/>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800">
                <a:solidFill>
                  <a:srgbClr val="172F3A"/>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100"/>
          <c:min val="0"/>
        </c:scaling>
        <c:delete val="0"/>
        <c:axPos val="l"/>
        <c:majorGridlines>
          <c:spPr>
            <a:ln w="9525">
              <a:solidFill>
                <a:srgbClr val="CEDBD5"/>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575">
                <a:solidFill>
                  <a:srgbClr val="4C6471"/>
                </a:solidFill>
                <a:latin typeface="Times New Roman"/>
                <a:ea typeface="Times New Roman"/>
                <a:cs typeface="Times New Roman"/>
              </a:defRPr>
            </a:pPr>
            <a:endParaRPr lang="en-US"/>
          </a:p>
        </c:txPr>
        <c:crossAx val="48650112"/>
        <c:crosses val="autoZero"/>
        <c:crossBetween val="between"/>
        <c:majorUnit val="20"/>
      </c:valAx>
      <c:spPr>
        <a:solidFill>
          <a:srgbClr val="F6F7F4"/>
        </a:solidFill>
      </c:spPr>
    </c:plotArea>
    <c:plotVisOnly val="1"/>
    <c:dispBlanksAs val="zero"/>
    <c:showDLblsOverMax val="1"/>
  </c:chart>
  <c:spPr>
    <a:solidFill>
      <a:srgbClr val="F6F7F4"/>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and team. Vision and voice inference run on the candidate device. Examiners review events centrally. Academic metadata comes from the previous project deck. Presentation date: 5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examiner needs visibility into the candidate environment as well as the camera. Normal head movements and speech can produce ambiguous signals, so alerts need evidence and human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Eight original scope modules: five core, two optional and one advanced. Voice monitoring is an extension presented immediately after vision. USB/display controls extend the secure environment. Admin management follows the reporting module. Implementation statuses do not claim statistical AI accuracy or production acceptance.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has a durable SQLite event spool. Electron stores accepted events in a disk-backed retry queue and forwards them. Express validates and commits metadata to MongoDB with media stored through configured providers. Authorized teacher/admin sockets receive updates. Local control and receiver ports are separate and dynamically negotiated. D:/BS_FYP Project/IntegrityFlow/candidate-app/ai-module/services/violation_delivery.py</a:t>
            </a:r>
          </a:p>
          <a:p>
            <a:r>
              <a:t>D:/BS_FYP Project/IntegrityFlow/candidate-app/electron/ipc/violationBuffer.js</a:t>
            </a:r>
          </a:p>
          <a:p>
            <a:r>
              <a:t>D:/BS_FYP Project/IntegrityFlow/server/src/routes/violations.js</a:t>
            </a:r>
          </a:p>
          <a:p>
            <a:r>
              <a:t>D:/BS_FYP Project/IntegrityFlow/server/src/sockets/violationSocket.js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Project/IntegrityFlow/candidate-app/electron/main.js</a:t>
            </a:r>
          </a:p>
          <a:p>
            <a:r>
              <a:t>D:/BS_FYP Project/IntegrityFlow/candidate-app/ai-module/whitelist_enforcer.py</a:t>
            </a:r>
          </a:p>
          <a:p>
            <a:r>
              <a:t>D:/BS_FYP Project/IntegrityFlow/candidate-app/ai-module/usb_monitor.py</a:t>
            </a:r>
          </a:p>
          <a:p>
            <a:r>
              <a:t>Completed refers to implementation. Strict-mode rehearsal with saved work remains necessary. An application allowlist is not a full operating-system sandbox.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psutil enumerates processes. Protected process IDs and essential Windows/driver service exceptions are checked before enforcement. Teacher-approved application names extend the allowlist. Exam mode applies stricter exclusions than development mode. The example is illustrative, assuming Notepad is allowed and the browser is not protected by a development exception. D:/BS_FYP Project/IntegrityFlow/candidate-app/ai-module/whitelist_enforcer.py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Exact permitted paths are canonicalized and compared against observed open files. The old-file modification-time check remains. Verified open-file ownership allows only the offending process to be terminated. Recent-file shortcuts without verified ownership trigger review rather than broad termination. Timestamp is a heuristic, not proof of authorship. Approved reference files do not bypass answer-upload timestamp guards. D:/BS_FYP Project/IntegrityFlow/candidate-app/ai-module/whitelist_enforcer.py</a:t>
            </a:r>
          </a:p>
          <a:p>
            <a:r>
              <a:t>D:/BS_FYP Project/IntegrityFlow/candidate-app/renderer/examScreen.js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USB detection uses PowerShell CIM queries. Win32_DiskDrive USB interface or Storage MSFT_Disk BusType7 identifies storage, with Size&gt;0 to avoid empty reader entries. The monitor polls every three seconds, with query latency added. Electron uses display count checks and requires one display for entry. These controls detect storage/display state, not complete driver-level USB disabling. D:/BS_FYP Project/IntegrityFlow/candidate-app/ai-module/usb_monitor.py</a:t>
            </a:r>
          </a:p>
          <a:p>
            <a:r>
              <a:t>D:/BS_FYP Project/IntegrityFlow/candidate-app/electron/main.js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Project/IntegrityFlow/candidate-app/ai-module/ai_monitor.py</a:t>
            </a:r>
          </a:p>
          <a:p>
            <a:r>
              <a:t>D:/BS_FYP Project/IntegrityFlow/candidate-app/ai-module/config/thresholds.json</a:t>
            </a:r>
          </a:p>
          <a:p>
            <a:r>
              <a:t>The exact scope has gaps: headphones are not a target and the active model differs from the proposed YOLOv8n INT8. Accuracy remains unmeasured.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MediaPipe Tasks returns faces and landmarks. Multiple-person detection counts these faces, with OpenCV Haar as a degraded fallback. Two or more faces sustained for one second triggers severity4. No visible face for three seconds triggers a missing-face event. Multiple faces pause head-direction calibration/estimation to avoid using a bystander. Counting faces is not reliable identity recognition or detecting every body in frame. D:/BS_FYP Project/IntegrityFlow/candidate-app/ai-module/ai_monitor.py</a:t>
            </a:r>
          </a:p>
          <a:p>
            <a:r>
              <a:t>Primary model reference: https://ai.google.dev/edge/mediapipe/solutions/vision/face_landmarker/python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Uniform low-detail frames can indicate a covered lens, including bright covers. Brightness and standard deviation checks characterize visibility, not intent. Camera capture errors degrade health and trigger retry handling. Backlighting and exposure can resemble obstruction, so examiner review remains important. D:/BS_FYP Project/IntegrityFlow/candidate-app/ai-module/services/lighting_occlusion_detector.py</a:t>
            </a:r>
          </a:p>
          <a:p>
            <a:r>
              <a:t>D:/BS_FYP Project/IntegrityFlow/candidate-app/ai-module/ai_monitor.py</a:t>
            </a:r>
          </a:p>
          <a:p>
            <a:r>
              <a:t>D:/BS_FYP Project/IntegrityFlow/candidate-app/ai-module/server.py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Modern Tasks landmarks feed six selected 2D points into cv2.solvePnP. The model/camera approximation estimates yaw and pitch. Twenty stable single-face observations establish neutral pose. Smoothing, direction-specific dwell and an absolute-yaw guard protect against biased neutral calibration. Current lateral threshold13degrees and dwell0.5s, upward1s, downward2s. These are parameters, not measured detection latency. Head pose is not measured eye gaze. D:/BS_FYP Project/IntegrityFlow/candidate-app/ai-module/ai_monitor.py</a:t>
            </a:r>
          </a:p>
          <a:p>
            <a:r>
              <a:t>D:/BS_FYP Project/IntegrityFlow/candidate-app/ai-module/config/thresholds.json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generated illustrations of a fictional generic cartoon character, replacing the personal photographs. They explain neutral posture versus a sustained head turn and are not actual detector screenshots or measured accuracy evidence. The detector uses calibrated head pose and temporal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YOLO means You Only Look Once. Object detection predicts classes, bounding boxes and confidence scores for image content. The project runs a pretrained YOLO26n ONNX model locally. Confidence is the model output, not the probability that a candidate cheated. Image is a generated conceptual phone scenario, not an actual exam event or measured detector result. D:/BS_FYP Project/IntegrityFlow/candidate-app/ai-module/ai_monitor.py</a:t>
            </a:r>
          </a:p>
          <a:p>
            <a:r>
              <a:t>Primary references: https://docs.ultralytics.com/models/yolo26 and https://docs.ultralytics.com/tasks/detect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is letterboxed to640x640. ONNX Runtime runs YOLO26n, whose actual exported shape is[1,300,6]. Targets are COCO67cell phone and73book. Face counting does not come from this model. Temporal confirmation needs overlapIoU.2; two consecutive phone predictions &gt;=.60 confirm, weak predictions/books need3; missed detections and spatial jumps reset. Candidate phone detection triggers inference next frame, normal sampling everythirdframe. Rule detectCellPhone can disable phone alerts. No headphones target. D:/BS_FYP Project/IntegrityFlow/candidate-app/ai-module/ai_monitor.py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Voice monitoring is an addition beyond the original baseline scope. It uses WebRTC VAD and Resemblyzer for reference-based speaker verification. It does not count speakers or recognize spoken answers. Consent covers reference vectors and suspicious audio clips. Real-room similarity threshold calibration remains open. Conceptual microphone illustration. D:/BS_FYP Project/IntegrityFlow/candidate-app/ai-module/voice_monitor.py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WebRTC VAD Mode2 receives30ms16kHzmono PCM frames. Configured1.5s voiced speech gates phrases and3s verification windows bound continuous speech. Minimum energy, processed duration and clipping checks reject invalid samples before mismatch accumulation. VAD can misclassify sounds, so it is not perfect noise removal. Comparison runs on a bounded worker to avoid stopping microphone reads. D:/BS_FYP Project/IntegrityFlow/candidate-app/ai-module/voice_monitor.py</a:t>
            </a:r>
          </a:p>
          <a:p>
            <a:r>
              <a:t>D:/BS_FYP Project/IntegrityFlow/candidate-app/ai-module/config/thresholds.json</a:t>
            </a:r>
          </a:p>
          <a:p>
            <a:r>
              <a:t>Primary reference: https://github.com/wiseman/py-webrtcvad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enrollment records8s plus a separate4s confirmation. Processed speech minima3s and2s, quality and similarity checks apply. Resemblyzer returns normalized256-dimensional embeddings. Incoming valid speech is processed by the same encoder and compared by cosine similarity. The actual code cutoff is.75. Two valid mismatches are required, with60s repeat cooldown. Voice capture uses16kHz mono,30msVADframesMode2, configured1.5s speech gating and3ssegments. D:/BS_FYP Project/IntegrityFlow/candidate-app/ai-module/voice_monitor.py</a:t>
            </a:r>
          </a:p>
          <a:p>
            <a:r>
              <a:t>D:/BS_FYP Project/IntegrityFlow/candidate-app/ai-module/config/thresholds.json</a:t>
            </a:r>
          </a:p>
          <a:p>
            <a:r>
              <a:t>Primary reference: https://github.com/resemble-ai/Resemblyzer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Similarity values.86and.62are illustrative, not actual recordings or measured accuracy. A valid &gt;=.75segment clears mismatch count. Two valid &lt;.75segments produce an alert if cooldown/evidence checks permit. Invalid, short or clipped segments reset mismatch accumulation. Speech can be missed in noise and similar voices can match. Explain that VAD is speech gating, not guaranteed noise removal. D:/BS_FYP Project/IntegrityFlow/candidate-app/ai-module/voice_monitor.py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Project/IntegrityFlow/candidate-app/ai-module/services/capture</a:t>
            </a:r>
          </a:p>
          <a:p>
            <a:r>
              <a:t>D:/BS_FYP Project/IntegrityFlow/candidate-app/ai-module/services/violation_delivery.py</a:t>
            </a:r>
          </a:p>
          <a:p>
            <a:r>
              <a:t>D:/BS_FYP Project/IntegrityFlow/candidate-app/electron/ipc/violationBuffer.js</a:t>
            </a:r>
          </a:p>
          <a:p>
            <a:r>
              <a:t>D:/BS_FYP Project/IntegrityFlow/server/src/routes/violations.js</a:t>
            </a:r>
          </a:p>
          <a:p>
            <a:r>
              <a:t>Camera events use annotated webcam stills, environment events screenshots and voice events WAV clips. Completion refers to implemented pathways, not tested resilience to every possible failure.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timeline: exam event at14:58, server exam end15:00, upload15:02. Durable Python/ Electron queues retain original event ID/time across retries. Server validates original event against session window and deduplicates. Late evidence persists but contributes to risk only after explicit examiner confirmation. An event generated after the permitted window is rejected. Controlled </a:t>
            </a:r>
            <a:r>
              <a:rPr dirty="0" err="1"/>
              <a:t>check_late_evidence</a:t>
            </a:r>
            <a:r>
              <a:rPr dirty="0"/>
              <a:t> tests cover recovery; this example is not a live measured run. D:/BS_FYP Project/</a:t>
            </a:r>
            <a:r>
              <a:rPr dirty="0" err="1"/>
              <a:t>IntegrityFlow</a:t>
            </a:r>
            <a:r>
              <a:rPr dirty="0"/>
              <a:t>/server/</a:t>
            </a:r>
            <a:r>
              <a:rPr dirty="0" err="1"/>
              <a:t>src</a:t>
            </a:r>
            <a:r>
              <a:rPr dirty="0"/>
              <a:t>/routes/violations.js</a:t>
            </a:r>
          </a:p>
          <a:p>
            <a:r>
              <a:rPr dirty="0"/>
              <a:t>D:/BS_FYP Project/</a:t>
            </a:r>
            <a:r>
              <a:rPr dirty="0" err="1"/>
              <a:t>IntegrityFlow</a:t>
            </a:r>
            <a:r>
              <a:rPr dirty="0"/>
              <a:t>/server/check_late_evidence.js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Project/IntegrityFlow/candidate-app/renderer/selfCheck.js</a:t>
            </a:r>
          </a:p>
          <a:p>
            <a:r>
              <a:t>D:/BS_FYP Project/IntegrityFlow/candidate-app/ai-module/server.py</a:t>
            </a:r>
          </a:p>
          <a:p>
            <a:r>
              <a:t>D:/BS_FYP Project/IntegrityFlow/candidate-app/electron/main.js</a:t>
            </a:r>
          </a:p>
          <a:p>
            <a:r>
              <a:t>Actual camera/microphone matching and strict-mode safety still require rehearsal on the presentation laptop.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flow is illustrative. Online mode requires actual vision/voice readiness and enrollment, along with environment checks. Physical-lab mode deliberately bypasses camera/voice according to exam mode but retains environment checks. A connected second display or USB storage can block readiness until resolved. Dynamic ports and health diagnostics reduce startup assumptions but cannot guarantee every machine setup. D:/BS_FYP Project/IntegrityFlow/candidate-app/renderer/selfCheck.js</a:t>
            </a:r>
          </a:p>
          <a:p>
            <a:r>
              <a:t>D:/BS_FYP Project/IntegrityFlow/candidate-app/electron/pythonBridge.js</a:t>
            </a:r>
          </a:p>
          <a:p>
            <a:r>
              <a:t>D:/BS_FYP Project/IntegrityFlow/candidate-app/ai-module/server.py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Project/IntegrityFlow/server/src/services/scoring/DecayScoringStrategy.js</a:t>
            </a:r>
          </a:p>
          <a:p>
            <a:r>
              <a:t>D:/BS_FYP Project/IntegrityFlow/server/src/scoring/severityEngine.js</a:t>
            </a:r>
          </a:p>
          <a:p>
            <a:r>
              <a:t>No scoring implementation was changed for this presentation. Dismissed events are excluded. Late events require explicit confirmation. Risk is not cheating probability.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Computed by calling the actual DecayScoringStrategy with fixed timestamps. Fresh severity4 and severity3 events score56. Dismissing severity3 leaves32. After30minutes, the remaining severity4 event scores21. Formula uses rate.0231/min, recency weighting.55, cumulative baseline.55severity and mix.45, floor.6baseline, rawmax10, round/cap0..100. Labels represent a constructed example with exact code calculation, not a real candidate. D:/BS_FYP Project/IntegrityFlow/server/src/services/scoring/DecayScoringStrategy.js</a:t>
            </a:r>
          </a:p>
          <a:p>
            <a:r>
              <a:t>D:/BS_FYP Project/IntegrityFlow/server/src/scoring/severityEngine.js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Project/IntegrityFlow/dashboard/src/pages/Dashboard.jsx</a:t>
            </a:r>
          </a:p>
          <a:p>
            <a:r>
              <a:t>D:/BS_FYP Project/IntegrityFlow/dashboard/src/components/PriorityQueue.jsx</a:t>
            </a:r>
          </a:p>
          <a:p>
            <a:r>
              <a:t>D:/BS_FYP Project/IntegrityFlow/server/src/sockets/violationSocket.js</a:t>
            </a:r>
          </a:p>
          <a:p>
            <a:r>
              <a:t>Includes active exams, clear-filter exam scoping, no-active-exam empty state, live nav badge and light/dark modes. Ownership checks remain necessary on every server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FYP-DEMO exam. Teacher opens selected active exam, examines candidate alert/evidence, confirms or dismisses, and can issue warning through messaging. Clear filters retains selected exam boundaries. Socket gateway targets teachers owning the exam; administrators can have broader access. The monitoring nav badge is an attention signal, not the total count of historical evidence. D:/BS_FYP Project/IntegrityFlow/dashboard/src/pages/Dashboard.jsx</a:t>
            </a:r>
          </a:p>
          <a:p>
            <a:r>
              <a:t>D:/BS_FYP Project/IntegrityFlow/dashboard/src/components/StudentList.jsx</a:t>
            </a:r>
          </a:p>
          <a:p>
            <a:r>
              <a:t>D:/BS_FYP Project/IntegrityFlow/server/src/sockets/violationSocket.js</a:t>
            </a:r>
          </a:p>
          <a:p>
            <a:r>
              <a:t>D:/BS_FYP Project/IntegrityFlow/server/src/routes/messages.js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Project/IntegrityFlow/candidate-app/renderer/examScreen.js</a:t>
            </a:r>
          </a:p>
          <a:p>
            <a:r>
              <a:t>D:/BS_FYP Project/IntegrityFlow/server/src/routes/submissions.js</a:t>
            </a:r>
          </a:p>
          <a:p>
            <a:r>
              <a:t>Typed draft recovery is local. File attachments require reselection after restart. File timestamp guards remain a heuristic and do not prove authorship.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workflow. Paper formats supported include PDF/DOCX viewing. Typed answers persist as local drafts, file answers use upload endpoints and session linkage, examiner can download. The old-file answer guard remains distinct from teacher-permitted reference-file policy. A recovered typed draft does not restore an OS file picker attachment. D:/BS_FYP Project/IntegrityFlow/candidate-app/renderer/examScreen.js</a:t>
            </a:r>
          </a:p>
          <a:p>
            <a:r>
              <a:t>D:/BS_FYP Project/IntegrityFlow/server/src/routes/submissions.js</a:t>
            </a:r>
          </a:p>
          <a:p>
            <a:r>
              <a:t>D:/BS_FYP Project/IntegrityFlow/dashboard/src/components/StudentList.jsx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D:/BS_FYP Project/IntegrityFlow/dashboard/src/components/ExamSummary.jsx</a:t>
            </a:r>
          </a:p>
          <a:p>
            <a:r>
              <a:t>D:/BS_FYP Project/IntegrityFlow/server/src/routes/exams.js</a:t>
            </a:r>
          </a:p>
          <a:p>
            <a:r>
              <a:t>The summary, CSV and browser Save PDF are implemented. Individual logs/screenshots open separately and are excluded from print. One combined evidence export remains incomplete.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is an illustrative completed-exam report, not a real test result. Actual CSV fields include candidate name, roll number, exam code, session times, violation count, risk score/category and submission status/type. Browser Save PDF uses window.print. The detailed evidence modal is marked no-print and is not part of the combined export. D:/BS_FYP Project/IntegrityFlow/dashboard/src/components/ExamSummary.jsx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Admin tools include user/role management, uploaded-asset review, analytics and audit logs. These management audit logs differ from student exam reports. Administrators have broader permissions than teachers. No new administrative capability was added during this presentation work. D:/BS_FYP Project/IntegrityFlow/dashboard/src/components/AdminDashboard/AdminDashboard.jsx</a:t>
            </a:r>
          </a:p>
          <a:p>
            <a:r>
              <a:t>D:/BS_FYP Project/IntegrityFlow/dashboard/src/components/AdminDashboard/UserManagerView.jsx</a:t>
            </a:r>
          </a:p>
          <a:p>
            <a:r>
              <a:t>D:/BS_FYP Project/IntegrityFlow/dashboard/src/components/AdminDashboard/AssetManagerView.jsx</a:t>
            </a:r>
          </a:p>
          <a:p>
            <a:r>
              <a:t>D:/BS_FYP Project/IntegrityFlow/dashboard/src/components/AdminDashboard/AuditLogView.jsx</a:t>
            </a:r>
          </a:p>
          <a:p>
            <a:r>
              <a:t>D:/BS_FYP Project/IntegrityFlow/server/src/routes/admin.js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Simplified UML sequence. Python persists event before local delivery. Electron queues before local acknowledgement and forwards when possible. Express commits event and responds, then emits authorized updates and calculates score. Examiner decision updates risk eligibility. The background setImmediate step is not a durable job. D:/BS_FYP Project/IntegrityFlow/candidate-app/ai-module/services/violation_delivery.py</a:t>
            </a:r>
          </a:p>
          <a:p>
            <a:r>
              <a:t>D:/BS_FYP Project/IntegrityFlow/candidate-app/electron/ipc/violationBuffer.js</a:t>
            </a:r>
          </a:p>
          <a:p>
            <a:r>
              <a:t>D:/BS_FYP Project/IntegrityFlow/server/src/routes/violations.js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violations route commits to MongoDB then sends HTTP201 before setImmediate broadcast/scoring. Before route awaited asynchronous database risk queries before replying. Awaiting them prolonged response latency but they were not synchronous database aggregation blocking the Node event loop. setImmediate defers work on same loop, not separate thread/durable job. No25ms guarantee. D:/BS_FYP Project/IntegrityFlow/server/src/routes/violations.js:148</a:t>
            </a:r>
          </a:p>
          <a:p>
            <a:r>
              <a:t>D:/BS_FYP Project/IntegrityFlow/server/src/scoring/severityEngine.js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Statuses refer to implementation rather than production acceptance or statistical AI accuracy. Secure environment, evidence, self-check, scoring, dashboard and submission have implementations. Vision differs from exact model/class scope. Reporting summary/exports work, consolidated full evidence export remains open. No defensible overall percentage follows from equal counting; supervisor weighting and live acceptance are needed. D:/BS_FYP Project/IntegrityFlow/presentation/output/Scope_Progress_Verification.md</a:t>
            </a:r>
          </a:p>
          <a:p>
            <a:r>
              <a:t>D:/BS_FYP Project/IntegrityFlow/candidate-app/RELIABILITY.md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 real-device false alerts, missed detections and detection-to-dashboard latency across lighting/noise/microphone changes. Repeat longer matched load tests with raw logs and environment recorded. Headphones require suitable model or approved scope alignment. Scope namesYOLOv8nINT8 whereas current preferredmodelYOLO26nstandard. Consolidated reportcontent and automatic retention remain incomplete. Voice consent currently discloses manual persistence/removal. Rehearse on actual presentation equipment.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https://ai.google.dev/edge/mediapipe/solutions/vision/face_landmarker/python</a:t>
            </a:r>
          </a:p>
          <a:p>
            <a:r>
              <a:t>https://docs.opencv.org/4.x/d5/d1f/calib3d_solvePnP.html</a:t>
            </a:r>
          </a:p>
          <a:p>
            <a:r>
              <a:t>https://docs.ultralytics.com/models/yolo26</a:t>
            </a:r>
          </a:p>
          <a:p>
            <a:r>
              <a:t>https://onnxruntime.ai/docs/</a:t>
            </a:r>
          </a:p>
          <a:p>
            <a:r>
              <a:t>https://github.com/resemble-ai/Resemblyzer</a:t>
            </a:r>
          </a:p>
          <a:p>
            <a:r>
              <a:t>https://github.com/wiseman/py-webrtcvad</a:t>
            </a:r>
          </a:p>
          <a:p>
            <a:r>
              <a:t>https://psutil.readthedocs.io/</a:t>
            </a:r>
          </a:p>
          <a:p>
            <a:r>
              <a:t>https://www.electronjs.org/docs/latest</a:t>
            </a:r>
          </a:p>
          <a:p>
            <a:r>
              <a:t>Project implementation references appear per module.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7–8 minute live demo. Show exam rules, candidate consent and self-check, two or three rehearsed monitoring events, evidence review and warning, then answer submission and completed summary. Use a separate candidate laptop from HDMI projection because candidate entry requires one display. Save all work before strict process enforcement. Use a clearly identified backup recording only if the live environment fails.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7BCB346-6F48-402B-A7DF-4BF0B8D8AED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01</a:t>
            </a:r>
          </a:p>
        </p:txBody>
      </p:sp>
      <p:sp>
        <p:nvSpPr>
          <p:cNvPr id="3" name="fixed">
            <a:extLst>
              <a:ext uri="{FF2B5EF4-FFF2-40B4-BE49-F238E27FC236}">
                <a16:creationId xmlns:a16="http://schemas.microsoft.com/office/drawing/2014/main" id="{A37FA3D0-8240-4C0B-9611-66FABB84FE57}"/>
              </a:ext>
            </a:extLst>
          </p:cNvPr>
          <p:cNvSpPr>
            <a:spLocks noGrp="1"/>
          </p:cNvSpPr>
          <p:nvPr/>
        </p:nvSpPr>
        <p:spPr>
          <a:xfrm>
            <a:off x="609600" y="1381125"/>
            <a:ext cx="8239125" cy="1114425"/>
          </a:xfrm>
          <a:prstGeom prst="rect">
            <a:avLst/>
          </a:prstGeom>
          <a:noFill/>
          <a:ln w="0">
            <a:noFill/>
          </a:ln>
        </p:spPr>
        <p:txBody>
          <a:bodyPr>
            <a:noAutofit/>
          </a:bodyPr>
          <a:lstStyle/>
          <a:p>
            <a:pPr algn="l">
              <a:defRPr sz="7050" b="1">
                <a:solidFill>
                  <a:srgbClr val="FFFFFF"/>
                </a:solidFill>
                <a:latin typeface="Times New Roman"/>
                <a:ea typeface="Times New Roman"/>
                <a:cs typeface="Times New Roman"/>
              </a:defRPr>
            </a:pPr>
            <a:r>
              <a:rPr sz="7050" b="1">
                <a:solidFill>
                  <a:srgbClr val="FFFFFF"/>
                </a:solidFill>
                <a:latin typeface="Times New Roman"/>
                <a:ea typeface="Times New Roman"/>
                <a:cs typeface="Times New Roman"/>
              </a:rPr>
              <a:t>IntegrityFlow</a:t>
            </a:r>
          </a:p>
        </p:txBody>
      </p:sp>
      <p:sp>
        <p:nvSpPr>
          <p:cNvPr id="4" name="reveal-1">
            <a:extLst>
              <a:ext uri="{FF2B5EF4-FFF2-40B4-BE49-F238E27FC236}">
                <a16:creationId xmlns:a16="http://schemas.microsoft.com/office/drawing/2014/main" id="{B1825AAC-81A6-4300-9754-F733A47E05FC}"/>
              </a:ext>
            </a:extLst>
          </p:cNvPr>
          <p:cNvSpPr>
            <a:spLocks noGrp="1"/>
          </p:cNvSpPr>
          <p:nvPr/>
        </p:nvSpPr>
        <p:spPr>
          <a:xfrm>
            <a:off x="647700" y="2809875"/>
            <a:ext cx="7620000" cy="1285875"/>
          </a:xfrm>
          <a:prstGeom prst="rect">
            <a:avLst/>
          </a:prstGeom>
          <a:noFill/>
          <a:ln w="0">
            <a:noFill/>
          </a:ln>
        </p:spPr>
        <p:txBody>
          <a:bodyPr>
            <a:noAutofit/>
          </a:bodyPr>
          <a:lstStyle/>
          <a:p>
            <a:pPr algn="l">
              <a:defRPr sz="3225" b="0">
                <a:solidFill>
                  <a:srgbClr val="DAF1E9"/>
                </a:solidFill>
                <a:latin typeface="Times New Roman"/>
                <a:ea typeface="Times New Roman"/>
                <a:cs typeface="Times New Roman"/>
              </a:defRPr>
            </a:pPr>
            <a:r>
              <a:rPr sz="3225" b="0">
                <a:solidFill>
                  <a:srgbClr val="DAF1E9"/>
                </a:solidFill>
                <a:latin typeface="Times New Roman"/>
                <a:ea typeface="Times New Roman"/>
                <a:cs typeface="Times New Roman"/>
              </a:rPr>
              <a:t>Local AI and system controls</a:t>
            </a:r>
          </a:p>
          <a:p>
            <a:pPr algn="l">
              <a:defRPr sz="3225" b="0">
                <a:solidFill>
                  <a:srgbClr val="DAF1E9"/>
                </a:solidFill>
                <a:latin typeface="Times New Roman"/>
                <a:ea typeface="Times New Roman"/>
                <a:cs typeface="Times New Roman"/>
              </a:defRPr>
            </a:pPr>
            <a:r>
              <a:rPr sz="3225" b="0">
                <a:solidFill>
                  <a:srgbClr val="DAF1E9"/>
                </a:solidFill>
                <a:latin typeface="Times New Roman"/>
                <a:ea typeface="Times New Roman"/>
                <a:cs typeface="Times New Roman"/>
              </a:rPr>
              <a:t>for examination monitoring</a:t>
            </a:r>
          </a:p>
        </p:txBody>
      </p:sp>
      <p:sp>
        <p:nvSpPr>
          <p:cNvPr id="5" name="fixed">
            <a:extLst>
              <a:ext uri="{FF2B5EF4-FFF2-40B4-BE49-F238E27FC236}">
                <a16:creationId xmlns:a16="http://schemas.microsoft.com/office/drawing/2014/main" id="{22C77587-B920-488A-AC50-66EC47127E80}"/>
              </a:ext>
            </a:extLst>
          </p:cNvPr>
          <p:cNvSpPr>
            <a:spLocks noGrp="1"/>
          </p:cNvSpPr>
          <p:nvPr/>
        </p:nvSpPr>
        <p:spPr>
          <a:xfrm>
            <a:off x="647700" y="4419600"/>
            <a:ext cx="7334250" cy="714375"/>
          </a:xfrm>
          <a:prstGeom prst="rect">
            <a:avLst/>
          </a:prstGeom>
          <a:noFill/>
          <a:ln w="0">
            <a:noFill/>
          </a:ln>
        </p:spPr>
        <p:txBody>
          <a:bodyPr>
            <a:noAutofit/>
          </a:bodyPr>
          <a:lstStyle/>
          <a:p>
            <a:pPr algn="l">
              <a:defRPr sz="2100" b="0">
                <a:solidFill>
                  <a:srgbClr val="C3D9DF"/>
                </a:solidFill>
                <a:latin typeface="Times New Roman"/>
                <a:ea typeface="Times New Roman"/>
                <a:cs typeface="Times New Roman"/>
              </a:defRPr>
            </a:pPr>
            <a:r>
              <a:rPr sz="2100" b="0" dirty="0">
                <a:solidFill>
                  <a:srgbClr val="C3D9DF"/>
                </a:solidFill>
                <a:latin typeface="Times New Roman"/>
                <a:ea typeface="Times New Roman"/>
                <a:cs typeface="Times New Roman"/>
              </a:rPr>
              <a:t>BSCS Final Year Project</a:t>
            </a:r>
          </a:p>
          <a:p>
            <a:pPr algn="l">
              <a:defRPr sz="2100" b="0">
                <a:solidFill>
                  <a:srgbClr val="C3D9DF"/>
                </a:solidFill>
                <a:latin typeface="Times New Roman"/>
                <a:ea typeface="Times New Roman"/>
                <a:cs typeface="Times New Roman"/>
              </a:defRPr>
            </a:pPr>
            <a:r>
              <a:rPr sz="2100" b="0" dirty="0">
                <a:solidFill>
                  <a:srgbClr val="C3D9DF"/>
                </a:solidFill>
                <a:latin typeface="Times New Roman"/>
                <a:ea typeface="Times New Roman"/>
                <a:cs typeface="Times New Roman"/>
              </a:rPr>
              <a:t>Progress presentation  /  </a:t>
            </a:r>
            <a:r>
              <a:rPr lang="en-US" sz="2100" b="0" dirty="0">
                <a:solidFill>
                  <a:srgbClr val="C3D9DF"/>
                </a:solidFill>
                <a:latin typeface="Times New Roman"/>
                <a:ea typeface="Times New Roman"/>
                <a:cs typeface="Times New Roman"/>
              </a:rPr>
              <a:t>06</a:t>
            </a:r>
            <a:r>
              <a:rPr sz="2100" b="0" dirty="0">
                <a:solidFill>
                  <a:srgbClr val="C3D9DF"/>
                </a:solidFill>
                <a:latin typeface="Times New Roman"/>
                <a:ea typeface="Times New Roman"/>
                <a:cs typeface="Times New Roman"/>
              </a:rPr>
              <a:t> October 2026</a:t>
            </a:r>
          </a:p>
        </p:txBody>
      </p:sp>
      <p:sp>
        <p:nvSpPr>
          <p:cNvPr id="6" name="fixed">
            <a:extLst>
              <a:ext uri="{FF2B5EF4-FFF2-40B4-BE49-F238E27FC236}">
                <a16:creationId xmlns:a16="http://schemas.microsoft.com/office/drawing/2014/main" id="{BB5B272F-95F3-4A8B-AC6C-0B777D8DA806}"/>
              </a:ext>
            </a:extLst>
          </p:cNvPr>
          <p:cNvSpPr>
            <a:spLocks noGrp="1"/>
          </p:cNvSpPr>
          <p:nvPr/>
        </p:nvSpPr>
        <p:spPr>
          <a:xfrm>
            <a:off x="647700" y="5534025"/>
            <a:ext cx="7953375" cy="857250"/>
          </a:xfrm>
          <a:prstGeom prst="rect">
            <a:avLst/>
          </a:prstGeom>
          <a:noFill/>
          <a:ln w="0">
            <a:noFill/>
          </a:ln>
        </p:spPr>
        <p:txBody>
          <a:bodyPr>
            <a:noAutofit/>
          </a:bodyPr>
          <a:lstStyle/>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Rao Umair Ahmed   ·   Muhammad Usman</a:t>
            </a:r>
          </a:p>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Muhammad Abubakar Siddique</a:t>
            </a:r>
          </a:p>
          <a:p>
            <a:pPr algn="l">
              <a:defRPr sz="1800" b="0">
                <a:solidFill>
                  <a:srgbClr val="C3D9DF"/>
                </a:solidFill>
                <a:latin typeface="Times New Roman"/>
                <a:ea typeface="Times New Roman"/>
                <a:cs typeface="Times New Roman"/>
              </a:defRPr>
            </a:pPr>
            <a:r>
              <a:rPr sz="1800" b="0">
                <a:solidFill>
                  <a:srgbClr val="C3D9DF"/>
                </a:solidFill>
                <a:latin typeface="Times New Roman"/>
                <a:ea typeface="Times New Roman"/>
                <a:cs typeface="Times New Roman"/>
              </a:rPr>
              <a:t>Supervisor: Mr. Abdullah</a:t>
            </a:r>
          </a:p>
        </p:txBody>
      </p:sp>
    </p:spTree>
    <p:extLst>
      <p:ext uri="{BB962C8B-B14F-4D97-AF65-F5344CB8AC3E}">
        <p14:creationId xmlns:p14="http://schemas.microsoft.com/office/powerpoint/2010/main" val="205911222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8" name="fixed">
            <a:extLst>
              <a:ext uri="{FF2B5EF4-FFF2-40B4-BE49-F238E27FC236}">
                <a16:creationId xmlns:a16="http://schemas.microsoft.com/office/drawing/2014/main" id="{9E826695-1739-4B92-A708-C59C22F4E8CB}"/>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The examination monitoring problem</a:t>
            </a:r>
          </a:p>
        </p:txBody>
      </p:sp>
      <p:sp>
        <p:nvSpPr>
          <p:cNvPr id="2" name="fixed">
            <a:extLst>
              <a:ext uri="{FF2B5EF4-FFF2-40B4-BE49-F238E27FC236}">
                <a16:creationId xmlns:a16="http://schemas.microsoft.com/office/drawing/2014/main" id="{328FD482-C945-419C-8428-C6F435AB782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02</a:t>
            </a:r>
          </a:p>
        </p:txBody>
      </p:sp>
      <p:sp>
        <p:nvSpPr>
          <p:cNvPr id="3" name="reveal-1">
            <a:extLst>
              <a:ext uri="{FF2B5EF4-FFF2-40B4-BE49-F238E27FC236}">
                <a16:creationId xmlns:a16="http://schemas.microsoft.com/office/drawing/2014/main" id="{A1F940ED-2F58-4695-B26A-5F7307387C53}"/>
              </a:ext>
            </a:extLst>
          </p:cNvPr>
          <p:cNvSpPr>
            <a:spLocks noGrp="1"/>
          </p:cNvSpPr>
          <p:nvPr/>
        </p:nvSpPr>
        <p:spPr>
          <a:xfrm>
            <a:off x="60960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Environment risks</a:t>
            </a:r>
          </a:p>
        </p:txBody>
      </p:sp>
      <p:sp>
        <p:nvSpPr>
          <p:cNvPr id="4" name="reveal-1">
            <a:extLst>
              <a:ext uri="{FF2B5EF4-FFF2-40B4-BE49-F238E27FC236}">
                <a16:creationId xmlns:a16="http://schemas.microsoft.com/office/drawing/2014/main" id="{0ED6C035-34FC-4292-A4F9-5F70683A177D}"/>
              </a:ext>
            </a:extLst>
          </p:cNvPr>
          <p:cNvSpPr>
            <a:spLocks noGrp="1"/>
          </p:cNvSpPr>
          <p:nvPr/>
        </p:nvSpPr>
        <p:spPr>
          <a:xfrm>
            <a:off x="60960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Unapproved applications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Pre-existing reference files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Removable storage and extra displays</a:t>
            </a:r>
          </a:p>
        </p:txBody>
      </p:sp>
      <p:sp>
        <p:nvSpPr>
          <p:cNvPr id="5" name="reveal-2">
            <a:extLst>
              <a:ext uri="{FF2B5EF4-FFF2-40B4-BE49-F238E27FC236}">
                <a16:creationId xmlns:a16="http://schemas.microsoft.com/office/drawing/2014/main" id="{9A50DFE4-2442-4F98-AF22-15EB90A2F08B}"/>
              </a:ext>
            </a:extLst>
          </p:cNvPr>
          <p:cNvSpPr>
            <a:spLocks noGrp="1"/>
          </p:cNvSpPr>
          <p:nvPr/>
        </p:nvSpPr>
        <p:spPr>
          <a:xfrm>
            <a:off x="6381750" y="200025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Monitoring risks</a:t>
            </a:r>
          </a:p>
        </p:txBody>
      </p:sp>
      <p:sp>
        <p:nvSpPr>
          <p:cNvPr id="6" name="reveal-2">
            <a:extLst>
              <a:ext uri="{FF2B5EF4-FFF2-40B4-BE49-F238E27FC236}">
                <a16:creationId xmlns:a16="http://schemas.microsoft.com/office/drawing/2014/main" id="{32A47A87-C28F-4992-883C-73AB4A9CE4B2}"/>
              </a:ext>
            </a:extLst>
          </p:cNvPr>
          <p:cNvSpPr>
            <a:spLocks noGrp="1"/>
          </p:cNvSpPr>
          <p:nvPr/>
        </p:nvSpPr>
        <p:spPr>
          <a:xfrm>
            <a:off x="6381750" y="262890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second visible person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visible phone or sustained head turn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Speech that differs from the enrolled voice</a:t>
            </a:r>
          </a:p>
        </p:txBody>
      </p:sp>
      <p:sp>
        <p:nvSpPr>
          <p:cNvPr id="7" name="reveal-3">
            <a:extLst>
              <a:ext uri="{FF2B5EF4-FFF2-40B4-BE49-F238E27FC236}">
                <a16:creationId xmlns:a16="http://schemas.microsoft.com/office/drawing/2014/main" id="{DAA24CB7-F6FA-49BE-8636-3604242930D9}"/>
              </a:ext>
            </a:extLst>
          </p:cNvPr>
          <p:cNvSpPr>
            <a:spLocks noGrp="1"/>
          </p:cNvSpPr>
          <p:nvPr/>
        </p:nvSpPr>
        <p:spPr>
          <a:xfrm>
            <a:off x="609600" y="5257800"/>
            <a:ext cx="10668000" cy="695325"/>
          </a:xfrm>
          <a:prstGeom prst="rect">
            <a:avLst/>
          </a:prstGeom>
          <a:noFill/>
          <a:ln w="0">
            <a:noFill/>
          </a:ln>
        </p:spPr>
        <p:txBody>
          <a:bodyPr>
            <a:noAutofit/>
          </a:bodyPr>
          <a:lstStyle/>
          <a:p>
            <a:pPr algn="l">
              <a:defRPr sz="2775" b="1">
                <a:solidFill>
                  <a:srgbClr val="172F3A"/>
                </a:solidFill>
                <a:latin typeface="Times New Roman"/>
                <a:ea typeface="Times New Roman"/>
                <a:cs typeface="Times New Roman"/>
              </a:defRPr>
            </a:pPr>
            <a:r>
              <a:rPr sz="2775" b="1">
                <a:solidFill>
                  <a:srgbClr val="172F3A"/>
                </a:solidFill>
                <a:latin typeface="Times New Roman"/>
                <a:ea typeface="Times New Roman"/>
                <a:cs typeface="Times New Roman"/>
              </a:rPr>
              <a:t>Evidence gives the examiner context for a decision</a:t>
            </a:r>
          </a:p>
        </p:txBody>
      </p:sp>
    </p:spTree>
    <p:extLst>
      <p:ext uri="{BB962C8B-B14F-4D97-AF65-F5344CB8AC3E}">
        <p14:creationId xmlns:p14="http://schemas.microsoft.com/office/powerpoint/2010/main" val="154493129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par>
                    <p:cTn id="17" fill="hold">
                      <p:stCondLst>
                        <p:cond delay="indefinite"/>
                      </p:stCondLst>
                      <p:childTnLst>
                        <p:par>
                          <p:cTn id="18" presetID="10" presetClass="entr" presetSubtype="0" fill="hold" grpId="3"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P spid="7" grpId="3" uiExpan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5" name="fixed">
            <a:extLst>
              <a:ext uri="{FF2B5EF4-FFF2-40B4-BE49-F238E27FC236}">
                <a16:creationId xmlns:a16="http://schemas.microsoft.com/office/drawing/2014/main" id="{2BC683CA-C21B-4203-8716-53E9BFCA8212}"/>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Module sequence</a:t>
            </a:r>
          </a:p>
        </p:txBody>
      </p:sp>
      <p:sp>
        <p:nvSpPr>
          <p:cNvPr id="2" name="fixed">
            <a:extLst>
              <a:ext uri="{FF2B5EF4-FFF2-40B4-BE49-F238E27FC236}">
                <a16:creationId xmlns:a16="http://schemas.microsoft.com/office/drawing/2014/main" id="{EB08F831-8087-4FAA-9CE7-83FE726E427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04</a:t>
            </a:r>
          </a:p>
        </p:txBody>
      </p:sp>
      <p:graphicFrame>
        <p:nvGraphicFramePr>
          <p:cNvPr id="7" name="Table 6"/>
          <p:cNvGraphicFramePr/>
          <p:nvPr/>
        </p:nvGraphicFramePr>
        <p:xfrm>
          <a:off x="609600" y="1657350"/>
          <a:ext cx="10953750" cy="4267197"/>
        </p:xfrm>
        <a:graphic>
          <a:graphicData uri="http://schemas.openxmlformats.org/drawingml/2006/table">
            <a:tbl>
              <a:tblPr/>
              <a:tblGrid>
                <a:gridCol w="428625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474133">
                <a:tc>
                  <a:txBody>
                    <a:bodyPr/>
                    <a:lstStyle/>
                    <a:p>
                      <a:r>
                        <a:rPr sz="1875" b="1">
                          <a:solidFill>
                            <a:srgbClr val="FFFFFF"/>
                          </a:solidFill>
                          <a:latin typeface="Times New Roman"/>
                          <a:ea typeface="Times New Roman"/>
                          <a:cs typeface="Times New Roman"/>
                        </a:rPr>
                        <a:t>SCOPE MODULE</a:t>
                      </a:r>
                    </a:p>
                  </a:txBody>
                  <a:tcPr>
                    <a:solidFill>
                      <a:srgbClr val="172F3A"/>
                    </a:solidFill>
                  </a:tcPr>
                </a:tc>
                <a:tc>
                  <a:txBody>
                    <a:bodyPr/>
                    <a:lstStyle/>
                    <a:p>
                      <a:r>
                        <a:rPr sz="1875" b="1">
                          <a:solidFill>
                            <a:srgbClr val="FFFFFF"/>
                          </a:solidFill>
                          <a:latin typeface="Times New Roman"/>
                          <a:ea typeface="Times New Roman"/>
                          <a:cs typeface="Times New Roman"/>
                        </a:rPr>
                        <a:t>PRESENTATION ORDER</a:t>
                      </a:r>
                    </a:p>
                  </a:txBody>
                  <a:tcPr>
                    <a:solidFill>
                      <a:srgbClr val="172F3A"/>
                    </a:solidFill>
                  </a:tcPr>
                </a:tc>
                <a:extLst>
                  <a:ext uri="{0D108BD9-81ED-4DB2-BD59-A6C34878D82A}">
                    <a16:rowId xmlns:a16="http://schemas.microsoft.com/office/drawing/2014/main" val="10000"/>
                  </a:ext>
                </a:extLst>
              </a:tr>
              <a:tr h="474133">
                <a:tc>
                  <a:txBody>
                    <a:bodyPr/>
                    <a:lstStyle/>
                    <a:p>
                      <a:r>
                        <a:rPr sz="1875" b="0">
                          <a:solidFill>
                            <a:srgbClr val="172F3A"/>
                          </a:solidFill>
                          <a:latin typeface="Times New Roman"/>
                          <a:ea typeface="Times New Roman"/>
                          <a:cs typeface="Times New Roman"/>
                        </a:rPr>
                        <a:t>1  Secure environment</a:t>
                      </a:r>
                    </a:p>
                  </a:txBody>
                  <a:tcPr>
                    <a:solidFill>
                      <a:srgbClr val="E7EEEA"/>
                    </a:solidFill>
                  </a:tcPr>
                </a:tc>
                <a:tc>
                  <a:txBody>
                    <a:bodyPr/>
                    <a:lstStyle/>
                    <a:p>
                      <a:r>
                        <a:rPr sz="1875" b="0">
                          <a:solidFill>
                            <a:srgbClr val="172F3A"/>
                          </a:solidFill>
                          <a:latin typeface="Times New Roman"/>
                          <a:ea typeface="Times New Roman"/>
                          <a:cs typeface="Times New Roman"/>
                        </a:rPr>
                        <a:t>Whitelist, file policy, USB and displays</a:t>
                      </a:r>
                    </a:p>
                  </a:txBody>
                  <a:tcPr>
                    <a:solidFill>
                      <a:srgbClr val="E7EEEA"/>
                    </a:solidFill>
                  </a:tcPr>
                </a:tc>
                <a:extLst>
                  <a:ext uri="{0D108BD9-81ED-4DB2-BD59-A6C34878D82A}">
                    <a16:rowId xmlns:a16="http://schemas.microsoft.com/office/drawing/2014/main" val="10001"/>
                  </a:ext>
                </a:extLst>
              </a:tr>
              <a:tr h="474133">
                <a:tc>
                  <a:txBody>
                    <a:bodyPr/>
                    <a:lstStyle/>
                    <a:p>
                      <a:r>
                        <a:rPr sz="1875" b="0">
                          <a:solidFill>
                            <a:srgbClr val="172F3A"/>
                          </a:solidFill>
                          <a:latin typeface="Times New Roman"/>
                          <a:ea typeface="Times New Roman"/>
                          <a:cs typeface="Times New Roman"/>
                        </a:rPr>
                        <a:t>2  AI monitoring</a:t>
                      </a:r>
                    </a:p>
                  </a:txBody>
                  <a:tcPr>
                    <a:solidFill>
                      <a:srgbClr val="F6F7F4"/>
                    </a:solidFill>
                  </a:tcPr>
                </a:tc>
                <a:tc>
                  <a:txBody>
                    <a:bodyPr/>
                    <a:lstStyle/>
                    <a:p>
                      <a:r>
                        <a:rPr sz="1875" b="0">
                          <a:solidFill>
                            <a:srgbClr val="172F3A"/>
                          </a:solidFill>
                          <a:latin typeface="Times New Roman"/>
                          <a:ea typeface="Times New Roman"/>
                          <a:cs typeface="Times New Roman"/>
                        </a:rPr>
                        <a:t>Faces, head direction and YOLO</a:t>
                      </a:r>
                    </a:p>
                  </a:txBody>
                  <a:tcPr>
                    <a:solidFill>
                      <a:srgbClr val="F6F7F4"/>
                    </a:solidFill>
                  </a:tcPr>
                </a:tc>
                <a:extLst>
                  <a:ext uri="{0D108BD9-81ED-4DB2-BD59-A6C34878D82A}">
                    <a16:rowId xmlns:a16="http://schemas.microsoft.com/office/drawing/2014/main" val="10002"/>
                  </a:ext>
                </a:extLst>
              </a:tr>
              <a:tr h="474133">
                <a:tc>
                  <a:txBody>
                    <a:bodyPr/>
                    <a:lstStyle/>
                    <a:p>
                      <a:r>
                        <a:rPr sz="1875" b="0">
                          <a:solidFill>
                            <a:srgbClr val="172F3A"/>
                          </a:solidFill>
                          <a:latin typeface="Times New Roman"/>
                          <a:ea typeface="Times New Roman"/>
                          <a:cs typeface="Times New Roman"/>
                        </a:rPr>
                        <a:t>3  Evidence capture</a:t>
                      </a:r>
                    </a:p>
                  </a:txBody>
                  <a:tcPr>
                    <a:solidFill>
                      <a:srgbClr val="E7EEEA"/>
                    </a:solidFill>
                  </a:tcPr>
                </a:tc>
                <a:tc>
                  <a:txBody>
                    <a:bodyPr/>
                    <a:lstStyle/>
                    <a:p>
                      <a:r>
                        <a:rPr sz="1875" b="0">
                          <a:solidFill>
                            <a:srgbClr val="172F3A"/>
                          </a:solidFill>
                          <a:latin typeface="Times New Roman"/>
                          <a:ea typeface="Times New Roman"/>
                          <a:cs typeface="Times New Roman"/>
                        </a:rPr>
                        <a:t>Evidence files, retries and late recovery</a:t>
                      </a:r>
                    </a:p>
                  </a:txBody>
                  <a:tcPr>
                    <a:solidFill>
                      <a:srgbClr val="E7EEEA"/>
                    </a:solidFill>
                  </a:tcPr>
                </a:tc>
                <a:extLst>
                  <a:ext uri="{0D108BD9-81ED-4DB2-BD59-A6C34878D82A}">
                    <a16:rowId xmlns:a16="http://schemas.microsoft.com/office/drawing/2014/main" val="10003"/>
                  </a:ext>
                </a:extLst>
              </a:tr>
              <a:tr h="474133">
                <a:tc>
                  <a:txBody>
                    <a:bodyPr/>
                    <a:lstStyle/>
                    <a:p>
                      <a:r>
                        <a:rPr sz="1875" b="0">
                          <a:solidFill>
                            <a:srgbClr val="172F3A"/>
                          </a:solidFill>
                          <a:latin typeface="Times New Roman"/>
                          <a:ea typeface="Times New Roman"/>
                          <a:cs typeface="Times New Roman"/>
                        </a:rPr>
                        <a:t>4  System self-check</a:t>
                      </a:r>
                    </a:p>
                  </a:txBody>
                  <a:tcPr>
                    <a:solidFill>
                      <a:srgbClr val="F6F7F4"/>
                    </a:solidFill>
                  </a:tcPr>
                </a:tc>
                <a:tc>
                  <a:txBody>
                    <a:bodyPr/>
                    <a:lstStyle/>
                    <a:p>
                      <a:r>
                        <a:rPr sz="1875" b="0">
                          <a:solidFill>
                            <a:srgbClr val="172F3A"/>
                          </a:solidFill>
                          <a:latin typeface="Times New Roman"/>
                          <a:ea typeface="Times New Roman"/>
                          <a:cs typeface="Times New Roman"/>
                        </a:rPr>
                        <a:t>Hardware and exam readiness</a:t>
                      </a:r>
                    </a:p>
                  </a:txBody>
                  <a:tcPr>
                    <a:solidFill>
                      <a:srgbClr val="F6F7F4"/>
                    </a:solidFill>
                  </a:tcPr>
                </a:tc>
                <a:extLst>
                  <a:ext uri="{0D108BD9-81ED-4DB2-BD59-A6C34878D82A}">
                    <a16:rowId xmlns:a16="http://schemas.microsoft.com/office/drawing/2014/main" val="10004"/>
                  </a:ext>
                </a:extLst>
              </a:tr>
              <a:tr h="474133">
                <a:tc>
                  <a:txBody>
                    <a:bodyPr/>
                    <a:lstStyle/>
                    <a:p>
                      <a:r>
                        <a:rPr sz="1875" b="0">
                          <a:solidFill>
                            <a:srgbClr val="172F3A"/>
                          </a:solidFill>
                          <a:latin typeface="Times New Roman"/>
                          <a:ea typeface="Times New Roman"/>
                          <a:cs typeface="Times New Roman"/>
                        </a:rPr>
                        <a:t>5  Severity scoring</a:t>
                      </a:r>
                    </a:p>
                  </a:txBody>
                  <a:tcPr>
                    <a:solidFill>
                      <a:srgbClr val="E7EEEA"/>
                    </a:solidFill>
                  </a:tcPr>
                </a:tc>
                <a:tc>
                  <a:txBody>
                    <a:bodyPr/>
                    <a:lstStyle/>
                    <a:p>
                      <a:r>
                        <a:rPr sz="1875" b="0">
                          <a:solidFill>
                            <a:srgbClr val="172F3A"/>
                          </a:solidFill>
                          <a:latin typeface="Times New Roman"/>
                          <a:ea typeface="Times New Roman"/>
                          <a:cs typeface="Times New Roman"/>
                        </a:rPr>
                        <a:t>Weighted review priority</a:t>
                      </a:r>
                    </a:p>
                  </a:txBody>
                  <a:tcPr>
                    <a:solidFill>
                      <a:srgbClr val="E7EEEA"/>
                    </a:solidFill>
                  </a:tcPr>
                </a:tc>
                <a:extLst>
                  <a:ext uri="{0D108BD9-81ED-4DB2-BD59-A6C34878D82A}">
                    <a16:rowId xmlns:a16="http://schemas.microsoft.com/office/drawing/2014/main" val="10005"/>
                  </a:ext>
                </a:extLst>
              </a:tr>
              <a:tr h="474133">
                <a:tc>
                  <a:txBody>
                    <a:bodyPr/>
                    <a:lstStyle/>
                    <a:p>
                      <a:r>
                        <a:rPr sz="1875" b="0">
                          <a:solidFill>
                            <a:srgbClr val="172F3A"/>
                          </a:solidFill>
                          <a:latin typeface="Times New Roman"/>
                          <a:ea typeface="Times New Roman"/>
                          <a:cs typeface="Times New Roman"/>
                        </a:rPr>
                        <a:t>6  Examiner dashboard</a:t>
                      </a:r>
                    </a:p>
                  </a:txBody>
                  <a:tcPr>
                    <a:solidFill>
                      <a:srgbClr val="F6F7F4"/>
                    </a:solidFill>
                  </a:tcPr>
                </a:tc>
                <a:tc>
                  <a:txBody>
                    <a:bodyPr/>
                    <a:lstStyle/>
                    <a:p>
                      <a:r>
                        <a:rPr sz="1875" b="0">
                          <a:solidFill>
                            <a:srgbClr val="172F3A"/>
                          </a:solidFill>
                          <a:latin typeface="Times New Roman"/>
                          <a:ea typeface="Times New Roman"/>
                          <a:cs typeface="Times New Roman"/>
                        </a:rPr>
                        <a:t>Live monitoring and interventions</a:t>
                      </a:r>
                    </a:p>
                  </a:txBody>
                  <a:tcPr>
                    <a:solidFill>
                      <a:srgbClr val="F6F7F4"/>
                    </a:solidFill>
                  </a:tcPr>
                </a:tc>
                <a:extLst>
                  <a:ext uri="{0D108BD9-81ED-4DB2-BD59-A6C34878D82A}">
                    <a16:rowId xmlns:a16="http://schemas.microsoft.com/office/drawing/2014/main" val="10006"/>
                  </a:ext>
                </a:extLst>
              </a:tr>
              <a:tr h="474133">
                <a:tc>
                  <a:txBody>
                    <a:bodyPr/>
                    <a:lstStyle/>
                    <a:p>
                      <a:r>
                        <a:rPr sz="1875" b="0">
                          <a:solidFill>
                            <a:srgbClr val="172F3A"/>
                          </a:solidFill>
                          <a:latin typeface="Times New Roman"/>
                          <a:ea typeface="Times New Roman"/>
                          <a:cs typeface="Times New Roman"/>
                        </a:rPr>
                        <a:t>7  Answer submission</a:t>
                      </a:r>
                    </a:p>
                  </a:txBody>
                  <a:tcPr>
                    <a:solidFill>
                      <a:srgbClr val="E7EEEA"/>
                    </a:solidFill>
                  </a:tcPr>
                </a:tc>
                <a:tc>
                  <a:txBody>
                    <a:bodyPr/>
                    <a:lstStyle/>
                    <a:p>
                      <a:r>
                        <a:rPr sz="1875" b="0">
                          <a:solidFill>
                            <a:srgbClr val="172F3A"/>
                          </a:solidFill>
                          <a:latin typeface="Times New Roman"/>
                          <a:ea typeface="Times New Roman"/>
                          <a:cs typeface="Times New Roman"/>
                        </a:rPr>
                        <a:t>Typed answers and attached files</a:t>
                      </a:r>
                    </a:p>
                  </a:txBody>
                  <a:tcPr>
                    <a:solidFill>
                      <a:srgbClr val="E7EEEA"/>
                    </a:solidFill>
                  </a:tcPr>
                </a:tc>
                <a:extLst>
                  <a:ext uri="{0D108BD9-81ED-4DB2-BD59-A6C34878D82A}">
                    <a16:rowId xmlns:a16="http://schemas.microsoft.com/office/drawing/2014/main" val="10007"/>
                  </a:ext>
                </a:extLst>
              </a:tr>
              <a:tr h="474133">
                <a:tc>
                  <a:txBody>
                    <a:bodyPr/>
                    <a:lstStyle/>
                    <a:p>
                      <a:r>
                        <a:rPr sz="1875" b="0">
                          <a:solidFill>
                            <a:srgbClr val="172F3A"/>
                          </a:solidFill>
                          <a:latin typeface="Times New Roman"/>
                          <a:ea typeface="Times New Roman"/>
                          <a:cs typeface="Times New Roman"/>
                        </a:rPr>
                        <a:t>8  Audit reporting</a:t>
                      </a:r>
                    </a:p>
                  </a:txBody>
                  <a:tcPr>
                    <a:solidFill>
                      <a:srgbClr val="F6F7F4"/>
                    </a:solidFill>
                  </a:tcPr>
                </a:tc>
                <a:tc>
                  <a:txBody>
                    <a:bodyPr/>
                    <a:lstStyle/>
                    <a:p>
                      <a:r>
                        <a:rPr sz="1875" b="0">
                          <a:solidFill>
                            <a:srgbClr val="172F3A"/>
                          </a:solidFill>
                          <a:latin typeface="Times New Roman"/>
                          <a:ea typeface="Times New Roman"/>
                          <a:cs typeface="Times New Roman"/>
                        </a:rPr>
                        <a:t>Historical summaries and exports</a:t>
                      </a:r>
                    </a:p>
                  </a:txBody>
                  <a:tcPr>
                    <a:solidFill>
                      <a:srgbClr val="F6F7F4"/>
                    </a:solidFill>
                  </a:tcPr>
                </a:tc>
                <a:extLst>
                  <a:ext uri="{0D108BD9-81ED-4DB2-BD59-A6C34878D82A}">
                    <a16:rowId xmlns:a16="http://schemas.microsoft.com/office/drawing/2014/main" val="10008"/>
                  </a:ext>
                </a:extLst>
              </a:tr>
            </a:tbl>
          </a:graphicData>
        </a:graphic>
      </p:graphicFrame>
      <p:sp>
        <p:nvSpPr>
          <p:cNvPr id="4" name="fixed">
            <a:extLst>
              <a:ext uri="{FF2B5EF4-FFF2-40B4-BE49-F238E27FC236}">
                <a16:creationId xmlns:a16="http://schemas.microsoft.com/office/drawing/2014/main" id="{ADCB160E-943D-44CA-B8B2-1051FA590206}"/>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Added voice verification follows vision. Admin management follows reporting.</a:t>
            </a:r>
          </a:p>
        </p:txBody>
      </p:sp>
    </p:spTree>
    <p:extLst>
      <p:ext uri="{BB962C8B-B14F-4D97-AF65-F5344CB8AC3E}">
        <p14:creationId xmlns:p14="http://schemas.microsoft.com/office/powerpoint/2010/main" val="905686815"/>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5" name="fixed">
            <a:extLst>
              <a:ext uri="{FF2B5EF4-FFF2-40B4-BE49-F238E27FC236}">
                <a16:creationId xmlns:a16="http://schemas.microsoft.com/office/drawing/2014/main" id="{54E115FC-B891-4E87-89BF-9916CAF5551B}"/>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System architecture</a:t>
            </a:r>
          </a:p>
        </p:txBody>
      </p:sp>
      <p:sp>
        <p:nvSpPr>
          <p:cNvPr id="2" name="fixed">
            <a:extLst>
              <a:ext uri="{FF2B5EF4-FFF2-40B4-BE49-F238E27FC236}">
                <a16:creationId xmlns:a16="http://schemas.microsoft.com/office/drawing/2014/main" id="{31E4BEBC-05C5-4ADD-85E8-3C4E32D0320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05</a:t>
            </a:r>
          </a:p>
        </p:txBody>
      </p:sp>
      <p:sp>
        <p:nvSpPr>
          <p:cNvPr id="3" name="reveal-1">
            <a:extLst>
              <a:ext uri="{FF2B5EF4-FFF2-40B4-BE49-F238E27FC236}">
                <a16:creationId xmlns:a16="http://schemas.microsoft.com/office/drawing/2014/main" id="{B1163E57-4980-4E98-A901-6EFC14429423}"/>
              </a:ext>
            </a:extLst>
          </p:cNvPr>
          <p:cNvSpPr>
            <a:spLocks noGrp="1"/>
          </p:cNvSpPr>
          <p:nvPr/>
        </p:nvSpPr>
        <p:spPr>
          <a:xfrm>
            <a:off x="609600"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Python monitors</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Vision / voice / OS</a:t>
            </a:r>
          </a:p>
        </p:txBody>
      </p:sp>
      <p:sp>
        <p:nvSpPr>
          <p:cNvPr id="4" name="reveal-2">
            <a:extLst>
              <a:ext uri="{FF2B5EF4-FFF2-40B4-BE49-F238E27FC236}">
                <a16:creationId xmlns:a16="http://schemas.microsoft.com/office/drawing/2014/main" id="{9245A8CA-64C5-4A7C-8E27-4FB51CF6FF3F}"/>
              </a:ext>
            </a:extLst>
          </p:cNvPr>
          <p:cNvSpPr>
            <a:spLocks noGrp="1"/>
          </p:cNvSpPr>
          <p:nvPr/>
        </p:nvSpPr>
        <p:spPr>
          <a:xfrm>
            <a:off x="3462338"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Electron app</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Kiosk / IPC / queue</a:t>
            </a:r>
          </a:p>
        </p:txBody>
      </p:sp>
      <p:sp>
        <p:nvSpPr>
          <p:cNvPr id="5" name="reveal-3">
            <a:extLst>
              <a:ext uri="{FF2B5EF4-FFF2-40B4-BE49-F238E27FC236}">
                <a16:creationId xmlns:a16="http://schemas.microsoft.com/office/drawing/2014/main" id="{269FBF19-FEC2-43C2-8805-8A606C052613}"/>
              </a:ext>
            </a:extLst>
          </p:cNvPr>
          <p:cNvSpPr>
            <a:spLocks noGrp="1"/>
          </p:cNvSpPr>
          <p:nvPr/>
        </p:nvSpPr>
        <p:spPr>
          <a:xfrm>
            <a:off x="6315075"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Express server</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Validation / scoring</a:t>
            </a:r>
          </a:p>
        </p:txBody>
      </p:sp>
      <p:sp>
        <p:nvSpPr>
          <p:cNvPr id="6" name="reveal-4">
            <a:extLst>
              <a:ext uri="{FF2B5EF4-FFF2-40B4-BE49-F238E27FC236}">
                <a16:creationId xmlns:a16="http://schemas.microsoft.com/office/drawing/2014/main" id="{8E7B73D5-1C57-413C-B1FF-FD23BE1B5AFB}"/>
              </a:ext>
            </a:extLst>
          </p:cNvPr>
          <p:cNvSpPr>
            <a:spLocks noGrp="1"/>
          </p:cNvSpPr>
          <p:nvPr/>
        </p:nvSpPr>
        <p:spPr>
          <a:xfrm>
            <a:off x="9167813" y="25717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React dashboard</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 review</a:t>
            </a:r>
          </a:p>
        </p:txBody>
      </p:sp>
      <p:cxnSp>
        <p:nvCxnSpPr>
          <p:cNvPr id="21" name="reveal-2"/>
          <p:cNvCxnSpPr>
            <a:stCxn id="3" idx="3"/>
            <a:endCxn id="4" idx="1"/>
          </p:cNvCxnSpPr>
          <p:nvPr/>
        </p:nvCxnSpPr>
        <p:spPr>
          <a:xfrm>
            <a:off x="3005138" y="3048000"/>
            <a:ext cx="457200" cy="0"/>
          </a:xfrm>
          <a:prstGeom prst="straightConnector1">
            <a:avLst/>
          </a:prstGeom>
          <a:ln w="19050">
            <a:solidFill>
              <a:srgbClr val="087F8C"/>
            </a:solidFill>
            <a:tailEnd type="arrow" w="med" len="med"/>
          </a:ln>
        </p:spPr>
      </p:cxnSp>
      <p:cxnSp>
        <p:nvCxnSpPr>
          <p:cNvPr id="22" name="reveal-3"/>
          <p:cNvCxnSpPr>
            <a:stCxn id="4" idx="3"/>
            <a:endCxn id="5" idx="1"/>
          </p:cNvCxnSpPr>
          <p:nvPr/>
        </p:nvCxnSpPr>
        <p:spPr>
          <a:xfrm>
            <a:off x="5857876" y="3048000"/>
            <a:ext cx="457199" cy="0"/>
          </a:xfrm>
          <a:prstGeom prst="straightConnector1">
            <a:avLst/>
          </a:prstGeom>
          <a:ln w="19050">
            <a:solidFill>
              <a:srgbClr val="087F8C"/>
            </a:solidFill>
            <a:tailEnd type="arrow" w="med" len="med"/>
          </a:ln>
        </p:spPr>
      </p:cxnSp>
      <p:cxnSp>
        <p:nvCxnSpPr>
          <p:cNvPr id="23" name="reveal-4"/>
          <p:cNvCxnSpPr>
            <a:stCxn id="5" idx="3"/>
            <a:endCxn id="6" idx="1"/>
          </p:cNvCxnSpPr>
          <p:nvPr/>
        </p:nvCxnSpPr>
        <p:spPr>
          <a:xfrm>
            <a:off x="8710613" y="3048000"/>
            <a:ext cx="457200" cy="0"/>
          </a:xfrm>
          <a:prstGeom prst="straightConnector1">
            <a:avLst/>
          </a:prstGeom>
          <a:ln w="19050">
            <a:solidFill>
              <a:srgbClr val="087F8C"/>
            </a:solidFill>
            <a:tailEnd type="arrow" w="med" len="med"/>
          </a:ln>
        </p:spPr>
      </p:cxnSp>
      <p:sp>
        <p:nvSpPr>
          <p:cNvPr id="10" name="reveal-1">
            <a:extLst>
              <a:ext uri="{FF2B5EF4-FFF2-40B4-BE49-F238E27FC236}">
                <a16:creationId xmlns:a16="http://schemas.microsoft.com/office/drawing/2014/main" id="{35AA39B4-7D6C-41EC-927A-60EB943F0F2F}"/>
              </a:ext>
            </a:extLst>
          </p:cNvPr>
          <p:cNvSpPr>
            <a:spLocks noGrp="1"/>
          </p:cNvSpPr>
          <p:nvPr/>
        </p:nvSpPr>
        <p:spPr>
          <a:xfrm>
            <a:off x="6096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SQLite spool</a:t>
            </a:r>
          </a:p>
        </p:txBody>
      </p:sp>
      <p:sp>
        <p:nvSpPr>
          <p:cNvPr id="11" name="reveal-2">
            <a:extLst>
              <a:ext uri="{FF2B5EF4-FFF2-40B4-BE49-F238E27FC236}">
                <a16:creationId xmlns:a16="http://schemas.microsoft.com/office/drawing/2014/main" id="{EB416E32-7E4F-4C49-BF54-59915C81D10D}"/>
              </a:ext>
            </a:extLst>
          </p:cNvPr>
          <p:cNvSpPr>
            <a:spLocks noGrp="1"/>
          </p:cNvSpPr>
          <p:nvPr/>
        </p:nvSpPr>
        <p:spPr>
          <a:xfrm>
            <a:off x="34671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Disk-backed retry queue</a:t>
            </a:r>
          </a:p>
        </p:txBody>
      </p:sp>
      <p:sp>
        <p:nvSpPr>
          <p:cNvPr id="12" name="reveal-3">
            <a:extLst>
              <a:ext uri="{FF2B5EF4-FFF2-40B4-BE49-F238E27FC236}">
                <a16:creationId xmlns:a16="http://schemas.microsoft.com/office/drawing/2014/main" id="{183CB8C4-5602-4D05-84AB-9043C0E0B75A}"/>
              </a:ext>
            </a:extLst>
          </p:cNvPr>
          <p:cNvSpPr>
            <a:spLocks noGrp="1"/>
          </p:cNvSpPr>
          <p:nvPr/>
        </p:nvSpPr>
        <p:spPr>
          <a:xfrm>
            <a:off x="63246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MongoDB + media files</a:t>
            </a:r>
          </a:p>
        </p:txBody>
      </p:sp>
      <p:sp>
        <p:nvSpPr>
          <p:cNvPr id="13" name="reveal-4">
            <a:extLst>
              <a:ext uri="{FF2B5EF4-FFF2-40B4-BE49-F238E27FC236}">
                <a16:creationId xmlns:a16="http://schemas.microsoft.com/office/drawing/2014/main" id="{00BCAF2F-4C6D-4E61-BCF5-D69C6F31E701}"/>
              </a:ext>
            </a:extLst>
          </p:cNvPr>
          <p:cNvSpPr>
            <a:spLocks noGrp="1"/>
          </p:cNvSpPr>
          <p:nvPr/>
        </p:nvSpPr>
        <p:spPr>
          <a:xfrm>
            <a:off x="9182100" y="3829050"/>
            <a:ext cx="2428875" cy="838200"/>
          </a:xfrm>
          <a:prstGeom prst="rect">
            <a:avLst/>
          </a:prstGeom>
          <a:noFill/>
          <a:ln w="0">
            <a:noFill/>
          </a:ln>
        </p:spPr>
        <p:txBody>
          <a:bodyPr>
            <a:noAutofit/>
          </a:bodyPr>
          <a:lstStyle/>
          <a:p>
            <a:pPr algn="l">
              <a:defRPr sz="2025" b="0">
                <a:solidFill>
                  <a:srgbClr val="4C6471"/>
                </a:solidFill>
                <a:latin typeface="Times New Roman"/>
                <a:ea typeface="Times New Roman"/>
                <a:cs typeface="Times New Roman"/>
              </a:defRPr>
            </a:pPr>
            <a:r>
              <a:rPr sz="2025" b="0">
                <a:solidFill>
                  <a:srgbClr val="4C6471"/>
                </a:solidFill>
                <a:latin typeface="Times New Roman"/>
                <a:ea typeface="Times New Roman"/>
                <a:cs typeface="Times New Roman"/>
              </a:rPr>
              <a:t>Owned-exam socket events</a:t>
            </a:r>
          </a:p>
        </p:txBody>
      </p:sp>
      <p:sp>
        <p:nvSpPr>
          <p:cNvPr id="14" name="fixed">
            <a:extLst>
              <a:ext uri="{FF2B5EF4-FFF2-40B4-BE49-F238E27FC236}">
                <a16:creationId xmlns:a16="http://schemas.microsoft.com/office/drawing/2014/main" id="{CE52C390-73A6-4EC7-818F-0314AC5E7E4C}"/>
              </a:ext>
            </a:extLst>
          </p:cNvPr>
          <p:cNvSpPr>
            <a:spLocks noGrp="1"/>
          </p:cNvSpPr>
          <p:nvPr/>
        </p:nvSpPr>
        <p:spPr>
          <a:xfrm>
            <a:off x="609600" y="5276850"/>
            <a:ext cx="10953750" cy="781050"/>
          </a:xfrm>
          <a:prstGeom prst="rect">
            <a:avLst/>
          </a:prstGeom>
          <a:noFill/>
          <a:ln w="0">
            <a:noFill/>
          </a:ln>
        </p:spPr>
        <p:txBody>
          <a:bodyPr>
            <a:noAutofit/>
          </a:bodyPr>
          <a:lstStyle/>
          <a:p>
            <a:pPr algn="l">
              <a:defRPr sz="2550" b="1">
                <a:solidFill>
                  <a:srgbClr val="172F3A"/>
                </a:solidFill>
                <a:latin typeface="Times New Roman"/>
                <a:ea typeface="Times New Roman"/>
                <a:cs typeface="Times New Roman"/>
              </a:defRPr>
            </a:pPr>
            <a:r>
              <a:rPr sz="2550" b="1">
                <a:solidFill>
                  <a:srgbClr val="172F3A"/>
                </a:solidFill>
                <a:latin typeface="Times New Roman"/>
                <a:ea typeface="Times New Roman"/>
                <a:cs typeface="Times New Roman"/>
              </a:rPr>
              <a:t>The device detects events. The server preserves them. The examiner reviews them.</a:t>
            </a:r>
          </a:p>
        </p:txBody>
      </p:sp>
    </p:spTree>
    <p:extLst>
      <p:ext uri="{BB962C8B-B14F-4D97-AF65-F5344CB8AC3E}">
        <p14:creationId xmlns:p14="http://schemas.microsoft.com/office/powerpoint/2010/main" val="5184715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350"/>
                                  <p:tgtEl>
                                    <p:spTgt spid="10"/>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50"/>
                                  <p:tgtEl>
                                    <p:spTgt spid="4"/>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350"/>
                                  <p:tgtEl>
                                    <p:spTgt spid="21"/>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childTnLst>
                    </p:cTn>
                  </p:par>
                  <p:par>
                    <p:cTn id="20" fill="hold">
                      <p:stCondLst>
                        <p:cond delay="indefinite"/>
                      </p:stCondLst>
                      <p:childTnLst>
                        <p:par>
                          <p:cTn id="21" presetID="10" presetClass="entr" presetSubtype="0" fill="hold" grpId="3"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350"/>
                                  <p:tgtEl>
                                    <p:spTgt spid="5"/>
                                  </p:tgtEl>
                                </p:cBhvr>
                              </p:animEffect>
                            </p:childTnLst>
                          </p:cTn>
                        </p:par>
                        <p:par>
                          <p:cTn id="24" presetID="10" presetClass="entr" presetSubtype="0" fill="hold" grpId="3"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350"/>
                                  <p:tgtEl>
                                    <p:spTgt spid="22"/>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350"/>
                                  <p:tgtEl>
                                    <p:spTgt spid="6"/>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350"/>
                                  <p:tgtEl>
                                    <p:spTgt spid="23"/>
                                  </p:tgtEl>
                                </p:cBhvr>
                              </p:animEffect>
                            </p:childTnLst>
                          </p:cTn>
                        </p:par>
                        <p:par>
                          <p:cTn id="37" presetID="10" presetClass="entr" presetSubtype="0" fill="hold" grpId="4"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animBg="1"/>
      <p:bldP spid="4" grpId="2" uiExpand="1" animBg="1"/>
      <p:bldP spid="5" grpId="3" uiExpand="1" animBg="1"/>
      <p:bldP spid="6" grpId="4" uiExpand="1" animBg="1"/>
      <p:bldP spid="21" grpId="2" uiExpand="1" animBg="1"/>
      <p:bldP spid="22" grpId="3" uiExpand="1" animBg="1"/>
      <p:bldP spid="23" grpId="4" uiExpand="1" animBg="1"/>
      <p:bldP spid="10" grpId="1" uiExpand="1"/>
      <p:bldP spid="11" grpId="2" uiExpand="1"/>
      <p:bldP spid="12" grpId="3" uiExpand="1"/>
      <p:bldP spid="13" grpId="4" uiExpan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5828DD12-49CD-4D1A-B1E4-D408D921619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01</a:t>
            </a:r>
          </a:p>
        </p:txBody>
      </p:sp>
      <p:sp>
        <p:nvSpPr>
          <p:cNvPr id="3" name="fixed">
            <a:extLst>
              <a:ext uri="{FF2B5EF4-FFF2-40B4-BE49-F238E27FC236}">
                <a16:creationId xmlns:a16="http://schemas.microsoft.com/office/drawing/2014/main" id="{22EC143E-B788-4C77-B725-657303C65C1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Secure examination environment</a:t>
            </a:r>
          </a:p>
        </p:txBody>
      </p:sp>
      <p:sp>
        <p:nvSpPr>
          <p:cNvPr id="4" name="fixed">
            <a:extLst>
              <a:ext uri="{FF2B5EF4-FFF2-40B4-BE49-F238E27FC236}">
                <a16:creationId xmlns:a16="http://schemas.microsoft.com/office/drawing/2014/main" id="{4C7498FD-7F20-4A5D-8F76-F7BEA764B0B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2D82D5B6-AE23-4F84-A067-38EDA9675BCC}"/>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C2CF55E1-5BE1-4BCE-B5BB-7EBE81717ED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06</a:t>
            </a:r>
          </a:p>
        </p:txBody>
      </p:sp>
      <p:sp>
        <p:nvSpPr>
          <p:cNvPr id="7" name="reveal-1">
            <a:extLst>
              <a:ext uri="{FF2B5EF4-FFF2-40B4-BE49-F238E27FC236}">
                <a16:creationId xmlns:a16="http://schemas.microsoft.com/office/drawing/2014/main" id="{999DED13-887C-4EE5-A9CD-554D050C5CDB}"/>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Keep the candidate inside the teacher-approved examination environment.</a:t>
            </a:r>
          </a:p>
        </p:txBody>
      </p:sp>
      <p:sp>
        <p:nvSpPr>
          <p:cNvPr id="8" name="reveal-2">
            <a:extLst>
              <a:ext uri="{FF2B5EF4-FFF2-40B4-BE49-F238E27FC236}">
                <a16:creationId xmlns:a16="http://schemas.microsoft.com/office/drawing/2014/main" id="{EC987484-26AF-4246-8C63-C999528851E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51B31AB9-DEF4-492F-9016-42900A299E48}"/>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Electron kiosk  /  Python psutil  /  Windows CIM</a:t>
            </a:r>
          </a:p>
        </p:txBody>
      </p:sp>
      <p:sp>
        <p:nvSpPr>
          <p:cNvPr id="10" name="reveal-3">
            <a:extLst>
              <a:ext uri="{FF2B5EF4-FFF2-40B4-BE49-F238E27FC236}">
                <a16:creationId xmlns:a16="http://schemas.microsoft.com/office/drawing/2014/main" id="{AB4B64D4-4166-4CE3-8683-15493FA91CFA}"/>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rules</a:t>
            </a:r>
          </a:p>
        </p:txBody>
      </p:sp>
      <p:sp>
        <p:nvSpPr>
          <p:cNvPr id="11" name="reveal-4">
            <a:extLst>
              <a:ext uri="{FF2B5EF4-FFF2-40B4-BE49-F238E27FC236}">
                <a16:creationId xmlns:a16="http://schemas.microsoft.com/office/drawing/2014/main" id="{0A5106BA-2883-4EE4-883E-C1DAFA443D7A}"/>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Local checks</a:t>
            </a:r>
          </a:p>
        </p:txBody>
      </p:sp>
      <p:sp>
        <p:nvSpPr>
          <p:cNvPr id="12" name="reveal-5">
            <a:extLst>
              <a:ext uri="{FF2B5EF4-FFF2-40B4-BE49-F238E27FC236}">
                <a16:creationId xmlns:a16="http://schemas.microsoft.com/office/drawing/2014/main" id="{DD124971-7253-463A-BFE6-0984D8EE69B0}"/>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Control and alert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711345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0B0B238A-7BBD-460F-B21A-391773020B13}"/>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WORKING AND EXAMPLE</a:t>
            </a:r>
          </a:p>
        </p:txBody>
      </p:sp>
      <p:sp>
        <p:nvSpPr>
          <p:cNvPr id="2" name="fixed">
            <a:extLst>
              <a:ext uri="{FF2B5EF4-FFF2-40B4-BE49-F238E27FC236}">
                <a16:creationId xmlns:a16="http://schemas.microsoft.com/office/drawing/2014/main" id="{5207C707-A086-4442-A1F9-0B30E5EDAEC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Whitelist enforcement</a:t>
            </a:r>
          </a:p>
        </p:txBody>
      </p:sp>
      <p:sp>
        <p:nvSpPr>
          <p:cNvPr id="3" name="fixed">
            <a:extLst>
              <a:ext uri="{FF2B5EF4-FFF2-40B4-BE49-F238E27FC236}">
                <a16:creationId xmlns:a16="http://schemas.microsoft.com/office/drawing/2014/main" id="{213B314E-AF37-4049-B7F1-67E20551483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D5B3B0F7-A979-456B-AB8C-DC729A603375}"/>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CB35E519-F8DB-4EDE-B1CC-2DA73542530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07</a:t>
            </a:r>
          </a:p>
        </p:txBody>
      </p:sp>
      <p:sp>
        <p:nvSpPr>
          <p:cNvPr id="6" name="reveal-1">
            <a:extLst>
              <a:ext uri="{FF2B5EF4-FFF2-40B4-BE49-F238E27FC236}">
                <a16:creationId xmlns:a16="http://schemas.microsoft.com/office/drawing/2014/main" id="{AD7293F2-6430-4856-B8F1-6F2FFB0E0328}"/>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Teacher allowlist</a:t>
            </a:r>
          </a:p>
        </p:txBody>
      </p:sp>
      <p:sp>
        <p:nvSpPr>
          <p:cNvPr id="7" name="reveal-2">
            <a:extLst>
              <a:ext uri="{FF2B5EF4-FFF2-40B4-BE49-F238E27FC236}">
                <a16:creationId xmlns:a16="http://schemas.microsoft.com/office/drawing/2014/main" id="{EDC687E9-0763-46EF-8331-DC6FDF56462C}"/>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psutil process scan</a:t>
            </a:r>
          </a:p>
        </p:txBody>
      </p:sp>
      <p:sp>
        <p:nvSpPr>
          <p:cNvPr id="8" name="reveal-3">
            <a:extLst>
              <a:ext uri="{FF2B5EF4-FFF2-40B4-BE49-F238E27FC236}">
                <a16:creationId xmlns:a16="http://schemas.microsoft.com/office/drawing/2014/main" id="{AEF06D30-1B7C-4642-B311-7B8B07DFF841}"/>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Protected / allowed?</a:t>
            </a:r>
          </a:p>
        </p:txBody>
      </p:sp>
      <p:sp>
        <p:nvSpPr>
          <p:cNvPr id="9" name="reveal-4">
            <a:extLst>
              <a:ext uri="{FF2B5EF4-FFF2-40B4-BE49-F238E27FC236}">
                <a16:creationId xmlns:a16="http://schemas.microsoft.com/office/drawing/2014/main" id="{0994F619-D701-434C-99AF-DA72EDCC605B}"/>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Continue or enforce</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6B4DBC05-9F36-4918-8A52-CA71FC319E26}"/>
              </a:ext>
            </a:extLst>
          </p:cNvPr>
          <p:cNvSpPr>
            <a:spLocks noGrp="1"/>
          </p:cNvSpPr>
          <p:nvPr/>
        </p:nvSpPr>
        <p:spPr>
          <a:xfrm>
            <a:off x="60960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permitted tool</a:t>
            </a:r>
          </a:p>
        </p:txBody>
      </p:sp>
      <p:sp>
        <p:nvSpPr>
          <p:cNvPr id="14" name="reveal-5">
            <a:extLst>
              <a:ext uri="{FF2B5EF4-FFF2-40B4-BE49-F238E27FC236}">
                <a16:creationId xmlns:a16="http://schemas.microsoft.com/office/drawing/2014/main" id="{65574B96-991D-4DA6-82B9-26452AF01CE1}"/>
              </a:ext>
            </a:extLst>
          </p:cNvPr>
          <p:cNvSpPr>
            <a:spLocks noGrp="1"/>
          </p:cNvSpPr>
          <p:nvPr/>
        </p:nvSpPr>
        <p:spPr>
          <a:xfrm>
            <a:off x="60960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Notepad is permitted for this exam.</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Its process remains available.</a:t>
            </a:r>
          </a:p>
        </p:txBody>
      </p:sp>
      <p:sp>
        <p:nvSpPr>
          <p:cNvPr id="15" name="reveal-6">
            <a:extLst>
              <a:ext uri="{FF2B5EF4-FFF2-40B4-BE49-F238E27FC236}">
                <a16:creationId xmlns:a16="http://schemas.microsoft.com/office/drawing/2014/main" id="{49C8ECAD-B5FC-47CA-88EC-13FB8A1ECE2A}"/>
              </a:ext>
            </a:extLst>
          </p:cNvPr>
          <p:cNvSpPr>
            <a:spLocks noGrp="1"/>
          </p:cNvSpPr>
          <p:nvPr/>
        </p:nvSpPr>
        <p:spPr>
          <a:xfrm>
            <a:off x="638175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unapproved tool</a:t>
            </a:r>
          </a:p>
        </p:txBody>
      </p:sp>
      <p:sp>
        <p:nvSpPr>
          <p:cNvPr id="16" name="reveal-6">
            <a:extLst>
              <a:ext uri="{FF2B5EF4-FFF2-40B4-BE49-F238E27FC236}">
                <a16:creationId xmlns:a16="http://schemas.microsoft.com/office/drawing/2014/main" id="{8C8EADEC-4FEC-440D-ADC3-60E69878A8EB}"/>
              </a:ext>
            </a:extLst>
          </p:cNvPr>
          <p:cNvSpPr>
            <a:spLocks noGrp="1"/>
          </p:cNvSpPr>
          <p:nvPr/>
        </p:nvSpPr>
        <p:spPr>
          <a:xfrm>
            <a:off x="638175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browser is not on the exam allowlist.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Strict mode enforces the rule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records an event.</a:t>
            </a:r>
          </a:p>
        </p:txBody>
      </p:sp>
      <p:sp>
        <p:nvSpPr>
          <p:cNvPr id="17" name="fixed">
            <a:extLst>
              <a:ext uri="{FF2B5EF4-FFF2-40B4-BE49-F238E27FC236}">
                <a16:creationId xmlns:a16="http://schemas.microsoft.com/office/drawing/2014/main" id="{173F4F0C-6FA4-432C-9D58-13C3FF4B3550}"/>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Essential system services and the monitoring process remain protected.</a:t>
            </a:r>
          </a:p>
        </p:txBody>
      </p:sp>
    </p:spTree>
    <p:extLst>
      <p:ext uri="{BB962C8B-B14F-4D97-AF65-F5344CB8AC3E}">
        <p14:creationId xmlns:p14="http://schemas.microsoft.com/office/powerpoint/2010/main" val="11320636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E07F6C7-F4B4-4BE8-BE4E-889DAD0B1AF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WORKING AND EXAMPLE</a:t>
            </a:r>
          </a:p>
        </p:txBody>
      </p:sp>
      <p:sp>
        <p:nvSpPr>
          <p:cNvPr id="2" name="fixed">
            <a:extLst>
              <a:ext uri="{FF2B5EF4-FFF2-40B4-BE49-F238E27FC236}">
                <a16:creationId xmlns:a16="http://schemas.microsoft.com/office/drawing/2014/main" id="{F377C685-658B-433F-ACE6-4170918F898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Pre-existing file policy</a:t>
            </a:r>
          </a:p>
        </p:txBody>
      </p:sp>
      <p:sp>
        <p:nvSpPr>
          <p:cNvPr id="3" name="fixed">
            <a:extLst>
              <a:ext uri="{FF2B5EF4-FFF2-40B4-BE49-F238E27FC236}">
                <a16:creationId xmlns:a16="http://schemas.microsoft.com/office/drawing/2014/main" id="{5D64B61C-085E-4BF6-90C5-3AEBE313D9BF}"/>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03EFF7FA-ABEA-4D17-B3D9-B7D74351CF00}"/>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1871B05B-BC4B-48C8-B81C-A69A08FEEA9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08</a:t>
            </a:r>
          </a:p>
        </p:txBody>
      </p:sp>
      <p:sp>
        <p:nvSpPr>
          <p:cNvPr id="6" name="reveal-1">
            <a:extLst>
              <a:ext uri="{FF2B5EF4-FFF2-40B4-BE49-F238E27FC236}">
                <a16:creationId xmlns:a16="http://schemas.microsoft.com/office/drawing/2014/main" id="{BC41D7DF-CBFA-4F43-A674-E100011B7811}"/>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Observe open file</a:t>
            </a:r>
          </a:p>
        </p:txBody>
      </p:sp>
      <p:sp>
        <p:nvSpPr>
          <p:cNvPr id="7" name="reveal-2">
            <a:extLst>
              <a:ext uri="{FF2B5EF4-FFF2-40B4-BE49-F238E27FC236}">
                <a16:creationId xmlns:a16="http://schemas.microsoft.com/office/drawing/2014/main" id="{440FEA66-4D8D-4DA9-8A43-511200184F8D}"/>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Exact permitted path?</a:t>
            </a:r>
          </a:p>
        </p:txBody>
      </p:sp>
      <p:sp>
        <p:nvSpPr>
          <p:cNvPr id="8" name="reveal-3">
            <a:extLst>
              <a:ext uri="{FF2B5EF4-FFF2-40B4-BE49-F238E27FC236}">
                <a16:creationId xmlns:a16="http://schemas.microsoft.com/office/drawing/2014/main" id="{883D622F-A7E4-41F9-9BD3-84B53B8AA977}"/>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Pre-exam timestamp?</a:t>
            </a:r>
          </a:p>
        </p:txBody>
      </p:sp>
      <p:sp>
        <p:nvSpPr>
          <p:cNvPr id="9" name="reveal-4">
            <a:extLst>
              <a:ext uri="{FF2B5EF4-FFF2-40B4-BE49-F238E27FC236}">
                <a16:creationId xmlns:a16="http://schemas.microsoft.com/office/drawing/2014/main" id="{8394150A-1D06-4791-9F94-013EFD32E31F}"/>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Verified owner action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9335E1F1-81AA-495F-A956-6D7583AC59D7}"/>
              </a:ext>
            </a:extLst>
          </p:cNvPr>
          <p:cNvSpPr>
            <a:spLocks noGrp="1"/>
          </p:cNvSpPr>
          <p:nvPr/>
        </p:nvSpPr>
        <p:spPr>
          <a:xfrm>
            <a:off x="60960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Permitted reference</a:t>
            </a:r>
          </a:p>
        </p:txBody>
      </p:sp>
      <p:sp>
        <p:nvSpPr>
          <p:cNvPr id="14" name="reveal-5">
            <a:extLst>
              <a:ext uri="{FF2B5EF4-FFF2-40B4-BE49-F238E27FC236}">
                <a16:creationId xmlns:a16="http://schemas.microsoft.com/office/drawing/2014/main" id="{4A6BC241-4A6E-4443-9FA5-526E6CC67397}"/>
              </a:ext>
            </a:extLst>
          </p:cNvPr>
          <p:cNvSpPr>
            <a:spLocks noGrp="1"/>
          </p:cNvSpPr>
          <p:nvPr/>
        </p:nvSpPr>
        <p:spPr>
          <a:xfrm>
            <a:off x="60960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 exact handbook path is permitted.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That file can have an old timestamp.</a:t>
            </a:r>
          </a:p>
        </p:txBody>
      </p:sp>
      <p:sp>
        <p:nvSpPr>
          <p:cNvPr id="15" name="reveal-6">
            <a:extLst>
              <a:ext uri="{FF2B5EF4-FFF2-40B4-BE49-F238E27FC236}">
                <a16:creationId xmlns:a16="http://schemas.microsoft.com/office/drawing/2014/main" id="{8A18C242-9C06-4961-98F4-CD70330B5DA7}"/>
              </a:ext>
            </a:extLst>
          </p:cNvPr>
          <p:cNvSpPr>
            <a:spLocks noGrp="1"/>
          </p:cNvSpPr>
          <p:nvPr/>
        </p:nvSpPr>
        <p:spPr>
          <a:xfrm>
            <a:off x="6381750" y="39528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Unapproved old notes</a:t>
            </a:r>
          </a:p>
        </p:txBody>
      </p:sp>
      <p:sp>
        <p:nvSpPr>
          <p:cNvPr id="16" name="reveal-6">
            <a:extLst>
              <a:ext uri="{FF2B5EF4-FFF2-40B4-BE49-F238E27FC236}">
                <a16:creationId xmlns:a16="http://schemas.microsoft.com/office/drawing/2014/main" id="{7382A921-198C-4C5F-B3DA-D3CA859B11AE}"/>
              </a:ext>
            </a:extLst>
          </p:cNvPr>
          <p:cNvSpPr>
            <a:spLocks noGrp="1"/>
          </p:cNvSpPr>
          <p:nvPr/>
        </p:nvSpPr>
        <p:spPr>
          <a:xfrm>
            <a:off x="6381750" y="45815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Old notes are open in an allowed editor.</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Only the verified owner is targeted.</a:t>
            </a:r>
          </a:p>
        </p:txBody>
      </p:sp>
      <p:sp>
        <p:nvSpPr>
          <p:cNvPr id="17" name="fixed">
            <a:extLst>
              <a:ext uri="{FF2B5EF4-FFF2-40B4-BE49-F238E27FC236}">
                <a16:creationId xmlns:a16="http://schemas.microsoft.com/office/drawing/2014/main" id="{E292CC78-F567-42B6-9E5B-3016E0CBEC5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An uncertain Recent-file entry creates a review signal without closing unrelated applications.</a:t>
            </a:r>
          </a:p>
        </p:txBody>
      </p:sp>
    </p:spTree>
    <p:extLst>
      <p:ext uri="{BB962C8B-B14F-4D97-AF65-F5344CB8AC3E}">
        <p14:creationId xmlns:p14="http://schemas.microsoft.com/office/powerpoint/2010/main" val="4324853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6" name="fixed">
            <a:extLst>
              <a:ext uri="{FF2B5EF4-FFF2-40B4-BE49-F238E27FC236}">
                <a16:creationId xmlns:a16="http://schemas.microsoft.com/office/drawing/2014/main" id="{6950DAD7-0468-46E9-841F-7B033C6E817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01 / ADDITIONAL CONTROLS</a:t>
            </a:r>
          </a:p>
        </p:txBody>
      </p:sp>
      <p:sp>
        <p:nvSpPr>
          <p:cNvPr id="2" name="fixed">
            <a:extLst>
              <a:ext uri="{FF2B5EF4-FFF2-40B4-BE49-F238E27FC236}">
                <a16:creationId xmlns:a16="http://schemas.microsoft.com/office/drawing/2014/main" id="{1BC66F37-2A89-4540-B09A-660DD49DBF4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USB storage and display checks</a:t>
            </a:r>
          </a:p>
        </p:txBody>
      </p:sp>
      <p:sp>
        <p:nvSpPr>
          <p:cNvPr id="3" name="fixed">
            <a:extLst>
              <a:ext uri="{FF2B5EF4-FFF2-40B4-BE49-F238E27FC236}">
                <a16:creationId xmlns:a16="http://schemas.microsoft.com/office/drawing/2014/main" id="{09741979-F1AE-47F5-B894-75BA0875669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CEB00344-9F5C-414E-9C75-1BBF79A0E9D6}"/>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846644F0-87EC-4C20-82BC-87A2F1E7149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09</a:t>
            </a:r>
          </a:p>
        </p:txBody>
      </p:sp>
      <p:sp>
        <p:nvSpPr>
          <p:cNvPr id="6" name="reveal-1">
            <a:extLst>
              <a:ext uri="{FF2B5EF4-FFF2-40B4-BE49-F238E27FC236}">
                <a16:creationId xmlns:a16="http://schemas.microsoft.com/office/drawing/2014/main" id="{14C0C172-B1FE-4709-8958-1066D9D53FFD}"/>
              </a:ext>
            </a:extLst>
          </p:cNvPr>
          <p:cNvSpPr>
            <a:spLocks noGrp="1"/>
          </p:cNvSpPr>
          <p:nvPr/>
        </p:nvSpPr>
        <p:spPr>
          <a:xfrm>
            <a:off x="609600" y="22193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Removable storage</a:t>
            </a:r>
          </a:p>
        </p:txBody>
      </p:sp>
      <p:sp>
        <p:nvSpPr>
          <p:cNvPr id="7" name="reveal-1">
            <a:extLst>
              <a:ext uri="{FF2B5EF4-FFF2-40B4-BE49-F238E27FC236}">
                <a16:creationId xmlns:a16="http://schemas.microsoft.com/office/drawing/2014/main" id="{778E9DCB-C468-4C77-9A96-54468C41F4EC}"/>
              </a:ext>
            </a:extLst>
          </p:cNvPr>
          <p:cNvSpPr>
            <a:spLocks noGrp="1"/>
          </p:cNvSpPr>
          <p:nvPr/>
        </p:nvSpPr>
        <p:spPr>
          <a:xfrm>
            <a:off x="609600" y="28479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Windows CIM detects USB mass storage.</a:t>
            </a:r>
          </a:p>
          <a:p>
            <a:pPr algn="l">
              <a:defRPr sz="2100" b="0">
                <a:solidFill>
                  <a:srgbClr val="4C6471"/>
                </a:solidFill>
                <a:latin typeface="Times New Roman"/>
                <a:ea typeface="Times New Roman"/>
                <a:cs typeface="Times New Roman"/>
              </a:defRPr>
            </a:pPr>
            <a:r>
              <a:rPr lang="en-US" sz="2100" dirty="0">
                <a:solidFill>
                  <a:srgbClr val="4C6471"/>
                </a:solidFill>
                <a:latin typeface="Times New Roman"/>
                <a:ea typeface="Times New Roman"/>
                <a:cs typeface="Times New Roman"/>
              </a:rPr>
              <a:t>C</a:t>
            </a:r>
            <a:r>
              <a:rPr sz="2100" b="0" dirty="0">
                <a:solidFill>
                  <a:srgbClr val="4C6471"/>
                </a:solidFill>
                <a:latin typeface="Times New Roman"/>
                <a:ea typeface="Times New Roman"/>
                <a:cs typeface="Times New Roman"/>
              </a:rPr>
              <a:t>onnected drive raises an event.</a:t>
            </a:r>
          </a:p>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Keyboards and mice are not storage.</a:t>
            </a:r>
          </a:p>
        </p:txBody>
      </p:sp>
      <p:sp>
        <p:nvSpPr>
          <p:cNvPr id="8" name="reveal-2">
            <a:extLst>
              <a:ext uri="{FF2B5EF4-FFF2-40B4-BE49-F238E27FC236}">
                <a16:creationId xmlns:a16="http://schemas.microsoft.com/office/drawing/2014/main" id="{B4EEE99C-1BDF-4E18-B982-57A74C0F0F3F}"/>
              </a:ext>
            </a:extLst>
          </p:cNvPr>
          <p:cNvSpPr>
            <a:spLocks noGrp="1"/>
          </p:cNvSpPr>
          <p:nvPr/>
        </p:nvSpPr>
        <p:spPr>
          <a:xfrm>
            <a:off x="6381750" y="22193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Additional displays</a:t>
            </a:r>
          </a:p>
        </p:txBody>
      </p:sp>
      <p:sp>
        <p:nvSpPr>
          <p:cNvPr id="9" name="reveal-2">
            <a:extLst>
              <a:ext uri="{FF2B5EF4-FFF2-40B4-BE49-F238E27FC236}">
                <a16:creationId xmlns:a16="http://schemas.microsoft.com/office/drawing/2014/main" id="{1325C145-953E-463A-84CB-D2F6CF55EE5A}"/>
              </a:ext>
            </a:extLst>
          </p:cNvPr>
          <p:cNvSpPr>
            <a:spLocks noGrp="1"/>
          </p:cNvSpPr>
          <p:nvPr/>
        </p:nvSpPr>
        <p:spPr>
          <a:xfrm>
            <a:off x="6381750" y="28479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Electron inspects connected displays.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second display prevents readiness.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HDMI projection can therefore block entry.</a:t>
            </a:r>
          </a:p>
        </p:txBody>
      </p:sp>
      <p:sp>
        <p:nvSpPr>
          <p:cNvPr id="10" name="reveal-1">
            <a:extLst>
              <a:ext uri="{FF2B5EF4-FFF2-40B4-BE49-F238E27FC236}">
                <a16:creationId xmlns:a16="http://schemas.microsoft.com/office/drawing/2014/main" id="{189FBBD0-2EA1-4160-AF69-221F30BA5206}"/>
              </a:ext>
            </a:extLst>
          </p:cNvPr>
          <p:cNvSpPr>
            <a:spLocks noGrp="1"/>
          </p:cNvSpPr>
          <p:nvPr/>
        </p:nvSpPr>
        <p:spPr>
          <a:xfrm>
            <a:off x="60960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USB drive / extra display</a:t>
            </a:r>
          </a:p>
        </p:txBody>
      </p:sp>
      <p:sp>
        <p:nvSpPr>
          <p:cNvPr id="11" name="reveal-2">
            <a:extLst>
              <a:ext uri="{FF2B5EF4-FFF2-40B4-BE49-F238E27FC236}">
                <a16:creationId xmlns:a16="http://schemas.microsoft.com/office/drawing/2014/main" id="{5812ACA5-2E58-4B91-9F0D-F6087BEBEB4F}"/>
              </a:ext>
            </a:extLst>
          </p:cNvPr>
          <p:cNvSpPr>
            <a:spLocks noGrp="1"/>
          </p:cNvSpPr>
          <p:nvPr/>
        </p:nvSpPr>
        <p:spPr>
          <a:xfrm>
            <a:off x="441325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Device-state check</a:t>
            </a:r>
          </a:p>
        </p:txBody>
      </p:sp>
      <p:sp>
        <p:nvSpPr>
          <p:cNvPr id="12" name="reveal-3">
            <a:extLst>
              <a:ext uri="{FF2B5EF4-FFF2-40B4-BE49-F238E27FC236}">
                <a16:creationId xmlns:a16="http://schemas.microsoft.com/office/drawing/2014/main" id="{472CB1F6-A6CC-4B9F-BBA1-3820058FB801}"/>
              </a:ext>
            </a:extLst>
          </p:cNvPr>
          <p:cNvSpPr>
            <a:spLocks noGrp="1"/>
          </p:cNvSpPr>
          <p:nvPr/>
        </p:nvSpPr>
        <p:spPr>
          <a:xfrm>
            <a:off x="8216900" y="49053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Candidate notice / event</a:t>
            </a:r>
          </a:p>
        </p:txBody>
      </p:sp>
      <p:cxnSp>
        <p:nvCxnSpPr>
          <p:cNvPr id="28" name="reveal-2"/>
          <p:cNvCxnSpPr>
            <a:stCxn id="10" idx="3"/>
            <a:endCxn id="11" idx="1"/>
          </p:cNvCxnSpPr>
          <p:nvPr/>
        </p:nvCxnSpPr>
        <p:spPr>
          <a:xfrm>
            <a:off x="3956050" y="5381625"/>
            <a:ext cx="457200" cy="0"/>
          </a:xfrm>
          <a:prstGeom prst="straightConnector1">
            <a:avLst/>
          </a:prstGeom>
          <a:ln w="19050">
            <a:solidFill>
              <a:srgbClr val="087F8C"/>
            </a:solidFill>
            <a:tailEnd type="arrow" w="med" len="med"/>
          </a:ln>
        </p:spPr>
      </p:cxnSp>
      <p:cxnSp>
        <p:nvCxnSpPr>
          <p:cNvPr id="29" name="reveal-3"/>
          <p:cNvCxnSpPr>
            <a:stCxn id="11" idx="3"/>
            <a:endCxn id="12" idx="1"/>
          </p:cNvCxnSpPr>
          <p:nvPr/>
        </p:nvCxnSpPr>
        <p:spPr>
          <a:xfrm>
            <a:off x="7759700" y="5381625"/>
            <a:ext cx="457200" cy="0"/>
          </a:xfrm>
          <a:prstGeom prst="straightConnector1">
            <a:avLst/>
          </a:prstGeom>
          <a:ln w="19050">
            <a:solidFill>
              <a:srgbClr val="087F8C"/>
            </a:solidFill>
            <a:tailEnd type="arrow" w="med" len="med"/>
          </a:ln>
        </p:spPr>
      </p:cxnSp>
      <p:sp>
        <p:nvSpPr>
          <p:cNvPr id="15" name="fixed">
            <a:extLst>
              <a:ext uri="{FF2B5EF4-FFF2-40B4-BE49-F238E27FC236}">
                <a16:creationId xmlns:a16="http://schemas.microsoft.com/office/drawing/2014/main" id="{5FE11F78-3EC9-4A20-939F-9E1822D6354F}"/>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Example: disconnect the USB drive or extra display, then repeat the readiness check.</a:t>
            </a:r>
          </a:p>
        </p:txBody>
      </p:sp>
    </p:spTree>
    <p:extLst>
      <p:ext uri="{BB962C8B-B14F-4D97-AF65-F5344CB8AC3E}">
        <p14:creationId xmlns:p14="http://schemas.microsoft.com/office/powerpoint/2010/main" val="10858015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350"/>
                                  <p:tgtEl>
                                    <p:spTgt spid="7"/>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50"/>
                                  <p:tgtEl>
                                    <p:spTgt spid="10"/>
                                  </p:tgtEl>
                                </p:cBhvr>
                              </p:animEffect>
                            </p:childTnLst>
                          </p:cTn>
                        </p:par>
                      </p:childTnLst>
                    </p:cTn>
                  </p:par>
                  <p:par>
                    <p:cTn id="13" fill="hold">
                      <p:stCondLst>
                        <p:cond delay="indefinite"/>
                      </p:stCondLst>
                      <p:childTnLst>
                        <p:par>
                          <p:cTn id="14" presetID="10" presetClass="entr" presetSubtype="0" fill="hold" grpId="2"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350"/>
                                  <p:tgtEl>
                                    <p:spTgt spid="8"/>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2" nodeType="click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350"/>
                                  <p:tgtEl>
                                    <p:spTgt spid="28"/>
                                  </p:tgtEl>
                                </p:cBhvr>
                              </p:animEffect>
                            </p:childTnLst>
                          </p:cTn>
                        </p:par>
                      </p:childTnLst>
                    </p:cTn>
                  </p:par>
                  <p:par>
                    <p:cTn id="26" fill="hold">
                      <p:stCondLst>
                        <p:cond delay="indefinite"/>
                      </p:stCondLst>
                      <p:childTnLst>
                        <p:par>
                          <p:cTn id="27" presetID="10" presetClass="entr" presetSubtype="0" fill="hold" grpId="3"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p:bldP spid="7" grpId="1" uiExpand="1"/>
      <p:bldP spid="8" grpId="2" uiExpand="1"/>
      <p:bldP spid="9" grpId="2" uiExpand="1"/>
      <p:bldP spid="10" grpId="1" uiExpand="1" animBg="1"/>
      <p:bldP spid="11" grpId="2" uiExpand="1" animBg="1"/>
      <p:bldP spid="12" grpId="3" uiExpand="1" animBg="1"/>
      <p:bldP spid="28" grpId="2" uiExpand="1" animBg="1"/>
      <p:bldP spid="29" grpId="3" uiExpand="1"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13F81DA5-8A17-4C98-8894-EC733FF0816A}"/>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02</a:t>
            </a:r>
          </a:p>
        </p:txBody>
      </p:sp>
      <p:sp>
        <p:nvSpPr>
          <p:cNvPr id="3" name="fixed">
            <a:extLst>
              <a:ext uri="{FF2B5EF4-FFF2-40B4-BE49-F238E27FC236}">
                <a16:creationId xmlns:a16="http://schemas.microsoft.com/office/drawing/2014/main" id="{74FA681D-C2E3-449A-BDC2-E3C2F45AC56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Vision monitoring</a:t>
            </a:r>
          </a:p>
        </p:txBody>
      </p:sp>
      <p:sp>
        <p:nvSpPr>
          <p:cNvPr id="4" name="fixed">
            <a:extLst>
              <a:ext uri="{FF2B5EF4-FFF2-40B4-BE49-F238E27FC236}">
                <a16:creationId xmlns:a16="http://schemas.microsoft.com/office/drawing/2014/main" id="{C483DA59-B40F-4649-9FF1-9118B34B069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217508FA-53CD-4CD3-A6A2-B12B76007D77}"/>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1279FBD-050B-4465-AD48-A3184633B6A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10</a:t>
            </a:r>
          </a:p>
        </p:txBody>
      </p:sp>
      <p:sp>
        <p:nvSpPr>
          <p:cNvPr id="7" name="reveal-1">
            <a:extLst>
              <a:ext uri="{FF2B5EF4-FFF2-40B4-BE49-F238E27FC236}">
                <a16:creationId xmlns:a16="http://schemas.microsoft.com/office/drawing/2014/main" id="{8CA283B2-86A4-4D4F-A655-DBF0E0D692DC}"/>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Detect visible exam signals using local facial landmarks and object inference.</a:t>
            </a:r>
          </a:p>
        </p:txBody>
      </p:sp>
      <p:sp>
        <p:nvSpPr>
          <p:cNvPr id="8" name="reveal-2">
            <a:extLst>
              <a:ext uri="{FF2B5EF4-FFF2-40B4-BE49-F238E27FC236}">
                <a16:creationId xmlns:a16="http://schemas.microsoft.com/office/drawing/2014/main" id="{D7B2A0F7-4004-49B4-B4CB-3B325DE5DA6C}"/>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FF0F1CB6-DED2-467E-8035-8D588103C380}"/>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MediaPipe Tasks  /  OpenCV  /  YOLO26n  /  ONNX Runtime</a:t>
            </a:r>
          </a:p>
        </p:txBody>
      </p:sp>
      <p:sp>
        <p:nvSpPr>
          <p:cNvPr id="10" name="reveal-3">
            <a:extLst>
              <a:ext uri="{FF2B5EF4-FFF2-40B4-BE49-F238E27FC236}">
                <a16:creationId xmlns:a16="http://schemas.microsoft.com/office/drawing/2014/main" id="{1148274B-B644-49DE-A32A-2D63C6CF0C68}"/>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Webcam frame</a:t>
            </a:r>
          </a:p>
        </p:txBody>
      </p:sp>
      <p:sp>
        <p:nvSpPr>
          <p:cNvPr id="11" name="reveal-4">
            <a:extLst>
              <a:ext uri="{FF2B5EF4-FFF2-40B4-BE49-F238E27FC236}">
                <a16:creationId xmlns:a16="http://schemas.microsoft.com/office/drawing/2014/main" id="{6DD34375-E15E-4A9F-9D84-A174279E8902}"/>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Local analysis</a:t>
            </a:r>
          </a:p>
        </p:txBody>
      </p:sp>
      <p:sp>
        <p:nvSpPr>
          <p:cNvPr id="12" name="reveal-5">
            <a:extLst>
              <a:ext uri="{FF2B5EF4-FFF2-40B4-BE49-F238E27FC236}">
                <a16:creationId xmlns:a16="http://schemas.microsoft.com/office/drawing/2014/main" id="{5F8F519B-32D8-4D6C-AB54-BB2F63BE343B}"/>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Temporal alert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48051546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EA986825-0405-4BBE-84A4-CFE4635A6BE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a16:creationId xmlns:a16="http://schemas.microsoft.com/office/drawing/2014/main" id="{BBF8E448-1035-4380-A402-747704AC311A}"/>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Face visibility and multiple-person detection</a:t>
            </a:r>
          </a:p>
        </p:txBody>
      </p:sp>
      <p:sp>
        <p:nvSpPr>
          <p:cNvPr id="3" name="fixed">
            <a:extLst>
              <a:ext uri="{FF2B5EF4-FFF2-40B4-BE49-F238E27FC236}">
                <a16:creationId xmlns:a16="http://schemas.microsoft.com/office/drawing/2014/main" id="{CDD7964A-9160-40F0-8509-449231DEE1D5}"/>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9C5257BC-555A-4CE3-B327-2C2542CF0E76}"/>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09690E7B-CB2A-4225-8212-60748BCCEC1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11</a:t>
            </a:r>
          </a:p>
        </p:txBody>
      </p:sp>
      <p:sp>
        <p:nvSpPr>
          <p:cNvPr id="6" name="reveal-1">
            <a:extLst>
              <a:ext uri="{FF2B5EF4-FFF2-40B4-BE49-F238E27FC236}">
                <a16:creationId xmlns:a16="http://schemas.microsoft.com/office/drawing/2014/main" id="{5846E0E7-EA5B-43D2-A454-24EE4771FC39}"/>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Camera frame</a:t>
            </a:r>
          </a:p>
        </p:txBody>
      </p:sp>
      <p:sp>
        <p:nvSpPr>
          <p:cNvPr id="7" name="reveal-2">
            <a:extLst>
              <a:ext uri="{FF2B5EF4-FFF2-40B4-BE49-F238E27FC236}">
                <a16:creationId xmlns:a16="http://schemas.microsoft.com/office/drawing/2014/main" id="{70E3DE9E-70D8-4CB0-AF98-092DB700633D}"/>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Face landmarker</a:t>
            </a:r>
          </a:p>
        </p:txBody>
      </p:sp>
      <p:sp>
        <p:nvSpPr>
          <p:cNvPr id="8" name="reveal-3">
            <a:extLst>
              <a:ext uri="{FF2B5EF4-FFF2-40B4-BE49-F238E27FC236}">
                <a16:creationId xmlns:a16="http://schemas.microsoft.com/office/drawing/2014/main" id="{5A8EFD4F-8A6F-4DC6-96AC-1A502998AD12}"/>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Count visible faces</a:t>
            </a:r>
          </a:p>
        </p:txBody>
      </p:sp>
      <p:sp>
        <p:nvSpPr>
          <p:cNvPr id="9" name="reveal-4">
            <a:extLst>
              <a:ext uri="{FF2B5EF4-FFF2-40B4-BE49-F238E27FC236}">
                <a16:creationId xmlns:a16="http://schemas.microsoft.com/office/drawing/2014/main" id="{B19F4D1F-63ED-4F56-8394-8C4F6D4A1B36}"/>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condition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E25AC92E-8CB6-4837-A486-0D8FE0B21366}"/>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Normal example</a:t>
            </a:r>
          </a:p>
        </p:txBody>
      </p:sp>
      <p:sp>
        <p:nvSpPr>
          <p:cNvPr id="14" name="reveal-5">
            <a:extLst>
              <a:ext uri="{FF2B5EF4-FFF2-40B4-BE49-F238E27FC236}">
                <a16:creationId xmlns:a16="http://schemas.microsoft.com/office/drawing/2014/main" id="{F72A6706-3536-4124-8F0C-27D536BC456C}"/>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One face keeps presence checks active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allows neutral-pose calibration.</a:t>
            </a:r>
          </a:p>
        </p:txBody>
      </p:sp>
      <p:sp>
        <p:nvSpPr>
          <p:cNvPr id="15" name="reveal-6">
            <a:extLst>
              <a:ext uri="{FF2B5EF4-FFF2-40B4-BE49-F238E27FC236}">
                <a16:creationId xmlns:a16="http://schemas.microsoft.com/office/drawing/2014/main" id="{B64AB70C-8896-43A9-A273-47CFB541A9DD}"/>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Alert examples</a:t>
            </a:r>
          </a:p>
        </p:txBody>
      </p:sp>
      <p:sp>
        <p:nvSpPr>
          <p:cNvPr id="16" name="reveal-6">
            <a:extLst>
              <a:ext uri="{FF2B5EF4-FFF2-40B4-BE49-F238E27FC236}">
                <a16:creationId xmlns:a16="http://schemas.microsoft.com/office/drawing/2014/main" id="{25001A09-D652-4B1B-AA30-C5A44BF01D82}"/>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Two faces persist: multiple-person signal.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No face persists: candidate-visibility signal.</a:t>
            </a:r>
          </a:p>
        </p:txBody>
      </p:sp>
      <p:sp>
        <p:nvSpPr>
          <p:cNvPr id="17" name="fixed">
            <a:extLst>
              <a:ext uri="{FF2B5EF4-FFF2-40B4-BE49-F238E27FC236}">
                <a16:creationId xmlns:a16="http://schemas.microsoft.com/office/drawing/2014/main" id="{CD00AEF6-0EF5-4FEC-B665-10ED47DB1131}"/>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YOLO handles phone/book objects. MediaPipe or OpenCV handles face counting.</a:t>
            </a:r>
          </a:p>
        </p:txBody>
      </p:sp>
    </p:spTree>
    <p:extLst>
      <p:ext uri="{BB962C8B-B14F-4D97-AF65-F5344CB8AC3E}">
        <p14:creationId xmlns:p14="http://schemas.microsoft.com/office/powerpoint/2010/main" val="17685010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8EDE2006-A6CC-4B4C-B76A-6BC2B9223180}"/>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a16:creationId xmlns:a16="http://schemas.microsoft.com/office/drawing/2014/main" id="{8E86BA8A-2470-4B08-8D08-DBA71536963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Camera visibility and feed quality</a:t>
            </a:r>
          </a:p>
        </p:txBody>
      </p:sp>
      <p:sp>
        <p:nvSpPr>
          <p:cNvPr id="3" name="fixed">
            <a:extLst>
              <a:ext uri="{FF2B5EF4-FFF2-40B4-BE49-F238E27FC236}">
                <a16:creationId xmlns:a16="http://schemas.microsoft.com/office/drawing/2014/main" id="{9A35B8E4-FAE1-4C61-B498-9844D939B69F}"/>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93C171BC-FFB8-4A56-82BD-3C38E7919B17}"/>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4C7BA37F-6CA8-4BEE-8B73-4DBAAA60117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12</a:t>
            </a:r>
          </a:p>
        </p:txBody>
      </p:sp>
      <p:sp>
        <p:nvSpPr>
          <p:cNvPr id="6" name="reveal-1">
            <a:extLst>
              <a:ext uri="{FF2B5EF4-FFF2-40B4-BE49-F238E27FC236}">
                <a16:creationId xmlns:a16="http://schemas.microsoft.com/office/drawing/2014/main" id="{EE29D8A4-697A-42FF-8C95-4092BBF57BDA}"/>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Camera feed</a:t>
            </a:r>
          </a:p>
        </p:txBody>
      </p:sp>
      <p:sp>
        <p:nvSpPr>
          <p:cNvPr id="7" name="reveal-2">
            <a:extLst>
              <a:ext uri="{FF2B5EF4-FFF2-40B4-BE49-F238E27FC236}">
                <a16:creationId xmlns:a16="http://schemas.microsoft.com/office/drawing/2014/main" id="{592562A5-405D-4EA4-B5DB-4CAB703DD4D6}"/>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Brightness and detail</a:t>
            </a:r>
          </a:p>
        </p:txBody>
      </p:sp>
      <p:sp>
        <p:nvSpPr>
          <p:cNvPr id="8" name="reveal-3">
            <a:extLst>
              <a:ext uri="{FF2B5EF4-FFF2-40B4-BE49-F238E27FC236}">
                <a16:creationId xmlns:a16="http://schemas.microsoft.com/office/drawing/2014/main" id="{A6B0445A-71E8-4FCF-B267-FCFC731FC360}"/>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visibility issue</a:t>
            </a:r>
          </a:p>
        </p:txBody>
      </p:sp>
      <p:sp>
        <p:nvSpPr>
          <p:cNvPr id="9" name="reveal-4">
            <a:extLst>
              <a:ext uri="{FF2B5EF4-FFF2-40B4-BE49-F238E27FC236}">
                <a16:creationId xmlns:a16="http://schemas.microsoft.com/office/drawing/2014/main" id="{5E80C87D-95F4-43E5-AC7C-96D0A2C6F92E}"/>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Alert or health failure</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6F92E2B5-FA5D-4ECA-B699-BD309143459E}"/>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Covered-lens example</a:t>
            </a:r>
          </a:p>
        </p:txBody>
      </p:sp>
      <p:sp>
        <p:nvSpPr>
          <p:cNvPr id="14" name="reveal-5">
            <a:extLst>
              <a:ext uri="{FF2B5EF4-FFF2-40B4-BE49-F238E27FC236}">
                <a16:creationId xmlns:a16="http://schemas.microsoft.com/office/drawing/2014/main" id="{4D1293F2-CCE7-47BD-9F88-A7909A60C56E}"/>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uniform frame has little visible detail.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monitor records a visibility signal.</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examiner reviews the scene.</a:t>
            </a:r>
          </a:p>
        </p:txBody>
      </p:sp>
      <p:sp>
        <p:nvSpPr>
          <p:cNvPr id="15" name="reveal-6">
            <a:extLst>
              <a:ext uri="{FF2B5EF4-FFF2-40B4-BE49-F238E27FC236}">
                <a16:creationId xmlns:a16="http://schemas.microsoft.com/office/drawing/2014/main" id="{78CE9C0C-8F88-4BFF-BEE6-219AB23CED40}"/>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Unavailable-camera example</a:t>
            </a:r>
          </a:p>
        </p:txBody>
      </p:sp>
      <p:sp>
        <p:nvSpPr>
          <p:cNvPr id="16" name="reveal-6">
            <a:extLst>
              <a:ext uri="{FF2B5EF4-FFF2-40B4-BE49-F238E27FC236}">
                <a16:creationId xmlns:a16="http://schemas.microsoft.com/office/drawing/2014/main" id="{0EC7D84C-BE4A-4CD1-88CB-0B960FEA2E55}"/>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failed capture cannot support inference.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Health diagnostics surface the failure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the capture path attempts recovery.</a:t>
            </a:r>
          </a:p>
        </p:txBody>
      </p:sp>
      <p:sp>
        <p:nvSpPr>
          <p:cNvPr id="17" name="fixed">
            <a:extLst>
              <a:ext uri="{FF2B5EF4-FFF2-40B4-BE49-F238E27FC236}">
                <a16:creationId xmlns:a16="http://schemas.microsoft.com/office/drawing/2014/main" id="{536BB733-F361-4519-841E-09AF99CC887E}"/>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visibility failure can come from obstruction, poor lighting or exposure.</a:t>
            </a:r>
          </a:p>
        </p:txBody>
      </p:sp>
    </p:spTree>
    <p:extLst>
      <p:ext uri="{BB962C8B-B14F-4D97-AF65-F5344CB8AC3E}">
        <p14:creationId xmlns:p14="http://schemas.microsoft.com/office/powerpoint/2010/main" val="9775433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2D973D5B-8ACE-410C-B4B7-4A8BE5DDDB6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a:t>
            </a:r>
          </a:p>
        </p:txBody>
      </p:sp>
      <p:sp>
        <p:nvSpPr>
          <p:cNvPr id="2" name="fixed">
            <a:extLst>
              <a:ext uri="{FF2B5EF4-FFF2-40B4-BE49-F238E27FC236}">
                <a16:creationId xmlns:a16="http://schemas.microsoft.com/office/drawing/2014/main" id="{C7F955F0-F8CA-4DB6-9539-38C9256AF379}"/>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Head-direction estimation</a:t>
            </a:r>
          </a:p>
        </p:txBody>
      </p:sp>
      <p:sp>
        <p:nvSpPr>
          <p:cNvPr id="3" name="fixed">
            <a:extLst>
              <a:ext uri="{FF2B5EF4-FFF2-40B4-BE49-F238E27FC236}">
                <a16:creationId xmlns:a16="http://schemas.microsoft.com/office/drawing/2014/main" id="{09C0A897-4DFD-432B-8791-DBC361619A7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A7BE3127-2D72-44B0-85A2-356D7FDD8A68}"/>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4DDC9C4C-8EF2-4CFB-B912-AF79475026DE}"/>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13</a:t>
            </a:r>
          </a:p>
        </p:txBody>
      </p:sp>
      <p:sp>
        <p:nvSpPr>
          <p:cNvPr id="6" name="reveal-1">
            <a:extLst>
              <a:ext uri="{FF2B5EF4-FFF2-40B4-BE49-F238E27FC236}">
                <a16:creationId xmlns:a16="http://schemas.microsoft.com/office/drawing/2014/main" id="{9D418AAF-AC10-4414-88DB-298A11F29849}"/>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Facial landmarks</a:t>
            </a:r>
          </a:p>
        </p:txBody>
      </p:sp>
      <p:sp>
        <p:nvSpPr>
          <p:cNvPr id="7" name="reveal-2">
            <a:extLst>
              <a:ext uri="{FF2B5EF4-FFF2-40B4-BE49-F238E27FC236}">
                <a16:creationId xmlns:a16="http://schemas.microsoft.com/office/drawing/2014/main" id="{72ACAFF0-8C5E-4FF1-8140-A4701A7816B4}"/>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OpenCV solvePnP</a:t>
            </a:r>
          </a:p>
        </p:txBody>
      </p:sp>
      <p:sp>
        <p:nvSpPr>
          <p:cNvPr id="8" name="reveal-3">
            <a:extLst>
              <a:ext uri="{FF2B5EF4-FFF2-40B4-BE49-F238E27FC236}">
                <a16:creationId xmlns:a16="http://schemas.microsoft.com/office/drawing/2014/main" id="{CE8239FF-9578-42D9-8B94-007CC8121DE6}"/>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Neutral-pose offset</a:t>
            </a:r>
          </a:p>
        </p:txBody>
      </p:sp>
      <p:sp>
        <p:nvSpPr>
          <p:cNvPr id="9" name="reveal-4">
            <a:extLst>
              <a:ext uri="{FF2B5EF4-FFF2-40B4-BE49-F238E27FC236}">
                <a16:creationId xmlns:a16="http://schemas.microsoft.com/office/drawing/2014/main" id="{18261275-EEE8-48D0-B001-D1347A0327ED}"/>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Direction and duration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25F727B4-21D6-4726-A9E7-0F1CA910E303}"/>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Why calibration matters</a:t>
            </a:r>
          </a:p>
        </p:txBody>
      </p:sp>
      <p:sp>
        <p:nvSpPr>
          <p:cNvPr id="14" name="reveal-5">
            <a:extLst>
              <a:ext uri="{FF2B5EF4-FFF2-40B4-BE49-F238E27FC236}">
                <a16:creationId xmlns:a16="http://schemas.microsoft.com/office/drawing/2014/main" id="{BFDEBD6F-F14F-44B9-AC29-C1116A34B051}"/>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camera can sit above or beside the screen.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Neutral calibration accounts for normal posture.</a:t>
            </a:r>
          </a:p>
        </p:txBody>
      </p:sp>
      <p:sp>
        <p:nvSpPr>
          <p:cNvPr id="15" name="reveal-6">
            <a:extLst>
              <a:ext uri="{FF2B5EF4-FFF2-40B4-BE49-F238E27FC236}">
                <a16:creationId xmlns:a16="http://schemas.microsoft.com/office/drawing/2014/main" id="{711496E6-98FF-48E1-976E-D7117A94074C}"/>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False-alert protection</a:t>
            </a:r>
          </a:p>
        </p:txBody>
      </p:sp>
      <p:sp>
        <p:nvSpPr>
          <p:cNvPr id="16" name="reveal-6">
            <a:extLst>
              <a:ext uri="{FF2B5EF4-FFF2-40B4-BE49-F238E27FC236}">
                <a16:creationId xmlns:a16="http://schemas.microsoft.com/office/drawing/2014/main" id="{BB118D02-E5F3-4B1C-97D4-910D0A6563C8}"/>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brief movement does not immediately alert.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Absolute yaw guards against a biased baseline.</a:t>
            </a:r>
          </a:p>
        </p:txBody>
      </p:sp>
      <p:sp>
        <p:nvSpPr>
          <p:cNvPr id="17" name="fixed">
            <a:extLst>
              <a:ext uri="{FF2B5EF4-FFF2-40B4-BE49-F238E27FC236}">
                <a16:creationId xmlns:a16="http://schemas.microsoft.com/office/drawing/2014/main" id="{D62D7442-597D-4824-8919-0F1228C245E4}"/>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The system estimates head direction. It does not measure what the eyes are looking at.</a:t>
            </a:r>
          </a:p>
        </p:txBody>
      </p:sp>
    </p:spTree>
    <p:extLst>
      <p:ext uri="{BB962C8B-B14F-4D97-AF65-F5344CB8AC3E}">
        <p14:creationId xmlns:p14="http://schemas.microsoft.com/office/powerpoint/2010/main" val="842423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2" name="fixed">
            <a:extLst>
              <a:ext uri="{FF2B5EF4-FFF2-40B4-BE49-F238E27FC236}">
                <a16:creationId xmlns:a16="http://schemas.microsoft.com/office/drawing/2014/main" id="{7BE56D8A-491B-41C0-876C-ABDD46E36EE0}"/>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ILLUSTRATIVE EXAMPLE</a:t>
            </a:r>
          </a:p>
        </p:txBody>
      </p:sp>
      <p:sp>
        <p:nvSpPr>
          <p:cNvPr id="2" name="fixed">
            <a:extLst>
              <a:ext uri="{FF2B5EF4-FFF2-40B4-BE49-F238E27FC236}">
                <a16:creationId xmlns:a16="http://schemas.microsoft.com/office/drawing/2014/main" id="{D09B28FC-0586-4EF4-A395-30CAF5EE35A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Head-direction example</a:t>
            </a:r>
          </a:p>
        </p:txBody>
      </p:sp>
      <p:sp>
        <p:nvSpPr>
          <p:cNvPr id="3" name="fixed">
            <a:extLst>
              <a:ext uri="{FF2B5EF4-FFF2-40B4-BE49-F238E27FC236}">
                <a16:creationId xmlns:a16="http://schemas.microsoft.com/office/drawing/2014/main" id="{D9F51818-77E7-4EBC-AC48-7E1FD9CD5DBA}"/>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5C0C0095-6688-4B37-9EF1-E34C6C34772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778C5471-68B3-43ED-BB4C-301A6DD68A9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14</a:t>
            </a:r>
          </a:p>
        </p:txBody>
      </p:sp>
      <p:pic>
        <p:nvPicPr>
          <p:cNvPr id="17" name="Picture 16" descr="Generic cartoon illustration of head orientation; not detector evidence"/>
          <p:cNvPicPr>
            <a:picLocks noChangeAspect="1"/>
          </p:cNvPicPr>
          <p:nvPr/>
        </p:nvPicPr>
        <p:blipFill>
          <a:blip r:embed="rId3"/>
          <a:srcRect r="50000"/>
          <a:stretch>
            <a:fillRect/>
          </a:stretch>
        </p:blipFill>
        <p:spPr>
          <a:xfrm>
            <a:off x="1975511" y="2238375"/>
            <a:ext cx="2487877" cy="2800350"/>
          </a:xfrm>
          <a:prstGeom prst="rect">
            <a:avLst/>
          </a:prstGeom>
        </p:spPr>
      </p:pic>
      <p:pic>
        <p:nvPicPr>
          <p:cNvPr id="18" name="Picture 17" descr="Generic cartoon illustration of head orientation; not detector evidence"/>
          <p:cNvPicPr>
            <a:picLocks noChangeAspect="1"/>
          </p:cNvPicPr>
          <p:nvPr/>
        </p:nvPicPr>
        <p:blipFill>
          <a:blip r:embed="rId3"/>
          <a:srcRect l="50000"/>
          <a:stretch>
            <a:fillRect/>
          </a:stretch>
        </p:blipFill>
        <p:spPr>
          <a:xfrm>
            <a:off x="7709561" y="2238375"/>
            <a:ext cx="2487877" cy="2800350"/>
          </a:xfrm>
          <a:prstGeom prst="rect">
            <a:avLst/>
          </a:prstGeom>
        </p:spPr>
      </p:pic>
      <p:sp>
        <p:nvSpPr>
          <p:cNvPr id="8" name="reveal-1">
            <a:extLst>
              <a:ext uri="{FF2B5EF4-FFF2-40B4-BE49-F238E27FC236}">
                <a16:creationId xmlns:a16="http://schemas.microsoft.com/office/drawing/2014/main" id="{636E1236-56E6-4C3D-8730-C125F1010576}"/>
              </a:ext>
            </a:extLst>
          </p:cNvPr>
          <p:cNvSpPr>
            <a:spLocks noGrp="1"/>
          </p:cNvSpPr>
          <p:nvPr/>
        </p:nvSpPr>
        <p:spPr>
          <a:xfrm>
            <a:off x="609600" y="5210175"/>
            <a:ext cx="5219700" cy="409575"/>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Forward-facing posture</a:t>
            </a:r>
          </a:p>
        </p:txBody>
      </p:sp>
      <p:sp>
        <p:nvSpPr>
          <p:cNvPr id="9" name="reveal-1">
            <a:extLst>
              <a:ext uri="{FF2B5EF4-FFF2-40B4-BE49-F238E27FC236}">
                <a16:creationId xmlns:a16="http://schemas.microsoft.com/office/drawing/2014/main" id="{0AAA1867-EA01-45BF-8FF3-602D2E98BF54}"/>
              </a:ext>
            </a:extLst>
          </p:cNvPr>
          <p:cNvSpPr>
            <a:spLocks noGrp="1"/>
          </p:cNvSpPr>
          <p:nvPr/>
        </p:nvSpPr>
        <p:spPr>
          <a:xfrm>
            <a:off x="609600" y="5648325"/>
            <a:ext cx="5219700" cy="457200"/>
          </a:xfrm>
          <a:prstGeom prst="rect">
            <a:avLst/>
          </a:prstGeom>
          <a:noFill/>
          <a:ln w="0">
            <a:noFill/>
          </a:ln>
        </p:spPr>
        <p:txBody>
          <a:bodyPr>
            <a:noAutofit/>
          </a:bodyPr>
          <a:lstStyle/>
          <a:p>
            <a:pPr algn="l">
              <a:defRPr sz="1875" b="0">
                <a:solidFill>
                  <a:srgbClr val="4C6471"/>
                </a:solidFill>
                <a:latin typeface="Times New Roman"/>
                <a:ea typeface="Times New Roman"/>
                <a:cs typeface="Times New Roman"/>
              </a:defRPr>
            </a:pPr>
            <a:r>
              <a:rPr sz="1875" b="0">
                <a:solidFill>
                  <a:srgbClr val="4C6471"/>
                </a:solidFill>
                <a:latin typeface="Times New Roman"/>
                <a:ea typeface="Times New Roman"/>
                <a:cs typeface="Times New Roman"/>
              </a:rPr>
              <a:t>Neutral posture should not trigger an alert</a:t>
            </a:r>
          </a:p>
        </p:txBody>
      </p:sp>
      <p:sp>
        <p:nvSpPr>
          <p:cNvPr id="10" name="reveal-2">
            <a:extLst>
              <a:ext uri="{FF2B5EF4-FFF2-40B4-BE49-F238E27FC236}">
                <a16:creationId xmlns:a16="http://schemas.microsoft.com/office/drawing/2014/main" id="{EEF9F00A-5D1B-46AE-9FEF-4A2591F36AFB}"/>
              </a:ext>
            </a:extLst>
          </p:cNvPr>
          <p:cNvSpPr>
            <a:spLocks noGrp="1"/>
          </p:cNvSpPr>
          <p:nvPr/>
        </p:nvSpPr>
        <p:spPr>
          <a:xfrm>
            <a:off x="6343650" y="5210175"/>
            <a:ext cx="5219700" cy="409575"/>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Sustained head turn</a:t>
            </a:r>
          </a:p>
        </p:txBody>
      </p:sp>
      <p:sp>
        <p:nvSpPr>
          <p:cNvPr id="11" name="reveal-2">
            <a:extLst>
              <a:ext uri="{FF2B5EF4-FFF2-40B4-BE49-F238E27FC236}">
                <a16:creationId xmlns:a16="http://schemas.microsoft.com/office/drawing/2014/main" id="{0C39CA34-6812-447C-AC5E-C259B517B8EA}"/>
              </a:ext>
            </a:extLst>
          </p:cNvPr>
          <p:cNvSpPr>
            <a:spLocks noGrp="1"/>
          </p:cNvSpPr>
          <p:nvPr/>
        </p:nvSpPr>
        <p:spPr>
          <a:xfrm>
            <a:off x="6343650" y="5648325"/>
            <a:ext cx="5219700" cy="457200"/>
          </a:xfrm>
          <a:prstGeom prst="rect">
            <a:avLst/>
          </a:prstGeom>
          <a:noFill/>
          <a:ln w="0">
            <a:noFill/>
          </a:ln>
        </p:spPr>
        <p:txBody>
          <a:bodyPr>
            <a:noAutofit/>
          </a:bodyPr>
          <a:lstStyle/>
          <a:p>
            <a:pPr algn="l">
              <a:defRPr sz="1875" b="0">
                <a:solidFill>
                  <a:srgbClr val="4C6471"/>
                </a:solidFill>
                <a:latin typeface="Times New Roman"/>
                <a:ea typeface="Times New Roman"/>
                <a:cs typeface="Times New Roman"/>
              </a:defRPr>
            </a:pPr>
            <a:r>
              <a:rPr sz="1875" b="0">
                <a:solidFill>
                  <a:srgbClr val="4C6471"/>
                </a:solidFill>
                <a:latin typeface="Times New Roman"/>
                <a:ea typeface="Times New Roman"/>
                <a:cs typeface="Times New Roman"/>
              </a:rPr>
              <a:t>A sustained turn can produce a review signal</a:t>
            </a:r>
          </a:p>
        </p:txBody>
      </p:sp>
    </p:spTree>
    <p:extLst>
      <p:ext uri="{BB962C8B-B14F-4D97-AF65-F5344CB8AC3E}">
        <p14:creationId xmlns:p14="http://schemas.microsoft.com/office/powerpoint/2010/main" val="344468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350"/>
                                  <p:tgtEl>
                                    <p:spTgt spid="8"/>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350"/>
                                  <p:tgtEl>
                                    <p:spTgt spid="9"/>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uiExpand="1"/>
      <p:bldP spid="9" grpId="1" uiExpand="1"/>
      <p:bldP spid="10" grpId="2" uiExpand="1"/>
      <p:bldP spid="11" grpId="2" uiExpan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BAA160F5-EEEB-4430-AFF0-FAD01FA61C0E}"/>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02 / OBJECT DETECTION</a:t>
            </a:r>
          </a:p>
        </p:txBody>
      </p:sp>
      <p:sp>
        <p:nvSpPr>
          <p:cNvPr id="3" name="fixed">
            <a:extLst>
              <a:ext uri="{FF2B5EF4-FFF2-40B4-BE49-F238E27FC236}">
                <a16:creationId xmlns:a16="http://schemas.microsoft.com/office/drawing/2014/main" id="{AC32F3EB-8972-4F61-BE10-3CB1809081B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YOLO: what the model does</a:t>
            </a:r>
          </a:p>
        </p:txBody>
      </p:sp>
      <p:sp>
        <p:nvSpPr>
          <p:cNvPr id="4" name="fixed">
            <a:extLst>
              <a:ext uri="{FF2B5EF4-FFF2-40B4-BE49-F238E27FC236}">
                <a16:creationId xmlns:a16="http://schemas.microsoft.com/office/drawing/2014/main" id="{32F946AD-8D66-44F1-B1C1-1DF11C7AF4EE}"/>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D667E3B1-C1CA-4CF1-BC84-DD65B8352CBB}"/>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B2E78B8C-B976-452F-88EA-C5A4D1F445C5}"/>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15</a:t>
            </a:r>
          </a:p>
        </p:txBody>
      </p:sp>
      <p:sp>
        <p:nvSpPr>
          <p:cNvPr id="7" name="reveal-1">
            <a:extLst>
              <a:ext uri="{FF2B5EF4-FFF2-40B4-BE49-F238E27FC236}">
                <a16:creationId xmlns:a16="http://schemas.microsoft.com/office/drawing/2014/main" id="{AAB4E3AC-A2C2-4B97-9592-2E0AB8A978AD}"/>
              </a:ext>
            </a:extLst>
          </p:cNvPr>
          <p:cNvSpPr>
            <a:spLocks noGrp="1"/>
          </p:cNvSpPr>
          <p:nvPr/>
        </p:nvSpPr>
        <p:spPr>
          <a:xfrm>
            <a:off x="609600" y="2438400"/>
            <a:ext cx="7096125" cy="5619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YOLO = You Only Look Once</a:t>
            </a:r>
          </a:p>
        </p:txBody>
      </p:sp>
      <p:sp>
        <p:nvSpPr>
          <p:cNvPr id="8" name="reveal-1">
            <a:extLst>
              <a:ext uri="{FF2B5EF4-FFF2-40B4-BE49-F238E27FC236}">
                <a16:creationId xmlns:a16="http://schemas.microsoft.com/office/drawing/2014/main" id="{DE230CB5-11B9-494E-B6BC-A4AC56D19A05}"/>
              </a:ext>
            </a:extLst>
          </p:cNvPr>
          <p:cNvSpPr>
            <a:spLocks noGrp="1"/>
          </p:cNvSpPr>
          <p:nvPr/>
        </p:nvSpPr>
        <p:spPr>
          <a:xfrm>
            <a:off x="609600" y="3219450"/>
            <a:ext cx="7048500" cy="1085850"/>
          </a:xfrm>
          <a:prstGeom prst="rect">
            <a:avLst/>
          </a:prstGeom>
          <a:noFill/>
          <a:ln w="0">
            <a:noFill/>
          </a:ln>
        </p:spPr>
        <p:txBody>
          <a:bodyPr>
            <a:noAutofit/>
          </a:bodyPr>
          <a:lstStyle/>
          <a:p>
            <a:pPr algn="l">
              <a:defRPr sz="2625" b="0">
                <a:solidFill>
                  <a:srgbClr val="D7E9E8"/>
                </a:solidFill>
                <a:latin typeface="Times New Roman"/>
                <a:ea typeface="Times New Roman"/>
                <a:cs typeface="Times New Roman"/>
              </a:defRPr>
            </a:pPr>
            <a:r>
              <a:rPr sz="2625" b="0">
                <a:solidFill>
                  <a:srgbClr val="D7E9E8"/>
                </a:solidFill>
                <a:latin typeface="Times New Roman"/>
                <a:ea typeface="Times New Roman"/>
                <a:cs typeface="Times New Roman"/>
              </a:rPr>
              <a:t>A pretrained object detector predicts</a:t>
            </a:r>
          </a:p>
          <a:p>
            <a:pPr algn="l">
              <a:defRPr sz="2625" b="0">
                <a:solidFill>
                  <a:srgbClr val="D7E9E8"/>
                </a:solidFill>
                <a:latin typeface="Times New Roman"/>
                <a:ea typeface="Times New Roman"/>
                <a:cs typeface="Times New Roman"/>
              </a:defRPr>
            </a:pPr>
            <a:r>
              <a:rPr sz="2625" b="0">
                <a:solidFill>
                  <a:srgbClr val="D7E9E8"/>
                </a:solidFill>
                <a:latin typeface="Times New Roman"/>
                <a:ea typeface="Times New Roman"/>
                <a:cs typeface="Times New Roman"/>
              </a:rPr>
              <a:t>what an object is and where it appears.</a:t>
            </a:r>
          </a:p>
        </p:txBody>
      </p:sp>
      <p:sp>
        <p:nvSpPr>
          <p:cNvPr id="9" name="reveal-2">
            <a:extLst>
              <a:ext uri="{FF2B5EF4-FFF2-40B4-BE49-F238E27FC236}">
                <a16:creationId xmlns:a16="http://schemas.microsoft.com/office/drawing/2014/main" id="{B2AF874C-E934-4CDE-AD80-BBDE835FE497}"/>
              </a:ext>
            </a:extLst>
          </p:cNvPr>
          <p:cNvSpPr>
            <a:spLocks noGrp="1"/>
          </p:cNvSpPr>
          <p:nvPr/>
        </p:nvSpPr>
        <p:spPr>
          <a:xfrm>
            <a:off x="609600" y="4648200"/>
            <a:ext cx="6191250" cy="352425"/>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OUTPUTS</a:t>
            </a:r>
          </a:p>
        </p:txBody>
      </p:sp>
      <p:sp>
        <p:nvSpPr>
          <p:cNvPr id="10" name="reveal-2">
            <a:extLst>
              <a:ext uri="{FF2B5EF4-FFF2-40B4-BE49-F238E27FC236}">
                <a16:creationId xmlns:a16="http://schemas.microsoft.com/office/drawing/2014/main" id="{3B722AB8-E972-4302-84C1-168098654A20}"/>
              </a:ext>
            </a:extLst>
          </p:cNvPr>
          <p:cNvSpPr>
            <a:spLocks noGrp="1"/>
          </p:cNvSpPr>
          <p:nvPr/>
        </p:nvSpPr>
        <p:spPr>
          <a:xfrm>
            <a:off x="609600" y="5105400"/>
            <a:ext cx="7334250" cy="628650"/>
          </a:xfrm>
          <a:prstGeom prst="rect">
            <a:avLst/>
          </a:prstGeom>
          <a:noFill/>
          <a:ln w="0">
            <a:noFill/>
          </a:ln>
        </p:spPr>
        <p:txBody>
          <a:bodyPr>
            <a:noAutofit/>
          </a:bodyPr>
          <a:lstStyle/>
          <a:p>
            <a:pPr algn="l">
              <a:defRPr sz="2325" b="0">
                <a:solidFill>
                  <a:srgbClr val="FFFFFF"/>
                </a:solidFill>
                <a:latin typeface="Times New Roman"/>
                <a:ea typeface="Times New Roman"/>
                <a:cs typeface="Times New Roman"/>
              </a:defRPr>
            </a:pPr>
            <a:r>
              <a:rPr sz="2325" b="0">
                <a:solidFill>
                  <a:srgbClr val="FFFFFF"/>
                </a:solidFill>
                <a:latin typeface="Times New Roman"/>
                <a:ea typeface="Times New Roman"/>
                <a:cs typeface="Times New Roman"/>
              </a:rPr>
              <a:t>Class label  /  bounding box  /  confidence</a:t>
            </a:r>
          </a:p>
        </p:txBody>
      </p:sp>
      <p:sp>
        <p:nvSpPr>
          <p:cNvPr id="11" name="fixed">
            <a:extLst>
              <a:ext uri="{FF2B5EF4-FFF2-40B4-BE49-F238E27FC236}">
                <a16:creationId xmlns:a16="http://schemas.microsoft.com/office/drawing/2014/main" id="{54166316-9AB1-4CD2-AACA-50D35CC7DAA7}"/>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Illustrative phone scene. The model output supports examiner review.</a:t>
            </a:r>
          </a:p>
        </p:txBody>
      </p:sp>
    </p:spTree>
    <p:extLst>
      <p:ext uri="{BB962C8B-B14F-4D97-AF65-F5344CB8AC3E}">
        <p14:creationId xmlns:p14="http://schemas.microsoft.com/office/powerpoint/2010/main" val="61310215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50"/>
                                  <p:tgtEl>
                                    <p:spTgt spid="8"/>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1" uiExpand="1"/>
      <p:bldP spid="9" grpId="2" uiExpand="1"/>
      <p:bldP spid="10" grpId="2" uiExpan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ACA9CDB5-66A8-4B8A-A18B-012BE4E7C8A7}"/>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02 / WORKING AND EXAMPLE</a:t>
            </a:r>
          </a:p>
        </p:txBody>
      </p:sp>
      <p:sp>
        <p:nvSpPr>
          <p:cNvPr id="2" name="fixed">
            <a:extLst>
              <a:ext uri="{FF2B5EF4-FFF2-40B4-BE49-F238E27FC236}">
                <a16:creationId xmlns:a16="http://schemas.microsoft.com/office/drawing/2014/main" id="{0C339EC4-CF61-4804-9709-82E4434B450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YOLO in IntegrityFlow</a:t>
            </a:r>
          </a:p>
        </p:txBody>
      </p:sp>
      <p:sp>
        <p:nvSpPr>
          <p:cNvPr id="3" name="fixed">
            <a:extLst>
              <a:ext uri="{FF2B5EF4-FFF2-40B4-BE49-F238E27FC236}">
                <a16:creationId xmlns:a16="http://schemas.microsoft.com/office/drawing/2014/main" id="{DCEE118C-F2B1-411E-B4F2-70167BB9612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4643FF40-E8AD-4714-A0D8-AA43F808A42D}"/>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F0822159-8175-41F2-80DB-9F3C66E78C2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16</a:t>
            </a:r>
          </a:p>
        </p:txBody>
      </p:sp>
      <p:sp>
        <p:nvSpPr>
          <p:cNvPr id="6" name="reveal-1">
            <a:extLst>
              <a:ext uri="{FF2B5EF4-FFF2-40B4-BE49-F238E27FC236}">
                <a16:creationId xmlns:a16="http://schemas.microsoft.com/office/drawing/2014/main" id="{A6302EDD-375E-442D-B9AC-67EA06E82D1E}"/>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640 × 640 letterbox</a:t>
            </a:r>
          </a:p>
        </p:txBody>
      </p:sp>
      <p:sp>
        <p:nvSpPr>
          <p:cNvPr id="7" name="reveal-2">
            <a:extLst>
              <a:ext uri="{FF2B5EF4-FFF2-40B4-BE49-F238E27FC236}">
                <a16:creationId xmlns:a16="http://schemas.microsoft.com/office/drawing/2014/main" id="{479E5F6F-D209-4318-BAF4-B22487F8670B}"/>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ONNX inference</a:t>
            </a:r>
          </a:p>
        </p:txBody>
      </p:sp>
      <p:sp>
        <p:nvSpPr>
          <p:cNvPr id="8" name="reveal-3">
            <a:extLst>
              <a:ext uri="{FF2B5EF4-FFF2-40B4-BE49-F238E27FC236}">
                <a16:creationId xmlns:a16="http://schemas.microsoft.com/office/drawing/2014/main" id="{7DC9B24E-33B1-4D63-A7F6-526C1A99ACD2}"/>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Phone / book classes</a:t>
            </a:r>
          </a:p>
        </p:txBody>
      </p:sp>
      <p:sp>
        <p:nvSpPr>
          <p:cNvPr id="9" name="reveal-4">
            <a:extLst>
              <a:ext uri="{FF2B5EF4-FFF2-40B4-BE49-F238E27FC236}">
                <a16:creationId xmlns:a16="http://schemas.microsoft.com/office/drawing/2014/main" id="{EAF6DB2B-488F-46B2-80C2-D28148A1B8C6}"/>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Spatial confirmation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7561C41B-D870-43DC-A88A-4C58D8BBD91C}"/>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a visible phone</a:t>
            </a:r>
          </a:p>
        </p:txBody>
      </p:sp>
      <p:sp>
        <p:nvSpPr>
          <p:cNvPr id="14" name="reveal-5">
            <a:extLst>
              <a:ext uri="{FF2B5EF4-FFF2-40B4-BE49-F238E27FC236}">
                <a16:creationId xmlns:a16="http://schemas.microsoft.com/office/drawing/2014/main" id="{891EB66D-D8D9-4032-B0CB-831787D6D2BF}"/>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Two strong, overlapping phone predictions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confirm the event and capture its frame.</a:t>
            </a:r>
          </a:p>
        </p:txBody>
      </p:sp>
      <p:sp>
        <p:nvSpPr>
          <p:cNvPr id="15" name="reveal-6">
            <a:extLst>
              <a:ext uri="{FF2B5EF4-FFF2-40B4-BE49-F238E27FC236}">
                <a16:creationId xmlns:a16="http://schemas.microsoft.com/office/drawing/2014/main" id="{64AF0214-1B03-45B6-9BD9-7CBAD954FC14}"/>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Why repeated checks remain</a:t>
            </a:r>
          </a:p>
        </p:txBody>
      </p:sp>
      <p:sp>
        <p:nvSpPr>
          <p:cNvPr id="16" name="reveal-6">
            <a:extLst>
              <a:ext uri="{FF2B5EF4-FFF2-40B4-BE49-F238E27FC236}">
                <a16:creationId xmlns:a16="http://schemas.microsoft.com/office/drawing/2014/main" id="{B2D8A35C-8D18-4A39-8EFC-35C84D1A1E25}"/>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Single-frame mistakes should not alert.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Weak predictions need three matching checks.</a:t>
            </a:r>
          </a:p>
        </p:txBody>
      </p:sp>
      <p:sp>
        <p:nvSpPr>
          <p:cNvPr id="17" name="fixed">
            <a:extLst>
              <a:ext uri="{FF2B5EF4-FFF2-40B4-BE49-F238E27FC236}">
                <a16:creationId xmlns:a16="http://schemas.microsoft.com/office/drawing/2014/main" id="{C45AAA29-3079-4AAF-9F0D-D55CE9FCE550}"/>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Current targets: phone and book. Headphones require a suitable model and validation.</a:t>
            </a:r>
          </a:p>
        </p:txBody>
      </p:sp>
    </p:spTree>
    <p:extLst>
      <p:ext uri="{BB962C8B-B14F-4D97-AF65-F5344CB8AC3E}">
        <p14:creationId xmlns:p14="http://schemas.microsoft.com/office/powerpoint/2010/main" val="4960269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5BC517A-B82F-488A-91E2-473A5A49FE28}"/>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EXTENSION TO MODULE 02</a:t>
            </a:r>
          </a:p>
        </p:txBody>
      </p:sp>
      <p:sp>
        <p:nvSpPr>
          <p:cNvPr id="3" name="fixed">
            <a:extLst>
              <a:ext uri="{FF2B5EF4-FFF2-40B4-BE49-F238E27FC236}">
                <a16:creationId xmlns:a16="http://schemas.microsoft.com/office/drawing/2014/main" id="{35E07C8F-5663-4B27-8C19-21378F68A136}"/>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Voice monitoring</a:t>
            </a:r>
          </a:p>
        </p:txBody>
      </p:sp>
      <p:sp>
        <p:nvSpPr>
          <p:cNvPr id="4" name="fixed">
            <a:extLst>
              <a:ext uri="{FF2B5EF4-FFF2-40B4-BE49-F238E27FC236}">
                <a16:creationId xmlns:a16="http://schemas.microsoft.com/office/drawing/2014/main" id="{6588D639-BD4C-444D-B943-60D3B4FCD63D}"/>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9C89FFD1-3F42-4400-B4EB-426B94F9B59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477DBE78-C023-4994-9734-87D4BDED3F2B}"/>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17</a:t>
            </a:r>
          </a:p>
        </p:txBody>
      </p:sp>
      <p:sp>
        <p:nvSpPr>
          <p:cNvPr id="7" name="reveal-1">
            <a:extLst>
              <a:ext uri="{FF2B5EF4-FFF2-40B4-BE49-F238E27FC236}">
                <a16:creationId xmlns:a16="http://schemas.microsoft.com/office/drawing/2014/main" id="{94146674-35FD-4B23-9249-12E6CD83ABBF}"/>
              </a:ext>
            </a:extLst>
          </p:cNvPr>
          <p:cNvSpPr>
            <a:spLocks noGrp="1"/>
          </p:cNvSpPr>
          <p:nvPr/>
        </p:nvSpPr>
        <p:spPr>
          <a:xfrm>
            <a:off x="609600" y="2514600"/>
            <a:ext cx="7524750" cy="1323975"/>
          </a:xfrm>
          <a:prstGeom prst="rect">
            <a:avLst/>
          </a:prstGeom>
          <a:noFill/>
          <a:ln w="0">
            <a:noFill/>
          </a:ln>
        </p:spPr>
        <p:txBody>
          <a:bodyPr>
            <a:noAutofit/>
          </a:bodyPr>
          <a:lstStyle/>
          <a:p>
            <a:pPr algn="l">
              <a:defRPr sz="3000" b="0">
                <a:solidFill>
                  <a:srgbClr val="FFFFFF"/>
                </a:solidFill>
                <a:latin typeface="Times New Roman"/>
                <a:ea typeface="Times New Roman"/>
                <a:cs typeface="Times New Roman"/>
              </a:defRPr>
            </a:pPr>
            <a:r>
              <a:rPr sz="3000" b="0">
                <a:solidFill>
                  <a:srgbClr val="FFFFFF"/>
                </a:solidFill>
                <a:latin typeface="Times New Roman"/>
                <a:ea typeface="Times New Roman"/>
                <a:cs typeface="Times New Roman"/>
              </a:rPr>
              <a:t>Compare sustained speech with the</a:t>
            </a:r>
          </a:p>
          <a:p>
            <a:pPr algn="l">
              <a:defRPr sz="3000" b="0">
                <a:solidFill>
                  <a:srgbClr val="FFFFFF"/>
                </a:solidFill>
                <a:latin typeface="Times New Roman"/>
                <a:ea typeface="Times New Roman"/>
                <a:cs typeface="Times New Roman"/>
              </a:defRPr>
            </a:pPr>
            <a:r>
              <a:rPr sz="3000" b="0">
                <a:solidFill>
                  <a:srgbClr val="FFFFFF"/>
                </a:solidFill>
                <a:latin typeface="Times New Roman"/>
                <a:ea typeface="Times New Roman"/>
                <a:cs typeface="Times New Roman"/>
              </a:rPr>
              <a:t>candidate’s enrolled voice reference</a:t>
            </a:r>
          </a:p>
        </p:txBody>
      </p:sp>
      <p:sp>
        <p:nvSpPr>
          <p:cNvPr id="8" name="reveal-2">
            <a:extLst>
              <a:ext uri="{FF2B5EF4-FFF2-40B4-BE49-F238E27FC236}">
                <a16:creationId xmlns:a16="http://schemas.microsoft.com/office/drawing/2014/main" id="{620D1B34-B8C9-463A-BF49-1DA717203CCC}"/>
              </a:ext>
            </a:extLst>
          </p:cNvPr>
          <p:cNvSpPr>
            <a:spLocks noGrp="1"/>
          </p:cNvSpPr>
          <p:nvPr/>
        </p:nvSpPr>
        <p:spPr>
          <a:xfrm>
            <a:off x="609600" y="4124325"/>
            <a:ext cx="714375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853DD50E-23E1-4B2E-A770-2DEC8BEB33F0}"/>
              </a:ext>
            </a:extLst>
          </p:cNvPr>
          <p:cNvSpPr>
            <a:spLocks noGrp="1"/>
          </p:cNvSpPr>
          <p:nvPr/>
        </p:nvSpPr>
        <p:spPr>
          <a:xfrm>
            <a:off x="609600" y="4657725"/>
            <a:ext cx="7620000" cy="714375"/>
          </a:xfrm>
          <a:prstGeom prst="rect">
            <a:avLst/>
          </a:prstGeom>
          <a:noFill/>
          <a:ln w="0">
            <a:noFill/>
          </a:ln>
        </p:spPr>
        <p:txBody>
          <a:bodyPr>
            <a:noAutofit/>
          </a:bodyPr>
          <a:lstStyle/>
          <a:p>
            <a:pPr algn="l">
              <a:defRPr sz="2325" b="0">
                <a:solidFill>
                  <a:srgbClr val="D5E7E8"/>
                </a:solidFill>
                <a:latin typeface="Times New Roman"/>
                <a:ea typeface="Times New Roman"/>
                <a:cs typeface="Times New Roman"/>
              </a:defRPr>
            </a:pPr>
            <a:r>
              <a:rPr sz="2325" b="0">
                <a:solidFill>
                  <a:srgbClr val="D5E7E8"/>
                </a:solidFill>
                <a:latin typeface="Times New Roman"/>
                <a:ea typeface="Times New Roman"/>
                <a:cs typeface="Times New Roman"/>
              </a:rPr>
              <a:t>WebRTC VAD  /  Resemblyzer  /  WAV evidence</a:t>
            </a:r>
          </a:p>
        </p:txBody>
      </p:sp>
      <p:sp>
        <p:nvSpPr>
          <p:cNvPr id="10" name="fixed">
            <a:extLst>
              <a:ext uri="{FF2B5EF4-FFF2-40B4-BE49-F238E27FC236}">
                <a16:creationId xmlns:a16="http://schemas.microsoft.com/office/drawing/2014/main" id="{A7AA5553-533B-4CA4-892E-47617BEA5F5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Reference mismatch is a review signal. Real-room accuracy remains to measure.</a:t>
            </a:r>
          </a:p>
        </p:txBody>
      </p:sp>
    </p:spTree>
    <p:extLst>
      <p:ext uri="{BB962C8B-B14F-4D97-AF65-F5344CB8AC3E}">
        <p14:creationId xmlns:p14="http://schemas.microsoft.com/office/powerpoint/2010/main" val="14110531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B3D7B34-1609-42A3-8D4C-55FD8D841F75}"/>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AUDIO PIPELINE</a:t>
            </a:r>
          </a:p>
        </p:txBody>
      </p:sp>
      <p:sp>
        <p:nvSpPr>
          <p:cNvPr id="2" name="fixed">
            <a:extLst>
              <a:ext uri="{FF2B5EF4-FFF2-40B4-BE49-F238E27FC236}">
                <a16:creationId xmlns:a16="http://schemas.microsoft.com/office/drawing/2014/main" id="{6E0D4A7A-4558-4CA3-819B-780FA6AC8A6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Speech gating before voice comparison</a:t>
            </a:r>
          </a:p>
        </p:txBody>
      </p:sp>
      <p:sp>
        <p:nvSpPr>
          <p:cNvPr id="3" name="fixed">
            <a:extLst>
              <a:ext uri="{FF2B5EF4-FFF2-40B4-BE49-F238E27FC236}">
                <a16:creationId xmlns:a16="http://schemas.microsoft.com/office/drawing/2014/main" id="{E9763D6E-B57B-46B3-91A8-90977637830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53E0B2D1-DA03-4990-A583-5C6A6DB8ADB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15AF4628-2F1A-4F24-B4BC-738020A7344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18</a:t>
            </a:r>
          </a:p>
        </p:txBody>
      </p:sp>
      <p:sp>
        <p:nvSpPr>
          <p:cNvPr id="6" name="reveal-1">
            <a:extLst>
              <a:ext uri="{FF2B5EF4-FFF2-40B4-BE49-F238E27FC236}">
                <a16:creationId xmlns:a16="http://schemas.microsoft.com/office/drawing/2014/main" id="{244A69FD-2CE7-4352-B225-E493F9AC4AD1}"/>
              </a:ext>
            </a:extLst>
          </p:cNvPr>
          <p:cNvSpPr>
            <a:spLocks noGrp="1"/>
          </p:cNvSpPr>
          <p:nvPr/>
        </p:nvSpPr>
        <p:spPr>
          <a:xfrm>
            <a:off x="609600"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Microphone PCM</a:t>
            </a:r>
          </a:p>
        </p:txBody>
      </p:sp>
      <p:sp>
        <p:nvSpPr>
          <p:cNvPr id="7" name="reveal-2">
            <a:extLst>
              <a:ext uri="{FF2B5EF4-FFF2-40B4-BE49-F238E27FC236}">
                <a16:creationId xmlns:a16="http://schemas.microsoft.com/office/drawing/2014/main" id="{B5944751-A0F9-41D1-845C-41C3D4CBCA58}"/>
              </a:ext>
            </a:extLst>
          </p:cNvPr>
          <p:cNvSpPr>
            <a:spLocks noGrp="1"/>
          </p:cNvSpPr>
          <p:nvPr/>
        </p:nvSpPr>
        <p:spPr>
          <a:xfrm>
            <a:off x="3462338"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WebRTC VAD</a:t>
            </a:r>
          </a:p>
        </p:txBody>
      </p:sp>
      <p:sp>
        <p:nvSpPr>
          <p:cNvPr id="8" name="reveal-3">
            <a:extLst>
              <a:ext uri="{FF2B5EF4-FFF2-40B4-BE49-F238E27FC236}">
                <a16:creationId xmlns:a16="http://schemas.microsoft.com/office/drawing/2014/main" id="{DD56C388-485F-46FB-92B3-A85C33C67721}"/>
              </a:ext>
            </a:extLst>
          </p:cNvPr>
          <p:cNvSpPr>
            <a:spLocks noGrp="1"/>
          </p:cNvSpPr>
          <p:nvPr/>
        </p:nvSpPr>
        <p:spPr>
          <a:xfrm>
            <a:off x="6315075"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Sustained valid speech</a:t>
            </a:r>
          </a:p>
        </p:txBody>
      </p:sp>
      <p:sp>
        <p:nvSpPr>
          <p:cNvPr id="9" name="reveal-4">
            <a:extLst>
              <a:ext uri="{FF2B5EF4-FFF2-40B4-BE49-F238E27FC236}">
                <a16:creationId xmlns:a16="http://schemas.microsoft.com/office/drawing/2014/main" id="{C8A13DEE-BB22-4283-B75B-A3E9E1AAA50E}"/>
              </a:ext>
            </a:extLst>
          </p:cNvPr>
          <p:cNvSpPr>
            <a:spLocks noGrp="1"/>
          </p:cNvSpPr>
          <p:nvPr/>
        </p:nvSpPr>
        <p:spPr>
          <a:xfrm>
            <a:off x="9167813" y="2466975"/>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Speaker comparison</a:t>
            </a:r>
          </a:p>
        </p:txBody>
      </p:sp>
      <p:cxnSp>
        <p:nvCxnSpPr>
          <p:cNvPr id="27" name="reveal-2"/>
          <p:cNvCxnSpPr>
            <a:stCxn id="6" idx="3"/>
            <a:endCxn id="7" idx="1"/>
          </p:cNvCxnSpPr>
          <p:nvPr/>
        </p:nvCxnSpPr>
        <p:spPr>
          <a:xfrm>
            <a:off x="3005138" y="2943225"/>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943225"/>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943225"/>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82B116E4-4A70-4847-8822-56EB1525EF71}"/>
              </a:ext>
            </a:extLst>
          </p:cNvPr>
          <p:cNvSpPr>
            <a:spLocks noGrp="1"/>
          </p:cNvSpPr>
          <p:nvPr/>
        </p:nvSpPr>
        <p:spPr>
          <a:xfrm>
            <a:off x="60960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Brief-noise example</a:t>
            </a:r>
          </a:p>
        </p:txBody>
      </p:sp>
      <p:sp>
        <p:nvSpPr>
          <p:cNvPr id="14" name="reveal-5">
            <a:extLst>
              <a:ext uri="{FF2B5EF4-FFF2-40B4-BE49-F238E27FC236}">
                <a16:creationId xmlns:a16="http://schemas.microsoft.com/office/drawing/2014/main" id="{DC37BA8F-22CA-483B-A8A6-14A16882E718}"/>
              </a:ext>
            </a:extLst>
          </p:cNvPr>
          <p:cNvSpPr>
            <a:spLocks noGrp="1"/>
          </p:cNvSpPr>
          <p:nvPr/>
        </p:nvSpPr>
        <p:spPr>
          <a:xfrm>
            <a:off x="60960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 brief sound fails the speech gate.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It does not count as a speaker mismatch.</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VAD can still misclassify noise.</a:t>
            </a:r>
          </a:p>
        </p:txBody>
      </p:sp>
      <p:sp>
        <p:nvSpPr>
          <p:cNvPr id="15" name="reveal-6">
            <a:extLst>
              <a:ext uri="{FF2B5EF4-FFF2-40B4-BE49-F238E27FC236}">
                <a16:creationId xmlns:a16="http://schemas.microsoft.com/office/drawing/2014/main" id="{7BE84878-FAC0-47C9-9C1D-A3686DFECD01}"/>
              </a:ext>
            </a:extLst>
          </p:cNvPr>
          <p:cNvSpPr>
            <a:spLocks noGrp="1"/>
          </p:cNvSpPr>
          <p:nvPr/>
        </p:nvSpPr>
        <p:spPr>
          <a:xfrm>
            <a:off x="6381750" y="397192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Speech example</a:t>
            </a:r>
          </a:p>
        </p:txBody>
      </p:sp>
      <p:sp>
        <p:nvSpPr>
          <p:cNvPr id="16" name="reveal-6">
            <a:extLst>
              <a:ext uri="{FF2B5EF4-FFF2-40B4-BE49-F238E27FC236}">
                <a16:creationId xmlns:a16="http://schemas.microsoft.com/office/drawing/2014/main" id="{20D91C74-FB41-4712-A0B9-94959FFD6ABC}"/>
              </a:ext>
            </a:extLst>
          </p:cNvPr>
          <p:cNvSpPr>
            <a:spLocks noGrp="1"/>
          </p:cNvSpPr>
          <p:nvPr/>
        </p:nvSpPr>
        <p:spPr>
          <a:xfrm>
            <a:off x="6381750" y="460057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Sustained speech enters comparison.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Short or clipped segments are rejected.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Valid suspicious speech can save a clip.</a:t>
            </a:r>
          </a:p>
        </p:txBody>
      </p:sp>
      <p:sp>
        <p:nvSpPr>
          <p:cNvPr id="17" name="fixed">
            <a:extLst>
              <a:ext uri="{FF2B5EF4-FFF2-40B4-BE49-F238E27FC236}">
                <a16:creationId xmlns:a16="http://schemas.microsoft.com/office/drawing/2014/main" id="{81DDB543-C528-4627-95F0-9CEE0ACD1A9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Speech gating reduces unnecessary comparison. It does not establish who is speaking.</a:t>
            </a:r>
          </a:p>
        </p:txBody>
      </p:sp>
    </p:spTree>
    <p:extLst>
      <p:ext uri="{BB962C8B-B14F-4D97-AF65-F5344CB8AC3E}">
        <p14:creationId xmlns:p14="http://schemas.microsoft.com/office/powerpoint/2010/main" val="3190465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34FDB21-DEBE-4CA0-8229-F49D2FD4F692}"/>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WORKING</a:t>
            </a:r>
          </a:p>
        </p:txBody>
      </p:sp>
      <p:sp>
        <p:nvSpPr>
          <p:cNvPr id="2" name="fixed">
            <a:extLst>
              <a:ext uri="{FF2B5EF4-FFF2-40B4-BE49-F238E27FC236}">
                <a16:creationId xmlns:a16="http://schemas.microsoft.com/office/drawing/2014/main" id="{06C4D69F-990E-404A-96C8-661087FEE1D0}"/>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Voice enrollment and comparison</a:t>
            </a:r>
          </a:p>
        </p:txBody>
      </p:sp>
      <p:sp>
        <p:nvSpPr>
          <p:cNvPr id="3" name="fixed">
            <a:extLst>
              <a:ext uri="{FF2B5EF4-FFF2-40B4-BE49-F238E27FC236}">
                <a16:creationId xmlns:a16="http://schemas.microsoft.com/office/drawing/2014/main" id="{A5E17578-8D16-4D66-BB12-E6FD946AABE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B0B64E59-B09E-45ED-89D1-39C00EEBE2E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8393C13F-F901-4A1F-9BC0-E5F31704E39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19</a:t>
            </a:r>
          </a:p>
        </p:txBody>
      </p:sp>
      <p:sp>
        <p:nvSpPr>
          <p:cNvPr id="6" name="reveal-1">
            <a:extLst>
              <a:ext uri="{FF2B5EF4-FFF2-40B4-BE49-F238E27FC236}">
                <a16:creationId xmlns:a16="http://schemas.microsoft.com/office/drawing/2014/main" id="{17FDD720-3408-4B06-A5BF-6F1B467895D8}"/>
              </a:ext>
            </a:extLst>
          </p:cNvPr>
          <p:cNvSpPr>
            <a:spLocks noGrp="1"/>
          </p:cNvSpPr>
          <p:nvPr/>
        </p:nvSpPr>
        <p:spPr>
          <a:xfrm>
            <a:off x="60960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Enrollment speech</a:t>
            </a:r>
          </a:p>
        </p:txBody>
      </p:sp>
      <p:sp>
        <p:nvSpPr>
          <p:cNvPr id="7" name="reveal-2">
            <a:extLst>
              <a:ext uri="{FF2B5EF4-FFF2-40B4-BE49-F238E27FC236}">
                <a16:creationId xmlns:a16="http://schemas.microsoft.com/office/drawing/2014/main" id="{BE0C4F18-92EA-48B2-A7FA-7BF9E6702596}"/>
              </a:ext>
            </a:extLst>
          </p:cNvPr>
          <p:cNvSpPr>
            <a:spLocks noGrp="1"/>
          </p:cNvSpPr>
          <p:nvPr/>
        </p:nvSpPr>
        <p:spPr>
          <a:xfrm>
            <a:off x="441325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Resemblyzer encoder</a:t>
            </a:r>
          </a:p>
        </p:txBody>
      </p:sp>
      <p:sp>
        <p:nvSpPr>
          <p:cNvPr id="8" name="reveal-3">
            <a:extLst>
              <a:ext uri="{FF2B5EF4-FFF2-40B4-BE49-F238E27FC236}">
                <a16:creationId xmlns:a16="http://schemas.microsoft.com/office/drawing/2014/main" id="{31348A97-D374-40AD-B034-7C78B19A3FE2}"/>
              </a:ext>
            </a:extLst>
          </p:cNvPr>
          <p:cNvSpPr>
            <a:spLocks noGrp="1"/>
          </p:cNvSpPr>
          <p:nvPr/>
        </p:nvSpPr>
        <p:spPr>
          <a:xfrm>
            <a:off x="8216900" y="23241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Stored 256-value vector</a:t>
            </a:r>
          </a:p>
        </p:txBody>
      </p:sp>
      <p:cxnSp>
        <p:nvCxnSpPr>
          <p:cNvPr id="26" name="reveal-2"/>
          <p:cNvCxnSpPr>
            <a:stCxn id="6" idx="3"/>
            <a:endCxn id="7" idx="1"/>
          </p:cNvCxnSpPr>
          <p:nvPr/>
        </p:nvCxnSpPr>
        <p:spPr>
          <a:xfrm>
            <a:off x="3956050" y="2800350"/>
            <a:ext cx="457200" cy="0"/>
          </a:xfrm>
          <a:prstGeom prst="straightConnector1">
            <a:avLst/>
          </a:prstGeom>
          <a:ln w="19050">
            <a:solidFill>
              <a:srgbClr val="087F8C"/>
            </a:solidFill>
            <a:tailEnd type="arrow" w="med" len="med"/>
          </a:ln>
        </p:spPr>
      </p:cxnSp>
      <p:cxnSp>
        <p:nvCxnSpPr>
          <p:cNvPr id="27" name="reveal-3"/>
          <p:cNvCxnSpPr>
            <a:stCxn id="7" idx="3"/>
            <a:endCxn id="8" idx="1"/>
          </p:cNvCxnSpPr>
          <p:nvPr/>
        </p:nvCxnSpPr>
        <p:spPr>
          <a:xfrm>
            <a:off x="7759700" y="2800350"/>
            <a:ext cx="457200" cy="0"/>
          </a:xfrm>
          <a:prstGeom prst="straightConnector1">
            <a:avLst/>
          </a:prstGeom>
          <a:ln w="19050">
            <a:solidFill>
              <a:srgbClr val="087F8C"/>
            </a:solidFill>
            <a:tailEnd type="arrow" w="med" len="med"/>
          </a:ln>
        </p:spPr>
      </p:cxnSp>
      <p:sp>
        <p:nvSpPr>
          <p:cNvPr id="11" name="reveal-1">
            <a:extLst>
              <a:ext uri="{FF2B5EF4-FFF2-40B4-BE49-F238E27FC236}">
                <a16:creationId xmlns:a16="http://schemas.microsoft.com/office/drawing/2014/main" id="{BE486A52-61DC-4E88-B09D-84BCC7C3413B}"/>
              </a:ext>
            </a:extLst>
          </p:cNvPr>
          <p:cNvSpPr>
            <a:spLocks noGrp="1"/>
          </p:cNvSpPr>
          <p:nvPr/>
        </p:nvSpPr>
        <p:spPr>
          <a:xfrm>
            <a:off x="60960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 speech segment</a:t>
            </a:r>
          </a:p>
        </p:txBody>
      </p:sp>
      <p:sp>
        <p:nvSpPr>
          <p:cNvPr id="12" name="reveal-2">
            <a:extLst>
              <a:ext uri="{FF2B5EF4-FFF2-40B4-BE49-F238E27FC236}">
                <a16:creationId xmlns:a16="http://schemas.microsoft.com/office/drawing/2014/main" id="{648442F7-F29B-4DA8-8657-E172219C7F81}"/>
              </a:ext>
            </a:extLst>
          </p:cNvPr>
          <p:cNvSpPr>
            <a:spLocks noGrp="1"/>
          </p:cNvSpPr>
          <p:nvPr/>
        </p:nvSpPr>
        <p:spPr>
          <a:xfrm>
            <a:off x="441325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Same voice encoder</a:t>
            </a:r>
          </a:p>
        </p:txBody>
      </p:sp>
      <p:sp>
        <p:nvSpPr>
          <p:cNvPr id="13" name="reveal-3">
            <a:extLst>
              <a:ext uri="{FF2B5EF4-FFF2-40B4-BE49-F238E27FC236}">
                <a16:creationId xmlns:a16="http://schemas.microsoft.com/office/drawing/2014/main" id="{EB6E1573-DFE9-4F4E-8E6E-88BDBAC2CAC4}"/>
              </a:ext>
            </a:extLst>
          </p:cNvPr>
          <p:cNvSpPr>
            <a:spLocks noGrp="1"/>
          </p:cNvSpPr>
          <p:nvPr/>
        </p:nvSpPr>
        <p:spPr>
          <a:xfrm>
            <a:off x="8216900" y="403860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Cosine comparison</a:t>
            </a:r>
          </a:p>
        </p:txBody>
      </p:sp>
      <p:cxnSp>
        <p:nvCxnSpPr>
          <p:cNvPr id="31" name="reveal-2"/>
          <p:cNvCxnSpPr>
            <a:stCxn id="11" idx="3"/>
            <a:endCxn id="12" idx="1"/>
          </p:cNvCxnSpPr>
          <p:nvPr/>
        </p:nvCxnSpPr>
        <p:spPr>
          <a:xfrm>
            <a:off x="3956050" y="4514850"/>
            <a:ext cx="457200" cy="0"/>
          </a:xfrm>
          <a:prstGeom prst="straightConnector1">
            <a:avLst/>
          </a:prstGeom>
          <a:ln w="19050">
            <a:solidFill>
              <a:srgbClr val="087F8C"/>
            </a:solidFill>
            <a:tailEnd type="arrow" w="med" len="med"/>
          </a:ln>
        </p:spPr>
      </p:cxnSp>
      <p:cxnSp>
        <p:nvCxnSpPr>
          <p:cNvPr id="32" name="reveal-3"/>
          <p:cNvCxnSpPr>
            <a:stCxn id="12" idx="3"/>
            <a:endCxn id="13" idx="1"/>
          </p:cNvCxnSpPr>
          <p:nvPr/>
        </p:nvCxnSpPr>
        <p:spPr>
          <a:xfrm>
            <a:off x="7759700" y="4514850"/>
            <a:ext cx="457200" cy="0"/>
          </a:xfrm>
          <a:prstGeom prst="straightConnector1">
            <a:avLst/>
          </a:prstGeom>
          <a:ln w="19050">
            <a:solidFill>
              <a:srgbClr val="087F8C"/>
            </a:solidFill>
            <a:tailEnd type="arrow" w="med" len="med"/>
          </a:ln>
        </p:spPr>
      </p:cxnSp>
      <p:sp>
        <p:nvSpPr>
          <p:cNvPr id="16" name="reveal-7">
            <a:extLst>
              <a:ext uri="{FF2B5EF4-FFF2-40B4-BE49-F238E27FC236}">
                <a16:creationId xmlns:a16="http://schemas.microsoft.com/office/drawing/2014/main" id="{7B77D44C-791F-45D9-AC38-D3EFD4962B75}"/>
              </a:ext>
            </a:extLst>
          </p:cNvPr>
          <p:cNvSpPr>
            <a:spLocks noGrp="1"/>
          </p:cNvSpPr>
          <p:nvPr/>
        </p:nvSpPr>
        <p:spPr>
          <a:xfrm>
            <a:off x="609600" y="5334000"/>
            <a:ext cx="10763250" cy="457200"/>
          </a:xfrm>
          <a:prstGeom prst="rect">
            <a:avLst/>
          </a:prstGeom>
          <a:noFill/>
          <a:ln w="0">
            <a:noFill/>
          </a:ln>
        </p:spPr>
        <p:txBody>
          <a:bodyPr>
            <a:noAutofit/>
          </a:bodyPr>
          <a:lstStyle/>
          <a:p>
            <a:pPr algn="l">
              <a:defRPr sz="2400" b="1">
                <a:solidFill>
                  <a:srgbClr val="087F8C"/>
                </a:solidFill>
                <a:latin typeface="Times New Roman"/>
                <a:ea typeface="Times New Roman"/>
                <a:cs typeface="Times New Roman"/>
              </a:defRPr>
            </a:pPr>
            <a:r>
              <a:rPr sz="2400" b="1">
                <a:solidFill>
                  <a:srgbClr val="087F8C"/>
                </a:solidFill>
                <a:latin typeface="Times New Roman"/>
                <a:ea typeface="Times New Roman"/>
                <a:cs typeface="Times New Roman"/>
              </a:rPr>
              <a:t>Similarity = reference vector · incoming voice vector</a:t>
            </a:r>
          </a:p>
        </p:txBody>
      </p:sp>
      <p:sp>
        <p:nvSpPr>
          <p:cNvPr id="17" name="fixed">
            <a:extLst>
              <a:ext uri="{FF2B5EF4-FFF2-40B4-BE49-F238E27FC236}">
                <a16:creationId xmlns:a16="http://schemas.microsoft.com/office/drawing/2014/main" id="{00EFC4EE-7B24-4855-9A06-4032ECD12C0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Cosine cutoff: 0.75. Two valid segments below it trigger a review event.</a:t>
            </a:r>
          </a:p>
        </p:txBody>
      </p:sp>
    </p:spTree>
    <p:extLst>
      <p:ext uri="{BB962C8B-B14F-4D97-AF65-F5344CB8AC3E}">
        <p14:creationId xmlns:p14="http://schemas.microsoft.com/office/powerpoint/2010/main" val="208716296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350"/>
                                  <p:tgtEl>
                                    <p:spTgt spid="11"/>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50"/>
                                  <p:tgtEl>
                                    <p:spTgt spid="7"/>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350"/>
                                  <p:tgtEl>
                                    <p:spTgt spid="26"/>
                                  </p:tgtEl>
                                </p:cBhvr>
                              </p:animEffect>
                            </p:childTnLst>
                          </p:cTn>
                        </p:par>
                        <p:par>
                          <p:cTn id="17" presetID="10" presetClass="entr" presetSubtype="0" fill="hold" grpId="2"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50"/>
                                  <p:tgtEl>
                                    <p:spTgt spid="12"/>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350"/>
                                  <p:tgtEl>
                                    <p:spTgt spid="31"/>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350"/>
                                  <p:tgtEl>
                                    <p:spTgt spid="8"/>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350"/>
                                  <p:tgtEl>
                                    <p:spTgt spid="27"/>
                                  </p:tgtEl>
                                </p:cBhvr>
                              </p:animEffect>
                            </p:childTnLst>
                          </p:cTn>
                        </p:par>
                        <p:par>
                          <p:cTn id="30" presetID="10" presetClass="entr" presetSubtype="0" fill="hold" grpId="3"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3"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350"/>
                                  <p:tgtEl>
                                    <p:spTgt spid="32"/>
                                  </p:tgtEl>
                                </p:cBhvr>
                              </p:animEffect>
                            </p:childTnLst>
                          </p:cTn>
                        </p:par>
                      </p:childTnLst>
                    </p:cTn>
                  </p:par>
                  <p:par>
                    <p:cTn id="36" fill="hold">
                      <p:stCondLst>
                        <p:cond delay="indefinite"/>
                      </p:stCondLst>
                      <p:childTnLst>
                        <p:par>
                          <p:cTn id="37" presetID="10" presetClass="entr" presetSubtype="0" fill="hold" grpId="7"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26" grpId="2" uiExpand="1" animBg="1"/>
      <p:bldP spid="27" grpId="3" uiExpand="1" animBg="1"/>
      <p:bldP spid="11" grpId="1" uiExpand="1" animBg="1"/>
      <p:bldP spid="12" grpId="2" uiExpand="1" animBg="1"/>
      <p:bldP spid="13" grpId="3" uiExpand="1" animBg="1"/>
      <p:bldP spid="31" grpId="2" uiExpand="1" animBg="1"/>
      <p:bldP spid="32" grpId="3" uiExpand="1" animBg="1"/>
      <p:bldP spid="16" grpId="7" uiExpand="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9" name="fixed">
            <a:extLst>
              <a:ext uri="{FF2B5EF4-FFF2-40B4-BE49-F238E27FC236}">
                <a16:creationId xmlns:a16="http://schemas.microsoft.com/office/drawing/2014/main" id="{15EA400B-C084-4FA8-A005-7A5F7ED35FD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VOICE / ILLUSTRATIVE DECISION EXAMPLE</a:t>
            </a:r>
          </a:p>
        </p:txBody>
      </p:sp>
      <p:sp>
        <p:nvSpPr>
          <p:cNvPr id="2" name="fixed">
            <a:extLst>
              <a:ext uri="{FF2B5EF4-FFF2-40B4-BE49-F238E27FC236}">
                <a16:creationId xmlns:a16="http://schemas.microsoft.com/office/drawing/2014/main" id="{5864F139-227F-4A06-A649-1E2C227397E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Voice comparison example</a:t>
            </a:r>
          </a:p>
        </p:txBody>
      </p:sp>
      <p:sp>
        <p:nvSpPr>
          <p:cNvPr id="3" name="fixed">
            <a:extLst>
              <a:ext uri="{FF2B5EF4-FFF2-40B4-BE49-F238E27FC236}">
                <a16:creationId xmlns:a16="http://schemas.microsoft.com/office/drawing/2014/main" id="{B0648B22-067D-42B7-9B17-A297B89159B9}"/>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83219C3F-82C6-474E-AB3D-F11F2031EFC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70AC0EE0-4AB0-4CF8-834A-555805B1F13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20</a:t>
            </a:r>
          </a:p>
        </p:txBody>
      </p:sp>
      <p:graphicFrame>
        <p:nvGraphicFramePr>
          <p:cNvPr id="14" name="Table 13"/>
          <p:cNvGraphicFramePr/>
          <p:nvPr/>
        </p:nvGraphicFramePr>
        <p:xfrm>
          <a:off x="609600" y="2286000"/>
          <a:ext cx="10953750" cy="2703196"/>
        </p:xfrm>
        <a:graphic>
          <a:graphicData uri="http://schemas.openxmlformats.org/drawingml/2006/table">
            <a:tbl>
              <a:tblPr/>
              <a:tblGrid>
                <a:gridCol w="42862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642938">
                <a:tc>
                  <a:txBody>
                    <a:bodyPr/>
                    <a:lstStyle/>
                    <a:p>
                      <a:r>
                        <a:rPr sz="2025" b="1">
                          <a:solidFill>
                            <a:srgbClr val="FFFFFF"/>
                          </a:solidFill>
                          <a:latin typeface="Times New Roman"/>
                          <a:ea typeface="Times New Roman"/>
                          <a:cs typeface="Times New Roman"/>
                        </a:rPr>
                        <a:t>VALID SPEECH SEGMENT</a:t>
                      </a:r>
                    </a:p>
                  </a:txBody>
                  <a:tcPr>
                    <a:solidFill>
                      <a:srgbClr val="172F3A"/>
                    </a:solidFill>
                  </a:tcPr>
                </a:tc>
                <a:tc>
                  <a:txBody>
                    <a:bodyPr/>
                    <a:lstStyle/>
                    <a:p>
                      <a:r>
                        <a:rPr sz="2025" b="1">
                          <a:solidFill>
                            <a:srgbClr val="FFFFFF"/>
                          </a:solidFill>
                          <a:latin typeface="Times New Roman"/>
                          <a:ea typeface="Times New Roman"/>
                          <a:cs typeface="Times New Roman"/>
                        </a:rPr>
                        <a:t>ILLUSTRATIVE SIMILARITY</a:t>
                      </a:r>
                    </a:p>
                  </a:txBody>
                  <a:tcPr>
                    <a:solidFill>
                      <a:srgbClr val="172F3A"/>
                    </a:solidFill>
                  </a:tcPr>
                </a:tc>
                <a:tc>
                  <a:txBody>
                    <a:bodyPr/>
                    <a:lstStyle/>
                    <a:p>
                      <a:r>
                        <a:rPr sz="2025" b="1">
                          <a:solidFill>
                            <a:srgbClr val="FFFFFF"/>
                          </a:solidFill>
                          <a:latin typeface="Times New Roman"/>
                          <a:ea typeface="Times New Roman"/>
                          <a:cs typeface="Times New Roman"/>
                        </a:rPr>
                        <a:t>RESULT</a:t>
                      </a:r>
                    </a:p>
                  </a:txBody>
                  <a:tcPr>
                    <a:solidFill>
                      <a:srgbClr val="172F3A"/>
                    </a:solidFill>
                  </a:tcPr>
                </a:tc>
                <a:extLst>
                  <a:ext uri="{0D108BD9-81ED-4DB2-BD59-A6C34878D82A}">
                    <a16:rowId xmlns:a16="http://schemas.microsoft.com/office/drawing/2014/main" val="10000"/>
                  </a:ext>
                </a:extLst>
              </a:tr>
              <a:tr h="642938">
                <a:tc>
                  <a:txBody>
                    <a:bodyPr/>
                    <a:lstStyle/>
                    <a:p>
                      <a:r>
                        <a:rPr sz="2025" b="0">
                          <a:solidFill>
                            <a:srgbClr val="172F3A"/>
                          </a:solidFill>
                          <a:latin typeface="Times New Roman"/>
                          <a:ea typeface="Times New Roman"/>
                          <a:cs typeface="Times New Roman"/>
                        </a:rPr>
                        <a:t>Candidate reference match</a:t>
                      </a:r>
                    </a:p>
                  </a:txBody>
                  <a:tcPr>
                    <a:solidFill>
                      <a:srgbClr val="E7EEEA"/>
                    </a:solidFill>
                  </a:tcPr>
                </a:tc>
                <a:tc>
                  <a:txBody>
                    <a:bodyPr/>
                    <a:lstStyle/>
                    <a:p>
                      <a:r>
                        <a:rPr sz="2025" b="0">
                          <a:solidFill>
                            <a:srgbClr val="172F3A"/>
                          </a:solidFill>
                          <a:latin typeface="Times New Roman"/>
                          <a:ea typeface="Times New Roman"/>
                          <a:cs typeface="Times New Roman"/>
                        </a:rPr>
                        <a:t>0.86</a:t>
                      </a:r>
                    </a:p>
                  </a:txBody>
                  <a:tcPr>
                    <a:solidFill>
                      <a:srgbClr val="E7EEEA"/>
                    </a:solidFill>
                  </a:tcPr>
                </a:tc>
                <a:tc>
                  <a:txBody>
                    <a:bodyPr/>
                    <a:lstStyle/>
                    <a:p>
                      <a:r>
                        <a:rPr sz="2025" b="0">
                          <a:solidFill>
                            <a:srgbClr val="172F3A"/>
                          </a:solidFill>
                          <a:latin typeface="Times New Roman"/>
                          <a:ea typeface="Times New Roman"/>
                          <a:cs typeface="Times New Roman"/>
                        </a:rPr>
                        <a:t>Clear mismatch count</a:t>
                      </a:r>
                    </a:p>
                  </a:txBody>
                  <a:tcPr>
                    <a:solidFill>
                      <a:srgbClr val="E7EEEA"/>
                    </a:solidFill>
                  </a:tcPr>
                </a:tc>
                <a:extLst>
                  <a:ext uri="{0D108BD9-81ED-4DB2-BD59-A6C34878D82A}">
                    <a16:rowId xmlns:a16="http://schemas.microsoft.com/office/drawing/2014/main" val="10001"/>
                  </a:ext>
                </a:extLst>
              </a:tr>
              <a:tr h="642938">
                <a:tc>
                  <a:txBody>
                    <a:bodyPr/>
                    <a:lstStyle/>
                    <a:p>
                      <a:r>
                        <a:rPr sz="2025" b="0">
                          <a:solidFill>
                            <a:srgbClr val="172F3A"/>
                          </a:solidFill>
                          <a:latin typeface="Times New Roman"/>
                          <a:ea typeface="Times New Roman"/>
                          <a:cs typeface="Times New Roman"/>
                        </a:rPr>
                        <a:t>First different-voice segment</a:t>
                      </a:r>
                    </a:p>
                  </a:txBody>
                  <a:tcPr>
                    <a:solidFill>
                      <a:srgbClr val="F6F7F4"/>
                    </a:solidFill>
                  </a:tcPr>
                </a:tc>
                <a:tc>
                  <a:txBody>
                    <a:bodyPr/>
                    <a:lstStyle/>
                    <a:p>
                      <a:r>
                        <a:rPr sz="2025" b="0">
                          <a:solidFill>
                            <a:srgbClr val="172F3A"/>
                          </a:solidFill>
                          <a:latin typeface="Times New Roman"/>
                          <a:ea typeface="Times New Roman"/>
                          <a:cs typeface="Times New Roman"/>
                        </a:rPr>
                        <a:t>0.62</a:t>
                      </a:r>
                    </a:p>
                  </a:txBody>
                  <a:tcPr>
                    <a:solidFill>
                      <a:srgbClr val="F6F7F4"/>
                    </a:solidFill>
                  </a:tcPr>
                </a:tc>
                <a:tc>
                  <a:txBody>
                    <a:bodyPr/>
                    <a:lstStyle/>
                    <a:p>
                      <a:r>
                        <a:rPr sz="2025" b="0">
                          <a:solidFill>
                            <a:srgbClr val="172F3A"/>
                          </a:solidFill>
                          <a:latin typeface="Times New Roman"/>
                          <a:ea typeface="Times New Roman"/>
                          <a:cs typeface="Times New Roman"/>
                        </a:rPr>
                        <a:t>Mismatch 1, no alert yet</a:t>
                      </a:r>
                    </a:p>
                  </a:txBody>
                  <a:tcPr>
                    <a:solidFill>
                      <a:srgbClr val="F6F7F4"/>
                    </a:solidFill>
                  </a:tcPr>
                </a:tc>
                <a:extLst>
                  <a:ext uri="{0D108BD9-81ED-4DB2-BD59-A6C34878D82A}">
                    <a16:rowId xmlns:a16="http://schemas.microsoft.com/office/drawing/2014/main" val="10002"/>
                  </a:ext>
                </a:extLst>
              </a:tr>
              <a:tr h="642938">
                <a:tc>
                  <a:txBody>
                    <a:bodyPr/>
                    <a:lstStyle/>
                    <a:p>
                      <a:r>
                        <a:rPr sz="2025" b="0">
                          <a:solidFill>
                            <a:srgbClr val="172F3A"/>
                          </a:solidFill>
                          <a:latin typeface="Times New Roman"/>
                          <a:ea typeface="Times New Roman"/>
                          <a:cs typeface="Times New Roman"/>
                        </a:rPr>
                        <a:t>Second different-voice segment</a:t>
                      </a:r>
                    </a:p>
                  </a:txBody>
                  <a:tcPr>
                    <a:solidFill>
                      <a:srgbClr val="E7EEEA"/>
                    </a:solidFill>
                  </a:tcPr>
                </a:tc>
                <a:tc>
                  <a:txBody>
                    <a:bodyPr/>
                    <a:lstStyle/>
                    <a:p>
                      <a:r>
                        <a:rPr sz="2025" b="0">
                          <a:solidFill>
                            <a:srgbClr val="172F3A"/>
                          </a:solidFill>
                          <a:latin typeface="Times New Roman"/>
                          <a:ea typeface="Times New Roman"/>
                          <a:cs typeface="Times New Roman"/>
                        </a:rPr>
                        <a:t>0.61</a:t>
                      </a:r>
                    </a:p>
                  </a:txBody>
                  <a:tcPr>
                    <a:solidFill>
                      <a:srgbClr val="E7EEEA"/>
                    </a:solidFill>
                  </a:tcPr>
                </a:tc>
                <a:tc>
                  <a:txBody>
                    <a:bodyPr/>
                    <a:lstStyle/>
                    <a:p>
                      <a:r>
                        <a:rPr sz="2025" b="0">
                          <a:solidFill>
                            <a:srgbClr val="172F3A"/>
                          </a:solidFill>
                          <a:latin typeface="Times New Roman"/>
                          <a:ea typeface="Times New Roman"/>
                          <a:cs typeface="Times New Roman"/>
                        </a:rPr>
                        <a:t>Mismatch 2, save clip and alert</a:t>
                      </a:r>
                    </a:p>
                  </a:txBody>
                  <a:tcPr>
                    <a:solidFill>
                      <a:srgbClr val="E7EEEA"/>
                    </a:solidFill>
                  </a:tcPr>
                </a:tc>
                <a:extLst>
                  <a:ext uri="{0D108BD9-81ED-4DB2-BD59-A6C34878D82A}">
                    <a16:rowId xmlns:a16="http://schemas.microsoft.com/office/drawing/2014/main" val="10003"/>
                  </a:ext>
                </a:extLst>
              </a:tr>
            </a:tbl>
          </a:graphicData>
        </a:graphic>
      </p:graphicFrame>
      <p:sp>
        <p:nvSpPr>
          <p:cNvPr id="7" name="reveal-1">
            <a:extLst>
              <a:ext uri="{FF2B5EF4-FFF2-40B4-BE49-F238E27FC236}">
                <a16:creationId xmlns:a16="http://schemas.microsoft.com/office/drawing/2014/main" id="{95E26A45-6866-40F7-AD20-1BDE127DBD25}"/>
              </a:ext>
            </a:extLst>
          </p:cNvPr>
          <p:cNvSpPr>
            <a:spLocks noGrp="1"/>
          </p:cNvSpPr>
          <p:nvPr/>
        </p:nvSpPr>
        <p:spPr>
          <a:xfrm>
            <a:off x="609600" y="5314950"/>
            <a:ext cx="10810875" cy="5905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Short or clipped audio does not count as a valid mismatch</a:t>
            </a:r>
          </a:p>
        </p:txBody>
      </p:sp>
      <p:sp>
        <p:nvSpPr>
          <p:cNvPr id="8" name="fixed">
            <a:extLst>
              <a:ext uri="{FF2B5EF4-FFF2-40B4-BE49-F238E27FC236}">
                <a16:creationId xmlns:a16="http://schemas.microsoft.com/office/drawing/2014/main" id="{E0AB773F-0209-43EE-B76F-30BC803EE9B7}"/>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Illustrative values. Actual threshold performance requires quiet-room and noisy-room trials.</a:t>
            </a:r>
          </a:p>
        </p:txBody>
      </p:sp>
    </p:spTree>
    <p:extLst>
      <p:ext uri="{BB962C8B-B14F-4D97-AF65-F5344CB8AC3E}">
        <p14:creationId xmlns:p14="http://schemas.microsoft.com/office/powerpoint/2010/main" val="9104229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E7614B49-8F1E-48A3-897E-0A6B1B2EDF99}"/>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03</a:t>
            </a:r>
          </a:p>
        </p:txBody>
      </p:sp>
      <p:sp>
        <p:nvSpPr>
          <p:cNvPr id="3" name="fixed">
            <a:extLst>
              <a:ext uri="{FF2B5EF4-FFF2-40B4-BE49-F238E27FC236}">
                <a16:creationId xmlns:a16="http://schemas.microsoft.com/office/drawing/2014/main" id="{0211075A-F8D2-47A7-9CE7-5446E99FEBD8}"/>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Evidence capture and delivery</a:t>
            </a:r>
          </a:p>
        </p:txBody>
      </p:sp>
      <p:sp>
        <p:nvSpPr>
          <p:cNvPr id="4" name="fixed">
            <a:extLst>
              <a:ext uri="{FF2B5EF4-FFF2-40B4-BE49-F238E27FC236}">
                <a16:creationId xmlns:a16="http://schemas.microsoft.com/office/drawing/2014/main" id="{9D218094-32EA-47EF-9546-4478CEC186BA}"/>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4B62E2C7-95F4-48FC-BCF5-913276EBF00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B5EBAE13-C17F-4706-8888-DC4AC8EEFF61}"/>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21</a:t>
            </a:r>
          </a:p>
        </p:txBody>
      </p:sp>
      <p:sp>
        <p:nvSpPr>
          <p:cNvPr id="7" name="reveal-1">
            <a:extLst>
              <a:ext uri="{FF2B5EF4-FFF2-40B4-BE49-F238E27FC236}">
                <a16:creationId xmlns:a16="http://schemas.microsoft.com/office/drawing/2014/main" id="{16A2E042-A619-41AA-8992-839D3A339F7A}"/>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Preserve event context so an examiner can inspect what caused the alert.</a:t>
            </a:r>
          </a:p>
        </p:txBody>
      </p:sp>
      <p:sp>
        <p:nvSpPr>
          <p:cNvPr id="8" name="reveal-2">
            <a:extLst>
              <a:ext uri="{FF2B5EF4-FFF2-40B4-BE49-F238E27FC236}">
                <a16:creationId xmlns:a16="http://schemas.microsoft.com/office/drawing/2014/main" id="{25D994FD-9E5D-4F6E-8137-6994AED8B616}"/>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5B662E25-D44E-488B-9D85-CF8A0C55ACDD}"/>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JPEG / WAV capture  /  SQLite spool  /  Electron retry queue</a:t>
            </a:r>
          </a:p>
        </p:txBody>
      </p:sp>
      <p:sp>
        <p:nvSpPr>
          <p:cNvPr id="10" name="reveal-3">
            <a:extLst>
              <a:ext uri="{FF2B5EF4-FFF2-40B4-BE49-F238E27FC236}">
                <a16:creationId xmlns:a16="http://schemas.microsoft.com/office/drawing/2014/main" id="{30400C15-41A7-4237-A424-C003764ECB95}"/>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Monitoring event</a:t>
            </a:r>
          </a:p>
        </p:txBody>
      </p:sp>
      <p:sp>
        <p:nvSpPr>
          <p:cNvPr id="11" name="reveal-4">
            <a:extLst>
              <a:ext uri="{FF2B5EF4-FFF2-40B4-BE49-F238E27FC236}">
                <a16:creationId xmlns:a16="http://schemas.microsoft.com/office/drawing/2014/main" id="{B4A3B68D-8FF8-43C2-BBBA-5986D9907E51}"/>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Evidence and event ID</a:t>
            </a:r>
          </a:p>
        </p:txBody>
      </p:sp>
      <p:sp>
        <p:nvSpPr>
          <p:cNvPr id="12" name="reveal-5">
            <a:extLst>
              <a:ext uri="{FF2B5EF4-FFF2-40B4-BE49-F238E27FC236}">
                <a16:creationId xmlns:a16="http://schemas.microsoft.com/office/drawing/2014/main" id="{936111C6-6A28-4616-934A-795D0FD0AFEA}"/>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Server persistence</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8405309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5CD6BCD3-C824-4E8C-AF6D-697E12F74CCA}"/>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03 / WORKING AND EXAMPLE</a:t>
            </a:r>
          </a:p>
        </p:txBody>
      </p:sp>
      <p:sp>
        <p:nvSpPr>
          <p:cNvPr id="2" name="fixed">
            <a:extLst>
              <a:ext uri="{FF2B5EF4-FFF2-40B4-BE49-F238E27FC236}">
                <a16:creationId xmlns:a16="http://schemas.microsoft.com/office/drawing/2014/main" id="{677E1229-CB83-4772-9BED-FABA1C371268}"/>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Offline recovery and delayed evidence</a:t>
            </a:r>
          </a:p>
        </p:txBody>
      </p:sp>
      <p:sp>
        <p:nvSpPr>
          <p:cNvPr id="3" name="fixed">
            <a:extLst>
              <a:ext uri="{FF2B5EF4-FFF2-40B4-BE49-F238E27FC236}">
                <a16:creationId xmlns:a16="http://schemas.microsoft.com/office/drawing/2014/main" id="{D755B101-C00E-490E-8BC8-1B2E801DF614}"/>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9774957F-BDE1-4783-9887-93616008C2C0}"/>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4D134F46-72A7-4017-8A26-E5C9AABE937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22</a:t>
            </a:r>
          </a:p>
        </p:txBody>
      </p:sp>
      <p:sp>
        <p:nvSpPr>
          <p:cNvPr id="6" name="reveal-1">
            <a:extLst>
              <a:ext uri="{FF2B5EF4-FFF2-40B4-BE49-F238E27FC236}">
                <a16:creationId xmlns:a16="http://schemas.microsoft.com/office/drawing/2014/main" id="{5ECB6143-839A-4651-8F86-FBB63FC39314}"/>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14:58</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Event captured offline</a:t>
            </a:r>
          </a:p>
        </p:txBody>
      </p:sp>
      <p:sp>
        <p:nvSpPr>
          <p:cNvPr id="7" name="reveal-2">
            <a:extLst>
              <a:ext uri="{FF2B5EF4-FFF2-40B4-BE49-F238E27FC236}">
                <a16:creationId xmlns:a16="http://schemas.microsoft.com/office/drawing/2014/main" id="{DDF2FA87-379D-4219-A128-43716E02FCD9}"/>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15:00</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 completes</a:t>
            </a:r>
          </a:p>
        </p:txBody>
      </p:sp>
      <p:sp>
        <p:nvSpPr>
          <p:cNvPr id="8" name="reveal-3">
            <a:extLst>
              <a:ext uri="{FF2B5EF4-FFF2-40B4-BE49-F238E27FC236}">
                <a16:creationId xmlns:a16="http://schemas.microsoft.com/office/drawing/2014/main" id="{BBC653C0-CB6B-44E7-B246-0786D5305472}"/>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15:02</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Queue uploads event</a:t>
            </a:r>
          </a:p>
        </p:txBody>
      </p:sp>
      <p:sp>
        <p:nvSpPr>
          <p:cNvPr id="9" name="reveal-4">
            <a:extLst>
              <a:ext uri="{FF2B5EF4-FFF2-40B4-BE49-F238E27FC236}">
                <a16:creationId xmlns:a16="http://schemas.microsoft.com/office/drawing/2014/main" id="{68330585-7283-4723-B83D-9FEFB5448F16}"/>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a:t>
            </a:r>
          </a:p>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Reviews late evidence</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33208156-05D5-4A80-BFB8-EFB8E84F5D38}"/>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What the queues retain</a:t>
            </a:r>
          </a:p>
        </p:txBody>
      </p:sp>
      <p:sp>
        <p:nvSpPr>
          <p:cNvPr id="14" name="reveal-5">
            <a:extLst>
              <a:ext uri="{FF2B5EF4-FFF2-40B4-BE49-F238E27FC236}">
                <a16:creationId xmlns:a16="http://schemas.microsoft.com/office/drawing/2014/main" id="{EBEA3D30-4F1F-4EEA-8983-952A0653F5F0}"/>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Original event ID and timestamp</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Evidence path and retry state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same identity across retries</a:t>
            </a:r>
          </a:p>
        </p:txBody>
      </p:sp>
      <p:sp>
        <p:nvSpPr>
          <p:cNvPr id="15" name="reveal-6">
            <a:extLst>
              <a:ext uri="{FF2B5EF4-FFF2-40B4-BE49-F238E27FC236}">
                <a16:creationId xmlns:a16="http://schemas.microsoft.com/office/drawing/2014/main" id="{27605AC9-2513-48B3-8CA0-D6D2B6C440AE}"/>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How the server handles it</a:t>
            </a:r>
          </a:p>
        </p:txBody>
      </p:sp>
      <p:sp>
        <p:nvSpPr>
          <p:cNvPr id="16" name="reveal-6">
            <a:extLst>
              <a:ext uri="{FF2B5EF4-FFF2-40B4-BE49-F238E27FC236}">
                <a16:creationId xmlns:a16="http://schemas.microsoft.com/office/drawing/2014/main" id="{10B33E4A-2AEA-4DB1-8F8B-88CE3118197A}"/>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Save valid delayed evidence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Mark it as late and avoid duplicates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Require confirmation before scoring</a:t>
            </a:r>
          </a:p>
        </p:txBody>
      </p:sp>
      <p:sp>
        <p:nvSpPr>
          <p:cNvPr id="17" name="fixed">
            <a:extLst>
              <a:ext uri="{FF2B5EF4-FFF2-40B4-BE49-F238E27FC236}">
                <a16:creationId xmlns:a16="http://schemas.microsoft.com/office/drawing/2014/main" id="{2FEC9BE9-5C35-4985-A25D-5752606F27E3}"/>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Illustrative timeline. Live monitoring still needs connectivity to the central server.</a:t>
            </a:r>
          </a:p>
        </p:txBody>
      </p:sp>
    </p:spTree>
    <p:extLst>
      <p:ext uri="{BB962C8B-B14F-4D97-AF65-F5344CB8AC3E}">
        <p14:creationId xmlns:p14="http://schemas.microsoft.com/office/powerpoint/2010/main" val="2618754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B1DAF053-1F02-4622-AF21-5A56A991B654}"/>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04</a:t>
            </a:r>
          </a:p>
        </p:txBody>
      </p:sp>
      <p:sp>
        <p:nvSpPr>
          <p:cNvPr id="3" name="fixed">
            <a:extLst>
              <a:ext uri="{FF2B5EF4-FFF2-40B4-BE49-F238E27FC236}">
                <a16:creationId xmlns:a16="http://schemas.microsoft.com/office/drawing/2014/main" id="{A78C3341-0D13-4662-A7AB-723117AEB88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System self-check</a:t>
            </a:r>
          </a:p>
        </p:txBody>
      </p:sp>
      <p:sp>
        <p:nvSpPr>
          <p:cNvPr id="4" name="fixed">
            <a:extLst>
              <a:ext uri="{FF2B5EF4-FFF2-40B4-BE49-F238E27FC236}">
                <a16:creationId xmlns:a16="http://schemas.microsoft.com/office/drawing/2014/main" id="{351C200E-DB36-4A44-995A-75A2137302A7}"/>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CAFF39D0-2A00-4844-9E1B-E001ADFB17E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CED897A-46DB-4BC5-9A9A-DBBDEBE74B57}"/>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23</a:t>
            </a:r>
          </a:p>
        </p:txBody>
      </p:sp>
      <p:sp>
        <p:nvSpPr>
          <p:cNvPr id="7" name="reveal-1">
            <a:extLst>
              <a:ext uri="{FF2B5EF4-FFF2-40B4-BE49-F238E27FC236}">
                <a16:creationId xmlns:a16="http://schemas.microsoft.com/office/drawing/2014/main" id="{FB207F34-93D4-4229-BC57-45D3252722B5}"/>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Verify the required devices and examination rules before the candidate enters.</a:t>
            </a:r>
          </a:p>
        </p:txBody>
      </p:sp>
      <p:sp>
        <p:nvSpPr>
          <p:cNvPr id="8" name="reveal-2">
            <a:extLst>
              <a:ext uri="{FF2B5EF4-FFF2-40B4-BE49-F238E27FC236}">
                <a16:creationId xmlns:a16="http://schemas.microsoft.com/office/drawing/2014/main" id="{09ECCCA8-26EF-4028-8C82-421117B7FAD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DFB0E132-ADC8-45B8-915A-CB0C4C13BBCF}"/>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Electron device checks  /  Python health API  /  enrollment</a:t>
            </a:r>
          </a:p>
        </p:txBody>
      </p:sp>
      <p:sp>
        <p:nvSpPr>
          <p:cNvPr id="10" name="reveal-3">
            <a:extLst>
              <a:ext uri="{FF2B5EF4-FFF2-40B4-BE49-F238E27FC236}">
                <a16:creationId xmlns:a16="http://schemas.microsoft.com/office/drawing/2014/main" id="{3AC57A5B-7BC7-4F31-B016-7065297ADEB6}"/>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Consent and rules</a:t>
            </a:r>
          </a:p>
        </p:txBody>
      </p:sp>
      <p:sp>
        <p:nvSpPr>
          <p:cNvPr id="11" name="reveal-4">
            <a:extLst>
              <a:ext uri="{FF2B5EF4-FFF2-40B4-BE49-F238E27FC236}">
                <a16:creationId xmlns:a16="http://schemas.microsoft.com/office/drawing/2014/main" id="{6422D604-C15F-4D8D-AC20-2952E5CBEE90}"/>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Hardware readiness</a:t>
            </a:r>
          </a:p>
        </p:txBody>
      </p:sp>
      <p:sp>
        <p:nvSpPr>
          <p:cNvPr id="12" name="reveal-5">
            <a:extLst>
              <a:ext uri="{FF2B5EF4-FFF2-40B4-BE49-F238E27FC236}">
                <a16:creationId xmlns:a16="http://schemas.microsoft.com/office/drawing/2014/main" id="{AED08199-04FB-475D-92AF-69E62B584147}"/>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entry</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22256689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85DF49D8-872B-4990-B746-BB3387B98AD8}"/>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04 / WORKING AND EXAMPLE</a:t>
            </a:r>
          </a:p>
        </p:txBody>
      </p:sp>
      <p:sp>
        <p:nvSpPr>
          <p:cNvPr id="2" name="fixed">
            <a:extLst>
              <a:ext uri="{FF2B5EF4-FFF2-40B4-BE49-F238E27FC236}">
                <a16:creationId xmlns:a16="http://schemas.microsoft.com/office/drawing/2014/main" id="{5B363B24-5A95-4E28-BFE8-E16CE8F8273C}"/>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Self-check example: blocked and ready states</a:t>
            </a:r>
          </a:p>
        </p:txBody>
      </p:sp>
      <p:sp>
        <p:nvSpPr>
          <p:cNvPr id="3" name="fixed">
            <a:extLst>
              <a:ext uri="{FF2B5EF4-FFF2-40B4-BE49-F238E27FC236}">
                <a16:creationId xmlns:a16="http://schemas.microsoft.com/office/drawing/2014/main" id="{82B5D904-EA02-4184-B2B4-0665A95DE708}"/>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50E14ECF-B22D-40C4-8522-6921F8920DA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CFF2035C-E8A3-493F-88A5-43ABD3ABD86B}"/>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24</a:t>
            </a:r>
          </a:p>
        </p:txBody>
      </p:sp>
      <p:sp>
        <p:nvSpPr>
          <p:cNvPr id="6" name="reveal-1">
            <a:extLst>
              <a:ext uri="{FF2B5EF4-FFF2-40B4-BE49-F238E27FC236}">
                <a16:creationId xmlns:a16="http://schemas.microsoft.com/office/drawing/2014/main" id="{F96A683F-0D23-4C8B-A49E-C22A5AB4EB69}"/>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Read exam requirements</a:t>
            </a:r>
          </a:p>
        </p:txBody>
      </p:sp>
      <p:sp>
        <p:nvSpPr>
          <p:cNvPr id="7" name="reveal-2">
            <a:extLst>
              <a:ext uri="{FF2B5EF4-FFF2-40B4-BE49-F238E27FC236}">
                <a16:creationId xmlns:a16="http://schemas.microsoft.com/office/drawing/2014/main" id="{DF5D5F83-300B-4724-BE18-9482E1A71F42}"/>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Check devices / models</a:t>
            </a:r>
          </a:p>
        </p:txBody>
      </p:sp>
      <p:sp>
        <p:nvSpPr>
          <p:cNvPr id="8" name="reveal-3">
            <a:extLst>
              <a:ext uri="{FF2B5EF4-FFF2-40B4-BE49-F238E27FC236}">
                <a16:creationId xmlns:a16="http://schemas.microsoft.com/office/drawing/2014/main" id="{9EA73EAD-69EF-40B5-9406-D20A9346BC5A}"/>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Resolve blocked checks</a:t>
            </a:r>
          </a:p>
        </p:txBody>
      </p:sp>
      <p:sp>
        <p:nvSpPr>
          <p:cNvPr id="9" name="reveal-4">
            <a:extLst>
              <a:ext uri="{FF2B5EF4-FFF2-40B4-BE49-F238E27FC236}">
                <a16:creationId xmlns:a16="http://schemas.microsoft.com/office/drawing/2014/main" id="{1E35CEA7-F3D6-4E8D-9B2D-6093CE68E8F8}"/>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Enter permitted mode</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F29C8458-0974-4177-BC32-ACB9B69E8D56}"/>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Online example</a:t>
            </a:r>
          </a:p>
        </p:txBody>
      </p:sp>
      <p:sp>
        <p:nvSpPr>
          <p:cNvPr id="14" name="reveal-5">
            <a:extLst>
              <a:ext uri="{FF2B5EF4-FFF2-40B4-BE49-F238E27FC236}">
                <a16:creationId xmlns:a16="http://schemas.microsoft.com/office/drawing/2014/main" id="{27796855-6EEA-4D6A-8CE3-5D08ADA9066E}"/>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Connected USB storage blocks readiness.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Remove it and repeat the check.</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Online camera and voice must be ready.</a:t>
            </a:r>
          </a:p>
        </p:txBody>
      </p:sp>
      <p:sp>
        <p:nvSpPr>
          <p:cNvPr id="15" name="reveal-6">
            <a:extLst>
              <a:ext uri="{FF2B5EF4-FFF2-40B4-BE49-F238E27FC236}">
                <a16:creationId xmlns:a16="http://schemas.microsoft.com/office/drawing/2014/main" id="{E4AE0B29-10CF-4495-BFA8-7EE69A1223E3}"/>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Physical-lab example</a:t>
            </a:r>
          </a:p>
        </p:txBody>
      </p:sp>
      <p:sp>
        <p:nvSpPr>
          <p:cNvPr id="16" name="reveal-6">
            <a:extLst>
              <a:ext uri="{FF2B5EF4-FFF2-40B4-BE49-F238E27FC236}">
                <a16:creationId xmlns:a16="http://schemas.microsoft.com/office/drawing/2014/main" id="{7FDDDF2B-F5CC-4E7A-8D0A-C67914D113F1}"/>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Camera and voice are bypassed.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Application, USB and display checks remain.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Exam mode sets the required checks.</a:t>
            </a:r>
          </a:p>
        </p:txBody>
      </p:sp>
      <p:sp>
        <p:nvSpPr>
          <p:cNvPr id="17" name="fixed">
            <a:extLst>
              <a:ext uri="{FF2B5EF4-FFF2-40B4-BE49-F238E27FC236}">
                <a16:creationId xmlns:a16="http://schemas.microsoft.com/office/drawing/2014/main" id="{3FBC54AA-DEC5-474E-A28C-29BC0E0C4361}"/>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successful self-check means required components are ready, not that AI accuracy is proven.</a:t>
            </a:r>
          </a:p>
        </p:txBody>
      </p:sp>
    </p:spTree>
    <p:extLst>
      <p:ext uri="{BB962C8B-B14F-4D97-AF65-F5344CB8AC3E}">
        <p14:creationId xmlns:p14="http://schemas.microsoft.com/office/powerpoint/2010/main" val="6006960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3DAEC8D1-DFC2-4BC7-B86A-039B9CC2A0FC}"/>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05</a:t>
            </a:r>
          </a:p>
        </p:txBody>
      </p:sp>
      <p:sp>
        <p:nvSpPr>
          <p:cNvPr id="3" name="fixed">
            <a:extLst>
              <a:ext uri="{FF2B5EF4-FFF2-40B4-BE49-F238E27FC236}">
                <a16:creationId xmlns:a16="http://schemas.microsoft.com/office/drawing/2014/main" id="{EB0EB361-18FE-4AE6-B270-EC2C2B93AF9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Severity scoring</a:t>
            </a:r>
          </a:p>
        </p:txBody>
      </p:sp>
      <p:sp>
        <p:nvSpPr>
          <p:cNvPr id="4" name="fixed">
            <a:extLst>
              <a:ext uri="{FF2B5EF4-FFF2-40B4-BE49-F238E27FC236}">
                <a16:creationId xmlns:a16="http://schemas.microsoft.com/office/drawing/2014/main" id="{643E361F-97C5-4913-B236-E7B94DD868EC}"/>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F6241826-9E80-486D-AB82-637C582AC452}"/>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B3CA56A-C261-4075-8DE5-D63ADDD5CCD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25</a:t>
            </a:r>
          </a:p>
        </p:txBody>
      </p:sp>
      <p:sp>
        <p:nvSpPr>
          <p:cNvPr id="7" name="reveal-1">
            <a:extLst>
              <a:ext uri="{FF2B5EF4-FFF2-40B4-BE49-F238E27FC236}">
                <a16:creationId xmlns:a16="http://schemas.microsoft.com/office/drawing/2014/main" id="{8477AFF5-6583-4610-A1C8-A973D8DF7148}"/>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Turn eligible violation records into a review priority for each candidate session.</a:t>
            </a:r>
          </a:p>
        </p:txBody>
      </p:sp>
      <p:sp>
        <p:nvSpPr>
          <p:cNvPr id="8" name="reveal-2">
            <a:extLst>
              <a:ext uri="{FF2B5EF4-FFF2-40B4-BE49-F238E27FC236}">
                <a16:creationId xmlns:a16="http://schemas.microsoft.com/office/drawing/2014/main" id="{1D4D2609-F615-4FF6-92BA-8189097FE15A}"/>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E74921E5-4EA3-4610-9E64-A74DC9636F72}"/>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Severity weights  /  exponential decay  /  examiner decisions</a:t>
            </a:r>
          </a:p>
        </p:txBody>
      </p:sp>
      <p:sp>
        <p:nvSpPr>
          <p:cNvPr id="10" name="reveal-3">
            <a:extLst>
              <a:ext uri="{FF2B5EF4-FFF2-40B4-BE49-F238E27FC236}">
                <a16:creationId xmlns:a16="http://schemas.microsoft.com/office/drawing/2014/main" id="{1029112C-623C-4ABC-8E2C-30B05B2B0B07}"/>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Eligible events</a:t>
            </a:r>
          </a:p>
        </p:txBody>
      </p:sp>
      <p:sp>
        <p:nvSpPr>
          <p:cNvPr id="11" name="reveal-4">
            <a:extLst>
              <a:ext uri="{FF2B5EF4-FFF2-40B4-BE49-F238E27FC236}">
                <a16:creationId xmlns:a16="http://schemas.microsoft.com/office/drawing/2014/main" id="{A3EABBF3-C71B-486F-B51E-81B05BE66746}"/>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Weighted calculation</a:t>
            </a:r>
          </a:p>
        </p:txBody>
      </p:sp>
      <p:sp>
        <p:nvSpPr>
          <p:cNvPr id="12" name="reveal-5">
            <a:extLst>
              <a:ext uri="{FF2B5EF4-FFF2-40B4-BE49-F238E27FC236}">
                <a16:creationId xmlns:a16="http://schemas.microsoft.com/office/drawing/2014/main" id="{A2395D26-FF62-40AE-B4FB-91F4E657D43E}"/>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priority</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8835168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0" name="fixed">
            <a:extLst>
              <a:ext uri="{FF2B5EF4-FFF2-40B4-BE49-F238E27FC236}">
                <a16:creationId xmlns:a16="http://schemas.microsoft.com/office/drawing/2014/main" id="{F1269E10-B195-4130-AEBA-91E8126BDEF6}"/>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05 / CURRENT FORMULA</a:t>
            </a:r>
          </a:p>
        </p:txBody>
      </p:sp>
      <p:sp>
        <p:nvSpPr>
          <p:cNvPr id="2" name="fixed">
            <a:extLst>
              <a:ext uri="{FF2B5EF4-FFF2-40B4-BE49-F238E27FC236}">
                <a16:creationId xmlns:a16="http://schemas.microsoft.com/office/drawing/2014/main" id="{F839CF5A-792C-4AF4-ACAF-F4FD6852C5BC}"/>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Risk-score worked example</a:t>
            </a:r>
          </a:p>
        </p:txBody>
      </p:sp>
      <p:sp>
        <p:nvSpPr>
          <p:cNvPr id="3" name="fixed">
            <a:extLst>
              <a:ext uri="{FF2B5EF4-FFF2-40B4-BE49-F238E27FC236}">
                <a16:creationId xmlns:a16="http://schemas.microsoft.com/office/drawing/2014/main" id="{67DFB5EF-BFA2-4990-9D9F-BA9C28C33915}"/>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CE1787D8-9DC6-4857-B286-32F40FB9EF0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B9400B45-25BF-41DB-AEAF-E3B1A2BE04AA}"/>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26</a:t>
            </a:r>
          </a:p>
        </p:txBody>
      </p:sp>
      <p:graphicFrame>
        <p:nvGraphicFramePr>
          <p:cNvPr id="15" name="Chart"/>
          <p:cNvGraphicFramePr/>
          <p:nvPr/>
        </p:nvGraphicFramePr>
        <p:xfrm>
          <a:off x="609600" y="2257425"/>
          <a:ext cx="723900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7" name="reveal-1">
            <a:extLst>
              <a:ext uri="{FF2B5EF4-FFF2-40B4-BE49-F238E27FC236}">
                <a16:creationId xmlns:a16="http://schemas.microsoft.com/office/drawing/2014/main" id="{FFFB9936-EF24-431E-BF76-0ABDED74BA1C}"/>
              </a:ext>
            </a:extLst>
          </p:cNvPr>
          <p:cNvSpPr>
            <a:spLocks noGrp="1"/>
          </p:cNvSpPr>
          <p:nvPr/>
        </p:nvSpPr>
        <p:spPr>
          <a:xfrm>
            <a:off x="8334375" y="2381250"/>
            <a:ext cx="3162300" cy="495300"/>
          </a:xfrm>
          <a:prstGeom prst="rect">
            <a:avLst/>
          </a:prstGeom>
          <a:noFill/>
          <a:ln w="0">
            <a:noFill/>
          </a:ln>
        </p:spPr>
        <p:txBody>
          <a:bodyPr>
            <a:noAutofit/>
          </a:bodyPr>
          <a:lstStyle/>
          <a:p>
            <a:pPr algn="l">
              <a:defRPr sz="2250" b="1">
                <a:solidFill>
                  <a:srgbClr val="087F8C"/>
                </a:solidFill>
                <a:latin typeface="Times New Roman"/>
                <a:ea typeface="Times New Roman"/>
                <a:cs typeface="Times New Roman"/>
              </a:defRPr>
            </a:pPr>
            <a:r>
              <a:rPr sz="2250" b="1">
                <a:solidFill>
                  <a:srgbClr val="087F8C"/>
                </a:solidFill>
                <a:latin typeface="Times New Roman"/>
                <a:ea typeface="Times New Roman"/>
                <a:cs typeface="Times New Roman"/>
              </a:rPr>
              <a:t>Severity 4 + severity 3</a:t>
            </a:r>
          </a:p>
        </p:txBody>
      </p:sp>
      <p:sp>
        <p:nvSpPr>
          <p:cNvPr id="8" name="reveal-1">
            <a:extLst>
              <a:ext uri="{FF2B5EF4-FFF2-40B4-BE49-F238E27FC236}">
                <a16:creationId xmlns:a16="http://schemas.microsoft.com/office/drawing/2014/main" id="{12B572C0-6988-4BCD-804F-6F047C0DE7CC}"/>
              </a:ext>
            </a:extLst>
          </p:cNvPr>
          <p:cNvSpPr>
            <a:spLocks noGrp="1"/>
          </p:cNvSpPr>
          <p:nvPr/>
        </p:nvSpPr>
        <p:spPr>
          <a:xfrm>
            <a:off x="8334375" y="3086100"/>
            <a:ext cx="3162300" cy="2000250"/>
          </a:xfrm>
          <a:prstGeom prst="rect">
            <a:avLst/>
          </a:prstGeom>
          <a:noFill/>
          <a:ln w="0">
            <a:noFill/>
          </a:ln>
        </p:spPr>
        <p:txBody>
          <a:bodyPr>
            <a:noAutofit/>
          </a:bodyPr>
          <a:lstStyle/>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Fresh events raise priority.</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Dismissal removes an event.</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Time reduces recent weight.</a:t>
            </a:r>
          </a:p>
          <a:p>
            <a:pPr algn="l">
              <a:defRPr sz="2175" b="0">
                <a:solidFill>
                  <a:srgbClr val="4C6471"/>
                </a:solidFill>
                <a:latin typeface="Times New Roman"/>
                <a:ea typeface="Times New Roman"/>
                <a:cs typeface="Times New Roman"/>
              </a:defRPr>
            </a:pPr>
            <a:r>
              <a:rPr sz="2175" b="0">
                <a:solidFill>
                  <a:srgbClr val="4C6471"/>
                </a:solidFill>
                <a:latin typeface="Times New Roman"/>
                <a:ea typeface="Times New Roman"/>
                <a:cs typeface="Times New Roman"/>
              </a:rPr>
              <a:t>A persistent baseline remains.</a:t>
            </a:r>
          </a:p>
        </p:txBody>
      </p:sp>
      <p:sp>
        <p:nvSpPr>
          <p:cNvPr id="9" name="fixed">
            <a:extLst>
              <a:ext uri="{FF2B5EF4-FFF2-40B4-BE49-F238E27FC236}">
                <a16:creationId xmlns:a16="http://schemas.microsoft.com/office/drawing/2014/main" id="{58D9FDB2-8AAD-43A0-9D7D-9C71ED153DA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Calculated example from the current strategy. The score is review priority, not cheating probability.</a:t>
            </a:r>
          </a:p>
        </p:txBody>
      </p:sp>
    </p:spTree>
    <p:extLst>
      <p:ext uri="{BB962C8B-B14F-4D97-AF65-F5344CB8AC3E}">
        <p14:creationId xmlns:p14="http://schemas.microsoft.com/office/powerpoint/2010/main" val="55656373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1" uiExpand="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36DB4CB-2093-48B8-BD27-C8EFDDDAA48D}"/>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06</a:t>
            </a:r>
          </a:p>
        </p:txBody>
      </p:sp>
      <p:sp>
        <p:nvSpPr>
          <p:cNvPr id="3" name="fixed">
            <a:extLst>
              <a:ext uri="{FF2B5EF4-FFF2-40B4-BE49-F238E27FC236}">
                <a16:creationId xmlns:a16="http://schemas.microsoft.com/office/drawing/2014/main" id="{7B151DA7-85CC-4C28-9F93-FA775F815332}"/>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Examiner dashboard</a:t>
            </a:r>
          </a:p>
        </p:txBody>
      </p:sp>
      <p:sp>
        <p:nvSpPr>
          <p:cNvPr id="4" name="fixed">
            <a:extLst>
              <a:ext uri="{FF2B5EF4-FFF2-40B4-BE49-F238E27FC236}">
                <a16:creationId xmlns:a16="http://schemas.microsoft.com/office/drawing/2014/main" id="{B8180B0B-1D85-40AB-9624-4E174A8413C2}"/>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6EB1B675-8607-42EB-861C-E5FEDDD04E95}"/>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6F3F384E-2445-4DE5-A187-15037963982E}"/>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27</a:t>
            </a:r>
          </a:p>
        </p:txBody>
      </p:sp>
      <p:sp>
        <p:nvSpPr>
          <p:cNvPr id="7" name="reveal-1">
            <a:extLst>
              <a:ext uri="{FF2B5EF4-FFF2-40B4-BE49-F238E27FC236}">
                <a16:creationId xmlns:a16="http://schemas.microsoft.com/office/drawing/2014/main" id="{CA06EE22-F7E0-4049-9295-5414FDADB435}"/>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Bring active-exam alerts, evidence and candidate controls into one review workflow.</a:t>
            </a:r>
          </a:p>
        </p:txBody>
      </p:sp>
      <p:sp>
        <p:nvSpPr>
          <p:cNvPr id="8" name="reveal-2">
            <a:extLst>
              <a:ext uri="{FF2B5EF4-FFF2-40B4-BE49-F238E27FC236}">
                <a16:creationId xmlns:a16="http://schemas.microsoft.com/office/drawing/2014/main" id="{CD271CF9-1DFF-4803-96F0-A3B9B4BA692F}"/>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A7A0DE54-28EF-4877-A4B1-6A0DA13CAF10}"/>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React + Vite  /  Socket.IO  /  exam-scoped APIs</a:t>
            </a:r>
          </a:p>
        </p:txBody>
      </p:sp>
      <p:sp>
        <p:nvSpPr>
          <p:cNvPr id="10" name="reveal-3">
            <a:extLst>
              <a:ext uri="{FF2B5EF4-FFF2-40B4-BE49-F238E27FC236}">
                <a16:creationId xmlns:a16="http://schemas.microsoft.com/office/drawing/2014/main" id="{4A821ED4-0435-47D2-9F0A-276CC41C3E9A}"/>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Select active exam</a:t>
            </a:r>
          </a:p>
        </p:txBody>
      </p:sp>
      <p:sp>
        <p:nvSpPr>
          <p:cNvPr id="11" name="reveal-4">
            <a:extLst>
              <a:ext uri="{FF2B5EF4-FFF2-40B4-BE49-F238E27FC236}">
                <a16:creationId xmlns:a16="http://schemas.microsoft.com/office/drawing/2014/main" id="{7360AE16-6EF3-451A-B1C9-007618E5365B}"/>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priority and evidence</a:t>
            </a:r>
          </a:p>
        </p:txBody>
      </p:sp>
      <p:sp>
        <p:nvSpPr>
          <p:cNvPr id="12" name="reveal-5">
            <a:extLst>
              <a:ext uri="{FF2B5EF4-FFF2-40B4-BE49-F238E27FC236}">
                <a16:creationId xmlns:a16="http://schemas.microsoft.com/office/drawing/2014/main" id="{CF78F3AE-FDEF-40FF-B0DC-A644165FED1C}"/>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Take examiner action</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314210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50169409-952D-4A7F-845E-8201E8AEAA99}"/>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06 / WORKING AND EXAMPLE</a:t>
            </a:r>
          </a:p>
        </p:txBody>
      </p:sp>
      <p:sp>
        <p:nvSpPr>
          <p:cNvPr id="2" name="fixed">
            <a:extLst>
              <a:ext uri="{FF2B5EF4-FFF2-40B4-BE49-F238E27FC236}">
                <a16:creationId xmlns:a16="http://schemas.microsoft.com/office/drawing/2014/main" id="{E7E4C36C-65AF-4CD3-866C-8798D72B1C41}"/>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Dashboard workflow and intervention example</a:t>
            </a:r>
          </a:p>
        </p:txBody>
      </p:sp>
      <p:sp>
        <p:nvSpPr>
          <p:cNvPr id="3" name="fixed">
            <a:extLst>
              <a:ext uri="{FF2B5EF4-FFF2-40B4-BE49-F238E27FC236}">
                <a16:creationId xmlns:a16="http://schemas.microsoft.com/office/drawing/2014/main" id="{4F2E86E7-4C53-46AF-8564-78379D64D99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D70F61BF-39BB-4B88-B8C4-EB05E8144C4F}"/>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769E768E-2D83-427B-BF60-84AEFED68E4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28</a:t>
            </a:r>
          </a:p>
        </p:txBody>
      </p:sp>
      <p:sp>
        <p:nvSpPr>
          <p:cNvPr id="6" name="reveal-1">
            <a:extLst>
              <a:ext uri="{FF2B5EF4-FFF2-40B4-BE49-F238E27FC236}">
                <a16:creationId xmlns:a16="http://schemas.microsoft.com/office/drawing/2014/main" id="{CA417DD0-FC4B-4755-B2E1-5F8E343773F8}"/>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Live Monitoring</a:t>
            </a:r>
          </a:p>
        </p:txBody>
      </p:sp>
      <p:sp>
        <p:nvSpPr>
          <p:cNvPr id="7" name="reveal-2">
            <a:extLst>
              <a:ext uri="{FF2B5EF4-FFF2-40B4-BE49-F238E27FC236}">
                <a16:creationId xmlns:a16="http://schemas.microsoft.com/office/drawing/2014/main" id="{1EA97DE2-B2A5-46A5-88E8-29B1BECAE9A0}"/>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Selected exam candidates</a:t>
            </a:r>
          </a:p>
        </p:txBody>
      </p:sp>
      <p:sp>
        <p:nvSpPr>
          <p:cNvPr id="8" name="reveal-3">
            <a:extLst>
              <a:ext uri="{FF2B5EF4-FFF2-40B4-BE49-F238E27FC236}">
                <a16:creationId xmlns:a16="http://schemas.microsoft.com/office/drawing/2014/main" id="{C839C555-44BD-4DFF-8DC2-1514EC4EA9FE}"/>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Alert and evidence</a:t>
            </a:r>
          </a:p>
        </p:txBody>
      </p:sp>
      <p:sp>
        <p:nvSpPr>
          <p:cNvPr id="9" name="reveal-4">
            <a:extLst>
              <a:ext uri="{FF2B5EF4-FFF2-40B4-BE49-F238E27FC236}">
                <a16:creationId xmlns:a16="http://schemas.microsoft.com/office/drawing/2014/main" id="{09291DA4-EC6A-4175-A49A-4B684695AD18}"/>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Review / warning</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88B74E66-8E4A-4623-AF71-8DA402C44E8F}"/>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 review a phone event</a:t>
            </a:r>
          </a:p>
        </p:txBody>
      </p:sp>
      <p:sp>
        <p:nvSpPr>
          <p:cNvPr id="14" name="reveal-5">
            <a:extLst>
              <a:ext uri="{FF2B5EF4-FFF2-40B4-BE49-F238E27FC236}">
                <a16:creationId xmlns:a16="http://schemas.microsoft.com/office/drawing/2014/main" id="{A0A487CE-1800-423C-87AC-D9753B75B42A}"/>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Open the candidate’s evidence.</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Confirm or dismiss the event.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Send a warning if intervention is appropriate.</a:t>
            </a:r>
          </a:p>
        </p:txBody>
      </p:sp>
      <p:sp>
        <p:nvSpPr>
          <p:cNvPr id="15" name="reveal-6">
            <a:extLst>
              <a:ext uri="{FF2B5EF4-FFF2-40B4-BE49-F238E27FC236}">
                <a16:creationId xmlns:a16="http://schemas.microsoft.com/office/drawing/2014/main" id="{7C7ED089-E16A-4AF1-8E84-5903A4EE9481}"/>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Navigation and ownership</a:t>
            </a:r>
          </a:p>
        </p:txBody>
      </p:sp>
      <p:sp>
        <p:nvSpPr>
          <p:cNvPr id="16" name="reveal-6">
            <a:extLst>
              <a:ext uri="{FF2B5EF4-FFF2-40B4-BE49-F238E27FC236}">
                <a16:creationId xmlns:a16="http://schemas.microsoft.com/office/drawing/2014/main" id="{B6F20730-EF90-4048-BAD9-A2C167B95614}"/>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Exams manages active and completed exams.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History contains past summaries.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Teachers receive their own exams’ events.</a:t>
            </a:r>
          </a:p>
        </p:txBody>
      </p:sp>
      <p:sp>
        <p:nvSpPr>
          <p:cNvPr id="17" name="fixed">
            <a:extLst>
              <a:ext uri="{FF2B5EF4-FFF2-40B4-BE49-F238E27FC236}">
                <a16:creationId xmlns:a16="http://schemas.microsoft.com/office/drawing/2014/main" id="{66BE11A0-0C99-42D2-9222-794A4A392AF9}"/>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Clearing candidate filters keeps the selected exam boundary.</a:t>
            </a:r>
          </a:p>
        </p:txBody>
      </p:sp>
    </p:spTree>
    <p:extLst>
      <p:ext uri="{BB962C8B-B14F-4D97-AF65-F5344CB8AC3E}">
        <p14:creationId xmlns:p14="http://schemas.microsoft.com/office/powerpoint/2010/main" val="784190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08327206-6BE0-4DA8-B22E-FC32D163DAB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07</a:t>
            </a:r>
          </a:p>
        </p:txBody>
      </p:sp>
      <p:sp>
        <p:nvSpPr>
          <p:cNvPr id="3" name="fixed">
            <a:extLst>
              <a:ext uri="{FF2B5EF4-FFF2-40B4-BE49-F238E27FC236}">
                <a16:creationId xmlns:a16="http://schemas.microsoft.com/office/drawing/2014/main" id="{07D4A406-CF61-4CD3-9AF6-8717717937FB}"/>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Answer submission</a:t>
            </a:r>
          </a:p>
        </p:txBody>
      </p:sp>
      <p:sp>
        <p:nvSpPr>
          <p:cNvPr id="4" name="fixed">
            <a:extLst>
              <a:ext uri="{FF2B5EF4-FFF2-40B4-BE49-F238E27FC236}">
                <a16:creationId xmlns:a16="http://schemas.microsoft.com/office/drawing/2014/main" id="{A8E4209F-92B1-4747-8312-F411C50EBF50}"/>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COMPLETED</a:t>
            </a:r>
          </a:p>
        </p:txBody>
      </p:sp>
      <p:sp>
        <p:nvSpPr>
          <p:cNvPr id="5" name="fixed">
            <a:extLst>
              <a:ext uri="{FF2B5EF4-FFF2-40B4-BE49-F238E27FC236}">
                <a16:creationId xmlns:a16="http://schemas.microsoft.com/office/drawing/2014/main" id="{8C7BEECC-7346-443A-A975-7FF2524BB521}"/>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43221A09-2E67-43D9-921A-EE61EF3AF336}"/>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29</a:t>
            </a:r>
          </a:p>
        </p:txBody>
      </p:sp>
      <p:sp>
        <p:nvSpPr>
          <p:cNvPr id="7" name="reveal-1">
            <a:extLst>
              <a:ext uri="{FF2B5EF4-FFF2-40B4-BE49-F238E27FC236}">
                <a16:creationId xmlns:a16="http://schemas.microsoft.com/office/drawing/2014/main" id="{A846CF2D-4F27-4AA0-AA47-C7B344392EA3}"/>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Keep the exam paper, answer workspace and submission linked to the candidate session.</a:t>
            </a:r>
          </a:p>
        </p:txBody>
      </p:sp>
      <p:sp>
        <p:nvSpPr>
          <p:cNvPr id="8" name="reveal-2">
            <a:extLst>
              <a:ext uri="{FF2B5EF4-FFF2-40B4-BE49-F238E27FC236}">
                <a16:creationId xmlns:a16="http://schemas.microsoft.com/office/drawing/2014/main" id="{81E8EB31-599B-45DE-988C-A04DBF1434BD}"/>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E6012864-AABB-4AC4-B7C2-AC6EBBE1643B}"/>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Paper viewer  /  local typed drafts  /  multipart upload</a:t>
            </a:r>
          </a:p>
        </p:txBody>
      </p:sp>
      <p:sp>
        <p:nvSpPr>
          <p:cNvPr id="10" name="reveal-3">
            <a:extLst>
              <a:ext uri="{FF2B5EF4-FFF2-40B4-BE49-F238E27FC236}">
                <a16:creationId xmlns:a16="http://schemas.microsoft.com/office/drawing/2014/main" id="{2AA5682F-5B61-4CF7-90A5-836E73259281}"/>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Exam paper</a:t>
            </a:r>
          </a:p>
        </p:txBody>
      </p:sp>
      <p:sp>
        <p:nvSpPr>
          <p:cNvPr id="11" name="reveal-4">
            <a:extLst>
              <a:ext uri="{FF2B5EF4-FFF2-40B4-BE49-F238E27FC236}">
                <a16:creationId xmlns:a16="http://schemas.microsoft.com/office/drawing/2014/main" id="{C22DCB24-9873-433D-858F-C391039749C5}"/>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Candidate answer</a:t>
            </a:r>
          </a:p>
        </p:txBody>
      </p:sp>
      <p:sp>
        <p:nvSpPr>
          <p:cNvPr id="12" name="reveal-5">
            <a:extLst>
              <a:ext uri="{FF2B5EF4-FFF2-40B4-BE49-F238E27FC236}">
                <a16:creationId xmlns:a16="http://schemas.microsoft.com/office/drawing/2014/main" id="{D71FC52F-9A5E-4167-B637-90FC4A1F1D10}"/>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Session-linked submission</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7797741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07CB619-C0FF-4080-9E13-84B4FB1ACF8E}"/>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07 / WORKING AND EXAMPLE</a:t>
            </a:r>
          </a:p>
        </p:txBody>
      </p:sp>
      <p:sp>
        <p:nvSpPr>
          <p:cNvPr id="2" name="fixed">
            <a:extLst>
              <a:ext uri="{FF2B5EF4-FFF2-40B4-BE49-F238E27FC236}">
                <a16:creationId xmlns:a16="http://schemas.microsoft.com/office/drawing/2014/main" id="{96CF0777-5537-43B5-A162-49F2908F2F2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Submission workflow and recovery example</a:t>
            </a:r>
          </a:p>
        </p:txBody>
      </p:sp>
      <p:sp>
        <p:nvSpPr>
          <p:cNvPr id="3" name="fixed">
            <a:extLst>
              <a:ext uri="{FF2B5EF4-FFF2-40B4-BE49-F238E27FC236}">
                <a16:creationId xmlns:a16="http://schemas.microsoft.com/office/drawing/2014/main" id="{ACFA35D5-DDCD-4B76-B420-13A94207CE6E}"/>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10281F61-5C83-45BE-84B5-2F288A44326B}"/>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0734B82F-6D01-4F3A-B8A1-CB88FD58C4B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30</a:t>
            </a:r>
          </a:p>
        </p:txBody>
      </p:sp>
      <p:sp>
        <p:nvSpPr>
          <p:cNvPr id="6" name="reveal-1">
            <a:extLst>
              <a:ext uri="{FF2B5EF4-FFF2-40B4-BE49-F238E27FC236}">
                <a16:creationId xmlns:a16="http://schemas.microsoft.com/office/drawing/2014/main" id="{8C864B3C-B508-4962-9F6F-BBD5FAF47826}"/>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Read the paper</a:t>
            </a:r>
          </a:p>
        </p:txBody>
      </p:sp>
      <p:sp>
        <p:nvSpPr>
          <p:cNvPr id="7" name="reveal-2">
            <a:extLst>
              <a:ext uri="{FF2B5EF4-FFF2-40B4-BE49-F238E27FC236}">
                <a16:creationId xmlns:a16="http://schemas.microsoft.com/office/drawing/2014/main" id="{C12C8659-A597-4705-BBF2-45D2F4107B2A}"/>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Type or attach answer</a:t>
            </a:r>
          </a:p>
        </p:txBody>
      </p:sp>
      <p:sp>
        <p:nvSpPr>
          <p:cNvPr id="8" name="reveal-3">
            <a:extLst>
              <a:ext uri="{FF2B5EF4-FFF2-40B4-BE49-F238E27FC236}">
                <a16:creationId xmlns:a16="http://schemas.microsoft.com/office/drawing/2014/main" id="{FA789DAA-F1AF-4833-BCF8-2393742E4EDB}"/>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Submit with session ID</a:t>
            </a:r>
          </a:p>
        </p:txBody>
      </p:sp>
      <p:sp>
        <p:nvSpPr>
          <p:cNvPr id="9" name="reveal-4">
            <a:extLst>
              <a:ext uri="{FF2B5EF4-FFF2-40B4-BE49-F238E27FC236}">
                <a16:creationId xmlns:a16="http://schemas.microsoft.com/office/drawing/2014/main" id="{E4334250-37ED-4EAD-98F1-E4DC0A5D53F9}"/>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Teacher opens answer</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8FD57566-573F-4566-BA73-CD3CA23442F5}"/>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Typed-answer example</a:t>
            </a:r>
          </a:p>
        </p:txBody>
      </p:sp>
      <p:sp>
        <p:nvSpPr>
          <p:cNvPr id="14" name="reveal-5">
            <a:extLst>
              <a:ext uri="{FF2B5EF4-FFF2-40B4-BE49-F238E27FC236}">
                <a16:creationId xmlns:a16="http://schemas.microsoft.com/office/drawing/2014/main" id="{334EFAE3-74CC-4067-A9D4-49DC470A9C6E}"/>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app restarts during answer writing.</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local typed draft can be restored.</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The candidate reviews it before submission.</a:t>
            </a:r>
          </a:p>
        </p:txBody>
      </p:sp>
      <p:sp>
        <p:nvSpPr>
          <p:cNvPr id="15" name="reveal-6">
            <a:extLst>
              <a:ext uri="{FF2B5EF4-FFF2-40B4-BE49-F238E27FC236}">
                <a16:creationId xmlns:a16="http://schemas.microsoft.com/office/drawing/2014/main" id="{73E5991E-593E-4995-9B53-AE0BD4EF0821}"/>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File-answer example</a:t>
            </a:r>
          </a:p>
        </p:txBody>
      </p:sp>
      <p:sp>
        <p:nvSpPr>
          <p:cNvPr id="16" name="reveal-6">
            <a:extLst>
              <a:ext uri="{FF2B5EF4-FFF2-40B4-BE49-F238E27FC236}">
                <a16:creationId xmlns:a16="http://schemas.microsoft.com/office/drawing/2014/main" id="{A250DFEE-9765-4D0C-919D-051FC970400C}"/>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The candidate selects an answer document.</a:t>
            </a:r>
          </a:p>
          <a:p>
            <a:pPr algn="l">
              <a:defRPr sz="2100" b="0">
                <a:solidFill>
                  <a:srgbClr val="4C6471"/>
                </a:solidFill>
                <a:latin typeface="Times New Roman"/>
                <a:ea typeface="Times New Roman"/>
                <a:cs typeface="Times New Roman"/>
              </a:defRPr>
            </a:pPr>
            <a:r>
              <a:rPr sz="2100" b="0" dirty="0">
                <a:solidFill>
                  <a:srgbClr val="4C6471"/>
                </a:solidFill>
                <a:latin typeface="Times New Roman"/>
                <a:ea typeface="Times New Roman"/>
                <a:cs typeface="Times New Roman"/>
              </a:rPr>
              <a:t>The server associates it with the session.</a:t>
            </a:r>
          </a:p>
          <a:p>
            <a:pPr algn="l">
              <a:defRPr sz="2100" b="0">
                <a:solidFill>
                  <a:srgbClr val="4C6471"/>
                </a:solidFill>
                <a:latin typeface="Times New Roman"/>
                <a:ea typeface="Times New Roman"/>
                <a:cs typeface="Times New Roman"/>
              </a:defRPr>
            </a:pPr>
            <a:endParaRPr sz="2100" b="0" dirty="0">
              <a:solidFill>
                <a:srgbClr val="4C6471"/>
              </a:solidFill>
              <a:latin typeface="Times New Roman"/>
              <a:ea typeface="Times New Roman"/>
              <a:cs typeface="Times New Roman"/>
            </a:endParaRPr>
          </a:p>
        </p:txBody>
      </p:sp>
      <p:sp>
        <p:nvSpPr>
          <p:cNvPr id="17" name="fixed">
            <a:extLst>
              <a:ext uri="{FF2B5EF4-FFF2-40B4-BE49-F238E27FC236}">
                <a16:creationId xmlns:a16="http://schemas.microsoft.com/office/drawing/2014/main" id="{5E9974A3-94FD-4F05-97C2-49D6E66B02F3}"/>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An allowed reference file does not bypass pre-existing answer-file checks.</a:t>
            </a:r>
          </a:p>
        </p:txBody>
      </p:sp>
    </p:spTree>
    <p:extLst>
      <p:ext uri="{BB962C8B-B14F-4D97-AF65-F5344CB8AC3E}">
        <p14:creationId xmlns:p14="http://schemas.microsoft.com/office/powerpoint/2010/main" val="73107008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628E0B31-A27E-43D5-ABAB-E661064A3F97}"/>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E9BF78"/>
                </a:solidFill>
                <a:latin typeface="Times New Roman"/>
                <a:ea typeface="Times New Roman"/>
                <a:cs typeface="Times New Roman"/>
              </a:defRPr>
            </a:pPr>
            <a:r>
              <a:rPr sz="1875" b="1">
                <a:solidFill>
                  <a:srgbClr val="E9BF78"/>
                </a:solidFill>
                <a:latin typeface="Times New Roman"/>
                <a:ea typeface="Times New Roman"/>
                <a:cs typeface="Times New Roman"/>
              </a:rPr>
              <a:t>MODULE 08</a:t>
            </a:r>
          </a:p>
        </p:txBody>
      </p:sp>
      <p:sp>
        <p:nvSpPr>
          <p:cNvPr id="3" name="fixed">
            <a:extLst>
              <a:ext uri="{FF2B5EF4-FFF2-40B4-BE49-F238E27FC236}">
                <a16:creationId xmlns:a16="http://schemas.microsoft.com/office/drawing/2014/main" id="{888F10D6-AEE0-4B9E-AC65-48CBC7055640}"/>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Audit reporting</a:t>
            </a:r>
          </a:p>
        </p:txBody>
      </p:sp>
      <p:sp>
        <p:nvSpPr>
          <p:cNvPr id="4" name="fixed">
            <a:extLst>
              <a:ext uri="{FF2B5EF4-FFF2-40B4-BE49-F238E27FC236}">
                <a16:creationId xmlns:a16="http://schemas.microsoft.com/office/drawing/2014/main" id="{4A21B431-690D-40C2-9322-6593B95E3580}"/>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74E6CF"/>
                </a:solidFill>
                <a:latin typeface="Times New Roman"/>
                <a:ea typeface="Times New Roman"/>
                <a:cs typeface="Times New Roman"/>
              </a:defRPr>
            </a:pPr>
            <a:r>
              <a:rPr sz="1800" b="1">
                <a:solidFill>
                  <a:srgbClr val="74E6CF"/>
                </a:solidFill>
                <a:latin typeface="Times New Roman"/>
                <a:ea typeface="Times New Roman"/>
                <a:cs typeface="Times New Roman"/>
              </a:rPr>
              <a:t>IMPLEMENTED</a:t>
            </a:r>
          </a:p>
        </p:txBody>
      </p:sp>
      <p:sp>
        <p:nvSpPr>
          <p:cNvPr id="5" name="fixed">
            <a:extLst>
              <a:ext uri="{FF2B5EF4-FFF2-40B4-BE49-F238E27FC236}">
                <a16:creationId xmlns:a16="http://schemas.microsoft.com/office/drawing/2014/main" id="{EACA0788-D038-4D97-8A6A-CE42474A88FA}"/>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C5D9DE"/>
                </a:solidFill>
                <a:latin typeface="Times New Roman"/>
                <a:ea typeface="Times New Roman"/>
                <a:cs typeface="Times New Roman"/>
              </a:defRPr>
            </a:pPr>
            <a:r>
              <a:rPr sz="1425" b="0">
                <a:solidFill>
                  <a:srgbClr val="C5D9DE"/>
                </a:solidFill>
                <a:latin typeface="Times New Roman"/>
                <a:ea typeface="Times New Roman"/>
                <a:cs typeface="Times New Roman"/>
              </a:rPr>
              <a:t>Implementation status</a:t>
            </a:r>
          </a:p>
        </p:txBody>
      </p:sp>
      <p:sp>
        <p:nvSpPr>
          <p:cNvPr id="6" name="fixed">
            <a:extLst>
              <a:ext uri="{FF2B5EF4-FFF2-40B4-BE49-F238E27FC236}">
                <a16:creationId xmlns:a16="http://schemas.microsoft.com/office/drawing/2014/main" id="{2AF4E251-4298-4ADF-8966-DFE2B749B1A4}"/>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31</a:t>
            </a:r>
          </a:p>
        </p:txBody>
      </p:sp>
      <p:sp>
        <p:nvSpPr>
          <p:cNvPr id="7" name="reveal-1">
            <a:extLst>
              <a:ext uri="{FF2B5EF4-FFF2-40B4-BE49-F238E27FC236}">
                <a16:creationId xmlns:a16="http://schemas.microsoft.com/office/drawing/2014/main" id="{26C92114-696B-43A4-B379-958E6987261B}"/>
              </a:ext>
            </a:extLst>
          </p:cNvPr>
          <p:cNvSpPr>
            <a:spLocks noGrp="1"/>
          </p:cNvSpPr>
          <p:nvPr/>
        </p:nvSpPr>
        <p:spPr>
          <a:xfrm>
            <a:off x="609600" y="2533650"/>
            <a:ext cx="7620000" cy="1181100"/>
          </a:xfrm>
          <a:prstGeom prst="rect">
            <a:avLst/>
          </a:prstGeom>
          <a:noFill/>
          <a:ln w="0">
            <a:noFill/>
          </a:ln>
        </p:spPr>
        <p:txBody>
          <a:bodyPr>
            <a:noAutofit/>
          </a:bodyPr>
          <a:lstStyle/>
          <a:p>
            <a:pPr algn="l">
              <a:defRPr sz="2700" b="0">
                <a:solidFill>
                  <a:srgbClr val="FFFFFF"/>
                </a:solidFill>
                <a:latin typeface="Times New Roman"/>
                <a:ea typeface="Times New Roman"/>
                <a:cs typeface="Times New Roman"/>
              </a:defRPr>
            </a:pPr>
            <a:r>
              <a:rPr sz="2700" b="0">
                <a:solidFill>
                  <a:srgbClr val="FFFFFF"/>
                </a:solidFill>
                <a:latin typeface="Times New Roman"/>
                <a:ea typeface="Times New Roman"/>
                <a:cs typeface="Times New Roman"/>
              </a:rPr>
              <a:t>Summarize a completed examination for review and institutional record keeping.</a:t>
            </a:r>
          </a:p>
        </p:txBody>
      </p:sp>
      <p:sp>
        <p:nvSpPr>
          <p:cNvPr id="8" name="reveal-2">
            <a:extLst>
              <a:ext uri="{FF2B5EF4-FFF2-40B4-BE49-F238E27FC236}">
                <a16:creationId xmlns:a16="http://schemas.microsoft.com/office/drawing/2014/main" id="{8519AEF9-B591-4E20-BC69-B48B42A0FBB8}"/>
              </a:ext>
            </a:extLst>
          </p:cNvPr>
          <p:cNvSpPr>
            <a:spLocks noGrp="1"/>
          </p:cNvSpPr>
          <p:nvPr/>
        </p:nvSpPr>
        <p:spPr>
          <a:xfrm>
            <a:off x="609600" y="3867150"/>
            <a:ext cx="7334250" cy="323850"/>
          </a:xfrm>
          <a:prstGeom prst="rect">
            <a:avLst/>
          </a:prstGeom>
          <a:noFill/>
          <a:ln w="0">
            <a:noFill/>
          </a:ln>
        </p:spPr>
        <p:txBody>
          <a:bodyPr>
            <a:noAutofit/>
          </a:bodyPr>
          <a:lstStyle/>
          <a:p>
            <a:pPr algn="l">
              <a:defRPr sz="1725" b="1">
                <a:solidFill>
                  <a:srgbClr val="E9BF78"/>
                </a:solidFill>
                <a:latin typeface="Times New Roman"/>
                <a:ea typeface="Times New Roman"/>
                <a:cs typeface="Times New Roman"/>
              </a:defRPr>
            </a:pPr>
            <a:r>
              <a:rPr sz="1725" b="1">
                <a:solidFill>
                  <a:srgbClr val="E9BF78"/>
                </a:solidFill>
                <a:latin typeface="Times New Roman"/>
                <a:ea typeface="Times New Roman"/>
                <a:cs typeface="Times New Roman"/>
              </a:rPr>
              <a:t>MAIN COMPONENTS</a:t>
            </a:r>
          </a:p>
        </p:txBody>
      </p:sp>
      <p:sp>
        <p:nvSpPr>
          <p:cNvPr id="9" name="reveal-2">
            <a:extLst>
              <a:ext uri="{FF2B5EF4-FFF2-40B4-BE49-F238E27FC236}">
                <a16:creationId xmlns:a16="http://schemas.microsoft.com/office/drawing/2014/main" id="{6109283E-C385-407A-BFEE-83EAA9F14F07}"/>
              </a:ext>
            </a:extLst>
          </p:cNvPr>
          <p:cNvSpPr>
            <a:spLocks noGrp="1"/>
          </p:cNvSpPr>
          <p:nvPr/>
        </p:nvSpPr>
        <p:spPr>
          <a:xfrm>
            <a:off x="609600" y="4267200"/>
            <a:ext cx="7905750" cy="600075"/>
          </a:xfrm>
          <a:prstGeom prst="rect">
            <a:avLst/>
          </a:prstGeom>
          <a:noFill/>
          <a:ln w="0">
            <a:noFill/>
          </a:ln>
        </p:spPr>
        <p:txBody>
          <a:bodyPr>
            <a:noAutofit/>
          </a:bodyPr>
          <a:lstStyle/>
          <a:p>
            <a:pPr algn="l">
              <a:defRPr sz="2175" b="0">
                <a:solidFill>
                  <a:srgbClr val="D8E6E9"/>
                </a:solidFill>
                <a:latin typeface="Times New Roman"/>
                <a:ea typeface="Times New Roman"/>
                <a:cs typeface="Times New Roman"/>
              </a:defRPr>
            </a:pPr>
            <a:r>
              <a:rPr sz="2175" b="0">
                <a:solidFill>
                  <a:srgbClr val="D8E6E9"/>
                </a:solidFill>
                <a:latin typeface="Times New Roman"/>
                <a:ea typeface="Times New Roman"/>
                <a:cs typeface="Times New Roman"/>
              </a:rPr>
              <a:t>ExamSummary  /  session statistics  /  CSV and browser PDF</a:t>
            </a:r>
          </a:p>
        </p:txBody>
      </p:sp>
      <p:sp>
        <p:nvSpPr>
          <p:cNvPr id="10" name="reveal-3">
            <a:extLst>
              <a:ext uri="{FF2B5EF4-FFF2-40B4-BE49-F238E27FC236}">
                <a16:creationId xmlns:a16="http://schemas.microsoft.com/office/drawing/2014/main" id="{8E451392-29F3-40E9-9DC3-833D5A68BCEC}"/>
              </a:ext>
            </a:extLst>
          </p:cNvPr>
          <p:cNvSpPr>
            <a:spLocks noGrp="1"/>
          </p:cNvSpPr>
          <p:nvPr/>
        </p:nvSpPr>
        <p:spPr>
          <a:xfrm>
            <a:off x="6096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Completed exam</a:t>
            </a:r>
          </a:p>
        </p:txBody>
      </p:sp>
      <p:sp>
        <p:nvSpPr>
          <p:cNvPr id="11" name="reveal-4">
            <a:extLst>
              <a:ext uri="{FF2B5EF4-FFF2-40B4-BE49-F238E27FC236}">
                <a16:creationId xmlns:a16="http://schemas.microsoft.com/office/drawing/2014/main" id="{4420E14B-DFC5-489A-980F-80B8EA6BE74C}"/>
              </a:ext>
            </a:extLst>
          </p:cNvPr>
          <p:cNvSpPr>
            <a:spLocks noGrp="1"/>
          </p:cNvSpPr>
          <p:nvPr/>
        </p:nvSpPr>
        <p:spPr>
          <a:xfrm>
            <a:off x="441325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Summary and breakdowns</a:t>
            </a:r>
          </a:p>
        </p:txBody>
      </p:sp>
      <p:sp>
        <p:nvSpPr>
          <p:cNvPr id="12" name="reveal-5">
            <a:extLst>
              <a:ext uri="{FF2B5EF4-FFF2-40B4-BE49-F238E27FC236}">
                <a16:creationId xmlns:a16="http://schemas.microsoft.com/office/drawing/2014/main" id="{4CB28B96-8697-4092-AD09-BF18C46F4FF3}"/>
              </a:ext>
            </a:extLst>
          </p:cNvPr>
          <p:cNvSpPr>
            <a:spLocks noGrp="1"/>
          </p:cNvSpPr>
          <p:nvPr/>
        </p:nvSpPr>
        <p:spPr>
          <a:xfrm>
            <a:off x="8216900" y="5219700"/>
            <a:ext cx="3346450" cy="952500"/>
          </a:xfrm>
          <a:prstGeom prst="rect">
            <a:avLst/>
          </a:prstGeom>
          <a:solidFill>
            <a:srgbClr val="123342"/>
          </a:solidFill>
          <a:ln w="9525">
            <a:solidFill>
              <a:srgbClr val="466D77"/>
            </a:solidFill>
          </a:ln>
        </p:spPr>
        <p:txBody>
          <a:bodyPr anchor="ctr"/>
          <a:lstStyle/>
          <a:p>
            <a:pPr algn="ctr">
              <a:defRPr sz="2025" b="1">
                <a:solidFill>
                  <a:srgbClr val="FFFFFF"/>
                </a:solidFill>
                <a:latin typeface="Times New Roman"/>
                <a:ea typeface="Times New Roman"/>
                <a:cs typeface="Times New Roman"/>
              </a:defRPr>
            </a:pPr>
            <a:r>
              <a:rPr sz="2025" b="1">
                <a:solidFill>
                  <a:srgbClr val="FFFFFF"/>
                </a:solidFill>
                <a:latin typeface="Times New Roman"/>
                <a:ea typeface="Times New Roman"/>
                <a:cs typeface="Times New Roman"/>
              </a:rPr>
              <a:t>Review and export</a:t>
            </a:r>
          </a:p>
        </p:txBody>
      </p:sp>
      <p:cxnSp>
        <p:nvCxnSpPr>
          <p:cNvPr id="27" name="reveal-4"/>
          <p:cNvCxnSpPr>
            <a:stCxn id="10" idx="3"/>
            <a:endCxn id="11" idx="1"/>
          </p:cNvCxnSpPr>
          <p:nvPr/>
        </p:nvCxnSpPr>
        <p:spPr>
          <a:xfrm>
            <a:off x="3956050" y="5695950"/>
            <a:ext cx="457200" cy="0"/>
          </a:xfrm>
          <a:prstGeom prst="straightConnector1">
            <a:avLst/>
          </a:prstGeom>
          <a:ln w="19050">
            <a:solidFill>
              <a:srgbClr val="74E6CF"/>
            </a:solidFill>
            <a:tailEnd type="arrow" w="med" len="med"/>
          </a:ln>
        </p:spPr>
      </p:cxnSp>
      <p:cxnSp>
        <p:nvCxnSpPr>
          <p:cNvPr id="28" name="reveal-5"/>
          <p:cNvCxnSpPr>
            <a:stCxn id="11" idx="3"/>
            <a:endCxn id="12" idx="1"/>
          </p:cNvCxnSpPr>
          <p:nvPr/>
        </p:nvCxnSpPr>
        <p:spPr>
          <a:xfrm>
            <a:off x="7759700" y="5695950"/>
            <a:ext cx="457200" cy="0"/>
          </a:xfrm>
          <a:prstGeom prst="straightConnector1">
            <a:avLst/>
          </a:prstGeom>
          <a:ln w="19050">
            <a:solidFill>
              <a:srgbClr val="74E6CF"/>
            </a:solidFill>
            <a:tailEnd type="arrow" w="med" len="med"/>
          </a:ln>
        </p:spPr>
      </p:cxnSp>
    </p:spTree>
    <p:extLst>
      <p:ext uri="{BB962C8B-B14F-4D97-AF65-F5344CB8AC3E}">
        <p14:creationId xmlns:p14="http://schemas.microsoft.com/office/powerpoint/2010/main" val="153418526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50"/>
                                  <p:tgtEl>
                                    <p:spTgt spid="11"/>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350"/>
                                  <p:tgtEl>
                                    <p:spTgt spid="27"/>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50"/>
                                  <p:tgtEl>
                                    <p:spTgt spid="12"/>
                                  </p:tgtEl>
                                </p:cBhvr>
                              </p:animEffect>
                            </p:childTnLst>
                          </p:cTn>
                        </p:par>
                        <p:par>
                          <p:cTn id="29" presetID="10" presetClass="entr" presetSubtype="0" fill="hold" grpId="5"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35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p:bldP spid="8" grpId="2" uiExpand="1"/>
      <p:bldP spid="9" grpId="2" uiExpand="1"/>
      <p:bldP spid="10" grpId="3" uiExpand="1" animBg="1"/>
      <p:bldP spid="11" grpId="4" uiExpand="1" animBg="1"/>
      <p:bldP spid="12" grpId="5" uiExpand="1" animBg="1"/>
      <p:bldP spid="27" grpId="4" uiExpand="1" animBg="1"/>
      <p:bldP spid="28" grpId="5" uiExpand="1"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3" name="fixed">
            <a:extLst>
              <a:ext uri="{FF2B5EF4-FFF2-40B4-BE49-F238E27FC236}">
                <a16:creationId xmlns:a16="http://schemas.microsoft.com/office/drawing/2014/main" id="{DC9B8BF1-7ADD-4206-97E2-69B90335190D}"/>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MODULE 08 / WORKING AND EXAMPLE</a:t>
            </a:r>
          </a:p>
        </p:txBody>
      </p:sp>
      <p:sp>
        <p:nvSpPr>
          <p:cNvPr id="2" name="fixed">
            <a:extLst>
              <a:ext uri="{FF2B5EF4-FFF2-40B4-BE49-F238E27FC236}">
                <a16:creationId xmlns:a16="http://schemas.microsoft.com/office/drawing/2014/main" id="{7E69E320-8014-4590-80F3-CA1C0BE61B3D}"/>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Reporting example and export coverage</a:t>
            </a:r>
          </a:p>
        </p:txBody>
      </p:sp>
      <p:sp>
        <p:nvSpPr>
          <p:cNvPr id="3" name="fixed">
            <a:extLst>
              <a:ext uri="{FF2B5EF4-FFF2-40B4-BE49-F238E27FC236}">
                <a16:creationId xmlns:a16="http://schemas.microsoft.com/office/drawing/2014/main" id="{F24B0C7F-BD04-444E-9152-4C5C89DC9F4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IMPLEMENTED</a:t>
            </a:r>
          </a:p>
        </p:txBody>
      </p:sp>
      <p:sp>
        <p:nvSpPr>
          <p:cNvPr id="4" name="fixed">
            <a:extLst>
              <a:ext uri="{FF2B5EF4-FFF2-40B4-BE49-F238E27FC236}">
                <a16:creationId xmlns:a16="http://schemas.microsoft.com/office/drawing/2014/main" id="{1F18B15C-5F9B-44B5-A1FB-1D22B771FAA3}"/>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EE1C5080-40F7-43B2-8BDC-284DF2D6BA48}"/>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32</a:t>
            </a:r>
          </a:p>
        </p:txBody>
      </p:sp>
      <p:graphicFrame>
        <p:nvGraphicFramePr>
          <p:cNvPr id="18" name="Table 17"/>
          <p:cNvGraphicFramePr/>
          <p:nvPr/>
        </p:nvGraphicFramePr>
        <p:xfrm>
          <a:off x="609600" y="2238375"/>
          <a:ext cx="10953750" cy="2209800"/>
        </p:xfrm>
        <a:graphic>
          <a:graphicData uri="http://schemas.openxmlformats.org/drawingml/2006/table">
            <a:tbl>
              <a:tblPr/>
              <a:tblGrid>
                <a:gridCol w="54292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552450">
                <a:tc>
                  <a:txBody>
                    <a:bodyPr/>
                    <a:lstStyle/>
                    <a:p>
                      <a:r>
                        <a:rPr sz="2175" b="1">
                          <a:solidFill>
                            <a:srgbClr val="FFFFFF"/>
                          </a:solidFill>
                          <a:latin typeface="Times New Roman"/>
                          <a:ea typeface="Times New Roman"/>
                          <a:cs typeface="Times New Roman"/>
                        </a:rPr>
                        <a:t>ILLUSTRATIVE SESSION</a:t>
                      </a:r>
                    </a:p>
                  </a:txBody>
                  <a:tcPr>
                    <a:solidFill>
                      <a:srgbClr val="172F3A"/>
                    </a:solidFill>
                  </a:tcPr>
                </a:tc>
                <a:tc>
                  <a:txBody>
                    <a:bodyPr/>
                    <a:lstStyle/>
                    <a:p>
                      <a:r>
                        <a:rPr sz="2175" b="1">
                          <a:solidFill>
                            <a:srgbClr val="FFFFFF"/>
                          </a:solidFill>
                          <a:latin typeface="Times New Roman"/>
                          <a:ea typeface="Times New Roman"/>
                          <a:cs typeface="Times New Roman"/>
                        </a:rPr>
                        <a:t>FINAL PRIORITY</a:t>
                      </a:r>
                    </a:p>
                  </a:txBody>
                  <a:tcPr>
                    <a:solidFill>
                      <a:srgbClr val="172F3A"/>
                    </a:solidFill>
                  </a:tcPr>
                </a:tc>
                <a:tc>
                  <a:txBody>
                    <a:bodyPr/>
                    <a:lstStyle/>
                    <a:p>
                      <a:r>
                        <a:rPr sz="2175" b="1">
                          <a:solidFill>
                            <a:srgbClr val="FFFFFF"/>
                          </a:solidFill>
                          <a:latin typeface="Times New Roman"/>
                          <a:ea typeface="Times New Roman"/>
                          <a:cs typeface="Times New Roman"/>
                        </a:rPr>
                        <a:t>SUBMISSION</a:t>
                      </a:r>
                    </a:p>
                  </a:txBody>
                  <a:tcPr>
                    <a:solidFill>
                      <a:srgbClr val="172F3A"/>
                    </a:solidFill>
                  </a:tcPr>
                </a:tc>
                <a:extLst>
                  <a:ext uri="{0D108BD9-81ED-4DB2-BD59-A6C34878D82A}">
                    <a16:rowId xmlns:a16="http://schemas.microsoft.com/office/drawing/2014/main" val="10000"/>
                  </a:ext>
                </a:extLst>
              </a:tr>
              <a:tr h="552450">
                <a:tc>
                  <a:txBody>
                    <a:bodyPr/>
                    <a:lstStyle/>
                    <a:p>
                      <a:r>
                        <a:rPr sz="2175" b="0">
                          <a:solidFill>
                            <a:srgbClr val="172F3A"/>
                          </a:solidFill>
                          <a:latin typeface="Times New Roman"/>
                          <a:ea typeface="Times New Roman"/>
                          <a:cs typeface="Times New Roman"/>
                        </a:rPr>
                        <a:t>Candidate A</a:t>
                      </a:r>
                    </a:p>
                  </a:txBody>
                  <a:tcPr>
                    <a:solidFill>
                      <a:srgbClr val="E7EEEA"/>
                    </a:solidFill>
                  </a:tcPr>
                </a:tc>
                <a:tc>
                  <a:txBody>
                    <a:bodyPr/>
                    <a:lstStyle/>
                    <a:p>
                      <a:r>
                        <a:rPr sz="2175" b="0">
                          <a:solidFill>
                            <a:srgbClr val="172F3A"/>
                          </a:solidFill>
                          <a:latin typeface="Times New Roman"/>
                          <a:ea typeface="Times New Roman"/>
                          <a:cs typeface="Times New Roman"/>
                        </a:rPr>
                        <a:t>32 / 100</a:t>
                      </a:r>
                    </a:p>
                  </a:txBody>
                  <a:tcPr>
                    <a:solidFill>
                      <a:srgbClr val="E7EEEA"/>
                    </a:solidFill>
                  </a:tcPr>
                </a:tc>
                <a:tc>
                  <a:txBody>
                    <a:bodyPr/>
                    <a:lstStyle/>
                    <a:p>
                      <a:r>
                        <a:rPr sz="2175" b="0">
                          <a:solidFill>
                            <a:srgbClr val="172F3A"/>
                          </a:solidFill>
                          <a:latin typeface="Times New Roman"/>
                          <a:ea typeface="Times New Roman"/>
                          <a:cs typeface="Times New Roman"/>
                        </a:rPr>
                        <a:t>Submitted</a:t>
                      </a:r>
                    </a:p>
                  </a:txBody>
                  <a:tcPr>
                    <a:solidFill>
                      <a:srgbClr val="E7EEEA"/>
                    </a:solidFill>
                  </a:tcPr>
                </a:tc>
                <a:extLst>
                  <a:ext uri="{0D108BD9-81ED-4DB2-BD59-A6C34878D82A}">
                    <a16:rowId xmlns:a16="http://schemas.microsoft.com/office/drawing/2014/main" val="10001"/>
                  </a:ext>
                </a:extLst>
              </a:tr>
              <a:tr h="552450">
                <a:tc>
                  <a:txBody>
                    <a:bodyPr/>
                    <a:lstStyle/>
                    <a:p>
                      <a:r>
                        <a:rPr sz="2175" b="0">
                          <a:solidFill>
                            <a:srgbClr val="172F3A"/>
                          </a:solidFill>
                          <a:latin typeface="Times New Roman"/>
                          <a:ea typeface="Times New Roman"/>
                          <a:cs typeface="Times New Roman"/>
                        </a:rPr>
                        <a:t>Candidate B</a:t>
                      </a:r>
                    </a:p>
                  </a:txBody>
                  <a:tcPr>
                    <a:solidFill>
                      <a:srgbClr val="F6F7F4"/>
                    </a:solidFill>
                  </a:tcPr>
                </a:tc>
                <a:tc>
                  <a:txBody>
                    <a:bodyPr/>
                    <a:lstStyle/>
                    <a:p>
                      <a:r>
                        <a:rPr sz="2175" b="0">
                          <a:solidFill>
                            <a:srgbClr val="172F3A"/>
                          </a:solidFill>
                          <a:latin typeface="Times New Roman"/>
                          <a:ea typeface="Times New Roman"/>
                          <a:cs typeface="Times New Roman"/>
                        </a:rPr>
                        <a:t>0 / 100</a:t>
                      </a:r>
                    </a:p>
                  </a:txBody>
                  <a:tcPr>
                    <a:solidFill>
                      <a:srgbClr val="F6F7F4"/>
                    </a:solidFill>
                  </a:tcPr>
                </a:tc>
                <a:tc>
                  <a:txBody>
                    <a:bodyPr/>
                    <a:lstStyle/>
                    <a:p>
                      <a:r>
                        <a:rPr sz="2175" b="0">
                          <a:solidFill>
                            <a:srgbClr val="172F3A"/>
                          </a:solidFill>
                          <a:latin typeface="Times New Roman"/>
                          <a:ea typeface="Times New Roman"/>
                          <a:cs typeface="Times New Roman"/>
                        </a:rPr>
                        <a:t>Submitted</a:t>
                      </a:r>
                    </a:p>
                  </a:txBody>
                  <a:tcPr>
                    <a:solidFill>
                      <a:srgbClr val="F6F7F4"/>
                    </a:solidFill>
                  </a:tcPr>
                </a:tc>
                <a:extLst>
                  <a:ext uri="{0D108BD9-81ED-4DB2-BD59-A6C34878D82A}">
                    <a16:rowId xmlns:a16="http://schemas.microsoft.com/office/drawing/2014/main" val="10002"/>
                  </a:ext>
                </a:extLst>
              </a:tr>
              <a:tr h="552450">
                <a:tc>
                  <a:txBody>
                    <a:bodyPr/>
                    <a:lstStyle/>
                    <a:p>
                      <a:r>
                        <a:rPr sz="2175" b="0">
                          <a:solidFill>
                            <a:srgbClr val="172F3A"/>
                          </a:solidFill>
                          <a:latin typeface="Times New Roman"/>
                          <a:ea typeface="Times New Roman"/>
                          <a:cs typeface="Times New Roman"/>
                        </a:rPr>
                        <a:t>Candidate C</a:t>
                      </a:r>
                    </a:p>
                  </a:txBody>
                  <a:tcPr>
                    <a:solidFill>
                      <a:srgbClr val="E7EEEA"/>
                    </a:solidFill>
                  </a:tcPr>
                </a:tc>
                <a:tc>
                  <a:txBody>
                    <a:bodyPr/>
                    <a:lstStyle/>
                    <a:p>
                      <a:r>
                        <a:rPr sz="2175" b="0">
                          <a:solidFill>
                            <a:srgbClr val="172F3A"/>
                          </a:solidFill>
                          <a:latin typeface="Times New Roman"/>
                          <a:ea typeface="Times New Roman"/>
                          <a:cs typeface="Times New Roman"/>
                        </a:rPr>
                        <a:t>21 / 100</a:t>
                      </a:r>
                    </a:p>
                  </a:txBody>
                  <a:tcPr>
                    <a:solidFill>
                      <a:srgbClr val="E7EEEA"/>
                    </a:solidFill>
                  </a:tcPr>
                </a:tc>
                <a:tc>
                  <a:txBody>
                    <a:bodyPr/>
                    <a:lstStyle/>
                    <a:p>
                      <a:r>
                        <a:rPr sz="2175" b="0">
                          <a:solidFill>
                            <a:srgbClr val="172F3A"/>
                          </a:solidFill>
                          <a:latin typeface="Times New Roman"/>
                          <a:ea typeface="Times New Roman"/>
                          <a:cs typeface="Times New Roman"/>
                        </a:rPr>
                        <a:t>Not submitted</a:t>
                      </a:r>
                    </a:p>
                  </a:txBody>
                  <a:tcPr>
                    <a:solidFill>
                      <a:srgbClr val="E7EEEA"/>
                    </a:solidFill>
                  </a:tcPr>
                </a:tc>
                <a:extLst>
                  <a:ext uri="{0D108BD9-81ED-4DB2-BD59-A6C34878D82A}">
                    <a16:rowId xmlns:a16="http://schemas.microsoft.com/office/drawing/2014/main" val="10003"/>
                  </a:ext>
                </a:extLst>
              </a:tr>
            </a:tbl>
          </a:graphicData>
        </a:graphic>
      </p:graphicFrame>
      <p:sp>
        <p:nvSpPr>
          <p:cNvPr id="7" name="reveal-1">
            <a:extLst>
              <a:ext uri="{FF2B5EF4-FFF2-40B4-BE49-F238E27FC236}">
                <a16:creationId xmlns:a16="http://schemas.microsoft.com/office/drawing/2014/main" id="{A6A648F5-6687-43EF-9462-0C804F120249}"/>
              </a:ext>
            </a:extLst>
          </p:cNvPr>
          <p:cNvSpPr>
            <a:spLocks noGrp="1"/>
          </p:cNvSpPr>
          <p:nvPr/>
        </p:nvSpPr>
        <p:spPr>
          <a:xfrm>
            <a:off x="60960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Session summary</a:t>
            </a:r>
          </a:p>
        </p:txBody>
      </p:sp>
      <p:sp>
        <p:nvSpPr>
          <p:cNvPr id="8" name="reveal-2">
            <a:extLst>
              <a:ext uri="{FF2B5EF4-FFF2-40B4-BE49-F238E27FC236}">
                <a16:creationId xmlns:a16="http://schemas.microsoft.com/office/drawing/2014/main" id="{1BAAC037-DDF5-4525-948C-4390C4B22584}"/>
              </a:ext>
            </a:extLst>
          </p:cNvPr>
          <p:cNvSpPr>
            <a:spLocks noGrp="1"/>
          </p:cNvSpPr>
          <p:nvPr/>
        </p:nvSpPr>
        <p:spPr>
          <a:xfrm>
            <a:off x="441325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CSV export</a:t>
            </a:r>
          </a:p>
        </p:txBody>
      </p:sp>
      <p:sp>
        <p:nvSpPr>
          <p:cNvPr id="9" name="reveal-3">
            <a:extLst>
              <a:ext uri="{FF2B5EF4-FFF2-40B4-BE49-F238E27FC236}">
                <a16:creationId xmlns:a16="http://schemas.microsoft.com/office/drawing/2014/main" id="{683DA510-FB3B-427C-9311-C98D57B1E3C0}"/>
              </a:ext>
            </a:extLst>
          </p:cNvPr>
          <p:cNvSpPr>
            <a:spLocks noGrp="1"/>
          </p:cNvSpPr>
          <p:nvPr/>
        </p:nvSpPr>
        <p:spPr>
          <a:xfrm>
            <a:off x="8216900" y="4857750"/>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Browser Save PDF</a:t>
            </a:r>
          </a:p>
        </p:txBody>
      </p:sp>
      <p:cxnSp>
        <p:nvCxnSpPr>
          <p:cNvPr id="22" name="reveal-2"/>
          <p:cNvCxnSpPr>
            <a:stCxn id="7" idx="3"/>
            <a:endCxn id="8" idx="1"/>
          </p:cNvCxnSpPr>
          <p:nvPr/>
        </p:nvCxnSpPr>
        <p:spPr>
          <a:xfrm>
            <a:off x="3956050" y="5334000"/>
            <a:ext cx="457200" cy="0"/>
          </a:xfrm>
          <a:prstGeom prst="straightConnector1">
            <a:avLst/>
          </a:prstGeom>
          <a:ln w="19050">
            <a:solidFill>
              <a:srgbClr val="087F8C"/>
            </a:solidFill>
            <a:tailEnd type="arrow" w="med" len="med"/>
          </a:ln>
        </p:spPr>
      </p:cxnSp>
      <p:cxnSp>
        <p:nvCxnSpPr>
          <p:cNvPr id="23" name="reveal-3"/>
          <p:cNvCxnSpPr>
            <a:stCxn id="8" idx="3"/>
            <a:endCxn id="9" idx="1"/>
          </p:cNvCxnSpPr>
          <p:nvPr/>
        </p:nvCxnSpPr>
        <p:spPr>
          <a:xfrm>
            <a:off x="7759700" y="5334000"/>
            <a:ext cx="457200" cy="0"/>
          </a:xfrm>
          <a:prstGeom prst="straightConnector1">
            <a:avLst/>
          </a:prstGeom>
          <a:ln w="19050">
            <a:solidFill>
              <a:srgbClr val="087F8C"/>
            </a:solidFill>
            <a:tailEnd type="arrow" w="med" len="med"/>
          </a:ln>
        </p:spPr>
      </p:cxnSp>
      <p:sp>
        <p:nvSpPr>
          <p:cNvPr id="12" name="fixed">
            <a:extLst>
              <a:ext uri="{FF2B5EF4-FFF2-40B4-BE49-F238E27FC236}">
                <a16:creationId xmlns:a16="http://schemas.microsoft.com/office/drawing/2014/main" id="{38F63090-6B6E-4861-836C-0AC344FD0342}"/>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Detailed evidence remains available separately. A combined logs-and-images export is still open.</a:t>
            </a:r>
          </a:p>
        </p:txBody>
      </p:sp>
    </p:spTree>
    <p:extLst>
      <p:ext uri="{BB962C8B-B14F-4D97-AF65-F5344CB8AC3E}">
        <p14:creationId xmlns:p14="http://schemas.microsoft.com/office/powerpoint/2010/main" val="3962252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350"/>
                                  <p:tgtEl>
                                    <p:spTgt spid="7"/>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350"/>
                                  <p:tgtEl>
                                    <p:spTgt spid="22"/>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35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uiExpand="1" animBg="1"/>
      <p:bldP spid="8" grpId="2" uiExpand="1" animBg="1"/>
      <p:bldP spid="9" grpId="3" uiExpand="1" animBg="1"/>
      <p:bldP spid="22" grpId="2" uiExpand="1" animBg="1"/>
      <p:bldP spid="23" grpId="3" uiExpand="1"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8" name="fixed">
            <a:extLst>
              <a:ext uri="{FF2B5EF4-FFF2-40B4-BE49-F238E27FC236}">
                <a16:creationId xmlns:a16="http://schemas.microsoft.com/office/drawing/2014/main" id="{1EA6E066-02F7-4452-955D-BDEB2A4B751F}"/>
              </a:ext>
            </a:extLst>
          </p:cNvPr>
          <p:cNvSpPr>
            <a:spLocks noGrp="1"/>
          </p:cNvSpPr>
          <p:nvPr/>
        </p:nvSpPr>
        <p:spPr>
          <a:xfrm>
            <a:off x="609600" y="400050"/>
            <a:ext cx="7620000" cy="381000"/>
          </a:xfrm>
          <a:prstGeom prst="rect">
            <a:avLst/>
          </a:prstGeom>
          <a:noFill/>
          <a:ln w="0">
            <a:noFill/>
          </a:ln>
        </p:spPr>
        <p:txBody>
          <a:bodyPr>
            <a:noAutofit/>
          </a:bodyPr>
          <a:lstStyle/>
          <a:p>
            <a:pPr algn="l">
              <a:defRPr sz="1875" b="1">
                <a:solidFill>
                  <a:srgbClr val="087F8C"/>
                </a:solidFill>
                <a:latin typeface="Times New Roman"/>
                <a:ea typeface="Times New Roman"/>
                <a:cs typeface="Times New Roman"/>
              </a:defRPr>
            </a:pPr>
            <a:r>
              <a:rPr sz="1875" b="1">
                <a:solidFill>
                  <a:srgbClr val="087F8C"/>
                </a:solidFill>
                <a:latin typeface="Times New Roman"/>
                <a:ea typeface="Times New Roman"/>
                <a:cs typeface="Times New Roman"/>
              </a:rPr>
              <a:t>ADDITIONAL MANAGEMENT MODULE</a:t>
            </a:r>
          </a:p>
        </p:txBody>
      </p:sp>
      <p:sp>
        <p:nvSpPr>
          <p:cNvPr id="2" name="fixed">
            <a:extLst>
              <a:ext uri="{FF2B5EF4-FFF2-40B4-BE49-F238E27FC236}">
                <a16:creationId xmlns:a16="http://schemas.microsoft.com/office/drawing/2014/main" id="{426FCE1F-A4A7-4E26-9F7C-2D79171AB2F7}"/>
              </a:ext>
            </a:extLst>
          </p:cNvPr>
          <p:cNvSpPr>
            <a:spLocks noGrp="1"/>
          </p:cNvSpPr>
          <p:nvPr/>
        </p:nvSpPr>
        <p:spPr>
          <a:xfrm>
            <a:off x="609600" y="971550"/>
            <a:ext cx="8191500" cy="1171575"/>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Administration and asset management</a:t>
            </a:r>
          </a:p>
        </p:txBody>
      </p:sp>
      <p:sp>
        <p:nvSpPr>
          <p:cNvPr id="3" name="fixed">
            <a:extLst>
              <a:ext uri="{FF2B5EF4-FFF2-40B4-BE49-F238E27FC236}">
                <a16:creationId xmlns:a16="http://schemas.microsoft.com/office/drawing/2014/main" id="{5A0D6483-4229-4649-942F-9923AC1331B3}"/>
              </a:ext>
            </a:extLst>
          </p:cNvPr>
          <p:cNvSpPr>
            <a:spLocks noGrp="1"/>
          </p:cNvSpPr>
          <p:nvPr/>
        </p:nvSpPr>
        <p:spPr>
          <a:xfrm>
            <a:off x="9029700" y="457200"/>
            <a:ext cx="2571750" cy="381000"/>
          </a:xfrm>
          <a:prstGeom prst="rect">
            <a:avLst/>
          </a:prstGeom>
          <a:noFill/>
          <a:ln w="0">
            <a:noFill/>
          </a:ln>
        </p:spPr>
        <p:txBody>
          <a:bodyPr>
            <a:noAutofit/>
          </a:bodyPr>
          <a:lstStyle/>
          <a:p>
            <a:pPr algn="r">
              <a:defRPr sz="1800" b="1">
                <a:solidFill>
                  <a:srgbClr val="087F8C"/>
                </a:solidFill>
                <a:latin typeface="Times New Roman"/>
                <a:ea typeface="Times New Roman"/>
                <a:cs typeface="Times New Roman"/>
              </a:defRPr>
            </a:pPr>
            <a:r>
              <a:rPr sz="1800" b="1">
                <a:solidFill>
                  <a:srgbClr val="087F8C"/>
                </a:solidFill>
                <a:latin typeface="Times New Roman"/>
                <a:ea typeface="Times New Roman"/>
                <a:cs typeface="Times New Roman"/>
              </a:rPr>
              <a:t>COMPLETED</a:t>
            </a:r>
          </a:p>
        </p:txBody>
      </p:sp>
      <p:sp>
        <p:nvSpPr>
          <p:cNvPr id="4" name="fixed">
            <a:extLst>
              <a:ext uri="{FF2B5EF4-FFF2-40B4-BE49-F238E27FC236}">
                <a16:creationId xmlns:a16="http://schemas.microsoft.com/office/drawing/2014/main" id="{B4803A16-C045-4547-A81E-F40DC6CBF058}"/>
              </a:ext>
            </a:extLst>
          </p:cNvPr>
          <p:cNvSpPr>
            <a:spLocks noGrp="1"/>
          </p:cNvSpPr>
          <p:nvPr/>
        </p:nvSpPr>
        <p:spPr>
          <a:xfrm>
            <a:off x="9029700" y="828675"/>
            <a:ext cx="2571750" cy="304800"/>
          </a:xfrm>
          <a:prstGeom prst="rect">
            <a:avLst/>
          </a:prstGeom>
          <a:noFill/>
          <a:ln w="0">
            <a:noFill/>
          </a:ln>
        </p:spPr>
        <p:txBody>
          <a:bodyPr>
            <a:noAutofit/>
          </a:bodyPr>
          <a:lstStyle/>
          <a:p>
            <a:pPr algn="r">
              <a:defRPr sz="1425" b="0">
                <a:solidFill>
                  <a:srgbClr val="4C6471"/>
                </a:solidFill>
                <a:latin typeface="Times New Roman"/>
                <a:ea typeface="Times New Roman"/>
                <a:cs typeface="Times New Roman"/>
              </a:defRPr>
            </a:pPr>
            <a:r>
              <a:rPr sz="1425" b="0">
                <a:solidFill>
                  <a:srgbClr val="4C6471"/>
                </a:solidFill>
                <a:latin typeface="Times New Roman"/>
                <a:ea typeface="Times New Roman"/>
                <a:cs typeface="Times New Roman"/>
              </a:rPr>
              <a:t>Implementation status</a:t>
            </a:r>
          </a:p>
        </p:txBody>
      </p:sp>
      <p:sp>
        <p:nvSpPr>
          <p:cNvPr id="5" name="fixed">
            <a:extLst>
              <a:ext uri="{FF2B5EF4-FFF2-40B4-BE49-F238E27FC236}">
                <a16:creationId xmlns:a16="http://schemas.microsoft.com/office/drawing/2014/main" id="{28813AFF-1183-4290-9C14-573DEE340A0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33</a:t>
            </a:r>
          </a:p>
        </p:txBody>
      </p:sp>
      <p:sp>
        <p:nvSpPr>
          <p:cNvPr id="6" name="reveal-1">
            <a:extLst>
              <a:ext uri="{FF2B5EF4-FFF2-40B4-BE49-F238E27FC236}">
                <a16:creationId xmlns:a16="http://schemas.microsoft.com/office/drawing/2014/main" id="{8391FBA5-3609-4E78-B6C7-CD6578E4E6D9}"/>
              </a:ext>
            </a:extLst>
          </p:cNvPr>
          <p:cNvSpPr>
            <a:spLocks noGrp="1"/>
          </p:cNvSpPr>
          <p:nvPr/>
        </p:nvSpPr>
        <p:spPr>
          <a:xfrm>
            <a:off x="609600"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Administrator access</a:t>
            </a:r>
          </a:p>
        </p:txBody>
      </p:sp>
      <p:sp>
        <p:nvSpPr>
          <p:cNvPr id="7" name="reveal-2">
            <a:extLst>
              <a:ext uri="{FF2B5EF4-FFF2-40B4-BE49-F238E27FC236}">
                <a16:creationId xmlns:a16="http://schemas.microsoft.com/office/drawing/2014/main" id="{02618847-A597-46B6-B3C3-19D36B709A6A}"/>
              </a:ext>
            </a:extLst>
          </p:cNvPr>
          <p:cNvSpPr>
            <a:spLocks noGrp="1"/>
          </p:cNvSpPr>
          <p:nvPr/>
        </p:nvSpPr>
        <p:spPr>
          <a:xfrm>
            <a:off x="3462338"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Users and roles</a:t>
            </a:r>
          </a:p>
        </p:txBody>
      </p:sp>
      <p:sp>
        <p:nvSpPr>
          <p:cNvPr id="8" name="reveal-3">
            <a:extLst>
              <a:ext uri="{FF2B5EF4-FFF2-40B4-BE49-F238E27FC236}">
                <a16:creationId xmlns:a16="http://schemas.microsoft.com/office/drawing/2014/main" id="{B66A712E-7719-493E-B59C-06E8E4CCC160}"/>
              </a:ext>
            </a:extLst>
          </p:cNvPr>
          <p:cNvSpPr>
            <a:spLocks noGrp="1"/>
          </p:cNvSpPr>
          <p:nvPr/>
        </p:nvSpPr>
        <p:spPr>
          <a:xfrm>
            <a:off x="6315075"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Assets and audit logs</a:t>
            </a:r>
          </a:p>
        </p:txBody>
      </p:sp>
      <p:sp>
        <p:nvSpPr>
          <p:cNvPr id="9" name="reveal-4">
            <a:extLst>
              <a:ext uri="{FF2B5EF4-FFF2-40B4-BE49-F238E27FC236}">
                <a16:creationId xmlns:a16="http://schemas.microsoft.com/office/drawing/2014/main" id="{EFF60AB2-B810-421D-A852-2AE936E3A730}"/>
              </a:ext>
            </a:extLst>
          </p:cNvPr>
          <p:cNvSpPr>
            <a:spLocks noGrp="1"/>
          </p:cNvSpPr>
          <p:nvPr/>
        </p:nvSpPr>
        <p:spPr>
          <a:xfrm>
            <a:off x="9167813" y="2381250"/>
            <a:ext cx="2395538"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Management decisions</a:t>
            </a:r>
          </a:p>
        </p:txBody>
      </p:sp>
      <p:cxnSp>
        <p:nvCxnSpPr>
          <p:cNvPr id="27" name="reveal-2"/>
          <p:cNvCxnSpPr>
            <a:stCxn id="6" idx="3"/>
            <a:endCxn id="7" idx="1"/>
          </p:cNvCxnSpPr>
          <p:nvPr/>
        </p:nvCxnSpPr>
        <p:spPr>
          <a:xfrm>
            <a:off x="3005138" y="2857500"/>
            <a:ext cx="457200" cy="0"/>
          </a:xfrm>
          <a:prstGeom prst="straightConnector1">
            <a:avLst/>
          </a:prstGeom>
          <a:ln w="19050">
            <a:solidFill>
              <a:srgbClr val="087F8C"/>
            </a:solidFill>
            <a:tailEnd type="arrow" w="med" len="med"/>
          </a:ln>
        </p:spPr>
      </p:cxnSp>
      <p:cxnSp>
        <p:nvCxnSpPr>
          <p:cNvPr id="28" name="reveal-3"/>
          <p:cNvCxnSpPr>
            <a:stCxn id="7" idx="3"/>
            <a:endCxn id="8" idx="1"/>
          </p:cNvCxnSpPr>
          <p:nvPr/>
        </p:nvCxnSpPr>
        <p:spPr>
          <a:xfrm>
            <a:off x="5857876" y="2857500"/>
            <a:ext cx="457199" cy="0"/>
          </a:xfrm>
          <a:prstGeom prst="straightConnector1">
            <a:avLst/>
          </a:prstGeom>
          <a:ln w="19050">
            <a:solidFill>
              <a:srgbClr val="087F8C"/>
            </a:solidFill>
            <a:tailEnd type="arrow" w="med" len="med"/>
          </a:ln>
        </p:spPr>
      </p:cxnSp>
      <p:cxnSp>
        <p:nvCxnSpPr>
          <p:cNvPr id="29" name="reveal-4"/>
          <p:cNvCxnSpPr>
            <a:stCxn id="8" idx="3"/>
            <a:endCxn id="9" idx="1"/>
          </p:cNvCxnSpPr>
          <p:nvPr/>
        </p:nvCxnSpPr>
        <p:spPr>
          <a:xfrm>
            <a:off x="8710613" y="2857500"/>
            <a:ext cx="457200" cy="0"/>
          </a:xfrm>
          <a:prstGeom prst="straightConnector1">
            <a:avLst/>
          </a:prstGeom>
          <a:ln w="19050">
            <a:solidFill>
              <a:srgbClr val="087F8C"/>
            </a:solidFill>
            <a:tailEnd type="arrow" w="med" len="med"/>
          </a:ln>
        </p:spPr>
      </p:cxnSp>
      <p:sp>
        <p:nvSpPr>
          <p:cNvPr id="13" name="reveal-5">
            <a:extLst>
              <a:ext uri="{FF2B5EF4-FFF2-40B4-BE49-F238E27FC236}">
                <a16:creationId xmlns:a16="http://schemas.microsoft.com/office/drawing/2014/main" id="{1FF4F15C-7751-4181-8C9B-E0C2D1F0E31A}"/>
              </a:ext>
            </a:extLst>
          </p:cNvPr>
          <p:cNvSpPr>
            <a:spLocks noGrp="1"/>
          </p:cNvSpPr>
          <p:nvPr/>
        </p:nvSpPr>
        <p:spPr>
          <a:xfrm>
            <a:off x="60960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Working components</a:t>
            </a:r>
          </a:p>
        </p:txBody>
      </p:sp>
      <p:sp>
        <p:nvSpPr>
          <p:cNvPr id="14" name="reveal-5">
            <a:extLst>
              <a:ext uri="{FF2B5EF4-FFF2-40B4-BE49-F238E27FC236}">
                <a16:creationId xmlns:a16="http://schemas.microsoft.com/office/drawing/2014/main" id="{4D5416A5-1A7F-4B8A-B435-FF652F00B5F1}"/>
              </a:ext>
            </a:extLst>
          </p:cNvPr>
          <p:cNvSpPr>
            <a:spLocks noGrp="1"/>
          </p:cNvSpPr>
          <p:nvPr/>
        </p:nvSpPr>
        <p:spPr>
          <a:xfrm>
            <a:off x="60960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Role-based administration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User management and asset inventory</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Management audit history</a:t>
            </a:r>
          </a:p>
        </p:txBody>
      </p:sp>
      <p:sp>
        <p:nvSpPr>
          <p:cNvPr id="15" name="reveal-6">
            <a:extLst>
              <a:ext uri="{FF2B5EF4-FFF2-40B4-BE49-F238E27FC236}">
                <a16:creationId xmlns:a16="http://schemas.microsoft.com/office/drawing/2014/main" id="{5DC28E9A-6306-4B1E-B793-00F11B6F1EC6}"/>
              </a:ext>
            </a:extLst>
          </p:cNvPr>
          <p:cNvSpPr>
            <a:spLocks noGrp="1"/>
          </p:cNvSpPr>
          <p:nvPr/>
        </p:nvSpPr>
        <p:spPr>
          <a:xfrm>
            <a:off x="6381750" y="3924300"/>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Example</a:t>
            </a:r>
          </a:p>
        </p:txBody>
      </p:sp>
      <p:sp>
        <p:nvSpPr>
          <p:cNvPr id="16" name="reveal-6">
            <a:extLst>
              <a:ext uri="{FF2B5EF4-FFF2-40B4-BE49-F238E27FC236}">
                <a16:creationId xmlns:a16="http://schemas.microsoft.com/office/drawing/2014/main" id="{211CF470-C227-4090-9E04-4D012C67944F}"/>
              </a:ext>
            </a:extLst>
          </p:cNvPr>
          <p:cNvSpPr>
            <a:spLocks noGrp="1"/>
          </p:cNvSpPr>
          <p:nvPr/>
        </p:nvSpPr>
        <p:spPr>
          <a:xfrm>
            <a:off x="6381750" y="4552950"/>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 administrator reviews uploaded assets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and account activity while a teacher reviews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only the examinations they own.</a:t>
            </a:r>
          </a:p>
        </p:txBody>
      </p:sp>
      <p:sp>
        <p:nvSpPr>
          <p:cNvPr id="17" name="fixed">
            <a:extLst>
              <a:ext uri="{FF2B5EF4-FFF2-40B4-BE49-F238E27FC236}">
                <a16:creationId xmlns:a16="http://schemas.microsoft.com/office/drawing/2014/main" id="{C4A0EE47-0397-471C-B332-3C25398A026E}"/>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Teacher monitoring and administrator management serve separate responsibilities.</a:t>
            </a:r>
          </a:p>
        </p:txBody>
      </p:sp>
    </p:spTree>
    <p:extLst>
      <p:ext uri="{BB962C8B-B14F-4D97-AF65-F5344CB8AC3E}">
        <p14:creationId xmlns:p14="http://schemas.microsoft.com/office/powerpoint/2010/main" val="16895580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350"/>
                                  <p:tgtEl>
                                    <p:spTgt spid="6"/>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2"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350"/>
                                  <p:tgtEl>
                                    <p:spTgt spid="27"/>
                                  </p:tgtEl>
                                </p:cBhvr>
                              </p:animEffect>
                            </p:childTnLst>
                          </p:cTn>
                        </p:par>
                      </p:childTnLst>
                    </p:cTn>
                  </p:par>
                  <p:par>
                    <p:cTn id="14" fill="hold">
                      <p:stCondLst>
                        <p:cond delay="indefinite"/>
                      </p:stCondLst>
                      <p:childTnLst>
                        <p:par>
                          <p:cTn id="15" presetID="10" presetClass="entr" presetSubtype="0" fill="hold" grpId="3"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350"/>
                                  <p:tgtEl>
                                    <p:spTgt spid="8"/>
                                  </p:tgtEl>
                                </p:cBhvr>
                              </p:animEffect>
                            </p:childTnLst>
                          </p:cTn>
                        </p:par>
                        <p:par>
                          <p:cTn id="18" presetID="10" presetClass="entr" presetSubtype="0" fill="hold" grpId="3"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350"/>
                                  <p:tgtEl>
                                    <p:spTgt spid="28"/>
                                  </p:tgtEl>
                                </p:cBhvr>
                              </p:animEffect>
                            </p:childTnLst>
                          </p:cTn>
                        </p:par>
                      </p:childTnLst>
                    </p:cTn>
                  </p:par>
                  <p:par>
                    <p:cTn id="21" fill="hold">
                      <p:stCondLst>
                        <p:cond delay="indefinite"/>
                      </p:stCondLst>
                      <p:childTnLst>
                        <p:par>
                          <p:cTn id="22" presetID="10" presetClass="entr" presetSubtype="0" fill="hold" grpId="4"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childTnLst>
                          </p:cTn>
                        </p:par>
                        <p:par>
                          <p:cTn id="25" presetID="10" presetClass="entr" presetSubtype="0" fill="hold" grpId="4"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childTnLst>
                    </p:cTn>
                  </p:par>
                  <p:par>
                    <p:cTn id="28" fill="hold">
                      <p:stCondLst>
                        <p:cond delay="indefinite"/>
                      </p:stCondLst>
                      <p:childTnLst>
                        <p:par>
                          <p:cTn id="29" presetID="10" presetClass="entr" presetSubtype="0" fill="hold" grpId="5"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50"/>
                                  <p:tgtEl>
                                    <p:spTgt spid="13"/>
                                  </p:tgtEl>
                                </p:cBhvr>
                              </p:animEffect>
                            </p:childTnLst>
                          </p:cTn>
                        </p:par>
                        <p:par>
                          <p:cTn id="32" presetID="10" presetClass="entr" presetSubtype="0" fill="hold" grpId="5"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childTnLst>
                    </p:cTn>
                  </p:par>
                  <p:par>
                    <p:cTn id="35" fill="hold">
                      <p:stCondLst>
                        <p:cond delay="indefinite"/>
                      </p:stCondLst>
                      <p:childTnLst>
                        <p:par>
                          <p:cTn id="36" presetID="10" presetClass="entr" presetSubtype="0" fill="hold" grpId="6"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par>
                          <p:cTn id="39" presetID="10" presetClass="entr" presetSubtype="0" fill="hold" grpId="6"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3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uiExpand="1" animBg="1"/>
      <p:bldP spid="7" grpId="2" uiExpand="1" animBg="1"/>
      <p:bldP spid="8" grpId="3" uiExpand="1" animBg="1"/>
      <p:bldP spid="9" grpId="4" uiExpand="1" animBg="1"/>
      <p:bldP spid="27" grpId="2" uiExpand="1" animBg="1"/>
      <p:bldP spid="28" grpId="3" uiExpand="1" animBg="1"/>
      <p:bldP spid="29" grpId="4" uiExpand="1" animBg="1"/>
      <p:bldP spid="13" grpId="5" uiExpand="1"/>
      <p:bldP spid="14" grpId="5" uiExpand="1"/>
      <p:bldP spid="15" grpId="6" uiExpand="1"/>
      <p:bldP spid="16" grpId="6" uiExpand="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21" name="fixed">
            <a:extLst>
              <a:ext uri="{FF2B5EF4-FFF2-40B4-BE49-F238E27FC236}">
                <a16:creationId xmlns:a16="http://schemas.microsoft.com/office/drawing/2014/main" id="{BEAACB83-ACB6-42C1-910C-EC865CB69631}"/>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Integrated event sequence</a:t>
            </a:r>
          </a:p>
        </p:txBody>
      </p:sp>
      <p:sp>
        <p:nvSpPr>
          <p:cNvPr id="2" name="fixed">
            <a:extLst>
              <a:ext uri="{FF2B5EF4-FFF2-40B4-BE49-F238E27FC236}">
                <a16:creationId xmlns:a16="http://schemas.microsoft.com/office/drawing/2014/main" id="{879F2DCD-F6E7-4EE9-9391-1C658FB732AC}"/>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34</a:t>
            </a:r>
          </a:p>
        </p:txBody>
      </p:sp>
      <p:sp>
        <p:nvSpPr>
          <p:cNvPr id="3" name="reveal-1">
            <a:extLst>
              <a:ext uri="{FF2B5EF4-FFF2-40B4-BE49-F238E27FC236}">
                <a16:creationId xmlns:a16="http://schemas.microsoft.com/office/drawing/2014/main" id="{7AB99D6D-0DAA-484A-97FA-075BA745CD85}"/>
              </a:ext>
            </a:extLst>
          </p:cNvPr>
          <p:cNvSpPr>
            <a:spLocks noGrp="1"/>
          </p:cNvSpPr>
          <p:nvPr/>
        </p:nvSpPr>
        <p:spPr>
          <a:xfrm>
            <a:off x="6096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Python</a:t>
            </a:r>
          </a:p>
        </p:txBody>
      </p:sp>
      <p:sp>
        <p:nvSpPr>
          <p:cNvPr id="4" name="reveal-1">
            <a:extLst>
              <a:ext uri="{FF2B5EF4-FFF2-40B4-BE49-F238E27FC236}">
                <a16:creationId xmlns:a16="http://schemas.microsoft.com/office/drawing/2014/main" id="{76C049D9-C72B-4DF1-8D3E-5C3FAB03B3A7}"/>
              </a:ext>
            </a:extLst>
          </p:cNvPr>
          <p:cNvSpPr>
            <a:spLocks noGrp="1"/>
          </p:cNvSpPr>
          <p:nvPr/>
        </p:nvSpPr>
        <p:spPr>
          <a:xfrm>
            <a:off x="34671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Electron</a:t>
            </a:r>
          </a:p>
        </p:txBody>
      </p:sp>
      <p:sp>
        <p:nvSpPr>
          <p:cNvPr id="5" name="reveal-1">
            <a:extLst>
              <a:ext uri="{FF2B5EF4-FFF2-40B4-BE49-F238E27FC236}">
                <a16:creationId xmlns:a16="http://schemas.microsoft.com/office/drawing/2014/main" id="{39174E0E-04DB-413B-9C20-E5EF4D14225E}"/>
              </a:ext>
            </a:extLst>
          </p:cNvPr>
          <p:cNvSpPr>
            <a:spLocks noGrp="1"/>
          </p:cNvSpPr>
          <p:nvPr/>
        </p:nvSpPr>
        <p:spPr>
          <a:xfrm>
            <a:off x="63246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Express / MongoDB</a:t>
            </a:r>
          </a:p>
        </p:txBody>
      </p:sp>
      <p:sp>
        <p:nvSpPr>
          <p:cNvPr id="6" name="reveal-1">
            <a:extLst>
              <a:ext uri="{FF2B5EF4-FFF2-40B4-BE49-F238E27FC236}">
                <a16:creationId xmlns:a16="http://schemas.microsoft.com/office/drawing/2014/main" id="{19213A33-8E6B-488F-BAC7-E6BA8815BC30}"/>
              </a:ext>
            </a:extLst>
          </p:cNvPr>
          <p:cNvSpPr>
            <a:spLocks noGrp="1"/>
          </p:cNvSpPr>
          <p:nvPr/>
        </p:nvSpPr>
        <p:spPr>
          <a:xfrm>
            <a:off x="9182100" y="1752600"/>
            <a:ext cx="2381250" cy="619125"/>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Examiner</a:t>
            </a:r>
          </a:p>
        </p:txBody>
      </p:sp>
      <p:sp>
        <p:nvSpPr>
          <p:cNvPr id="7" name="fixed">
            <a:extLst>
              <a:ext uri="{FF2B5EF4-FFF2-40B4-BE49-F238E27FC236}">
                <a16:creationId xmlns:a16="http://schemas.microsoft.com/office/drawing/2014/main" id="{D29646CD-92CC-4C81-8CDC-DC2C8961EC9F}"/>
              </a:ext>
            </a:extLst>
          </p:cNvPr>
          <p:cNvSpPr>
            <a:spLocks noGrp="1"/>
          </p:cNvSpPr>
          <p:nvPr/>
        </p:nvSpPr>
        <p:spPr>
          <a:xfrm>
            <a:off x="1800225" y="2447925"/>
            <a:ext cx="0" cy="3619500"/>
          </a:xfrm>
          <a:prstGeom prst="line">
            <a:avLst/>
          </a:prstGeom>
          <a:noFill/>
          <a:ln w="9525">
            <a:solidFill>
              <a:srgbClr val="B4C9CB"/>
            </a:solidFill>
            <a:prstDash val="dash"/>
          </a:ln>
        </p:spPr>
        <p:txBody>
          <a:bodyPr/>
          <a:lstStyle/>
          <a:p>
            <a:endParaRPr lang="en-US"/>
          </a:p>
        </p:txBody>
      </p:sp>
      <p:sp>
        <p:nvSpPr>
          <p:cNvPr id="8" name="fixed">
            <a:extLst>
              <a:ext uri="{FF2B5EF4-FFF2-40B4-BE49-F238E27FC236}">
                <a16:creationId xmlns:a16="http://schemas.microsoft.com/office/drawing/2014/main" id="{CF9B7524-260A-485A-B317-602A783A6D93}"/>
              </a:ext>
            </a:extLst>
          </p:cNvPr>
          <p:cNvSpPr>
            <a:spLocks noGrp="1"/>
          </p:cNvSpPr>
          <p:nvPr/>
        </p:nvSpPr>
        <p:spPr>
          <a:xfrm>
            <a:off x="4657725" y="2447925"/>
            <a:ext cx="0" cy="3619500"/>
          </a:xfrm>
          <a:prstGeom prst="line">
            <a:avLst/>
          </a:prstGeom>
          <a:noFill/>
          <a:ln w="9525">
            <a:solidFill>
              <a:srgbClr val="B4C9CB"/>
            </a:solidFill>
            <a:prstDash val="dash"/>
          </a:ln>
        </p:spPr>
        <p:txBody>
          <a:bodyPr/>
          <a:lstStyle/>
          <a:p>
            <a:endParaRPr lang="en-US"/>
          </a:p>
        </p:txBody>
      </p:sp>
      <p:sp>
        <p:nvSpPr>
          <p:cNvPr id="9" name="fixed">
            <a:extLst>
              <a:ext uri="{FF2B5EF4-FFF2-40B4-BE49-F238E27FC236}">
                <a16:creationId xmlns:a16="http://schemas.microsoft.com/office/drawing/2014/main" id="{8BF542E2-3402-4953-96E1-D256E6783AD6}"/>
              </a:ext>
            </a:extLst>
          </p:cNvPr>
          <p:cNvSpPr>
            <a:spLocks noGrp="1"/>
          </p:cNvSpPr>
          <p:nvPr/>
        </p:nvSpPr>
        <p:spPr>
          <a:xfrm>
            <a:off x="7515225" y="2447925"/>
            <a:ext cx="0" cy="3619500"/>
          </a:xfrm>
          <a:prstGeom prst="line">
            <a:avLst/>
          </a:prstGeom>
          <a:noFill/>
          <a:ln w="9525">
            <a:solidFill>
              <a:srgbClr val="B4C9CB"/>
            </a:solidFill>
            <a:prstDash val="dash"/>
          </a:ln>
        </p:spPr>
        <p:txBody>
          <a:bodyPr/>
          <a:lstStyle/>
          <a:p>
            <a:endParaRPr lang="en-US"/>
          </a:p>
        </p:txBody>
      </p:sp>
      <p:sp>
        <p:nvSpPr>
          <p:cNvPr id="10" name="fixed">
            <a:extLst>
              <a:ext uri="{FF2B5EF4-FFF2-40B4-BE49-F238E27FC236}">
                <a16:creationId xmlns:a16="http://schemas.microsoft.com/office/drawing/2014/main" id="{06C94435-79D6-4C6A-A793-DE10AEC66B24}"/>
              </a:ext>
            </a:extLst>
          </p:cNvPr>
          <p:cNvSpPr>
            <a:spLocks noGrp="1"/>
          </p:cNvSpPr>
          <p:nvPr/>
        </p:nvSpPr>
        <p:spPr>
          <a:xfrm>
            <a:off x="10372725" y="2447925"/>
            <a:ext cx="0" cy="3619500"/>
          </a:xfrm>
          <a:prstGeom prst="line">
            <a:avLst/>
          </a:prstGeom>
          <a:noFill/>
          <a:ln w="9525">
            <a:solidFill>
              <a:srgbClr val="B4C9CB"/>
            </a:solidFill>
            <a:prstDash val="dash"/>
          </a:ln>
        </p:spPr>
        <p:txBody>
          <a:bodyPr/>
          <a:lstStyle/>
          <a:p>
            <a:endParaRPr lang="en-US"/>
          </a:p>
        </p:txBody>
      </p:sp>
      <p:sp>
        <p:nvSpPr>
          <p:cNvPr id="11" name="reveal-2">
            <a:extLst>
              <a:ext uri="{FF2B5EF4-FFF2-40B4-BE49-F238E27FC236}">
                <a16:creationId xmlns:a16="http://schemas.microsoft.com/office/drawing/2014/main" id="{931564D2-6E0C-4B20-AF81-A91AACD510C3}"/>
              </a:ext>
            </a:extLst>
          </p:cNvPr>
          <p:cNvSpPr>
            <a:spLocks noGrp="1"/>
          </p:cNvSpPr>
          <p:nvPr/>
        </p:nvSpPr>
        <p:spPr>
          <a:xfrm>
            <a:off x="1800225" y="3076575"/>
            <a:ext cx="2857500" cy="104775"/>
          </a:xfrm>
          <a:prstGeom prst="rightArrow">
            <a:avLst/>
          </a:prstGeom>
          <a:solidFill>
            <a:srgbClr val="087F8C"/>
          </a:solidFill>
          <a:ln w="0">
            <a:noFill/>
          </a:ln>
        </p:spPr>
        <p:txBody>
          <a:bodyPr/>
          <a:lstStyle/>
          <a:p>
            <a:endParaRPr lang="en-US"/>
          </a:p>
        </p:txBody>
      </p:sp>
      <p:sp>
        <p:nvSpPr>
          <p:cNvPr id="12" name="reveal-2">
            <a:extLst>
              <a:ext uri="{FF2B5EF4-FFF2-40B4-BE49-F238E27FC236}">
                <a16:creationId xmlns:a16="http://schemas.microsoft.com/office/drawing/2014/main" id="{F1F97979-B213-4314-92D4-BAC24697ABB7}"/>
              </a:ext>
            </a:extLst>
          </p:cNvPr>
          <p:cNvSpPr>
            <a:spLocks noGrp="1"/>
          </p:cNvSpPr>
          <p:nvPr/>
        </p:nvSpPr>
        <p:spPr>
          <a:xfrm>
            <a:off x="1847850" y="271462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Persist and deliver</a:t>
            </a:r>
          </a:p>
        </p:txBody>
      </p:sp>
      <p:sp>
        <p:nvSpPr>
          <p:cNvPr id="13" name="reveal-3">
            <a:extLst>
              <a:ext uri="{FF2B5EF4-FFF2-40B4-BE49-F238E27FC236}">
                <a16:creationId xmlns:a16="http://schemas.microsoft.com/office/drawing/2014/main" id="{2642A9B5-E0AB-4CC2-A964-B97B2C967754}"/>
              </a:ext>
            </a:extLst>
          </p:cNvPr>
          <p:cNvSpPr>
            <a:spLocks noGrp="1"/>
          </p:cNvSpPr>
          <p:nvPr/>
        </p:nvSpPr>
        <p:spPr>
          <a:xfrm>
            <a:off x="4657725" y="3790950"/>
            <a:ext cx="2857500" cy="104775"/>
          </a:xfrm>
          <a:prstGeom prst="rightArrow">
            <a:avLst/>
          </a:prstGeom>
          <a:solidFill>
            <a:srgbClr val="087F8C"/>
          </a:solidFill>
          <a:ln w="0">
            <a:noFill/>
          </a:ln>
        </p:spPr>
        <p:txBody>
          <a:bodyPr/>
          <a:lstStyle/>
          <a:p>
            <a:endParaRPr lang="en-US"/>
          </a:p>
        </p:txBody>
      </p:sp>
      <p:sp>
        <p:nvSpPr>
          <p:cNvPr id="14" name="reveal-3">
            <a:extLst>
              <a:ext uri="{FF2B5EF4-FFF2-40B4-BE49-F238E27FC236}">
                <a16:creationId xmlns:a16="http://schemas.microsoft.com/office/drawing/2014/main" id="{15E0CC49-F477-4FD8-83F3-5726D740B77C}"/>
              </a:ext>
            </a:extLst>
          </p:cNvPr>
          <p:cNvSpPr>
            <a:spLocks noGrp="1"/>
          </p:cNvSpPr>
          <p:nvPr/>
        </p:nvSpPr>
        <p:spPr>
          <a:xfrm>
            <a:off x="4705350" y="3429000"/>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Queue and POST</a:t>
            </a:r>
          </a:p>
        </p:txBody>
      </p:sp>
      <p:sp>
        <p:nvSpPr>
          <p:cNvPr id="15" name="reveal-4">
            <a:extLst>
              <a:ext uri="{FF2B5EF4-FFF2-40B4-BE49-F238E27FC236}">
                <a16:creationId xmlns:a16="http://schemas.microsoft.com/office/drawing/2014/main" id="{B76C6C70-2EC3-42FA-B940-7C9DC25B8CD4}"/>
              </a:ext>
            </a:extLst>
          </p:cNvPr>
          <p:cNvSpPr>
            <a:spLocks noGrp="1"/>
          </p:cNvSpPr>
          <p:nvPr/>
        </p:nvSpPr>
        <p:spPr>
          <a:xfrm>
            <a:off x="4657725" y="4505325"/>
            <a:ext cx="2857500" cy="104775"/>
          </a:xfrm>
          <a:prstGeom prst="leftArrow">
            <a:avLst/>
          </a:prstGeom>
          <a:solidFill>
            <a:srgbClr val="087F8C"/>
          </a:solidFill>
          <a:ln w="0">
            <a:noFill/>
          </a:ln>
        </p:spPr>
        <p:txBody>
          <a:bodyPr/>
          <a:lstStyle/>
          <a:p>
            <a:endParaRPr lang="en-US"/>
          </a:p>
        </p:txBody>
      </p:sp>
      <p:sp>
        <p:nvSpPr>
          <p:cNvPr id="16" name="reveal-4">
            <a:extLst>
              <a:ext uri="{FF2B5EF4-FFF2-40B4-BE49-F238E27FC236}">
                <a16:creationId xmlns:a16="http://schemas.microsoft.com/office/drawing/2014/main" id="{0BC30ED0-D6A1-4D0F-8C44-37D84025BAE7}"/>
              </a:ext>
            </a:extLst>
          </p:cNvPr>
          <p:cNvSpPr>
            <a:spLocks noGrp="1"/>
          </p:cNvSpPr>
          <p:nvPr/>
        </p:nvSpPr>
        <p:spPr>
          <a:xfrm>
            <a:off x="4705350" y="414337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Commit, then HTTP 201</a:t>
            </a:r>
          </a:p>
        </p:txBody>
      </p:sp>
      <p:sp>
        <p:nvSpPr>
          <p:cNvPr id="17" name="reveal-5">
            <a:extLst>
              <a:ext uri="{FF2B5EF4-FFF2-40B4-BE49-F238E27FC236}">
                <a16:creationId xmlns:a16="http://schemas.microsoft.com/office/drawing/2014/main" id="{C8A536DC-3464-4112-A867-E52EA26C313B}"/>
              </a:ext>
            </a:extLst>
          </p:cNvPr>
          <p:cNvSpPr>
            <a:spLocks noGrp="1"/>
          </p:cNvSpPr>
          <p:nvPr/>
        </p:nvSpPr>
        <p:spPr>
          <a:xfrm>
            <a:off x="7515225" y="5219700"/>
            <a:ext cx="2857500" cy="104775"/>
          </a:xfrm>
          <a:prstGeom prst="rightArrow">
            <a:avLst/>
          </a:prstGeom>
          <a:solidFill>
            <a:srgbClr val="087F8C"/>
          </a:solidFill>
          <a:ln w="0">
            <a:noFill/>
          </a:ln>
        </p:spPr>
        <p:txBody>
          <a:bodyPr/>
          <a:lstStyle/>
          <a:p>
            <a:endParaRPr lang="en-US"/>
          </a:p>
        </p:txBody>
      </p:sp>
      <p:sp>
        <p:nvSpPr>
          <p:cNvPr id="18" name="reveal-5">
            <a:extLst>
              <a:ext uri="{FF2B5EF4-FFF2-40B4-BE49-F238E27FC236}">
                <a16:creationId xmlns:a16="http://schemas.microsoft.com/office/drawing/2014/main" id="{12F9C950-BAC0-4CB3-89FA-9D50F1A1ADB7}"/>
              </a:ext>
            </a:extLst>
          </p:cNvPr>
          <p:cNvSpPr>
            <a:spLocks noGrp="1"/>
          </p:cNvSpPr>
          <p:nvPr/>
        </p:nvSpPr>
        <p:spPr>
          <a:xfrm>
            <a:off x="7562850" y="4857750"/>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Authorized live update</a:t>
            </a:r>
          </a:p>
        </p:txBody>
      </p:sp>
      <p:sp>
        <p:nvSpPr>
          <p:cNvPr id="19" name="reveal-6">
            <a:extLst>
              <a:ext uri="{FF2B5EF4-FFF2-40B4-BE49-F238E27FC236}">
                <a16:creationId xmlns:a16="http://schemas.microsoft.com/office/drawing/2014/main" id="{267B6A39-4267-4F28-ABC9-6911A0640848}"/>
              </a:ext>
            </a:extLst>
          </p:cNvPr>
          <p:cNvSpPr>
            <a:spLocks noGrp="1"/>
          </p:cNvSpPr>
          <p:nvPr/>
        </p:nvSpPr>
        <p:spPr>
          <a:xfrm>
            <a:off x="7515225" y="5934075"/>
            <a:ext cx="2857500" cy="104775"/>
          </a:xfrm>
          <a:prstGeom prst="leftArrow">
            <a:avLst/>
          </a:prstGeom>
          <a:solidFill>
            <a:srgbClr val="087F8C"/>
          </a:solidFill>
          <a:ln w="0">
            <a:noFill/>
          </a:ln>
        </p:spPr>
        <p:txBody>
          <a:bodyPr/>
          <a:lstStyle/>
          <a:p>
            <a:endParaRPr lang="en-US"/>
          </a:p>
        </p:txBody>
      </p:sp>
      <p:sp>
        <p:nvSpPr>
          <p:cNvPr id="20" name="reveal-6">
            <a:extLst>
              <a:ext uri="{FF2B5EF4-FFF2-40B4-BE49-F238E27FC236}">
                <a16:creationId xmlns:a16="http://schemas.microsoft.com/office/drawing/2014/main" id="{A04AF63C-7C1D-49EA-B2C1-EED59E0F77BE}"/>
              </a:ext>
            </a:extLst>
          </p:cNvPr>
          <p:cNvSpPr>
            <a:spLocks noGrp="1"/>
          </p:cNvSpPr>
          <p:nvPr/>
        </p:nvSpPr>
        <p:spPr>
          <a:xfrm>
            <a:off x="7562850" y="5572125"/>
            <a:ext cx="2857500" cy="381000"/>
          </a:xfrm>
          <a:prstGeom prst="rect">
            <a:avLst/>
          </a:prstGeom>
          <a:noFill/>
          <a:ln w="0">
            <a:noFill/>
          </a:ln>
        </p:spPr>
        <p:txBody>
          <a:bodyPr>
            <a:noAutofit/>
          </a:bodyPr>
          <a:lstStyle/>
          <a:p>
            <a:pPr algn="l">
              <a:defRPr sz="1875" b="0">
                <a:solidFill>
                  <a:srgbClr val="172F3A"/>
                </a:solidFill>
                <a:latin typeface="Times New Roman"/>
                <a:ea typeface="Times New Roman"/>
                <a:cs typeface="Times New Roman"/>
              </a:defRPr>
            </a:pPr>
            <a:r>
              <a:rPr sz="1875" b="0">
                <a:solidFill>
                  <a:srgbClr val="172F3A"/>
                </a:solidFill>
                <a:latin typeface="Times New Roman"/>
                <a:ea typeface="Times New Roman"/>
                <a:cs typeface="Times New Roman"/>
              </a:rPr>
              <a:t>Confirm / dismiss</a:t>
            </a:r>
          </a:p>
        </p:txBody>
      </p:sp>
    </p:spTree>
    <p:extLst>
      <p:ext uri="{BB962C8B-B14F-4D97-AF65-F5344CB8AC3E}">
        <p14:creationId xmlns:p14="http://schemas.microsoft.com/office/powerpoint/2010/main" val="5394525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par>
                          <p:cTn id="10" presetID="10" presetClass="entr" presetSubtype="0" fill="hold" grpId="1"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childTnLst>
                          </p:cTn>
                        </p:par>
                        <p:par>
                          <p:cTn id="13" presetID="10" presetClass="entr"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50"/>
                                  <p:tgtEl>
                                    <p:spTgt spid="6"/>
                                  </p:tgtEl>
                                </p:cBhvr>
                              </p:animEffect>
                            </p:childTnLst>
                          </p:cTn>
                        </p:par>
                      </p:childTnLst>
                    </p:cTn>
                  </p:par>
                  <p:par>
                    <p:cTn id="16" fill="hold">
                      <p:stCondLst>
                        <p:cond delay="indefinite"/>
                      </p:stCondLst>
                      <p:childTnLst>
                        <p:par>
                          <p:cTn id="17" presetID="10" presetClass="entr" presetSubtype="0" fill="hold" grpId="2"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par>
                          <p:cTn id="20" presetID="10" presetClass="entr" presetSubtype="0" fill="hold" grpId="2"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50"/>
                                  <p:tgtEl>
                                    <p:spTgt spid="12"/>
                                  </p:tgtEl>
                                </p:cBhvr>
                              </p:animEffect>
                            </p:childTnLst>
                          </p:cTn>
                        </p:par>
                      </p:childTnLst>
                    </p:cTn>
                  </p:par>
                  <p:par>
                    <p:cTn id="23" fill="hold">
                      <p:stCondLst>
                        <p:cond delay="indefinite"/>
                      </p:stCondLst>
                      <p:childTnLst>
                        <p:par>
                          <p:cTn id="24" presetID="10" presetClass="entr" presetSubtype="0" fill="hold" grpId="3"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3"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childTnLst>
                    </p:cTn>
                  </p:par>
                  <p:par>
                    <p:cTn id="30" fill="hold">
                      <p:stCondLst>
                        <p:cond delay="indefinite"/>
                      </p:stCondLst>
                      <p:childTnLst>
                        <p:par>
                          <p:cTn id="31" presetID="10" presetClass="entr" presetSubtype="0" fill="hold" grpId="4"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par>
                          <p:cTn id="34" presetID="10" presetClass="entr" presetSubtype="0" fill="hold" grpId="4"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childTnLst>
                    </p:cTn>
                  </p:par>
                  <p:par>
                    <p:cTn id="37" fill="hold">
                      <p:stCondLst>
                        <p:cond delay="indefinite"/>
                      </p:stCondLst>
                      <p:childTnLst>
                        <p:par>
                          <p:cTn id="38" presetID="10" presetClass="entr" presetSubtype="0" fill="hold" grpId="5"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5"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childTnLst>
                    </p:cTn>
                  </p:par>
                  <p:par>
                    <p:cTn id="44" fill="hold">
                      <p:stCondLst>
                        <p:cond delay="indefinite"/>
                      </p:stCondLst>
                      <p:childTnLst>
                        <p:par>
                          <p:cTn id="45" presetID="10" presetClass="entr" presetSubtype="0" fill="hold" grpId="6"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6"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animBg="1"/>
      <p:bldP spid="4" grpId="1" uiExpand="1" animBg="1"/>
      <p:bldP spid="5" grpId="1" uiExpand="1" animBg="1"/>
      <p:bldP spid="6" grpId="1" uiExpand="1" animBg="1"/>
      <p:bldP spid="11" grpId="2" uiExpand="1" animBg="1"/>
      <p:bldP spid="12" grpId="2" uiExpand="1"/>
      <p:bldP spid="13" grpId="3" uiExpand="1" animBg="1"/>
      <p:bldP spid="14" grpId="3" uiExpand="1"/>
      <p:bldP spid="15" grpId="4" uiExpand="1" animBg="1"/>
      <p:bldP spid="16" grpId="4" uiExpand="1"/>
      <p:bldP spid="17" grpId="5" uiExpand="1" animBg="1"/>
      <p:bldP spid="18" grpId="5" uiExpand="1"/>
      <p:bldP spid="19" grpId="6" uiExpand="1" animBg="1"/>
      <p:bldP spid="20" grpId="6" uiExpand="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16" name="fixed">
            <a:extLst>
              <a:ext uri="{FF2B5EF4-FFF2-40B4-BE49-F238E27FC236}">
                <a16:creationId xmlns:a16="http://schemas.microsoft.com/office/drawing/2014/main" id="{5EAA697D-9881-4DE2-A028-DB693D5BCEB4}"/>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Ingestion performance improvement</a:t>
            </a:r>
          </a:p>
        </p:txBody>
      </p:sp>
      <p:sp>
        <p:nvSpPr>
          <p:cNvPr id="2" name="fixed">
            <a:extLst>
              <a:ext uri="{FF2B5EF4-FFF2-40B4-BE49-F238E27FC236}">
                <a16:creationId xmlns:a16="http://schemas.microsoft.com/office/drawing/2014/main" id="{68E85FFF-763B-49C9-B28B-64A336BD23D9}"/>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36</a:t>
            </a:r>
          </a:p>
        </p:txBody>
      </p:sp>
      <p:sp>
        <p:nvSpPr>
          <p:cNvPr id="3" name="reveal-1">
            <a:extLst>
              <a:ext uri="{FF2B5EF4-FFF2-40B4-BE49-F238E27FC236}">
                <a16:creationId xmlns:a16="http://schemas.microsoft.com/office/drawing/2014/main" id="{1E90510B-6E56-41FE-9BFE-CC8D99FE95AC}"/>
              </a:ext>
            </a:extLst>
          </p:cNvPr>
          <p:cNvSpPr>
            <a:spLocks noGrp="1"/>
          </p:cNvSpPr>
          <p:nvPr/>
        </p:nvSpPr>
        <p:spPr>
          <a:xfrm>
            <a:off x="609600" y="1895475"/>
            <a:ext cx="10477500" cy="428625"/>
          </a:xfrm>
          <a:prstGeom prst="rect">
            <a:avLst/>
          </a:prstGeom>
          <a:noFill/>
          <a:ln w="0">
            <a:noFill/>
          </a:ln>
        </p:spPr>
        <p:txBody>
          <a:bodyPr>
            <a:noAutofit/>
          </a:bodyPr>
          <a:lstStyle/>
          <a:p>
            <a:pPr algn="l">
              <a:defRPr sz="2475" b="1">
                <a:solidFill>
                  <a:srgbClr val="4C6471"/>
                </a:solidFill>
                <a:latin typeface="Times New Roman"/>
                <a:ea typeface="Times New Roman"/>
                <a:cs typeface="Times New Roman"/>
              </a:defRPr>
            </a:pPr>
            <a:r>
              <a:rPr sz="2475" b="1">
                <a:solidFill>
                  <a:srgbClr val="4C6471"/>
                </a:solidFill>
                <a:latin typeface="Times New Roman"/>
                <a:ea typeface="Times New Roman"/>
                <a:cs typeface="Times New Roman"/>
              </a:rPr>
              <a:t>Earlier response path</a:t>
            </a:r>
          </a:p>
        </p:txBody>
      </p:sp>
      <p:sp>
        <p:nvSpPr>
          <p:cNvPr id="4" name="reveal-2">
            <a:extLst>
              <a:ext uri="{FF2B5EF4-FFF2-40B4-BE49-F238E27FC236}">
                <a16:creationId xmlns:a16="http://schemas.microsoft.com/office/drawing/2014/main" id="{230A9112-3BCD-42AF-B483-4D8B46BAC250}"/>
              </a:ext>
            </a:extLst>
          </p:cNvPr>
          <p:cNvSpPr>
            <a:spLocks noGrp="1"/>
          </p:cNvSpPr>
          <p:nvPr/>
        </p:nvSpPr>
        <p:spPr>
          <a:xfrm>
            <a:off x="60960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Save violation</a:t>
            </a:r>
          </a:p>
        </p:txBody>
      </p:sp>
      <p:sp>
        <p:nvSpPr>
          <p:cNvPr id="5" name="reveal-3">
            <a:extLst>
              <a:ext uri="{FF2B5EF4-FFF2-40B4-BE49-F238E27FC236}">
                <a16:creationId xmlns:a16="http://schemas.microsoft.com/office/drawing/2014/main" id="{EA00D89E-4512-4168-98C4-30132BDE42C4}"/>
              </a:ext>
            </a:extLst>
          </p:cNvPr>
          <p:cNvSpPr>
            <a:spLocks noGrp="1"/>
          </p:cNvSpPr>
          <p:nvPr/>
        </p:nvSpPr>
        <p:spPr>
          <a:xfrm>
            <a:off x="441325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Calculate risk</a:t>
            </a:r>
          </a:p>
        </p:txBody>
      </p:sp>
      <p:sp>
        <p:nvSpPr>
          <p:cNvPr id="6" name="reveal-4">
            <a:extLst>
              <a:ext uri="{FF2B5EF4-FFF2-40B4-BE49-F238E27FC236}">
                <a16:creationId xmlns:a16="http://schemas.microsoft.com/office/drawing/2014/main" id="{90F7FB57-0BB6-427A-8A8D-4133538825D2}"/>
              </a:ext>
            </a:extLst>
          </p:cNvPr>
          <p:cNvSpPr>
            <a:spLocks noGrp="1"/>
          </p:cNvSpPr>
          <p:nvPr/>
        </p:nvSpPr>
        <p:spPr>
          <a:xfrm>
            <a:off x="8216900" y="250507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Broadcast and respond</a:t>
            </a:r>
          </a:p>
        </p:txBody>
      </p:sp>
      <p:cxnSp>
        <p:nvCxnSpPr>
          <p:cNvPr id="22" name="reveal-3"/>
          <p:cNvCxnSpPr>
            <a:stCxn id="4" idx="3"/>
            <a:endCxn id="5" idx="1"/>
          </p:cNvCxnSpPr>
          <p:nvPr/>
        </p:nvCxnSpPr>
        <p:spPr>
          <a:xfrm>
            <a:off x="3956050" y="2981325"/>
            <a:ext cx="457200" cy="0"/>
          </a:xfrm>
          <a:prstGeom prst="straightConnector1">
            <a:avLst/>
          </a:prstGeom>
          <a:ln w="19050">
            <a:solidFill>
              <a:srgbClr val="087F8C"/>
            </a:solidFill>
            <a:tailEnd type="arrow" w="med" len="med"/>
          </a:ln>
        </p:spPr>
      </p:cxnSp>
      <p:cxnSp>
        <p:nvCxnSpPr>
          <p:cNvPr id="23" name="reveal-4"/>
          <p:cNvCxnSpPr>
            <a:stCxn id="5" idx="3"/>
            <a:endCxn id="6" idx="1"/>
          </p:cNvCxnSpPr>
          <p:nvPr/>
        </p:nvCxnSpPr>
        <p:spPr>
          <a:xfrm>
            <a:off x="7759700" y="2981325"/>
            <a:ext cx="457200" cy="0"/>
          </a:xfrm>
          <a:prstGeom prst="straightConnector1">
            <a:avLst/>
          </a:prstGeom>
          <a:ln w="19050">
            <a:solidFill>
              <a:srgbClr val="087F8C"/>
            </a:solidFill>
            <a:tailEnd type="arrow" w="med" len="med"/>
          </a:ln>
        </p:spPr>
      </p:cxnSp>
      <p:sp>
        <p:nvSpPr>
          <p:cNvPr id="9" name="reveal-5">
            <a:extLst>
              <a:ext uri="{FF2B5EF4-FFF2-40B4-BE49-F238E27FC236}">
                <a16:creationId xmlns:a16="http://schemas.microsoft.com/office/drawing/2014/main" id="{469CCEF7-D089-4BAB-BF04-DE9935002F21}"/>
              </a:ext>
            </a:extLst>
          </p:cNvPr>
          <p:cNvSpPr>
            <a:spLocks noGrp="1"/>
          </p:cNvSpPr>
          <p:nvPr/>
        </p:nvSpPr>
        <p:spPr>
          <a:xfrm>
            <a:off x="609600" y="3810000"/>
            <a:ext cx="10477500" cy="428625"/>
          </a:xfrm>
          <a:prstGeom prst="rect">
            <a:avLst/>
          </a:prstGeom>
          <a:noFill/>
          <a:ln w="0">
            <a:noFill/>
          </a:ln>
        </p:spPr>
        <p:txBody>
          <a:bodyPr>
            <a:noAutofit/>
          </a:bodyPr>
          <a:lstStyle/>
          <a:p>
            <a:pPr algn="l">
              <a:defRPr sz="2475" b="1">
                <a:solidFill>
                  <a:srgbClr val="087F8C"/>
                </a:solidFill>
                <a:latin typeface="Times New Roman"/>
                <a:ea typeface="Times New Roman"/>
                <a:cs typeface="Times New Roman"/>
              </a:defRPr>
            </a:pPr>
            <a:r>
              <a:rPr sz="2475" b="1">
                <a:solidFill>
                  <a:srgbClr val="087F8C"/>
                </a:solidFill>
                <a:latin typeface="Times New Roman"/>
                <a:ea typeface="Times New Roman"/>
                <a:cs typeface="Times New Roman"/>
              </a:rPr>
              <a:t>Current response path</a:t>
            </a:r>
          </a:p>
        </p:txBody>
      </p:sp>
      <p:sp>
        <p:nvSpPr>
          <p:cNvPr id="10" name="reveal-6">
            <a:extLst>
              <a:ext uri="{FF2B5EF4-FFF2-40B4-BE49-F238E27FC236}">
                <a16:creationId xmlns:a16="http://schemas.microsoft.com/office/drawing/2014/main" id="{A9803662-A795-40BC-8725-502A4317484B}"/>
              </a:ext>
            </a:extLst>
          </p:cNvPr>
          <p:cNvSpPr>
            <a:spLocks noGrp="1"/>
          </p:cNvSpPr>
          <p:nvPr/>
        </p:nvSpPr>
        <p:spPr>
          <a:xfrm>
            <a:off x="60960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Save violation</a:t>
            </a:r>
          </a:p>
        </p:txBody>
      </p:sp>
      <p:sp>
        <p:nvSpPr>
          <p:cNvPr id="11" name="reveal-7">
            <a:extLst>
              <a:ext uri="{FF2B5EF4-FFF2-40B4-BE49-F238E27FC236}">
                <a16:creationId xmlns:a16="http://schemas.microsoft.com/office/drawing/2014/main" id="{9BB258ED-6CA0-47AF-B688-524E8E4E1BF7}"/>
              </a:ext>
            </a:extLst>
          </p:cNvPr>
          <p:cNvSpPr>
            <a:spLocks noGrp="1"/>
          </p:cNvSpPr>
          <p:nvPr/>
        </p:nvSpPr>
        <p:spPr>
          <a:xfrm>
            <a:off x="441325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Return HTTP 201</a:t>
            </a:r>
          </a:p>
        </p:txBody>
      </p:sp>
      <p:sp>
        <p:nvSpPr>
          <p:cNvPr id="12" name="reveal-8">
            <a:extLst>
              <a:ext uri="{FF2B5EF4-FFF2-40B4-BE49-F238E27FC236}">
                <a16:creationId xmlns:a16="http://schemas.microsoft.com/office/drawing/2014/main" id="{58C08B0D-8996-4A53-A553-E50CBDC81DD0}"/>
              </a:ext>
            </a:extLst>
          </p:cNvPr>
          <p:cNvSpPr>
            <a:spLocks noGrp="1"/>
          </p:cNvSpPr>
          <p:nvPr/>
        </p:nvSpPr>
        <p:spPr>
          <a:xfrm>
            <a:off x="8216900" y="4429125"/>
            <a:ext cx="3346450" cy="952500"/>
          </a:xfrm>
          <a:prstGeom prst="rect">
            <a:avLst/>
          </a:prstGeom>
          <a:solidFill>
            <a:srgbClr val="E3EEEA"/>
          </a:solidFill>
          <a:ln w="9525">
            <a:solidFill>
              <a:srgbClr val="B4C9CB"/>
            </a:solidFill>
          </a:ln>
        </p:spPr>
        <p:txBody>
          <a:bodyPr anchor="ctr"/>
          <a:lstStyle/>
          <a:p>
            <a:pPr algn="ctr">
              <a:defRPr sz="2025" b="1">
                <a:solidFill>
                  <a:srgbClr val="172F3A"/>
                </a:solidFill>
                <a:latin typeface="Times New Roman"/>
                <a:ea typeface="Times New Roman"/>
                <a:cs typeface="Times New Roman"/>
              </a:defRPr>
            </a:pPr>
            <a:r>
              <a:rPr sz="2025" b="1">
                <a:solidFill>
                  <a:srgbClr val="172F3A"/>
                </a:solidFill>
                <a:latin typeface="Times New Roman"/>
                <a:ea typeface="Times New Roman"/>
                <a:cs typeface="Times New Roman"/>
              </a:rPr>
              <a:t>Defer live update / score</a:t>
            </a:r>
          </a:p>
        </p:txBody>
      </p:sp>
      <p:cxnSp>
        <p:nvCxnSpPr>
          <p:cNvPr id="28" name="reveal-7"/>
          <p:cNvCxnSpPr>
            <a:stCxn id="10" idx="3"/>
            <a:endCxn id="11" idx="1"/>
          </p:cNvCxnSpPr>
          <p:nvPr/>
        </p:nvCxnSpPr>
        <p:spPr>
          <a:xfrm>
            <a:off x="3956050" y="4905375"/>
            <a:ext cx="457200" cy="0"/>
          </a:xfrm>
          <a:prstGeom prst="straightConnector1">
            <a:avLst/>
          </a:prstGeom>
          <a:ln w="19050">
            <a:solidFill>
              <a:srgbClr val="087F8C"/>
            </a:solidFill>
            <a:tailEnd type="arrow" w="med" len="med"/>
          </a:ln>
        </p:spPr>
      </p:cxnSp>
      <p:cxnSp>
        <p:nvCxnSpPr>
          <p:cNvPr id="29" name="reveal-8"/>
          <p:cNvCxnSpPr>
            <a:stCxn id="11" idx="3"/>
            <a:endCxn id="12" idx="1"/>
          </p:cNvCxnSpPr>
          <p:nvPr/>
        </p:nvCxnSpPr>
        <p:spPr>
          <a:xfrm>
            <a:off x="7759700" y="4905375"/>
            <a:ext cx="457200" cy="0"/>
          </a:xfrm>
          <a:prstGeom prst="straightConnector1">
            <a:avLst/>
          </a:prstGeom>
          <a:ln w="19050">
            <a:solidFill>
              <a:srgbClr val="087F8C"/>
            </a:solidFill>
            <a:tailEnd type="arrow" w="med" len="med"/>
          </a:ln>
        </p:spPr>
      </p:cxnSp>
      <p:sp>
        <p:nvSpPr>
          <p:cNvPr id="15" name="fixed">
            <a:extLst>
              <a:ext uri="{FF2B5EF4-FFF2-40B4-BE49-F238E27FC236}">
                <a16:creationId xmlns:a16="http://schemas.microsoft.com/office/drawing/2014/main" id="{415548AE-5D86-4AEE-BBD2-B28299E678C8}"/>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A faster HTTP acknowledgement does not establish guaranteed examiner delivery latency.</a:t>
            </a:r>
          </a:p>
        </p:txBody>
      </p:sp>
    </p:spTree>
    <p:extLst>
      <p:ext uri="{BB962C8B-B14F-4D97-AF65-F5344CB8AC3E}">
        <p14:creationId xmlns:p14="http://schemas.microsoft.com/office/powerpoint/2010/main" val="1711603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350"/>
                                  <p:tgtEl>
                                    <p:spTgt spid="4"/>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childTnLst>
                          </p:cTn>
                        </p:par>
                        <p:par>
                          <p:cTn id="15" presetID="10" presetClass="entr" presetSubtype="0" fill="hold" grpId="3"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350"/>
                                  <p:tgtEl>
                                    <p:spTgt spid="22"/>
                                  </p:tgtEl>
                                </p:cBhvr>
                              </p:animEffect>
                            </p:childTnLst>
                          </p:cTn>
                        </p:par>
                      </p:childTnLst>
                    </p:cTn>
                  </p:par>
                  <p:par>
                    <p:cTn id="18" fill="hold">
                      <p:stCondLst>
                        <p:cond delay="indefinite"/>
                      </p:stCondLst>
                      <p:childTnLst>
                        <p:par>
                          <p:cTn id="19" presetID="10" presetClass="entr" presetSubtype="0" fill="hold" grpId="4"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350"/>
                                  <p:tgtEl>
                                    <p:spTgt spid="6"/>
                                  </p:tgtEl>
                                </p:cBhvr>
                              </p:animEffect>
                            </p:childTnLst>
                          </p:cTn>
                        </p:par>
                        <p:par>
                          <p:cTn id="22" presetID="10" presetClass="entr" presetSubtype="0" fill="hold" grpId="4"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childTnLst>
                          </p:cTn>
                        </p:par>
                      </p:childTnLst>
                    </p:cTn>
                  </p:par>
                  <p:par>
                    <p:cTn id="25" fill="hold">
                      <p:stCondLst>
                        <p:cond delay="indefinite"/>
                      </p:stCondLst>
                      <p:childTnLst>
                        <p:par>
                          <p:cTn id="26" presetID="10" presetClass="entr" presetSubtype="0" fill="hold" grpId="5"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50"/>
                                  <p:tgtEl>
                                    <p:spTgt spid="9"/>
                                  </p:tgtEl>
                                </p:cBhvr>
                              </p:animEffect>
                            </p:childTnLst>
                          </p:cTn>
                        </p:par>
                      </p:childTnLst>
                    </p:cTn>
                  </p:par>
                  <p:par>
                    <p:cTn id="29" fill="hold">
                      <p:stCondLst>
                        <p:cond delay="indefinite"/>
                      </p:stCondLst>
                      <p:childTnLst>
                        <p:par>
                          <p:cTn id="30" presetID="10" presetClass="entr" presetSubtype="0" fill="hold" grpId="6"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50"/>
                                  <p:tgtEl>
                                    <p:spTgt spid="10"/>
                                  </p:tgtEl>
                                </p:cBhvr>
                              </p:animEffect>
                            </p:childTnLst>
                          </p:cTn>
                        </p:par>
                      </p:childTnLst>
                    </p:cTn>
                  </p:par>
                  <p:par>
                    <p:cTn id="33" fill="hold">
                      <p:stCondLst>
                        <p:cond delay="indefinite"/>
                      </p:stCondLst>
                      <p:childTnLst>
                        <p:par>
                          <p:cTn id="34" presetID="10" presetClass="entr" presetSubtype="0" fill="hold" grpId="7"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50"/>
                                  <p:tgtEl>
                                    <p:spTgt spid="11"/>
                                  </p:tgtEl>
                                </p:cBhvr>
                              </p:animEffect>
                            </p:childTnLst>
                          </p:cTn>
                        </p:par>
                        <p:par>
                          <p:cTn id="37" presetID="10" presetClass="entr" presetSubtype="0" fill="hold" grpId="7"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350"/>
                                  <p:tgtEl>
                                    <p:spTgt spid="28"/>
                                  </p:tgtEl>
                                </p:cBhvr>
                              </p:animEffect>
                            </p:childTnLst>
                          </p:cTn>
                        </p:par>
                      </p:childTnLst>
                    </p:cTn>
                  </p:par>
                  <p:par>
                    <p:cTn id="40" fill="hold">
                      <p:stCondLst>
                        <p:cond delay="indefinite"/>
                      </p:stCondLst>
                      <p:childTnLst>
                        <p:par>
                          <p:cTn id="41" presetID="10" presetClass="entr" presetSubtype="0" fill="hold" grpId="8"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350"/>
                                  <p:tgtEl>
                                    <p:spTgt spid="12"/>
                                  </p:tgtEl>
                                </p:cBhvr>
                              </p:animEffect>
                            </p:childTnLst>
                          </p:cTn>
                        </p:par>
                        <p:par>
                          <p:cTn id="44" presetID="10" presetClass="entr" presetSubtype="0" fill="hold" grpId="8"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5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2" uiExpand="1" animBg="1"/>
      <p:bldP spid="5" grpId="3" uiExpand="1" animBg="1"/>
      <p:bldP spid="6" grpId="4" uiExpand="1" animBg="1"/>
      <p:bldP spid="22" grpId="3" uiExpand="1" animBg="1"/>
      <p:bldP spid="23" grpId="4" uiExpand="1" animBg="1"/>
      <p:bldP spid="9" grpId="5" uiExpand="1"/>
      <p:bldP spid="10" grpId="6" uiExpand="1" animBg="1"/>
      <p:bldP spid="11" grpId="7" uiExpand="1" animBg="1"/>
      <p:bldP spid="12" grpId="8" uiExpand="1" animBg="1"/>
      <p:bldP spid="28" grpId="7" uiExpand="1" animBg="1"/>
      <p:bldP spid="29" grpId="8" uiExpand="1"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5" name="fixed">
            <a:extLst>
              <a:ext uri="{FF2B5EF4-FFF2-40B4-BE49-F238E27FC236}">
                <a16:creationId xmlns:a16="http://schemas.microsoft.com/office/drawing/2014/main" id="{70DD0616-50B9-4898-9C8C-AFC6C1AEE83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Implementation progress by module</a:t>
            </a:r>
          </a:p>
        </p:txBody>
      </p:sp>
      <p:sp>
        <p:nvSpPr>
          <p:cNvPr id="2" name="fixed">
            <a:extLst>
              <a:ext uri="{FF2B5EF4-FFF2-40B4-BE49-F238E27FC236}">
                <a16:creationId xmlns:a16="http://schemas.microsoft.com/office/drawing/2014/main" id="{F6FE9D43-5384-45FE-82DC-06590CBD7C43}"/>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37</a:t>
            </a:r>
          </a:p>
        </p:txBody>
      </p:sp>
      <p:graphicFrame>
        <p:nvGraphicFramePr>
          <p:cNvPr id="7" name="Table 6"/>
          <p:cNvGraphicFramePr/>
          <p:nvPr/>
        </p:nvGraphicFramePr>
        <p:xfrm>
          <a:off x="609600" y="1657350"/>
          <a:ext cx="10953750" cy="4267197"/>
        </p:xfrm>
        <a:graphic>
          <a:graphicData uri="http://schemas.openxmlformats.org/drawingml/2006/table">
            <a:tbl>
              <a:tblPr/>
              <a:tblGrid>
                <a:gridCol w="5143500">
                  <a:extLst>
                    <a:ext uri="{9D8B030D-6E8A-4147-A177-3AD203B41FA5}">
                      <a16:colId xmlns:a16="http://schemas.microsoft.com/office/drawing/2014/main" val="20000"/>
                    </a:ext>
                  </a:extLst>
                </a:gridCol>
                <a:gridCol w="5810250">
                  <a:extLst>
                    <a:ext uri="{9D8B030D-6E8A-4147-A177-3AD203B41FA5}">
                      <a16:colId xmlns:a16="http://schemas.microsoft.com/office/drawing/2014/main" val="20001"/>
                    </a:ext>
                  </a:extLst>
                </a:gridCol>
              </a:tblGrid>
              <a:tr h="474133">
                <a:tc>
                  <a:txBody>
                    <a:bodyPr/>
                    <a:lstStyle/>
                    <a:p>
                      <a:r>
                        <a:rPr sz="1950" b="1">
                          <a:solidFill>
                            <a:srgbClr val="FFFFFF"/>
                          </a:solidFill>
                          <a:latin typeface="Times New Roman"/>
                          <a:ea typeface="Times New Roman"/>
                          <a:cs typeface="Times New Roman"/>
                        </a:rPr>
                        <a:t>MODULE</a:t>
                      </a:r>
                    </a:p>
                  </a:txBody>
                  <a:tcPr>
                    <a:solidFill>
                      <a:srgbClr val="172F3A"/>
                    </a:solidFill>
                  </a:tcPr>
                </a:tc>
                <a:tc>
                  <a:txBody>
                    <a:bodyPr/>
                    <a:lstStyle/>
                    <a:p>
                      <a:r>
                        <a:rPr sz="1950" b="1">
                          <a:solidFill>
                            <a:srgbClr val="FFFFFF"/>
                          </a:solidFill>
                          <a:latin typeface="Times New Roman"/>
                          <a:ea typeface="Times New Roman"/>
                          <a:cs typeface="Times New Roman"/>
                        </a:rPr>
                        <a:t>STATUS</a:t>
                      </a:r>
                    </a:p>
                  </a:txBody>
                  <a:tcPr>
                    <a:solidFill>
                      <a:srgbClr val="172F3A"/>
                    </a:solidFill>
                  </a:tcPr>
                </a:tc>
                <a:extLst>
                  <a:ext uri="{0D108BD9-81ED-4DB2-BD59-A6C34878D82A}">
                    <a16:rowId xmlns:a16="http://schemas.microsoft.com/office/drawing/2014/main" val="10000"/>
                  </a:ext>
                </a:extLst>
              </a:tr>
              <a:tr h="474133">
                <a:tc>
                  <a:txBody>
                    <a:bodyPr/>
                    <a:lstStyle/>
                    <a:p>
                      <a:r>
                        <a:rPr sz="1950" b="0">
                          <a:solidFill>
                            <a:srgbClr val="172F3A"/>
                          </a:solidFill>
                          <a:latin typeface="Times New Roman"/>
                          <a:ea typeface="Times New Roman"/>
                          <a:cs typeface="Times New Roman"/>
                        </a:rPr>
                        <a:t>1  Secure environment</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1"/>
                  </a:ext>
                </a:extLst>
              </a:tr>
              <a:tr h="474133">
                <a:tc>
                  <a:txBody>
                    <a:bodyPr/>
                    <a:lstStyle/>
                    <a:p>
                      <a:r>
                        <a:rPr sz="1950" b="0">
                          <a:solidFill>
                            <a:srgbClr val="172F3A"/>
                          </a:solidFill>
                          <a:latin typeface="Times New Roman"/>
                          <a:ea typeface="Times New Roman"/>
                          <a:cs typeface="Times New Roman"/>
                        </a:rPr>
                        <a:t>2  AI monitoring</a:t>
                      </a:r>
                    </a:p>
                  </a:txBody>
                  <a:tcPr>
                    <a:solidFill>
                      <a:srgbClr val="F6F7F4"/>
                    </a:solidFill>
                  </a:tcPr>
                </a:tc>
                <a:tc>
                  <a:txBody>
                    <a:bodyPr/>
                    <a:lstStyle/>
                    <a:p>
                      <a:r>
                        <a:rPr sz="1950" b="0">
                          <a:solidFill>
                            <a:srgbClr val="172F3A"/>
                          </a:solidFill>
                          <a:latin typeface="Times New Roman"/>
                          <a:ea typeface="Times New Roman"/>
                          <a:cs typeface="Times New Roman"/>
                        </a:rPr>
                        <a:t>Implemented, exact scope gaps remain</a:t>
                      </a:r>
                    </a:p>
                  </a:txBody>
                  <a:tcPr>
                    <a:solidFill>
                      <a:srgbClr val="F6F7F4"/>
                    </a:solidFill>
                  </a:tcPr>
                </a:tc>
                <a:extLst>
                  <a:ext uri="{0D108BD9-81ED-4DB2-BD59-A6C34878D82A}">
                    <a16:rowId xmlns:a16="http://schemas.microsoft.com/office/drawing/2014/main" val="10002"/>
                  </a:ext>
                </a:extLst>
              </a:tr>
              <a:tr h="474133">
                <a:tc>
                  <a:txBody>
                    <a:bodyPr/>
                    <a:lstStyle/>
                    <a:p>
                      <a:r>
                        <a:rPr sz="1950" b="0">
                          <a:solidFill>
                            <a:srgbClr val="172F3A"/>
                          </a:solidFill>
                          <a:latin typeface="Times New Roman"/>
                          <a:ea typeface="Times New Roman"/>
                          <a:cs typeface="Times New Roman"/>
                        </a:rPr>
                        <a:t>3  Evidence capture</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3"/>
                  </a:ext>
                </a:extLst>
              </a:tr>
              <a:tr h="474133">
                <a:tc>
                  <a:txBody>
                    <a:bodyPr/>
                    <a:lstStyle/>
                    <a:p>
                      <a:r>
                        <a:rPr sz="1950" b="0">
                          <a:solidFill>
                            <a:srgbClr val="172F3A"/>
                          </a:solidFill>
                          <a:latin typeface="Times New Roman"/>
                          <a:ea typeface="Times New Roman"/>
                          <a:cs typeface="Times New Roman"/>
                        </a:rPr>
                        <a:t>4  System self-check</a:t>
                      </a:r>
                    </a:p>
                  </a:txBody>
                  <a:tcPr>
                    <a:solidFill>
                      <a:srgbClr val="F6F7F4"/>
                    </a:solidFill>
                  </a:tcPr>
                </a:tc>
                <a:tc>
                  <a:txBody>
                    <a:bodyPr/>
                    <a:lstStyle/>
                    <a:p>
                      <a:r>
                        <a:rPr sz="1950" b="0">
                          <a:solidFill>
                            <a:srgbClr val="172F3A"/>
                          </a:solidFill>
                          <a:latin typeface="Times New Roman"/>
                          <a:ea typeface="Times New Roman"/>
                          <a:cs typeface="Times New Roman"/>
                        </a:rPr>
                        <a:t>Completed implementation</a:t>
                      </a:r>
                    </a:p>
                  </a:txBody>
                  <a:tcPr>
                    <a:solidFill>
                      <a:srgbClr val="F6F7F4"/>
                    </a:solidFill>
                  </a:tcPr>
                </a:tc>
                <a:extLst>
                  <a:ext uri="{0D108BD9-81ED-4DB2-BD59-A6C34878D82A}">
                    <a16:rowId xmlns:a16="http://schemas.microsoft.com/office/drawing/2014/main" val="10004"/>
                  </a:ext>
                </a:extLst>
              </a:tr>
              <a:tr h="474133">
                <a:tc>
                  <a:txBody>
                    <a:bodyPr/>
                    <a:lstStyle/>
                    <a:p>
                      <a:r>
                        <a:rPr sz="1950" b="0">
                          <a:solidFill>
                            <a:srgbClr val="172F3A"/>
                          </a:solidFill>
                          <a:latin typeface="Times New Roman"/>
                          <a:ea typeface="Times New Roman"/>
                          <a:cs typeface="Times New Roman"/>
                        </a:rPr>
                        <a:t>5  Severity scoring</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5"/>
                  </a:ext>
                </a:extLst>
              </a:tr>
              <a:tr h="474133">
                <a:tc>
                  <a:txBody>
                    <a:bodyPr/>
                    <a:lstStyle/>
                    <a:p>
                      <a:r>
                        <a:rPr sz="1950" b="0">
                          <a:solidFill>
                            <a:srgbClr val="172F3A"/>
                          </a:solidFill>
                          <a:latin typeface="Times New Roman"/>
                          <a:ea typeface="Times New Roman"/>
                          <a:cs typeface="Times New Roman"/>
                        </a:rPr>
                        <a:t>6  Examiner dashboard</a:t>
                      </a:r>
                    </a:p>
                  </a:txBody>
                  <a:tcPr>
                    <a:solidFill>
                      <a:srgbClr val="F6F7F4"/>
                    </a:solidFill>
                  </a:tcPr>
                </a:tc>
                <a:tc>
                  <a:txBody>
                    <a:bodyPr/>
                    <a:lstStyle/>
                    <a:p>
                      <a:r>
                        <a:rPr sz="1950" b="0">
                          <a:solidFill>
                            <a:srgbClr val="172F3A"/>
                          </a:solidFill>
                          <a:latin typeface="Times New Roman"/>
                          <a:ea typeface="Times New Roman"/>
                          <a:cs typeface="Times New Roman"/>
                        </a:rPr>
                        <a:t>Completed implementation</a:t>
                      </a:r>
                    </a:p>
                  </a:txBody>
                  <a:tcPr>
                    <a:solidFill>
                      <a:srgbClr val="F6F7F4"/>
                    </a:solidFill>
                  </a:tcPr>
                </a:tc>
                <a:extLst>
                  <a:ext uri="{0D108BD9-81ED-4DB2-BD59-A6C34878D82A}">
                    <a16:rowId xmlns:a16="http://schemas.microsoft.com/office/drawing/2014/main" val="10006"/>
                  </a:ext>
                </a:extLst>
              </a:tr>
              <a:tr h="474133">
                <a:tc>
                  <a:txBody>
                    <a:bodyPr/>
                    <a:lstStyle/>
                    <a:p>
                      <a:r>
                        <a:rPr sz="1950" b="0">
                          <a:solidFill>
                            <a:srgbClr val="172F3A"/>
                          </a:solidFill>
                          <a:latin typeface="Times New Roman"/>
                          <a:ea typeface="Times New Roman"/>
                          <a:cs typeface="Times New Roman"/>
                        </a:rPr>
                        <a:t>7  Answer submission</a:t>
                      </a:r>
                    </a:p>
                  </a:txBody>
                  <a:tcPr>
                    <a:solidFill>
                      <a:srgbClr val="E7EEEA"/>
                    </a:solidFill>
                  </a:tcPr>
                </a:tc>
                <a:tc>
                  <a:txBody>
                    <a:bodyPr/>
                    <a:lstStyle/>
                    <a:p>
                      <a:r>
                        <a:rPr sz="1950" b="0">
                          <a:solidFill>
                            <a:srgbClr val="172F3A"/>
                          </a:solidFill>
                          <a:latin typeface="Times New Roman"/>
                          <a:ea typeface="Times New Roman"/>
                          <a:cs typeface="Times New Roman"/>
                        </a:rPr>
                        <a:t>Completed implementation</a:t>
                      </a:r>
                    </a:p>
                  </a:txBody>
                  <a:tcPr>
                    <a:solidFill>
                      <a:srgbClr val="E7EEEA"/>
                    </a:solidFill>
                  </a:tcPr>
                </a:tc>
                <a:extLst>
                  <a:ext uri="{0D108BD9-81ED-4DB2-BD59-A6C34878D82A}">
                    <a16:rowId xmlns:a16="http://schemas.microsoft.com/office/drawing/2014/main" val="10007"/>
                  </a:ext>
                </a:extLst>
              </a:tr>
              <a:tr h="474133">
                <a:tc>
                  <a:txBody>
                    <a:bodyPr/>
                    <a:lstStyle/>
                    <a:p>
                      <a:r>
                        <a:rPr sz="1950" b="0">
                          <a:solidFill>
                            <a:srgbClr val="172F3A"/>
                          </a:solidFill>
                          <a:latin typeface="Times New Roman"/>
                          <a:ea typeface="Times New Roman"/>
                          <a:cs typeface="Times New Roman"/>
                        </a:rPr>
                        <a:t>8  Audit reporting</a:t>
                      </a:r>
                    </a:p>
                  </a:txBody>
                  <a:tcPr>
                    <a:solidFill>
                      <a:srgbClr val="F6F7F4"/>
                    </a:solidFill>
                  </a:tcPr>
                </a:tc>
                <a:tc>
                  <a:txBody>
                    <a:bodyPr/>
                    <a:lstStyle/>
                    <a:p>
                      <a:r>
                        <a:rPr sz="1950" b="0">
                          <a:solidFill>
                            <a:srgbClr val="172F3A"/>
                          </a:solidFill>
                          <a:latin typeface="Times New Roman"/>
                          <a:ea typeface="Times New Roman"/>
                          <a:cs typeface="Times New Roman"/>
                        </a:rPr>
                        <a:t>Implemented, combined export remains</a:t>
                      </a:r>
                    </a:p>
                  </a:txBody>
                  <a:tcPr>
                    <a:solidFill>
                      <a:srgbClr val="F6F7F4"/>
                    </a:solidFill>
                  </a:tcPr>
                </a:tc>
                <a:extLst>
                  <a:ext uri="{0D108BD9-81ED-4DB2-BD59-A6C34878D82A}">
                    <a16:rowId xmlns:a16="http://schemas.microsoft.com/office/drawing/2014/main" val="10008"/>
                  </a:ext>
                </a:extLst>
              </a:tr>
            </a:tbl>
          </a:graphicData>
        </a:graphic>
      </p:graphicFrame>
      <p:sp>
        <p:nvSpPr>
          <p:cNvPr id="4" name="fixed">
            <a:extLst>
              <a:ext uri="{FF2B5EF4-FFF2-40B4-BE49-F238E27FC236}">
                <a16:creationId xmlns:a16="http://schemas.microsoft.com/office/drawing/2014/main" id="{2EA3FB93-4E36-45EB-8C5A-C35B0102D0C8}"/>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4C6471"/>
                </a:solidFill>
                <a:latin typeface="Times New Roman"/>
                <a:ea typeface="Times New Roman"/>
                <a:cs typeface="Times New Roman"/>
              </a:defRPr>
            </a:pPr>
            <a:r>
              <a:rPr sz="1725" b="0">
                <a:solidFill>
                  <a:srgbClr val="4C6471"/>
                </a:solidFill>
                <a:latin typeface="Times New Roman"/>
                <a:ea typeface="Times New Roman"/>
                <a:cs typeface="Times New Roman"/>
              </a:rPr>
              <a:t>25 detector regression checks passed. Real-device and full-demo acceptance remain essential.</a:t>
            </a:r>
          </a:p>
        </p:txBody>
      </p:sp>
    </p:spTree>
    <p:extLst>
      <p:ext uri="{BB962C8B-B14F-4D97-AF65-F5344CB8AC3E}">
        <p14:creationId xmlns:p14="http://schemas.microsoft.com/office/powerpoint/2010/main" val="2058106867"/>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8" name="fixed">
            <a:extLst>
              <a:ext uri="{FF2B5EF4-FFF2-40B4-BE49-F238E27FC236}">
                <a16:creationId xmlns:a16="http://schemas.microsoft.com/office/drawing/2014/main" id="{0DDA0715-105A-4F69-AA51-0C37EC6FE758}"/>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Remaining validation and scope work</a:t>
            </a:r>
          </a:p>
        </p:txBody>
      </p:sp>
      <p:sp>
        <p:nvSpPr>
          <p:cNvPr id="2" name="fixed">
            <a:extLst>
              <a:ext uri="{FF2B5EF4-FFF2-40B4-BE49-F238E27FC236}">
                <a16:creationId xmlns:a16="http://schemas.microsoft.com/office/drawing/2014/main" id="{057E2306-AC59-496F-A3C7-A064A6522195}"/>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38</a:t>
            </a:r>
          </a:p>
        </p:txBody>
      </p:sp>
      <p:sp>
        <p:nvSpPr>
          <p:cNvPr id="3" name="reveal-1">
            <a:extLst>
              <a:ext uri="{FF2B5EF4-FFF2-40B4-BE49-F238E27FC236}">
                <a16:creationId xmlns:a16="http://schemas.microsoft.com/office/drawing/2014/main" id="{EE8FC05C-11CE-4E3D-A57E-97C94AE3CC2D}"/>
              </a:ext>
            </a:extLst>
          </p:cNvPr>
          <p:cNvSpPr>
            <a:spLocks noGrp="1"/>
          </p:cNvSpPr>
          <p:nvPr/>
        </p:nvSpPr>
        <p:spPr>
          <a:xfrm>
            <a:off x="609600" y="19716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Measurement</a:t>
            </a:r>
          </a:p>
        </p:txBody>
      </p:sp>
      <p:sp>
        <p:nvSpPr>
          <p:cNvPr id="4" name="reveal-1">
            <a:extLst>
              <a:ext uri="{FF2B5EF4-FFF2-40B4-BE49-F238E27FC236}">
                <a16:creationId xmlns:a16="http://schemas.microsoft.com/office/drawing/2014/main" id="{6AA7815A-A136-4FB0-90B3-56C556D1FE45}"/>
              </a:ext>
            </a:extLst>
          </p:cNvPr>
          <p:cNvSpPr>
            <a:spLocks noGrp="1"/>
          </p:cNvSpPr>
          <p:nvPr/>
        </p:nvSpPr>
        <p:spPr>
          <a:xfrm>
            <a:off x="609600" y="26003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False alerts and missed detections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Detection-to-dashboard latency</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Repeated longer load tests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Lighting and microphone changes</a:t>
            </a:r>
          </a:p>
        </p:txBody>
      </p:sp>
      <p:sp>
        <p:nvSpPr>
          <p:cNvPr id="5" name="reveal-2">
            <a:extLst>
              <a:ext uri="{FF2B5EF4-FFF2-40B4-BE49-F238E27FC236}">
                <a16:creationId xmlns:a16="http://schemas.microsoft.com/office/drawing/2014/main" id="{D310029A-BE7F-48A7-9259-C7068D9B3BC8}"/>
              </a:ext>
            </a:extLst>
          </p:cNvPr>
          <p:cNvSpPr>
            <a:spLocks noGrp="1"/>
          </p:cNvSpPr>
          <p:nvPr/>
        </p:nvSpPr>
        <p:spPr>
          <a:xfrm>
            <a:off x="6381750" y="19716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Remaining scope alignment</a:t>
            </a:r>
          </a:p>
        </p:txBody>
      </p:sp>
      <p:sp>
        <p:nvSpPr>
          <p:cNvPr id="6" name="reveal-2">
            <a:extLst>
              <a:ext uri="{FF2B5EF4-FFF2-40B4-BE49-F238E27FC236}">
                <a16:creationId xmlns:a16="http://schemas.microsoft.com/office/drawing/2014/main" id="{85E96288-9370-445B-8C75-46FC30F18053}"/>
              </a:ext>
            </a:extLst>
          </p:cNvPr>
          <p:cNvSpPr>
            <a:spLocks noGrp="1"/>
          </p:cNvSpPr>
          <p:nvPr/>
        </p:nvSpPr>
        <p:spPr>
          <a:xfrm>
            <a:off x="6381750" y="26003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Headphones or approved scope adjustment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Model and quantization documentation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Combined evidence export</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Retention and expiry policy</a:t>
            </a:r>
          </a:p>
        </p:txBody>
      </p:sp>
      <p:sp>
        <p:nvSpPr>
          <p:cNvPr id="7" name="reveal-3">
            <a:extLst>
              <a:ext uri="{FF2B5EF4-FFF2-40B4-BE49-F238E27FC236}">
                <a16:creationId xmlns:a16="http://schemas.microsoft.com/office/drawing/2014/main" id="{9358871B-14FC-4A20-B539-86A9BF09DA24}"/>
              </a:ext>
            </a:extLst>
          </p:cNvPr>
          <p:cNvSpPr>
            <a:spLocks noGrp="1"/>
          </p:cNvSpPr>
          <p:nvPr/>
        </p:nvSpPr>
        <p:spPr>
          <a:xfrm>
            <a:off x="609600" y="5229225"/>
            <a:ext cx="10668000" cy="771525"/>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endParaRPr sz="2550" b="1" dirty="0">
              <a:solidFill>
                <a:srgbClr val="087F8C"/>
              </a:solidFill>
              <a:latin typeface="Times New Roman"/>
              <a:ea typeface="Times New Roman"/>
              <a:cs typeface="Times New Roman"/>
            </a:endParaRPr>
          </a:p>
        </p:txBody>
      </p:sp>
    </p:spTree>
    <p:extLst>
      <p:ext uri="{BB962C8B-B14F-4D97-AF65-F5344CB8AC3E}">
        <p14:creationId xmlns:p14="http://schemas.microsoft.com/office/powerpoint/2010/main" val="15687202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par>
                    <p:cTn id="17" fill="hold">
                      <p:stCondLst>
                        <p:cond delay="indefinite"/>
                      </p:stCondLst>
                      <p:childTnLst>
                        <p:par>
                          <p:cTn id="18" presetID="10" presetClass="entr" presetSubtype="0" fill="hold" grpId="3" nodeType="clickEffect" nodePh="1">
                            <p:stCondLst>
                              <p:cond delay="0"/>
                            </p:stCondLst>
                            <p:endCondLst>
                              <p:cond evt="begin" delay="0">
                                <p:tn val="18"/>
                              </p:cond>
                            </p:end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P spid="7" grpId="3" uiExpand="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a:xfrm>
          <a:off x="0" y="0"/>
          <a:ext cx="0" cy="0"/>
          <a:chOff x="0" y="0"/>
          <a:chExt cx="0" cy="0"/>
        </a:xfrm>
      </p:grpSpPr>
      <p:sp>
        <p:nvSpPr>
          <p:cNvPr id="8" name="fixed">
            <a:extLst>
              <a:ext uri="{FF2B5EF4-FFF2-40B4-BE49-F238E27FC236}">
                <a16:creationId xmlns:a16="http://schemas.microsoft.com/office/drawing/2014/main" id="{504C8F71-2C39-4CB6-B21D-C084A913E9CC}"/>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172F3A"/>
                </a:solidFill>
                <a:latin typeface="Times New Roman"/>
                <a:ea typeface="Times New Roman"/>
                <a:cs typeface="Times New Roman"/>
              </a:defRPr>
            </a:pPr>
            <a:r>
              <a:rPr sz="3750" b="1">
                <a:solidFill>
                  <a:srgbClr val="172F3A"/>
                </a:solidFill>
                <a:latin typeface="Times New Roman"/>
                <a:ea typeface="Times New Roman"/>
                <a:cs typeface="Times New Roman"/>
              </a:rPr>
              <a:t>Technology and implementation references</a:t>
            </a:r>
          </a:p>
        </p:txBody>
      </p:sp>
      <p:sp>
        <p:nvSpPr>
          <p:cNvPr id="2" name="fixed">
            <a:extLst>
              <a:ext uri="{FF2B5EF4-FFF2-40B4-BE49-F238E27FC236}">
                <a16:creationId xmlns:a16="http://schemas.microsoft.com/office/drawing/2014/main" id="{A86DCC7D-EFE3-419A-850D-DB4B5DD72A9F}"/>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4C6471"/>
                </a:solidFill>
                <a:latin typeface="Times New Roman"/>
                <a:ea typeface="Times New Roman"/>
                <a:cs typeface="Times New Roman"/>
              </a:defRPr>
            </a:pPr>
            <a:r>
              <a:rPr sz="1500" b="0">
                <a:solidFill>
                  <a:srgbClr val="4C6471"/>
                </a:solidFill>
                <a:latin typeface="Times New Roman"/>
                <a:ea typeface="Times New Roman"/>
                <a:cs typeface="Times New Roman"/>
              </a:rPr>
              <a:t>39</a:t>
            </a:r>
          </a:p>
        </p:txBody>
      </p:sp>
      <p:sp>
        <p:nvSpPr>
          <p:cNvPr id="3" name="reveal-1">
            <a:extLst>
              <a:ext uri="{FF2B5EF4-FFF2-40B4-BE49-F238E27FC236}">
                <a16:creationId xmlns:a16="http://schemas.microsoft.com/office/drawing/2014/main" id="{C104E1BF-7045-4D56-A242-D511B2C3A0CE}"/>
              </a:ext>
            </a:extLst>
          </p:cNvPr>
          <p:cNvSpPr>
            <a:spLocks noGrp="1"/>
          </p:cNvSpPr>
          <p:nvPr/>
        </p:nvSpPr>
        <p:spPr>
          <a:xfrm>
            <a:off x="609600" y="20097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Vision</a:t>
            </a:r>
          </a:p>
        </p:txBody>
      </p:sp>
      <p:sp>
        <p:nvSpPr>
          <p:cNvPr id="4" name="reveal-1">
            <a:extLst>
              <a:ext uri="{FF2B5EF4-FFF2-40B4-BE49-F238E27FC236}">
                <a16:creationId xmlns:a16="http://schemas.microsoft.com/office/drawing/2014/main" id="{CA01CDA8-8A16-4F95-A9D4-DB739DD1C9F1}"/>
              </a:ext>
            </a:extLst>
          </p:cNvPr>
          <p:cNvSpPr>
            <a:spLocks noGrp="1"/>
          </p:cNvSpPr>
          <p:nvPr/>
        </p:nvSpPr>
        <p:spPr>
          <a:xfrm>
            <a:off x="609600" y="26384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Google MediaPipe Face Landmarker</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OpenCV solvePnP</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Ultralytics YOLO26</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ONNX Runtime</a:t>
            </a:r>
          </a:p>
        </p:txBody>
      </p:sp>
      <p:sp>
        <p:nvSpPr>
          <p:cNvPr id="5" name="reveal-2">
            <a:extLst>
              <a:ext uri="{FF2B5EF4-FFF2-40B4-BE49-F238E27FC236}">
                <a16:creationId xmlns:a16="http://schemas.microsoft.com/office/drawing/2014/main" id="{11C22BDF-11F7-4E80-889B-4DD679BB57A5}"/>
              </a:ext>
            </a:extLst>
          </p:cNvPr>
          <p:cNvSpPr>
            <a:spLocks noGrp="1"/>
          </p:cNvSpPr>
          <p:nvPr/>
        </p:nvSpPr>
        <p:spPr>
          <a:xfrm>
            <a:off x="6381750" y="2009775"/>
            <a:ext cx="5095875" cy="476250"/>
          </a:xfrm>
          <a:prstGeom prst="rect">
            <a:avLst/>
          </a:prstGeom>
          <a:noFill/>
          <a:ln w="0">
            <a:noFill/>
          </a:ln>
        </p:spPr>
        <p:txBody>
          <a:bodyPr>
            <a:noAutofit/>
          </a:bodyPr>
          <a:lstStyle/>
          <a:p>
            <a:pPr algn="l">
              <a:defRPr sz="2550" b="1">
                <a:solidFill>
                  <a:srgbClr val="087F8C"/>
                </a:solidFill>
                <a:latin typeface="Times New Roman"/>
                <a:ea typeface="Times New Roman"/>
                <a:cs typeface="Times New Roman"/>
              </a:defRPr>
            </a:pPr>
            <a:r>
              <a:rPr sz="2550" b="1">
                <a:solidFill>
                  <a:srgbClr val="087F8C"/>
                </a:solidFill>
                <a:latin typeface="Times New Roman"/>
                <a:ea typeface="Times New Roman"/>
                <a:cs typeface="Times New Roman"/>
              </a:rPr>
              <a:t>Voice and system controls</a:t>
            </a:r>
          </a:p>
        </p:txBody>
      </p:sp>
      <p:sp>
        <p:nvSpPr>
          <p:cNvPr id="6" name="reveal-2">
            <a:extLst>
              <a:ext uri="{FF2B5EF4-FFF2-40B4-BE49-F238E27FC236}">
                <a16:creationId xmlns:a16="http://schemas.microsoft.com/office/drawing/2014/main" id="{F1B8E04A-E7F3-4FA6-8F57-D43F99B73A94}"/>
              </a:ext>
            </a:extLst>
          </p:cNvPr>
          <p:cNvSpPr>
            <a:spLocks noGrp="1"/>
          </p:cNvSpPr>
          <p:nvPr/>
        </p:nvSpPr>
        <p:spPr>
          <a:xfrm>
            <a:off x="6381750" y="2638425"/>
            <a:ext cx="5095875" cy="1619250"/>
          </a:xfrm>
          <a:prstGeom prst="rect">
            <a:avLst/>
          </a:prstGeom>
          <a:noFill/>
          <a:ln w="0">
            <a:noFill/>
          </a:ln>
        </p:spPr>
        <p:txBody>
          <a:bodyPr>
            <a:noAutofit/>
          </a:bodyPr>
          <a:lstStyle/>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Resemblyzer speaker embeddings</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WebRTC voice activity detection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psutil process inspection</a:t>
            </a:r>
          </a:p>
          <a:p>
            <a:pPr algn="l">
              <a:defRPr sz="2100" b="0">
                <a:solidFill>
                  <a:srgbClr val="4C6471"/>
                </a:solidFill>
                <a:latin typeface="Times New Roman"/>
                <a:ea typeface="Times New Roman"/>
                <a:cs typeface="Times New Roman"/>
              </a:defRPr>
            </a:pPr>
            <a:r>
              <a:rPr sz="2100" b="0">
                <a:solidFill>
                  <a:srgbClr val="4C6471"/>
                </a:solidFill>
                <a:latin typeface="Times New Roman"/>
                <a:ea typeface="Times New Roman"/>
                <a:cs typeface="Times New Roman"/>
              </a:rPr>
              <a:t>Electron and Windows CIM</a:t>
            </a:r>
          </a:p>
        </p:txBody>
      </p:sp>
      <p:sp>
        <p:nvSpPr>
          <p:cNvPr id="7" name="fixed">
            <a:extLst>
              <a:ext uri="{FF2B5EF4-FFF2-40B4-BE49-F238E27FC236}">
                <a16:creationId xmlns:a16="http://schemas.microsoft.com/office/drawing/2014/main" id="{ADA9BD57-40E9-4EE3-9052-05BCA229154A}"/>
              </a:ext>
            </a:extLst>
          </p:cNvPr>
          <p:cNvSpPr>
            <a:spLocks noGrp="1"/>
          </p:cNvSpPr>
          <p:nvPr/>
        </p:nvSpPr>
        <p:spPr>
          <a:xfrm>
            <a:off x="609600" y="5257800"/>
            <a:ext cx="10810875" cy="714375"/>
          </a:xfrm>
          <a:prstGeom prst="rect">
            <a:avLst/>
          </a:prstGeom>
          <a:noFill/>
          <a:ln w="0">
            <a:noFill/>
          </a:ln>
        </p:spPr>
        <p:txBody>
          <a:bodyPr>
            <a:noAutofit/>
          </a:bodyPr>
          <a:lstStyle/>
          <a:p>
            <a:pPr algn="l">
              <a:defRPr sz="2400" b="1">
                <a:solidFill>
                  <a:srgbClr val="172F3A"/>
                </a:solidFill>
                <a:latin typeface="Times New Roman"/>
                <a:ea typeface="Times New Roman"/>
                <a:cs typeface="Times New Roman"/>
              </a:defRPr>
            </a:pPr>
            <a:r>
              <a:rPr sz="2400" b="1">
                <a:solidFill>
                  <a:srgbClr val="172F3A"/>
                </a:solidFill>
                <a:latin typeface="Times New Roman"/>
                <a:ea typeface="Times New Roman"/>
                <a:cs typeface="Times New Roman"/>
              </a:rPr>
              <a:t>Primary documentation and project source paths are included in the speaker notes</a:t>
            </a:r>
          </a:p>
        </p:txBody>
      </p:sp>
    </p:spTree>
    <p:extLst>
      <p:ext uri="{BB962C8B-B14F-4D97-AF65-F5344CB8AC3E}">
        <p14:creationId xmlns:p14="http://schemas.microsoft.com/office/powerpoint/2010/main" val="16305685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350"/>
                                  <p:tgtEl>
                                    <p:spTgt spid="3"/>
                                  </p:tgtEl>
                                </p:cBhvr>
                              </p:animEffect>
                            </p:childTnLst>
                          </p:cTn>
                        </p:par>
                        <p:par>
                          <p:cTn id="7" presetID="10" presetClass="entr" presetSubtype="0" fill="hold" grpId="1"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350"/>
                                  <p:tgtEl>
                                    <p:spTgt spid="4"/>
                                  </p:tgtEl>
                                </p:cBhvr>
                              </p:animEffect>
                            </p:childTnLst>
                          </p:cTn>
                        </p:par>
                      </p:childTnLst>
                    </p:cTn>
                  </p:par>
                  <p:par>
                    <p:cTn id="10" fill="hold">
                      <p:stCondLst>
                        <p:cond delay="indefinite"/>
                      </p:stCondLst>
                      <p:childTnLst>
                        <p:par>
                          <p:cTn id="11" presetID="10" presetClass="entr" presetSubtype="0" fill="hold" grpId="2"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350"/>
                                  <p:tgtEl>
                                    <p:spTgt spid="5"/>
                                  </p:tgtEl>
                                </p:cBhvr>
                              </p:animEffect>
                            </p:childTnLst>
                          </p:cTn>
                        </p:par>
                        <p:par>
                          <p:cTn id="14" presetID="10" presetClass="entr" presetSubtype="0" fill="hold" grpId="2"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3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p:bldP spid="4" grpId="1" uiExpand="1"/>
      <p:bldP spid="5" grpId="2" uiExpand="1"/>
      <p:bldP spid="6" grpId="2" uiExpand="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81321"/>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sp>
        <p:nvSpPr>
          <p:cNvPr id="2" name="fixed">
            <a:extLst>
              <a:ext uri="{FF2B5EF4-FFF2-40B4-BE49-F238E27FC236}">
                <a16:creationId xmlns:a16="http://schemas.microsoft.com/office/drawing/2014/main" id="{CA4AD057-18EC-44C7-816D-0719509985F2}"/>
              </a:ext>
            </a:extLst>
          </p:cNvPr>
          <p:cNvSpPr>
            <a:spLocks noGrp="1"/>
          </p:cNvSpPr>
          <p:nvPr/>
        </p:nvSpPr>
        <p:spPr>
          <a:xfrm>
            <a:off x="609600" y="523875"/>
            <a:ext cx="10906125" cy="1066800"/>
          </a:xfrm>
          <a:prstGeom prst="rect">
            <a:avLst/>
          </a:prstGeom>
          <a:noFill/>
          <a:ln w="0">
            <a:noFill/>
          </a:ln>
        </p:spPr>
        <p:txBody>
          <a:bodyPr>
            <a:noAutofit/>
          </a:bodyPr>
          <a:lstStyle/>
          <a:p>
            <a:pPr algn="l">
              <a:defRPr sz="3750" b="1">
                <a:solidFill>
                  <a:srgbClr val="FFFFFF"/>
                </a:solidFill>
                <a:latin typeface="Times New Roman"/>
                <a:ea typeface="Times New Roman"/>
                <a:cs typeface="Times New Roman"/>
              </a:defRPr>
            </a:pPr>
            <a:r>
              <a:rPr sz="3750" b="1">
                <a:solidFill>
                  <a:srgbClr val="FFFFFF"/>
                </a:solidFill>
                <a:latin typeface="Times New Roman"/>
                <a:ea typeface="Times New Roman"/>
                <a:cs typeface="Times New Roman"/>
              </a:rPr>
              <a:t>Live system demonstration</a:t>
            </a:r>
          </a:p>
        </p:txBody>
      </p:sp>
      <p:sp>
        <p:nvSpPr>
          <p:cNvPr id="3" name="fixed">
            <a:extLst>
              <a:ext uri="{FF2B5EF4-FFF2-40B4-BE49-F238E27FC236}">
                <a16:creationId xmlns:a16="http://schemas.microsoft.com/office/drawing/2014/main" id="{2F7DC540-37B5-4C30-94A4-FE901FA23F89}"/>
              </a:ext>
            </a:extLst>
          </p:cNvPr>
          <p:cNvSpPr>
            <a:spLocks noGrp="1"/>
          </p:cNvSpPr>
          <p:nvPr/>
        </p:nvSpPr>
        <p:spPr>
          <a:xfrm>
            <a:off x="11029950" y="6334125"/>
            <a:ext cx="523875" cy="285750"/>
          </a:xfrm>
          <a:prstGeom prst="rect">
            <a:avLst/>
          </a:prstGeom>
          <a:noFill/>
          <a:ln w="0">
            <a:noFill/>
          </a:ln>
        </p:spPr>
        <p:txBody>
          <a:bodyPr>
            <a:noAutofit/>
          </a:bodyPr>
          <a:lstStyle/>
          <a:p>
            <a:pPr algn="r">
              <a:defRPr sz="1500" b="0">
                <a:solidFill>
                  <a:srgbClr val="B6CCD3"/>
                </a:solidFill>
                <a:latin typeface="Times New Roman"/>
                <a:ea typeface="Times New Roman"/>
                <a:cs typeface="Times New Roman"/>
              </a:defRPr>
            </a:pPr>
            <a:r>
              <a:rPr sz="1500" b="0">
                <a:solidFill>
                  <a:srgbClr val="B6CCD3"/>
                </a:solidFill>
                <a:latin typeface="Times New Roman"/>
                <a:ea typeface="Times New Roman"/>
                <a:cs typeface="Times New Roman"/>
              </a:rPr>
              <a:t>40</a:t>
            </a:r>
          </a:p>
        </p:txBody>
      </p:sp>
      <p:sp>
        <p:nvSpPr>
          <p:cNvPr id="4" name="reveal-1">
            <a:extLst>
              <a:ext uri="{FF2B5EF4-FFF2-40B4-BE49-F238E27FC236}">
                <a16:creationId xmlns:a16="http://schemas.microsoft.com/office/drawing/2014/main" id="{C9BAD029-DD0B-44F0-A816-C954E98812F7}"/>
              </a:ext>
            </a:extLst>
          </p:cNvPr>
          <p:cNvSpPr>
            <a:spLocks noGrp="1"/>
          </p:cNvSpPr>
          <p:nvPr/>
        </p:nvSpPr>
        <p:spPr>
          <a:xfrm>
            <a:off x="609600" y="2095500"/>
            <a:ext cx="8858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01  Configure the examination</a:t>
            </a:r>
          </a:p>
        </p:txBody>
      </p:sp>
      <p:sp>
        <p:nvSpPr>
          <p:cNvPr id="5" name="reveal-2">
            <a:extLst>
              <a:ext uri="{FF2B5EF4-FFF2-40B4-BE49-F238E27FC236}">
                <a16:creationId xmlns:a16="http://schemas.microsoft.com/office/drawing/2014/main" id="{9E7B38BC-8ABA-49F4-9F4C-C84018857B7C}"/>
              </a:ext>
            </a:extLst>
          </p:cNvPr>
          <p:cNvSpPr>
            <a:spLocks noGrp="1"/>
          </p:cNvSpPr>
          <p:nvPr/>
        </p:nvSpPr>
        <p:spPr>
          <a:xfrm>
            <a:off x="609600" y="2952750"/>
            <a:ext cx="9239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02  Complete candidate readiness</a:t>
            </a:r>
          </a:p>
        </p:txBody>
      </p:sp>
      <p:sp>
        <p:nvSpPr>
          <p:cNvPr id="6" name="reveal-3">
            <a:extLst>
              <a:ext uri="{FF2B5EF4-FFF2-40B4-BE49-F238E27FC236}">
                <a16:creationId xmlns:a16="http://schemas.microsoft.com/office/drawing/2014/main" id="{0C9DBA51-E6EE-4D92-9984-9B4D196BE798}"/>
              </a:ext>
            </a:extLst>
          </p:cNvPr>
          <p:cNvSpPr>
            <a:spLocks noGrp="1"/>
          </p:cNvSpPr>
          <p:nvPr/>
        </p:nvSpPr>
        <p:spPr>
          <a:xfrm>
            <a:off x="609600" y="3810000"/>
            <a:ext cx="923925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03  Review alerts and evidence</a:t>
            </a:r>
          </a:p>
        </p:txBody>
      </p:sp>
      <p:sp>
        <p:nvSpPr>
          <p:cNvPr id="7" name="reveal-4">
            <a:extLst>
              <a:ext uri="{FF2B5EF4-FFF2-40B4-BE49-F238E27FC236}">
                <a16:creationId xmlns:a16="http://schemas.microsoft.com/office/drawing/2014/main" id="{75921DD3-52F8-4409-AAED-A3A89E3EB9A5}"/>
              </a:ext>
            </a:extLst>
          </p:cNvPr>
          <p:cNvSpPr>
            <a:spLocks noGrp="1"/>
          </p:cNvSpPr>
          <p:nvPr/>
        </p:nvSpPr>
        <p:spPr>
          <a:xfrm>
            <a:off x="609600" y="4667250"/>
            <a:ext cx="10287000" cy="600075"/>
          </a:xfrm>
          <a:prstGeom prst="rect">
            <a:avLst/>
          </a:prstGeom>
          <a:noFill/>
          <a:ln w="0">
            <a:noFill/>
          </a:ln>
        </p:spPr>
        <p:txBody>
          <a:bodyPr>
            <a:noAutofit/>
          </a:bodyPr>
          <a:lstStyle/>
          <a:p>
            <a:pPr algn="l">
              <a:defRPr sz="2925" b="1">
                <a:solidFill>
                  <a:srgbClr val="FFFFFF"/>
                </a:solidFill>
                <a:latin typeface="Times New Roman"/>
                <a:ea typeface="Times New Roman"/>
                <a:cs typeface="Times New Roman"/>
              </a:defRPr>
            </a:pPr>
            <a:r>
              <a:rPr sz="2925" b="1">
                <a:solidFill>
                  <a:srgbClr val="FFFFFF"/>
                </a:solidFill>
                <a:latin typeface="Times New Roman"/>
                <a:ea typeface="Times New Roman"/>
                <a:cs typeface="Times New Roman"/>
              </a:rPr>
              <a:t>04  Submit the answer and open the report</a:t>
            </a:r>
          </a:p>
        </p:txBody>
      </p:sp>
      <p:sp>
        <p:nvSpPr>
          <p:cNvPr id="8" name="fixed">
            <a:extLst>
              <a:ext uri="{FF2B5EF4-FFF2-40B4-BE49-F238E27FC236}">
                <a16:creationId xmlns:a16="http://schemas.microsoft.com/office/drawing/2014/main" id="{60EB0FF9-801E-4ED6-A274-DA81BB617995}"/>
              </a:ext>
            </a:extLst>
          </p:cNvPr>
          <p:cNvSpPr>
            <a:spLocks noGrp="1"/>
          </p:cNvSpPr>
          <p:nvPr/>
        </p:nvSpPr>
        <p:spPr>
          <a:xfrm>
            <a:off x="609600" y="5953125"/>
            <a:ext cx="10668000" cy="457200"/>
          </a:xfrm>
          <a:prstGeom prst="rect">
            <a:avLst/>
          </a:prstGeom>
          <a:noFill/>
          <a:ln w="0">
            <a:noFill/>
          </a:ln>
        </p:spPr>
        <p:txBody>
          <a:bodyPr>
            <a:noAutofit/>
          </a:bodyPr>
          <a:lstStyle/>
          <a:p>
            <a:pPr algn="l">
              <a:defRPr sz="1725" b="0">
                <a:solidFill>
                  <a:srgbClr val="BDD1D7"/>
                </a:solidFill>
                <a:latin typeface="Times New Roman"/>
                <a:ea typeface="Times New Roman"/>
                <a:cs typeface="Times New Roman"/>
              </a:defRPr>
            </a:pPr>
            <a:r>
              <a:rPr sz="1725" b="0">
                <a:solidFill>
                  <a:srgbClr val="BDD1D7"/>
                </a:solidFill>
                <a:latin typeface="Times New Roman"/>
                <a:ea typeface="Times New Roman"/>
                <a:cs typeface="Times New Roman"/>
              </a:rPr>
              <a:t>IntegrityFlow  /  Local monitoring with evidence for examiner decisions</a:t>
            </a:r>
          </a:p>
        </p:txBody>
      </p:sp>
    </p:spTree>
    <p:extLst>
      <p:ext uri="{BB962C8B-B14F-4D97-AF65-F5344CB8AC3E}">
        <p14:creationId xmlns:p14="http://schemas.microsoft.com/office/powerpoint/2010/main" val="102586521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1"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350"/>
                                  <p:tgtEl>
                                    <p:spTgt spid="4"/>
                                  </p:tgtEl>
                                </p:cBhvr>
                              </p:animEffect>
                            </p:childTnLst>
                          </p:cTn>
                        </p:par>
                      </p:childTnLst>
                    </p:cTn>
                  </p:par>
                  <p:par>
                    <p:cTn id="7" fill="hold">
                      <p:stCondLst>
                        <p:cond delay="indefinite"/>
                      </p:stCondLst>
                      <p:childTnLst>
                        <p:par>
                          <p:cTn id="8" presetID="10" presetClass="entr" presetSubtype="0" fill="hold" grpId="2"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50"/>
                                  <p:tgtEl>
                                    <p:spTgt spid="5"/>
                                  </p:tgtEl>
                                </p:cBhvr>
                              </p:animEffect>
                            </p:childTnLst>
                          </p:cTn>
                        </p:par>
                      </p:childTnLst>
                    </p:cTn>
                  </p:par>
                  <p:par>
                    <p:cTn id="11" fill="hold">
                      <p:stCondLst>
                        <p:cond delay="indefinite"/>
                      </p:stCondLst>
                      <p:childTnLst>
                        <p:par>
                          <p:cTn id="12" presetID="10" presetClass="entr" presetSubtype="0" fill="hold" grpId="3"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childTnLst>
                    </p:cTn>
                  </p:par>
                  <p:par>
                    <p:cTn id="15" fill="hold">
                      <p:stCondLst>
                        <p:cond delay="indefinite"/>
                      </p:stCondLst>
                      <p:childTnLst>
                        <p:par>
                          <p:cTn id="16" presetID="10" presetClass="entr" presetSubtype="0" fill="hold" grpId="4"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5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p:bldP spid="5" grpId="2" uiExpand="1"/>
      <p:bldP spid="6" grpId="3" uiExpand="1"/>
      <p:bldP spid="7" grpId="4" uiExpan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5578</Words>
  <Application>Microsoft Office PowerPoint</Application>
  <DocSecurity>0</DocSecurity>
  <PresentationFormat>Widescreen</PresentationFormat>
  <Paragraphs>638</Paragraphs>
  <Slides>38</Slides>
  <Notes>38</Notes>
  <HiddenSlides>0</HiddenSlides>
  <MMClips>0</MMClips>
  <ScaleCrop>false</ScaleCrop>
  <HeadingPairs>
    <vt:vector size="8" baseType="variant">
      <vt:variant>
        <vt:lpstr>Fonts Used</vt:lpstr>
      </vt:variant>
      <vt:variant>
        <vt:i4>2</vt:i4>
      </vt:variant>
      <vt:variant>
        <vt:lpstr>Theme</vt:lpstr>
      </vt:variant>
      <vt:variant>
        <vt:i4>1</vt:i4>
      </vt:variant>
      <vt:variant>
        <vt:lpstr>Slide Titles</vt:lpstr>
      </vt:variant>
      <vt:variant>
        <vt:i4>38</vt:i4>
      </vt:variant>
      <vt:variant>
        <vt:lpstr>Custom Shows</vt:lpstr>
      </vt:variant>
      <vt:variant>
        <vt:i4>1</vt:i4>
      </vt:variant>
    </vt:vector>
  </HeadingPairs>
  <TitlesOfParts>
    <vt:vector size="42" baseType="lpstr">
      <vt:lpstr>Calibri</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Panel overview - approximately 6 minutes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Rao Umair Ahmed</cp:lastModifiedBy>
  <cp:revision>2</cp:revision>
  <dcterms:created xsi:type="dcterms:W3CDTF">2026-10-03T20:53:15Z</dcterms:created>
  <dcterms:modified xsi:type="dcterms:W3CDTF">2026-10-04T17:04:50Z</dcterms:modified>
</cp:coreProperties>
</file>