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1dee00d3884a96" /><Relationship Type="http://schemas.openxmlformats.org/officeDocument/2006/relationships/extended-properties" Target="/docProps/app.xml" Id="R97ac28c3747b4e09" /><Relationship Type="http://schemas.openxmlformats.org/officeDocument/2006/relationships/officeDocument" Target="/ppt/presentation.xml" Id="R829dbc11114c4459" /></Relationships>
</file>

<file path=ppt/presentation.xml><?xml version="1.0" encoding="utf-8"?>
<p:presentation xmlns:p="http://schemas.openxmlformats.org/presentationml/2006/main">
  <p:sldMasterIdLst>
    <p:sldMasterId xmlns:r="http://schemas.openxmlformats.org/officeDocument/2006/relationships" id="2147483648" r:id="Rb594775ecfe845ad"/>
  </p:sldMasterIdLst>
  <p:notesMasterIdLst>
    <p:notesMasterId xmlns:r="http://schemas.openxmlformats.org/officeDocument/2006/relationships" r:id="Rbeef13a1e164453a"/>
  </p:notesMasterIdLst>
  <p:sldIdLst>
    <p:sldId xmlns:r="http://schemas.openxmlformats.org/officeDocument/2006/relationships" id="256" r:id="Re39d74bc4f304582"/>
    <p:sldId xmlns:r="http://schemas.openxmlformats.org/officeDocument/2006/relationships" id="257" r:id="R22ccbc5b38784bbd"/>
    <p:sldId xmlns:r="http://schemas.openxmlformats.org/officeDocument/2006/relationships" id="258" r:id="R3d6c58c957214401"/>
    <p:sldId xmlns:r="http://schemas.openxmlformats.org/officeDocument/2006/relationships" id="259" r:id="Ra08c77d70e43499c"/>
    <p:sldId xmlns:r="http://schemas.openxmlformats.org/officeDocument/2006/relationships" id="260" r:id="Re183293b1bca4f14"/>
    <p:sldId xmlns:r="http://schemas.openxmlformats.org/officeDocument/2006/relationships" id="261" r:id="R572e45d117654725"/>
    <p:sldId xmlns:r="http://schemas.openxmlformats.org/officeDocument/2006/relationships" id="262" r:id="Rfeaffe4a12874211"/>
    <p:sldId xmlns:r="http://schemas.openxmlformats.org/officeDocument/2006/relationships" id="263" r:id="R8773b70fc6f04c67"/>
    <p:sldId xmlns:r="http://schemas.openxmlformats.org/officeDocument/2006/relationships" id="264" r:id="Rc6cb401d781d4246"/>
    <p:sldId xmlns:r="http://schemas.openxmlformats.org/officeDocument/2006/relationships" id="265" r:id="R04896d787f604942"/>
    <p:sldId xmlns:r="http://schemas.openxmlformats.org/officeDocument/2006/relationships" id="266" r:id="Rda0ae0490f664990"/>
    <p:sldId xmlns:r="http://schemas.openxmlformats.org/officeDocument/2006/relationships" id="267" r:id="R5a707c2dad5e473b"/>
    <p:sldId xmlns:r="http://schemas.openxmlformats.org/officeDocument/2006/relationships" id="268" r:id="Rb9b0f39f893f4385"/>
    <p:sldId xmlns:r="http://schemas.openxmlformats.org/officeDocument/2006/relationships" id="269" r:id="R545063a9866e449b"/>
    <p:sldId xmlns:r="http://schemas.openxmlformats.org/officeDocument/2006/relationships" id="270" r:id="R9f1870c00a604bbb"/>
    <p:sldId xmlns:r="http://schemas.openxmlformats.org/officeDocument/2006/relationships" id="271" r:id="R77e6f2e3484e4900"/>
    <p:sldId xmlns:r="http://schemas.openxmlformats.org/officeDocument/2006/relationships" id="272" r:id="R5b1cdbc376274cbd"/>
    <p:sldId xmlns:r="http://schemas.openxmlformats.org/officeDocument/2006/relationships" id="273" r:id="R8c95139d56614f63"/>
    <p:sldId xmlns:r="http://schemas.openxmlformats.org/officeDocument/2006/relationships" id="274" r:id="R4d3774e685954318"/>
    <p:sldId xmlns:r="http://schemas.openxmlformats.org/officeDocument/2006/relationships" id="275" r:id="Re3c3965367474171"/>
    <p:sldId xmlns:r="http://schemas.openxmlformats.org/officeDocument/2006/relationships" id="276" r:id="Rda7baf7f5dcc437f"/>
    <p:sldId xmlns:r="http://schemas.openxmlformats.org/officeDocument/2006/relationships" id="277" r:id="R61ca22205c7547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e8d6d992ed4385" /><Relationship Type="http://schemas.openxmlformats.org/officeDocument/2006/relationships/slideMaster" Target="/ppt/slideMasters/slideMaster1.xml" Id="Rb594775ecfe845ad" /><Relationship Type="http://schemas.openxmlformats.org/officeDocument/2006/relationships/notesMaster" Target="/ppt/notesMasters/notesMaster1.xml" Id="Rbeef13a1e164453a" /><Relationship Type="http://schemas.openxmlformats.org/officeDocument/2006/relationships/presProps" Target="/ppt/presProps.xml" Id="R404098370e20419f" /><Relationship Type="http://schemas.openxmlformats.org/officeDocument/2006/relationships/tableStyles" Target="/ppt/tableStyles.xml" Id="R037933d1e89e4ec1" /><Relationship Type="http://schemas.openxmlformats.org/officeDocument/2006/relationships/slide" Target="/ppt/slides/slide1.xml" Id="Re39d74bc4f304582" /><Relationship Type="http://schemas.openxmlformats.org/officeDocument/2006/relationships/slide" Target="/ppt/slides/slide2.xml" Id="R22ccbc5b38784bbd" /><Relationship Type="http://schemas.openxmlformats.org/officeDocument/2006/relationships/slide" Target="/ppt/slides/slide3.xml" Id="R3d6c58c957214401" /><Relationship Type="http://schemas.openxmlformats.org/officeDocument/2006/relationships/slide" Target="/ppt/slides/slide4.xml" Id="Ra08c77d70e43499c" /><Relationship Type="http://schemas.openxmlformats.org/officeDocument/2006/relationships/slide" Target="/ppt/slides/slide5.xml" Id="Re183293b1bca4f14" /><Relationship Type="http://schemas.openxmlformats.org/officeDocument/2006/relationships/slide" Target="/ppt/slides/slide6.xml" Id="R572e45d117654725" /><Relationship Type="http://schemas.openxmlformats.org/officeDocument/2006/relationships/slide" Target="/ppt/slides/slide7.xml" Id="Rfeaffe4a12874211" /><Relationship Type="http://schemas.openxmlformats.org/officeDocument/2006/relationships/slide" Target="/ppt/slides/slide8.xml" Id="R8773b70fc6f04c67" /><Relationship Type="http://schemas.openxmlformats.org/officeDocument/2006/relationships/slide" Target="/ppt/slides/slide9.xml" Id="Rc6cb401d781d4246" /><Relationship Type="http://schemas.openxmlformats.org/officeDocument/2006/relationships/slide" Target="/ppt/slides/slide10.xml" Id="R04896d787f604942" /><Relationship Type="http://schemas.openxmlformats.org/officeDocument/2006/relationships/slide" Target="/ppt/slides/slide11.xml" Id="Rda0ae0490f664990" /><Relationship Type="http://schemas.openxmlformats.org/officeDocument/2006/relationships/slide" Target="/ppt/slides/slide12.xml" Id="R5a707c2dad5e473b" /><Relationship Type="http://schemas.openxmlformats.org/officeDocument/2006/relationships/slide" Target="/ppt/slides/slide13.xml" Id="Rb9b0f39f893f4385" /><Relationship Type="http://schemas.openxmlformats.org/officeDocument/2006/relationships/slide" Target="/ppt/slides/slide14.xml" Id="R545063a9866e449b" /><Relationship Type="http://schemas.openxmlformats.org/officeDocument/2006/relationships/slide" Target="/ppt/slides/slide15.xml" Id="R9f1870c00a604bbb" /><Relationship Type="http://schemas.openxmlformats.org/officeDocument/2006/relationships/slide" Target="/ppt/slides/slide16.xml" Id="R77e6f2e3484e4900" /><Relationship Type="http://schemas.openxmlformats.org/officeDocument/2006/relationships/slide" Target="/ppt/slides/slide17.xml" Id="R5b1cdbc376274cbd" /><Relationship Type="http://schemas.openxmlformats.org/officeDocument/2006/relationships/slide" Target="/ppt/slides/slide18.xml" Id="R8c95139d56614f63" /><Relationship Type="http://schemas.openxmlformats.org/officeDocument/2006/relationships/slide" Target="/ppt/slides/slide19.xml" Id="R4d3774e685954318" /><Relationship Type="http://schemas.openxmlformats.org/officeDocument/2006/relationships/slide" Target="/ppt/slides/slide20.xml" Id="Re3c3965367474171" /><Relationship Type="http://schemas.openxmlformats.org/officeDocument/2006/relationships/slide" Target="/ppt/slides/slide21.xml" Id="Rda7baf7f5dcc437f" /><Relationship Type="http://schemas.openxmlformats.org/officeDocument/2006/relationships/slide" Target="/ppt/slides/slide22.xml" Id="R61ca22205c7547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8ee10b3a4649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0e966476fc49c4" /><Relationship Type="http://schemas.openxmlformats.org/officeDocument/2006/relationships/notesMaster" Target="/ppt/notesMasters/notesMaster1.xml" Id="Ra0d1bf3b701f4a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c31f5439204818" /><Relationship Type="http://schemas.openxmlformats.org/officeDocument/2006/relationships/notesMaster" Target="/ppt/notesMasters/notesMaster1.xml" Id="R65a3cb151ee641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78370693774166" /><Relationship Type="http://schemas.openxmlformats.org/officeDocument/2006/relationships/notesMaster" Target="/ppt/notesMasters/notesMaster1.xml" Id="R6655f28e5e2a4f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844d3600364ff7" /><Relationship Type="http://schemas.openxmlformats.org/officeDocument/2006/relationships/notesMaster" Target="/ppt/notesMasters/notesMaster1.xml" Id="R2d4295a33fcb45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561d31fc614ced" /><Relationship Type="http://schemas.openxmlformats.org/officeDocument/2006/relationships/notesMaster" Target="/ppt/notesMasters/notesMaster1.xml" Id="Ra3f7dace140d4f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e66ff21e7f440c" /><Relationship Type="http://schemas.openxmlformats.org/officeDocument/2006/relationships/notesMaster" Target="/ppt/notesMasters/notesMaster1.xml" Id="R7b97f06216974a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ae30681b644cb3" /><Relationship Type="http://schemas.openxmlformats.org/officeDocument/2006/relationships/notesMaster" Target="/ppt/notesMasters/notesMaster1.xml" Id="R8a98c8e9e16f44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ef7e6be8044fc4" /><Relationship Type="http://schemas.openxmlformats.org/officeDocument/2006/relationships/notesMaster" Target="/ppt/notesMasters/notesMaster1.xml" Id="R355e301032da4a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45bc1ced694c2c" /><Relationship Type="http://schemas.openxmlformats.org/officeDocument/2006/relationships/notesMaster" Target="/ppt/notesMasters/notesMaster1.xml" Id="R55ca6b30584f40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a57613ae6046f8" /><Relationship Type="http://schemas.openxmlformats.org/officeDocument/2006/relationships/notesMaster" Target="/ppt/notesMasters/notesMaster1.xml" Id="R7a62c438652343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9eca18b0104872" /><Relationship Type="http://schemas.openxmlformats.org/officeDocument/2006/relationships/notesMaster" Target="/ppt/notesMasters/notesMaster1.xml" Id="R55568b107ca841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bce38f693e40f7" /><Relationship Type="http://schemas.openxmlformats.org/officeDocument/2006/relationships/notesMaster" Target="/ppt/notesMasters/notesMaster1.xml" Id="R8c84058c612244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f680e63cdd476d" /><Relationship Type="http://schemas.openxmlformats.org/officeDocument/2006/relationships/notesMaster" Target="/ppt/notesMasters/notesMaster1.xml" Id="R764738d9b64140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649eff71a44632" /><Relationship Type="http://schemas.openxmlformats.org/officeDocument/2006/relationships/notesMaster" Target="/ppt/notesMasters/notesMaster1.xml" Id="R9c38cf2226bb44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8e2f21a077476a" /><Relationship Type="http://schemas.openxmlformats.org/officeDocument/2006/relationships/notesMaster" Target="/ppt/notesMasters/notesMaster1.xml" Id="R8da96171bdcc42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00150340ce4e9d" /><Relationship Type="http://schemas.openxmlformats.org/officeDocument/2006/relationships/notesMaster" Target="/ppt/notesMasters/notesMaster1.xml" Id="R4d1e767826e842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c580aa10cc43ae" /><Relationship Type="http://schemas.openxmlformats.org/officeDocument/2006/relationships/notesMaster" Target="/ppt/notesMasters/notesMaster1.xml" Id="R5fbaa050539f4f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87206aec2f4ecc" /><Relationship Type="http://schemas.openxmlformats.org/officeDocument/2006/relationships/notesMaster" Target="/ppt/notesMasters/notesMaster1.xml" Id="R18f8281652b344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36e810c2a045f7" /><Relationship Type="http://schemas.openxmlformats.org/officeDocument/2006/relationships/notesMaster" Target="/ppt/notesMasters/notesMaster1.xml" Id="Rb8dfd1877cba4be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c9d57cc6ca4582" /><Relationship Type="http://schemas.openxmlformats.org/officeDocument/2006/relationships/notesMaster" Target="/ppt/notesMasters/notesMaster1.xml" Id="Rdd97846c99114a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c6b0fef14f4ef6" /><Relationship Type="http://schemas.openxmlformats.org/officeDocument/2006/relationships/notesMaster" Target="/ppt/notesMasters/notesMaster1.xml" Id="R6cc5b716251f46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e358a80ea642fe" /><Relationship Type="http://schemas.openxmlformats.org/officeDocument/2006/relationships/notesMaster" Target="/ppt/notesMasters/notesMaster1.xml" Id="Rdf1cf652f5f749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Introduce the team and project. Vision and voice inference run on the candidate device. The examiner reviews events centrally. Team metadata preserved from the previous project deck. Presentation date: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Explain the problem using concrete examples. An examiner needs evidence from the candidate environment and a way to act on it. Avoid claiming that other proctoring systems universally lose data or require a particular bandwidth.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Remote online exams use camera and voice monitoring plus system checks. Physical-lab mode deliberately bypasses camera/voice and retains environment monitoring. The project uses pretrained models, with integration and reliability engineering as our contribution. Do not claim measured FPS, CPU or AI accuracy. Code evidence: D:/BS_FYP Project/IntegrityFlow/candidate-app/electron/main.js</a:t>
            </a:r>
          </a:p>
          <a:p xmlns:a="http://schemas.openxmlformats.org/drawingml/2006/main">
            <a:r>
              <a:t>D:/BS_FYP Project/IntegrityFlow/candidate-app/ai-module/main.py</a:t>
            </a:r>
          </a:p>
          <a:p xmlns:a="http://schemas.openxmlformats.org/drawingml/2006/main">
            <a:r>
              <a:t>D:/BS_FYP Project/IntegrityFlow/candidate-app/ai-module/ai_monitor.py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Read left to right. Python performs local monitoring and durably queues events in SQLite. Electron persists accepted events in its disk queue and forwards them. Express commits metadata to MongoDB and saves media using the configured storage provider. Authorized Socket.IO recipients receive updates. The Python control API and Electron receiver use separate dynamic loopback ports. No fixed 8766 FastAPI claim. Code evidence: D:/BS_FYP Project/IntegrityFlow/candidate-app/ai-module/main.py</a:t>
            </a:r>
          </a:p>
          <a:p xmlns:a="http://schemas.openxmlformats.org/drawingml/2006/main">
            <a:r>
              <a:t>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a:p xmlns:a="http://schemas.openxmlformats.org/drawingml/2006/main">
            <a:r>
              <a:t>D:/BS_FYP Project/IntegrityFlow/server/src/sockets/violationSocket.js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Five core modules, two optional modules and one advanced reporting module. All have implementation paths, but that count is not an independently assessed completion percentage. Module categories come from Scope v3 and presentation/output/Scope_Progress_Verification.md. Current code corrects older backend descriptions.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Explain modules 1 and 4. Electron kiosk controls and psutil allowlists restrict the environment. Verified file ownership lets enforcement target the offending process. USB storage checks use Windows CIM, including USB bus type where available. Display count checks require one display. Self-check verifies actual hardware and voice enrollment before online exam entry. An allowlist is not a complete OS sandbox, and detection does not mean USB devices are disabled at driver level. Code evidence: D:/BS_FYP Project/IntegrityFlow/candidate-app/ai-module/whitelist_enforcer.py</a:t>
            </a:r>
          </a:p>
          <a:p xmlns:a="http://schemas.openxmlformats.org/drawingml/2006/main">
            <a:r>
              <a:t>D:/BS_FYP Project/IntegrityFlow/candidate-app/ai-module/usb_monitor.py</a:t>
            </a:r>
          </a:p>
          <a:p xmlns:a="http://schemas.openxmlformats.org/drawingml/2006/main">
            <a:r>
              <a:t>D:/BS_FYP Project/IntegrityFlow/candidate-app/renderer/selfCheck.js</a:t>
            </a:r>
          </a:p>
          <a:p xmlns:a="http://schemas.openxmlformats.org/drawingml/2006/main">
            <a:r>
              <a:t>D:/BS_FYP Project/IntegrityFlow/candidate-app/electron/main.js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Module 2. Modern MediaPipe Tasks supplies facial landmarks. OpenCV solves head pose using six selected landmark points. Sustained, calibrated head direction generates a signal, not measured eye gaze. YOLO26n runs through ONNX Runtime and targets phone/book classes. Face counts come from MediaPipe or OpenCV fallback, not YOLO phone inference. WebRTC VAD Mode 2 gates speech, then Resemblyzer compares it with the enrolled reference. Two valid mismatches trigger an event. False-positive and missed-detection rates remain to measure. Code evidence: D:/BS_FYP Project/IntegrityFlow/candidate-app/ai-module/ai_monitor.py</a:t>
            </a:r>
          </a:p>
          <a:p xmlns:a="http://schemas.openxmlformats.org/drawingml/2006/main">
            <a:r>
              <a:t>D:/BS_FYP Project/IntegrityFlow/candidate-app/ai-module/voice_monitor.py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Modules 3 and 5. Vision events save annotated webcam JPEGs, environment events capture screenshots, voice events save valid WAV clips. Durable queues preserve event identity for retry deduplication. Weighted severity and decay form the score, with dismissed events excluded and late evidence held outside normal scoring until examiner confirmation. Risk is review priority. Do not call it a cheating probability. Code evidence: D:/BS_FYP Project/IntegrityFlow/candidate-app/ai-module/services/capture</a:t>
            </a:r>
          </a:p>
          <a:p xmlns:a="http://schemas.openxmlformats.org/drawingml/2006/main">
            <a:r>
              <a:t>D:/BS_FYP Project/IntegrityFlow/candidate-app/ai-module/services/violation_delivery.py</a:t>
            </a:r>
          </a:p>
          <a:p xmlns:a="http://schemas.openxmlformats.org/drawingml/2006/main">
            <a:r>
              <a:t>D:/BS_FYP Project/IntegrityFlow/server/src/services/scoring/DecayScoringStrategy.js</a:t>
            </a:r>
          </a:p>
          <a:p xmlns:a="http://schemas.openxmlformats.org/drawingml/2006/main">
            <a:r>
              <a:t>D:/BS_FYP Project/IntegrityFlow/server/src/routes/violations.js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Modules 6 and 7. Live Monitoring prioritizes active-exam events and keeps evidence inside the selected exam. Exams defaults to Active, History exposes completed summaries, Account holds teacher controls. The teacher can review events, warn candidates or terminate sessions. Candidate workspace supports paper viewing, typed drafts and answer files. Rehearse actual submission and retrieval. Code evidence: D:/BS_FYP Project/IntegrityFlow/dashboard/src/pages/Dashboard.jsx</a:t>
            </a:r>
          </a:p>
          <a:p xmlns:a="http://schemas.openxmlformats.org/drawingml/2006/main">
            <a:r>
              <a:t>D:/BS_FYP Project/IntegrityFlow/dashboard/src/components/ExamManager.jsx</a:t>
            </a:r>
          </a:p>
          <a:p xmlns:a="http://schemas.openxmlformats.org/drawingml/2006/main">
            <a:r>
              <a:t>D:/BS_FYP Project/IntegrityFlow/candidate-app/renderer/examScreen.js</a:t>
            </a:r>
          </a:p>
          <a:p xmlns:a="http://schemas.openxmlformats.org/drawingml/2006/main">
            <a:r>
              <a:t>D:/BS_FYP Project/IntegrityFlow/server/src/routes/submissions.js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Reporting is already implemented. Module 8 provides historical summaries, risk distributions, violation breakdowns, CSV and browser Save PDF. Exporting every individual alert and screenshot in one consolidated report remains incomplete. Additions include speaker verification, physical-lab mode, two-way intervention, admin asset management, multiple-exam lifecycle, dark mode and more durable transport. Code evidence: D:/BS_FYP Project/IntegrityFlow/dashboard/src/components/ExamSummary.jsx</a:t>
            </a:r>
          </a:p>
          <a:p xmlns:a="http://schemas.openxmlformats.org/drawingml/2006/main">
            <a:r>
              <a:t>D:/BS_FYP Project/IntegrityFlow/dashboard/src/components/AdminDashboard/AdminDashboard.jsx</a:t>
            </a:r>
          </a:p>
          <a:p xmlns:a="http://schemas.openxmlformats.org/drawingml/2006/main">
            <a:r>
              <a:t>D:/BS_FYP Project/IntegrityFlow/server/src/routes/exams.js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Source: user-supplied before/after benchmark narrative on 3 October 2026. Reported after-run command: python scripts/load_test.py --students 50 --duration 20 --with-reads. Two simulated dashboard polling workers, synthetic violation HTTP traffic. Raw logs, hardware, database placement and repeat-run variation were not supplied. Overall request success includes endpoint responses, not verified socket delivery or evidence playback. Before throughput and request count imply about 24 seconds; after imply 20 seconds, so do not frame the throughput increase as proven capacity. No fresh benchmark was run for this deck. Code evidence: D:/BS_FYP Project/IntegrityFlow/scripts/load_test.py</a:t>
            </a:r>
          </a:p>
          <a:p xmlns:a="http://schemas.openxmlformats.org/drawingml/2006/main">
            <a:r>
              <a:t>D:/BS_FYP Project/IntegrityFlow/server/src/routes/violations.js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Code confirms res.status(201).json(savedViolation) after database commit and before setImmediate processing. This removes scoring from the response critical path. setImmediate defers execution but is not a worker thread or durable background job and does not make MongoDB queries free. Original awaited database calls were asynchronous, not synchronous CPU blockage. The reported benchmark supports HTTP latency improvement, not a less-than-25ms guarantee. Code evidence: D:/BS_FYP Project/IntegrityFlow/server/src/routes/violations.js:148</a:t>
            </a:r>
          </a:p>
          <a:p xmlns:a="http://schemas.openxmlformats.org/drawingml/2006/main">
            <a:r>
              <a:t>D:/BS_FYP Project/IntegrityFlow/server/src/scoring/severityEngine.js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All eight scope modules have code paths. Reporting is present. Exact AI scope coverage is partial because headphones are not detected and model/quantization differ from the proposal. We do not assign an invented 78% completion number. A supervisor-approved weighted rubric and live acceptance tests are needed for a defensible overall percentage. Controlled detector regression suite passed 25 checks in the preceding monitoring work. Code evidence: D:/BS_FYP Project/IntegrityFlow/presentation/output/Scope_Progress_Verification.md</a:t>
            </a:r>
          </a:p>
          <a:p xmlns:a="http://schemas.openxmlformats.org/drawingml/2006/main">
            <a:r>
              <a:t>D:/BS_FYP Project/IntegrityFlow/candidate-app/RELIABILITY.md</a:t>
            </a:r>
          </a:p>
          <a:p xmlns:a="http://schemas.openxmlformats.org/drawingml/2006/main">
            <a:r>
              <a:t>D:/BS_FYP Project/IntegrityFlow/candidate-app/ai-module/check_detection.py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Labelled device trials should include ordinary reading, head turns, multiple faces, visible/partial phones and quiet/noisy speech. Measure detection latency separately from HTTP response and socket/evidence arrival. Remaining scope issue is headphones or supervisor-approved scope alignment. Report content consolidation and automatic retention policy are still open. Repeated, longer load trials need environment details and raw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to hand off, then a separate 7–8 minute demo. 0–1 minute create/show exam and rules. 1–3 minutes candidate consent, hardware readiness and enrollment. 3–5 minutes trigger a visible phone/head turn and one safe environment event. 5–7 minutes examiner reviews evidence and sends warning; candidate submits answer. 7–8 minutes historical report or controlled offline recovery if rehearsed. Use a separate candidate laptop: HDMI can add a display and block self-check. Save open work before strict enforcement. A backup recording must be clearly identified as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main sequence here. The remaining slides support technical questions. Explain pretrained model use and the project contribution candidly. Do not interpret alerts as proof of misconduct.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Head direction uses MediaPipe Tasks landmarks plus cv2.solvePnP with six points. Stable single-face neutral calibration uses 20 observations, with wraparound-safe smoothing. Lateral alerts require relative and absolute yaw support, with 13-degree threshold and 0.5-second lateral dwell. Multiple faces suspend head-direction estimation. Phone detector uses 640x640 letterboxing, COCO class 67, same-class spatial overlap. After a candidate phone prediction, inference runs next frame. Two &gt;=0.60 confidence predictions confirm, weaker predictions require three. Misses and spatial jumps reset, repeat cooldown 2s. These are algorithm settings, not measured real-world latency or accuracy. Code evidence: D:/BS_FYP Project/IntegrityFlow/candidate-app/ai-module/ai_monitor.py</a:t>
            </a:r>
          </a:p>
          <a:p xmlns:a="http://schemas.openxmlformats.org/drawingml/2006/main">
            <a:r>
              <a:t>D:/BS_FYP Project/IntegrityFlow/candidate-app/ai-module/config/thresholds.json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16 kHz mono, 30ms frames, VAD Mode 2, configured speech gating 1.5s, verification segments3s, minimum RMS.003. Reference enrollment8s plus separate4s confirmation, processed speech minima3s/2s. Resemblyzer embedding256 dimensions, cosine threshold.75, two valid mismatches, cooldown60s. Reject too-short/clipped audio. This detects speaker mismatch, not reliable speaker count or all whispers. No real-room labelled evaluation validates the cutoff yet. Code evidence: D:/BS_FYP Project/IntegrityFlow/candidate-app/ai-module/voice_monitor.py</a:t>
            </a:r>
          </a:p>
          <a:p xmlns:a="http://schemas.openxmlformats.org/drawingml/2006/main">
            <a:r>
              <a:t>D:/BS_FYP Project/IntegrityFlow/candidate-app/ai-module/config/thresholds.json</a:t>
            </a:r>
          </a:p>
          <a:p xmlns:a="http://schemas.openxmlformats.org/drawingml/2006/main">
            <a:r>
              <a:t>D:/BS_FYP Project/IntegrityFlow/candidate-app/ai-module/evaluate_voice.py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Simplified sequence. Durable queues acknowledge locally before upstream delivery. HTTP201 follows database commit. Deferred event and score updates target authorized teacher/admin recipients. Teacher review can confirm or dismiss. No queue guarantees notification delivery through a server crash. Code evidence: 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a:p xmlns:a="http://schemas.openxmlformats.org/drawingml/2006/main">
            <a:r>
              <a:t>D:/BS_FYP Project/IntegrityFlow/server/src/sockets/violationSocket.js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An event originally generated during a valid session can arrive after completion. Server validates event identity and original timestamp, stores receivedLate and deduplicates retries. It retains evidence and does not automatically inflate final risk. Explicit examiner confirmation allows score contribution; dismissal excludes it. New activity after the valid session window is rejected. Controlled regression coverage exists but cloud/network recovery still needs rehearsal. Code evidence: D:/BS_FYP Project/IntegrityFlow/server/src/routes/violations.js</a:t>
            </a:r>
          </a:p>
          <a:p xmlns:a="http://schemas.openxmlformats.org/drawingml/2006/main">
            <a:r>
              <a:t>D:/BS_FYP Project/IntegrityFlow/server/check_late_evidence.js</a:t>
            </a:r>
          </a:p>
          <a:p xmlns:a="http://schemas.openxmlformats.org/drawingml/2006/main">
            <a:r>
              <a:t>D:/BS_FYP Project/IntegrityFlow/candidate-app/electron/ipc/violationBuffer.js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All figures supplied in the user message, not independently rerun. 158 total requests with17 failures produces89.2405% success, displayed89.2%. After189/189. Average ratio4142.10/408.76=10.13; median3923.40/333.25=11.77. Throughput6.58vs9.45 reflects measured report windows that appear unequal. P958000ms is supplied as the client timeout ceiling, not an independently reconstructed percentile. Request totals combine setup, writes and reads in load_test.py. Raw logs were not supplied. Code evidence: D:/BS_FYP Project/IntegrityFlow/scripts/load_test.py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Teacher sockets are scoped to owned exams, admin rights are broader. Voice consent discloses stored speaker reference vectors and audio clips, including local/uploaded evidence. Current removal is manual, with no automatic expiry. Local inference does not mean every part of the system works without central connectivity. Regression tests establish selected behavior, not production security or statistical accuracy. Code evidence: D:/BS_FYP Project/IntegrityFlow/server/src/sockets/violationSocket.js</a:t>
            </a:r>
          </a:p>
          <a:p xmlns:a="http://schemas.openxmlformats.org/drawingml/2006/main">
            <a:r>
              <a:t>D:/BS_FYP Project/IntegrityFlow/server/src/utils/examAccess.js</a:t>
            </a:r>
          </a:p>
          <a:p xmlns:a="http://schemas.openxmlformats.org/drawingml/2006/main">
            <a:r>
              <a:t>D:/BS_FYP Project/IntegrityFlow/candidate-app/renderer/identity.js</a:t>
            </a:r>
          </a:p>
          <a:p xmlns:a="http://schemas.openxmlformats.org/drawingml/2006/main">
            <a:r>
              <a:t>D:/BS_FYP Project/IntegrityFlow/candidate-app/electron/check_consent.js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d44cc2624147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cf7cbe1133429e" /><Relationship Type="http://schemas.openxmlformats.org/officeDocument/2006/relationships/slideLayout" Target="/ppt/slideLayouts/slideLayout1.xml" Id="R4d408cd372f243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408cd372f243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78b869a18a46d1" /><Relationship Type="http://schemas.openxmlformats.org/officeDocument/2006/relationships/image" Target="/ppt/media/image.png" Id="R43cda93b6ad1458d" /><Relationship Type="http://schemas.openxmlformats.org/officeDocument/2006/relationships/notesSlide" Target="/ppt/notesSlides/notesSlide1.xml" Id="R9395a8db7c6b45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c22aca6cd84ee6" /><Relationship Type="http://schemas.openxmlformats.org/officeDocument/2006/relationships/notesSlide" Target="/ppt/notesSlides/notesSlide2.xml" Id="Rcecbdc54eecd4b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aea1dfcbfa48de" /><Relationship Type="http://schemas.openxmlformats.org/officeDocument/2006/relationships/notesSlide" Target="/ppt/notesSlides/notesSlide3.xml" Id="R70f4c194d6ff47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a9aa414af44354" /><Relationship Type="http://schemas.openxmlformats.org/officeDocument/2006/relationships/notesSlide" Target="/ppt/notesSlides/notesSlide4.xml" Id="R5689e3186d4d4a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0dddaf7e274dde" /><Relationship Type="http://schemas.openxmlformats.org/officeDocument/2006/relationships/notesSlide" Target="/ppt/notesSlides/notesSlide5.xml" Id="R704e9b0a40084b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a64687638341fe" /><Relationship Type="http://schemas.openxmlformats.org/officeDocument/2006/relationships/notesSlide" Target="/ppt/notesSlides/notesSlide6.xml" Id="R96b43ff979414a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98a5199db14d4a" /><Relationship Type="http://schemas.openxmlformats.org/officeDocument/2006/relationships/notesSlide" Target="/ppt/notesSlides/notesSlide7.xml" Id="Rfb6c1877e38d43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d84e3c3d7141bd" /><Relationship Type="http://schemas.openxmlformats.org/officeDocument/2006/relationships/notesSlide" Target="/ppt/notesSlides/notesSlide8.xml" Id="R28863a11977c43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e9557b829c4372" /><Relationship Type="http://schemas.openxmlformats.org/officeDocument/2006/relationships/notesSlide" Target="/ppt/notesSlides/notesSlide9.xml" Id="R45c86d1479b642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f0060781de4432" /><Relationship Type="http://schemas.openxmlformats.org/officeDocument/2006/relationships/notesSlide" Target="/ppt/notesSlides/notesSlide10.xml" Id="R61e6dda140654b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e203b6d25e4baa" /><Relationship Type="http://schemas.openxmlformats.org/officeDocument/2006/relationships/chart" Target="/ppt/slides/charts/chart1.xml" Id="R0a55d9aa35fe4ef3" /><Relationship Type="http://schemas.openxmlformats.org/officeDocument/2006/relationships/notesSlide" Target="/ppt/notesSlides/notesSlide11.xml" Id="R4354f43c050942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e45ecb5ae54405" /><Relationship Type="http://schemas.openxmlformats.org/officeDocument/2006/relationships/notesSlide" Target="/ppt/notesSlides/notesSlide12.xml" Id="R55702dc66eea46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52ebaa24d14e70" /><Relationship Type="http://schemas.openxmlformats.org/officeDocument/2006/relationships/notesSlide" Target="/ppt/notesSlides/notesSlide13.xml" Id="Rf7ebf3b50f3942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0cf42c4395a4c81" /><Relationship Type="http://schemas.openxmlformats.org/officeDocument/2006/relationships/notesSlide" Target="/ppt/notesSlides/notesSlide14.xml" Id="R7ac91ccad5314e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c14e2c20c914039" /><Relationship Type="http://schemas.openxmlformats.org/officeDocument/2006/relationships/image" Target="/ppt/media/image2.png" Id="R6981fb2a828d4970" /><Relationship Type="http://schemas.openxmlformats.org/officeDocument/2006/relationships/notesSlide" Target="/ppt/notesSlides/notesSlide15.xml" Id="R5b8e30c3b79046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f9a0e37c4b45b1" /><Relationship Type="http://schemas.openxmlformats.org/officeDocument/2006/relationships/image" Target="/ppt/media/image3.png" Id="Re8a00ff5b4744de4" /><Relationship Type="http://schemas.openxmlformats.org/officeDocument/2006/relationships/notesSlide" Target="/ppt/notesSlides/notesSlide16.xml" Id="R62fcd4b6b98c40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8f1d487fe54122" /><Relationship Type="http://schemas.openxmlformats.org/officeDocument/2006/relationships/notesSlide" Target="/ppt/notesSlides/notesSlide17.xml" Id="R61d90100958645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2e8e9fb47744d5" /><Relationship Type="http://schemas.openxmlformats.org/officeDocument/2006/relationships/notesSlide" Target="/ppt/notesSlides/notesSlide18.xml" Id="R5f0bfb6dea9d4c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93cfbc66b6411b" /><Relationship Type="http://schemas.openxmlformats.org/officeDocument/2006/relationships/notesSlide" Target="/ppt/notesSlides/notesSlide19.xml" Id="Rc426502821254a4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d0c6a53f304b5e" /><Relationship Type="http://schemas.openxmlformats.org/officeDocument/2006/relationships/notesSlide" Target="/ppt/notesSlides/notesSlide20.xml" Id="R0454e444c7554a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127d5f1a3d4a51" /><Relationship Type="http://schemas.openxmlformats.org/officeDocument/2006/relationships/notesSlide" Target="/ppt/notesSlides/notesSlide21.xml" Id="R94e724721ea946b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53c2b689d364c47" /><Relationship Type="http://schemas.openxmlformats.org/officeDocument/2006/relationships/notesSlide" Target="/ppt/notesSlides/notesSlide22.xml" Id="R477854ce23394882" /></Relationships>
</file>

<file path=ppt/slides/charts/chart1.xml><?xml version="1.0" encoding="utf-8"?>
<c:chartSpace xmlns:c="http://schemas.openxmlformats.org/drawingml/2006/chart">
  <c:lang val="en-US"/>
  <c:chart>
    <c:plotArea>
      <c:barChart>
        <c:barDir val="col"/>
        <c:grouping val="clustered"/>
        <c:varyColors val="0"/>
        <c:ser>
          <c:idx val="0"/>
          <c:order val="0"/>
          <c:tx>
            <c:v>Latency (ms)</c:v>
          </c:tx>
          <c:spPr>
            <a:solidFill xmlns:a="http://schemas.openxmlformats.org/drawingml/2006/main">
              <a:srgbClr val="087F8C"/>
            </a:solidFill>
          </c:spPr>
          <c:cat>
            <c:strLit>
              <c:ptCount val="2"/>
              <c:pt idx="0">
                <c:v>Before</c:v>
              </c:pt>
              <c:pt idx="1">
                <c:v>After</c:v>
              </c:pt>
            </c:strLit>
          </c:cat>
          <c:val>
            <c:numLit>
              <c:formatCode>0.00</c:formatCode>
              <c:ptCount val="2"/>
              <c:pt idx="0">
                <c:v>4142.1</c:v>
              </c:pt>
              <c:pt idx="1">
                <c:v>408.76</c:v>
              </c:pt>
            </c:numLit>
          </c:val>
        </c:ser>
        <c:dLbls>
          <c:txPr>
            <a:bodyPr xmlns:a="http://schemas.openxmlformats.org/drawingml/2006/main" anchorCtr="1"/>
            <a:lstStyle xmlns:a="http://schemas.openxmlformats.org/drawingml/2006/main"/>
            <a:p xmlns:a="http://schemas.openxmlformats.org/drawingml/2006/main">
              <a:pPr>
                <a:defRPr sz="1800">
                  <a:solidFill>
                    <a:srgbClr val="132D3A"/>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9CD"/>
            </a:solidFill>
          </a:ln>
        </c:spPr>
        <c:txPr>
          <a:bodyPr xmlns:a="http://schemas.openxmlformats.org/drawingml/2006/main" anchorCtr="1"/>
          <a:lstStyle xmlns:a="http://schemas.openxmlformats.org/drawingml/2006/main"/>
          <a:p xmlns:a="http://schemas.openxmlformats.org/drawingml/2006/main">
            <a:pPr>
              <a:defRPr sz="1800">
                <a:solidFill>
                  <a:srgbClr val="132D3A"/>
                </a:solidFill>
                <a:latin typeface="Arial"/>
                <a:ea typeface="Arial"/>
                <a:cs typeface="Arial"/>
              </a:defRPr>
            </a:pPr>
          </a:p>
        </c:txPr>
        <c:crossAx val="48672768"/>
      </c:catAx>
      <c:valAx>
        <c:axId val="48672768"/>
        <c:scaling>
          <c:orientation val="minMax"/>
          <c:max val="5000"/>
          <c:min val="0"/>
        </c:scaling>
        <c:delete val="0"/>
        <c:axPos val="l"/>
        <c:majorGridlines>
          <c:spPr>
            <a:ln xmlns:a="http://schemas.openxmlformats.org/drawingml/2006/main" w="9525">
              <a:solidFill>
                <a:srgbClr val="D6E0DE"/>
              </a:solidFill>
            </a:ln>
          </c:spPr>
        </c:majorGridlines>
        <c:numFmt formatCode="0&quot; ms&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3"/>
                </a:solidFill>
                <a:latin typeface="Arial"/>
                <a:ea typeface="Arial"/>
                <a:cs typeface="Arial"/>
              </a:defRPr>
            </a:pPr>
          </a:p>
        </c:txPr>
        <c:crossAx val="48650112"/>
        <c:crossBetween val="between"/>
      </c:valAx>
      <c:spPr>
        <a:solidFill xmlns:a="http://schemas.openxmlformats.org/drawingml/2006/main">
          <a:srgbClr val="F5F7F5"/>
        </a:solidFill>
      </c:spPr>
    </c:plotArea>
    <c:plotVisOnly val="1"/>
  </c:chart>
  <c:spPr>
    <a:solidFill xmlns:a="http://schemas.openxmlformats.org/drawingml/2006/main">
      <a:srgbClr val="F5F7F5"/>
    </a:solidFill>
  </c:spPr>
</c:chartSpace>
</file>

<file path=ppt/slides/slide1.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3cda93b6ad145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fixed">
            <a:extLst xmlns:a="http://schemas.openxmlformats.org/drawingml/2006/main">
              <a:ext uri="{FF2B5EF4-FFF2-40B4-BE49-F238E27FC236}">
                <a16:creationId xmlns:a16="http://schemas.microsoft.com/office/drawing/2014/main" id="{E1098B5E-6707-4247-8DAF-C9AB23A03313}"/>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1BDC5"/>
                </a:solidFill>
                <a:latin typeface="Arial"/>
                <a:ea typeface="Arial"/>
                <a:cs typeface="Arial"/>
              </a:defRPr>
            </a:pPr>
            <a:r>
              <a:rPr sz="1350" b="0">
                <a:solidFill>
                  <a:srgbClr val="A1BDC5"/>
                </a:solidFill>
                <a:latin typeface="Arial"/>
                <a:ea typeface="Arial"/>
                <a:cs typeface="Arial"/>
              </a:rPr>
              <a:t>01</a:t>
            </a:r>
          </a:p>
        </p:txBody>
      </p:sp>
      <p:sp>
        <p:nvSpPr>
          <p:cNvPr id="3" name="fixed">
            <a:extLst xmlns:a="http://schemas.openxmlformats.org/drawingml/2006/main">
              <a:ext uri="{FF2B5EF4-FFF2-40B4-BE49-F238E27FC236}">
                <a16:creationId xmlns:a16="http://schemas.microsoft.com/office/drawing/2014/main" id="{CE638686-74F3-493C-8699-2586ABF36103}"/>
              </a:ext>
            </a:extLst>
          </p:cNvPr>
          <p:cNvSpPr>
            <a:spLocks xmlns:a="http://schemas.openxmlformats.org/drawingml/2006/main" noGrp="1"/>
          </p:cNvSpPr>
          <p:nvPr/>
        </p:nvSpPr>
        <p:spPr>
          <a:xfrm xmlns:a="http://schemas.openxmlformats.org/drawingml/2006/main">
            <a:off x="609600" y="1485900"/>
            <a:ext cx="857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FFFFF"/>
                </a:solidFill>
                <a:latin typeface="Arial"/>
                <a:ea typeface="Arial"/>
                <a:cs typeface="Arial"/>
              </a:defRPr>
            </a:pPr>
            <a:r>
              <a:rPr sz="6000" b="1">
                <a:solidFill>
                  <a:srgbClr val="FFFFFF"/>
                </a:solidFill>
                <a:latin typeface="Arial"/>
                <a:ea typeface="Arial"/>
                <a:cs typeface="Arial"/>
              </a:rPr>
              <a:t>IntegrityFlow</a:t>
            </a:r>
          </a:p>
        </p:txBody>
      </p:sp>
      <p:sp>
        <p:nvSpPr>
          <p:cNvPr id="4" name="reveal-1">
            <a:extLst xmlns:a="http://schemas.openxmlformats.org/drawingml/2006/main">
              <a:ext uri="{FF2B5EF4-FFF2-40B4-BE49-F238E27FC236}">
                <a16:creationId xmlns:a16="http://schemas.microsoft.com/office/drawing/2014/main" id="{B08BF1B2-806B-4339-B87D-6C3E0F54D6CE}"/>
              </a:ext>
            </a:extLst>
          </p:cNvPr>
          <p:cNvSpPr>
            <a:spLocks xmlns:a="http://schemas.openxmlformats.org/drawingml/2006/main" noGrp="1"/>
          </p:cNvSpPr>
          <p:nvPr/>
        </p:nvSpPr>
        <p:spPr>
          <a:xfrm xmlns:a="http://schemas.openxmlformats.org/drawingml/2006/main">
            <a:off x="647700" y="2762250"/>
            <a:ext cx="762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D8F2EC"/>
                </a:solidFill>
                <a:latin typeface="Arial"/>
                <a:ea typeface="Arial"/>
                <a:cs typeface="Arial"/>
              </a:defRPr>
            </a:pPr>
            <a:r>
              <a:rPr sz="3000" b="0">
                <a:solidFill>
                  <a:srgbClr val="D8F2EC"/>
                </a:solidFill>
                <a:latin typeface="Arial"/>
                <a:ea typeface="Arial"/>
                <a:cs typeface="Arial"/>
              </a:rPr>
              <a:t>Exam monitoring with local AI</a:t>
            </a:r>
          </a:p>
          <a:p xmlns:a="http://schemas.openxmlformats.org/drawingml/2006/main">
            <a:pPr>
              <a:defRPr sz="3000" b="0">
                <a:solidFill>
                  <a:srgbClr val="D8F2EC"/>
                </a:solidFill>
                <a:latin typeface="Arial"/>
                <a:ea typeface="Arial"/>
                <a:cs typeface="Arial"/>
              </a:defRPr>
            </a:pPr>
            <a:r>
              <a:rPr sz="3000" b="0">
                <a:solidFill>
                  <a:srgbClr val="D8F2EC"/>
                </a:solidFill>
                <a:latin typeface="Arial"/>
                <a:ea typeface="Arial"/>
                <a:cs typeface="Arial"/>
              </a:rPr>
              <a:t>and system controls</a:t>
            </a:r>
          </a:p>
        </p:txBody>
      </p:sp>
      <p:sp>
        <p:nvSpPr>
          <p:cNvPr id="5" name="fixed">
            <a:extLst xmlns:a="http://schemas.openxmlformats.org/drawingml/2006/main">
              <a:ext uri="{FF2B5EF4-FFF2-40B4-BE49-F238E27FC236}">
                <a16:creationId xmlns:a16="http://schemas.microsoft.com/office/drawing/2014/main" id="{69E99800-7AAF-444E-8212-D4EA4FEDB99D}"/>
              </a:ext>
            </a:extLst>
          </p:cNvPr>
          <p:cNvSpPr>
            <a:spLocks xmlns:a="http://schemas.openxmlformats.org/drawingml/2006/main" noGrp="1"/>
          </p:cNvSpPr>
          <p:nvPr/>
        </p:nvSpPr>
        <p:spPr>
          <a:xfrm xmlns:a="http://schemas.openxmlformats.org/drawingml/2006/main">
            <a:off x="647700" y="4286250"/>
            <a:ext cx="781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0DEE5"/>
                </a:solidFill>
                <a:latin typeface="Arial"/>
                <a:ea typeface="Arial"/>
                <a:cs typeface="Arial"/>
              </a:defRPr>
            </a:pPr>
            <a:r>
              <a:rPr sz="1875" b="0">
                <a:solidFill>
                  <a:srgbClr val="D0DEE5"/>
                </a:solidFill>
                <a:latin typeface="Arial"/>
                <a:ea typeface="Arial"/>
                <a:cs typeface="Arial"/>
              </a:rPr>
              <a:t>BSCS Final Year Project</a:t>
            </a:r>
          </a:p>
          <a:p xmlns:a="http://schemas.openxmlformats.org/drawingml/2006/main">
            <a:pPr>
              <a:defRPr sz="1875" b="0">
                <a:solidFill>
                  <a:srgbClr val="D0DEE5"/>
                </a:solidFill>
                <a:latin typeface="Arial"/>
                <a:ea typeface="Arial"/>
                <a:cs typeface="Arial"/>
              </a:defRPr>
            </a:pPr>
            <a:r>
              <a:rPr sz="1875" b="0">
                <a:solidFill>
                  <a:srgbClr val="D0DEE5"/>
                </a:solidFill>
                <a:latin typeface="Arial"/>
                <a:ea typeface="Arial"/>
                <a:cs typeface="Arial"/>
              </a:rPr>
              <a:t>Progress presentation  /  5 October 2026</a:t>
            </a:r>
          </a:p>
        </p:txBody>
      </p:sp>
      <p:sp>
        <p:nvSpPr>
          <p:cNvPr id="6" name="fixed">
            <a:extLst xmlns:a="http://schemas.openxmlformats.org/drawingml/2006/main">
              <a:ext uri="{FF2B5EF4-FFF2-40B4-BE49-F238E27FC236}">
                <a16:creationId xmlns:a16="http://schemas.microsoft.com/office/drawing/2014/main" id="{2A9A6E18-386D-45DE-9638-D24DA82FDDD3}"/>
              </a:ext>
            </a:extLst>
          </p:cNvPr>
          <p:cNvSpPr>
            <a:spLocks xmlns:a="http://schemas.openxmlformats.org/drawingml/2006/main" noGrp="1"/>
          </p:cNvSpPr>
          <p:nvPr/>
        </p:nvSpPr>
        <p:spPr>
          <a:xfrm xmlns:a="http://schemas.openxmlformats.org/drawingml/2006/main">
            <a:off x="647700" y="5410200"/>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1D5DD"/>
                </a:solidFill>
                <a:latin typeface="Arial"/>
                <a:ea typeface="Arial"/>
                <a:cs typeface="Arial"/>
              </a:defRPr>
            </a:pPr>
            <a:r>
              <a:rPr sz="1650" b="0">
                <a:solidFill>
                  <a:srgbClr val="C1D5DD"/>
                </a:solidFill>
                <a:latin typeface="Arial"/>
                <a:ea typeface="Arial"/>
                <a:cs typeface="Arial"/>
              </a:rPr>
              <a:t>Rao Umair Ahmed   ·   Muhammad Usman</a:t>
            </a:r>
          </a:p>
          <a:p xmlns:a="http://schemas.openxmlformats.org/drawingml/2006/main">
            <a:pPr>
              <a:defRPr sz="1650" b="0">
                <a:solidFill>
                  <a:srgbClr val="C1D5DD"/>
                </a:solidFill>
                <a:latin typeface="Arial"/>
                <a:ea typeface="Arial"/>
                <a:cs typeface="Arial"/>
              </a:defRPr>
            </a:pPr>
            <a:r>
              <a:rPr sz="1650" b="0">
                <a:solidFill>
                  <a:srgbClr val="C1D5DD"/>
                </a:solidFill>
                <a:latin typeface="Arial"/>
                <a:ea typeface="Arial"/>
                <a:cs typeface="Arial"/>
              </a:rPr>
              <a:t>Muhammad Abubakar Siddique</a:t>
            </a:r>
          </a:p>
          <a:p xmlns:a="http://schemas.openxmlformats.org/drawingml/2006/main">
            <a:pPr>
              <a:defRPr sz="1650" b="0">
                <a:solidFill>
                  <a:srgbClr val="C1D5DD"/>
                </a:solidFill>
                <a:latin typeface="Arial"/>
                <a:ea typeface="Arial"/>
                <a:cs typeface="Arial"/>
              </a:defRPr>
            </a:pPr>
            <a:r>
              <a:rPr sz="1650" b="0">
                <a:solidFill>
                  <a:srgbClr val="C1D5DD"/>
                </a:solidFill>
                <a:latin typeface="Arial"/>
                <a:ea typeface="Arial"/>
                <a:cs typeface="Arial"/>
              </a:rPr>
              <a:t>Supervisor: Mr. Abdullah</a:t>
            </a:r>
          </a:p>
        </p:txBody>
      </p:sp>
    </p:spTree>
    <p:extLst>
      <p:ext uri="{BB962C8B-B14F-4D97-AF65-F5344CB8AC3E}">
        <p14:creationId xmlns:p14="http://schemas.microsoft.com/office/powerpoint/2010/main" val="524045262"/>
      </p:ext>
    </p:extLst>
  </p:cSld>
</p:sld>
</file>

<file path=ppt/slides/slide2.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0" name="fixed">
            <a:extLst xmlns:a="http://schemas.openxmlformats.org/drawingml/2006/main">
              <a:ext uri="{FF2B5EF4-FFF2-40B4-BE49-F238E27FC236}">
                <a16:creationId xmlns:a16="http://schemas.microsoft.com/office/drawing/2014/main" id="{15E75580-E25D-474B-861C-7787FAD1F06B}"/>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The examination environment needs more visibility</a:t>
            </a:r>
          </a:p>
        </p:txBody>
      </p:sp>
      <p:sp>
        <p:nvSpPr>
          <p:cNvPr id="2" name="fixed">
            <a:extLst xmlns:a="http://schemas.openxmlformats.org/drawingml/2006/main">
              <a:ext uri="{FF2B5EF4-FFF2-40B4-BE49-F238E27FC236}">
                <a16:creationId xmlns:a16="http://schemas.microsoft.com/office/drawing/2014/main" id="{98F7A1AD-5F61-4B22-9736-8618500026B6}"/>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02</a:t>
            </a:r>
          </a:p>
        </p:txBody>
      </p:sp>
      <p:sp>
        <p:nvSpPr>
          <p:cNvPr id="3" name="reveal-1">
            <a:extLst xmlns:a="http://schemas.openxmlformats.org/drawingml/2006/main">
              <a:ext uri="{FF2B5EF4-FFF2-40B4-BE49-F238E27FC236}">
                <a16:creationId xmlns:a16="http://schemas.microsoft.com/office/drawing/2014/main" id="{0781602B-B848-4960-BC7A-18D37E13251B}"/>
              </a:ext>
            </a:extLst>
          </p:cNvPr>
          <p:cNvSpPr>
            <a:spLocks xmlns:a="http://schemas.openxmlformats.org/drawingml/2006/main" noGrp="1"/>
          </p:cNvSpPr>
          <p:nvPr/>
        </p:nvSpPr>
        <p:spPr>
          <a:xfrm xmlns:a="http://schemas.openxmlformats.org/drawingml/2006/main">
            <a:off x="609600" y="1952625"/>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01</a:t>
            </a:r>
          </a:p>
        </p:txBody>
      </p:sp>
      <p:sp>
        <p:nvSpPr>
          <p:cNvPr id="4" name="reveal-1">
            <a:extLst xmlns:a="http://schemas.openxmlformats.org/drawingml/2006/main">
              <a:ext uri="{FF2B5EF4-FFF2-40B4-BE49-F238E27FC236}">
                <a16:creationId xmlns:a16="http://schemas.microsoft.com/office/drawing/2014/main" id="{374E3409-82F4-4B69-A8BF-EE774E484867}"/>
              </a:ext>
            </a:extLst>
          </p:cNvPr>
          <p:cNvSpPr>
            <a:spLocks xmlns:a="http://schemas.openxmlformats.org/drawingml/2006/main" noGrp="1"/>
          </p:cNvSpPr>
          <p:nvPr/>
        </p:nvSpPr>
        <p:spPr>
          <a:xfrm xmlns:a="http://schemas.openxmlformats.org/drawingml/2006/main">
            <a:off x="609600" y="23526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Beyond the camera</a:t>
            </a:r>
          </a:p>
        </p:txBody>
      </p:sp>
      <p:sp>
        <p:nvSpPr>
          <p:cNvPr id="5" name="reveal-1">
            <a:extLst xmlns:a="http://schemas.openxmlformats.org/drawingml/2006/main">
              <a:ext uri="{FF2B5EF4-FFF2-40B4-BE49-F238E27FC236}">
                <a16:creationId xmlns:a16="http://schemas.microsoft.com/office/drawing/2014/main" id="{3529D5AF-E825-41F2-97AD-895DB012A02C}"/>
              </a:ext>
            </a:extLst>
          </p:cNvPr>
          <p:cNvSpPr>
            <a:spLocks xmlns:a="http://schemas.openxmlformats.org/drawingml/2006/main" noGrp="1"/>
          </p:cNvSpPr>
          <p:nvPr/>
        </p:nvSpPr>
        <p:spPr>
          <a:xfrm xmlns:a="http://schemas.openxmlformats.org/drawingml/2006/main">
            <a:off x="609600" y="3019425"/>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Unauthorized applications, pre-existing files, removable storage and extra displays can affect an exam.</a:t>
            </a:r>
          </a:p>
        </p:txBody>
      </p:sp>
      <p:sp>
        <p:nvSpPr>
          <p:cNvPr id="6" name="reveal-2">
            <a:extLst xmlns:a="http://schemas.openxmlformats.org/drawingml/2006/main">
              <a:ext uri="{FF2B5EF4-FFF2-40B4-BE49-F238E27FC236}">
                <a16:creationId xmlns:a16="http://schemas.microsoft.com/office/drawing/2014/main" id="{8B42F4EE-A077-4ABE-9120-325FD7410944}"/>
              </a:ext>
            </a:extLst>
          </p:cNvPr>
          <p:cNvSpPr>
            <a:spLocks xmlns:a="http://schemas.openxmlformats.org/drawingml/2006/main" noGrp="1"/>
          </p:cNvSpPr>
          <p:nvPr/>
        </p:nvSpPr>
        <p:spPr>
          <a:xfrm xmlns:a="http://schemas.openxmlformats.org/drawingml/2006/main">
            <a:off x="6381750" y="1952625"/>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02</a:t>
            </a:r>
          </a:p>
        </p:txBody>
      </p:sp>
      <p:sp>
        <p:nvSpPr>
          <p:cNvPr id="7" name="reveal-2">
            <a:extLst xmlns:a="http://schemas.openxmlformats.org/drawingml/2006/main">
              <a:ext uri="{FF2B5EF4-FFF2-40B4-BE49-F238E27FC236}">
                <a16:creationId xmlns:a16="http://schemas.microsoft.com/office/drawing/2014/main" id="{2BE74598-5CC4-44E6-BF2B-F1D6FFCF1C81}"/>
              </a:ext>
            </a:extLst>
          </p:cNvPr>
          <p:cNvSpPr>
            <a:spLocks xmlns:a="http://schemas.openxmlformats.org/drawingml/2006/main" noGrp="1"/>
          </p:cNvSpPr>
          <p:nvPr/>
        </p:nvSpPr>
        <p:spPr>
          <a:xfrm xmlns:a="http://schemas.openxmlformats.org/drawingml/2006/main">
            <a:off x="6381750" y="23526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Beyond a single alert</a:t>
            </a:r>
          </a:p>
        </p:txBody>
      </p:sp>
      <p:sp>
        <p:nvSpPr>
          <p:cNvPr id="8" name="reveal-2">
            <a:extLst xmlns:a="http://schemas.openxmlformats.org/drawingml/2006/main">
              <a:ext uri="{FF2B5EF4-FFF2-40B4-BE49-F238E27FC236}">
                <a16:creationId xmlns:a16="http://schemas.microsoft.com/office/drawing/2014/main" id="{0C48D667-BC7F-4538-95BB-438F2FBD0F11}"/>
              </a:ext>
            </a:extLst>
          </p:cNvPr>
          <p:cNvSpPr>
            <a:spLocks xmlns:a="http://schemas.openxmlformats.org/drawingml/2006/main" noGrp="1"/>
          </p:cNvSpPr>
          <p:nvPr/>
        </p:nvSpPr>
        <p:spPr>
          <a:xfrm xmlns:a="http://schemas.openxmlformats.org/drawingml/2006/main">
            <a:off x="6381750" y="3019425"/>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Head movement and speech can be innocent. Examiners need context, evidence and control over the final decision.</a:t>
            </a:r>
          </a:p>
        </p:txBody>
      </p:sp>
      <p:sp>
        <p:nvSpPr>
          <p:cNvPr id="9" name="reveal-3">
            <a:extLst xmlns:a="http://schemas.openxmlformats.org/drawingml/2006/main">
              <a:ext uri="{FF2B5EF4-FFF2-40B4-BE49-F238E27FC236}">
                <a16:creationId xmlns:a16="http://schemas.microsoft.com/office/drawing/2014/main" id="{6B787C84-EE49-4933-B896-4516C6714B2E}"/>
              </a:ext>
            </a:extLst>
          </p:cNvPr>
          <p:cNvSpPr>
            <a:spLocks xmlns:a="http://schemas.openxmlformats.org/drawingml/2006/main" noGrp="1"/>
          </p:cNvSpPr>
          <p:nvPr/>
        </p:nvSpPr>
        <p:spPr>
          <a:xfrm xmlns:a="http://schemas.openxmlformats.org/drawingml/2006/main">
            <a:off x="609600" y="56007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Project objective: preserve useful signals for examiner review</a:t>
            </a:r>
          </a:p>
        </p:txBody>
      </p:sp>
    </p:spTree>
    <p:extLst>
      <p:ext uri="{BB962C8B-B14F-4D97-AF65-F5344CB8AC3E}">
        <p14:creationId xmlns:p14="http://schemas.microsoft.com/office/powerpoint/2010/main" val="988553807"/>
      </p:ext>
    </p:extLst>
  </p:cSld>
</p:sld>
</file>

<file path=ppt/slides/slide3.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9" name="fixed">
            <a:extLst xmlns:a="http://schemas.openxmlformats.org/drawingml/2006/main">
              <a:ext uri="{FF2B5EF4-FFF2-40B4-BE49-F238E27FC236}">
                <a16:creationId xmlns:a16="http://schemas.microsoft.com/office/drawing/2014/main" id="{E2E41E7D-B54E-43FC-9310-05BDCB0EF26A}"/>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Scope and objectives</a:t>
            </a:r>
          </a:p>
        </p:txBody>
      </p:sp>
      <p:sp>
        <p:nvSpPr>
          <p:cNvPr id="2" name="fixed">
            <a:extLst xmlns:a="http://schemas.openxmlformats.org/drawingml/2006/main">
              <a:ext uri="{FF2B5EF4-FFF2-40B4-BE49-F238E27FC236}">
                <a16:creationId xmlns:a16="http://schemas.microsoft.com/office/drawing/2014/main" id="{4CB38F26-5D38-43E6-96CE-B8671E670606}"/>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03</a:t>
            </a:r>
          </a:p>
        </p:txBody>
      </p:sp>
      <p:sp>
        <p:nvSpPr>
          <p:cNvPr id="3" name="reveal-1">
            <a:extLst xmlns:a="http://schemas.openxmlformats.org/drawingml/2006/main">
              <a:ext uri="{FF2B5EF4-FFF2-40B4-BE49-F238E27FC236}">
                <a16:creationId xmlns:a16="http://schemas.microsoft.com/office/drawing/2014/main" id="{6E9491BD-7AA6-4D2A-A6AE-90155B5E6E8B}"/>
              </a:ext>
            </a:extLst>
          </p:cNvPr>
          <p:cNvSpPr>
            <a:spLocks xmlns:a="http://schemas.openxmlformats.org/drawingml/2006/main" noGrp="1"/>
          </p:cNvSpPr>
          <p:nvPr/>
        </p:nvSpPr>
        <p:spPr>
          <a:xfrm xmlns:a="http://schemas.openxmlformats.org/drawingml/2006/main">
            <a:off x="609600" y="1857375"/>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SCOPE</a:t>
            </a:r>
          </a:p>
        </p:txBody>
      </p:sp>
      <p:sp>
        <p:nvSpPr>
          <p:cNvPr id="4" name="reveal-1">
            <a:extLst xmlns:a="http://schemas.openxmlformats.org/drawingml/2006/main">
              <a:ext uri="{FF2B5EF4-FFF2-40B4-BE49-F238E27FC236}">
                <a16:creationId xmlns:a16="http://schemas.microsoft.com/office/drawing/2014/main" id="{FBE5DAA7-84A8-4886-BDE2-F63C15248BE7}"/>
              </a:ext>
            </a:extLst>
          </p:cNvPr>
          <p:cNvSpPr>
            <a:spLocks xmlns:a="http://schemas.openxmlformats.org/drawingml/2006/main" noGrp="1"/>
          </p:cNvSpPr>
          <p:nvPr/>
        </p:nvSpPr>
        <p:spPr>
          <a:xfrm xmlns:a="http://schemas.openxmlformats.org/drawingml/2006/main">
            <a:off x="609600" y="22574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Two examination modes</a:t>
            </a:r>
          </a:p>
        </p:txBody>
      </p:sp>
      <p:sp>
        <p:nvSpPr>
          <p:cNvPr id="5" name="reveal-1">
            <a:extLst xmlns:a="http://schemas.openxmlformats.org/drawingml/2006/main">
              <a:ext uri="{FF2B5EF4-FFF2-40B4-BE49-F238E27FC236}">
                <a16:creationId xmlns:a16="http://schemas.microsoft.com/office/drawing/2014/main" id="{CF1F8809-5AB8-41DC-AFD6-37CAA73A0EFC}"/>
              </a:ext>
            </a:extLst>
          </p:cNvPr>
          <p:cNvSpPr>
            <a:spLocks xmlns:a="http://schemas.openxmlformats.org/drawingml/2006/main" noGrp="1"/>
          </p:cNvSpPr>
          <p:nvPr/>
        </p:nvSpPr>
        <p:spPr>
          <a:xfrm xmlns:a="http://schemas.openxmlformats.org/drawingml/2006/main">
            <a:off x="609600" y="2924175"/>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Online exams: local vision and voice monitoring</a:t>
            </a:r>
          </a:p>
          <a:p xmlns:a="http://schemas.openxmlformats.org/drawingml/2006/main">
            <a:r>
              <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Physical lab: system and peripheral controls</a:t>
            </a:r>
          </a:p>
        </p:txBody>
      </p:sp>
      <p:sp>
        <p:nvSpPr>
          <p:cNvPr id="6" name="reveal-2">
            <a:extLst xmlns:a="http://schemas.openxmlformats.org/drawingml/2006/main">
              <a:ext uri="{FF2B5EF4-FFF2-40B4-BE49-F238E27FC236}">
                <a16:creationId xmlns:a16="http://schemas.microsoft.com/office/drawing/2014/main" id="{C7809B45-CE5E-4FDB-B416-873686EECEFD}"/>
              </a:ext>
            </a:extLst>
          </p:cNvPr>
          <p:cNvSpPr>
            <a:spLocks xmlns:a="http://schemas.openxmlformats.org/drawingml/2006/main" noGrp="1"/>
          </p:cNvSpPr>
          <p:nvPr/>
        </p:nvSpPr>
        <p:spPr>
          <a:xfrm xmlns:a="http://schemas.openxmlformats.org/drawingml/2006/main">
            <a:off x="6381750" y="1857375"/>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OBJECTIVES</a:t>
            </a:r>
          </a:p>
        </p:txBody>
      </p:sp>
      <p:sp>
        <p:nvSpPr>
          <p:cNvPr id="7" name="reveal-2">
            <a:extLst xmlns:a="http://schemas.openxmlformats.org/drawingml/2006/main">
              <a:ext uri="{FF2B5EF4-FFF2-40B4-BE49-F238E27FC236}">
                <a16:creationId xmlns:a16="http://schemas.microsoft.com/office/drawing/2014/main" id="{DE9EE71F-EDBF-4C55-BC14-4D98857C9EDD}"/>
              </a:ext>
            </a:extLst>
          </p:cNvPr>
          <p:cNvSpPr>
            <a:spLocks xmlns:a="http://schemas.openxmlformats.org/drawingml/2006/main" noGrp="1"/>
          </p:cNvSpPr>
          <p:nvPr/>
        </p:nvSpPr>
        <p:spPr>
          <a:xfrm xmlns:a="http://schemas.openxmlformats.org/drawingml/2006/main">
            <a:off x="6381750" y="22574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A complete review workflow</a:t>
            </a:r>
          </a:p>
        </p:txBody>
      </p:sp>
      <p:sp>
        <p:nvSpPr>
          <p:cNvPr id="8" name="reveal-2">
            <a:extLst xmlns:a="http://schemas.openxmlformats.org/drawingml/2006/main">
              <a:ext uri="{FF2B5EF4-FFF2-40B4-BE49-F238E27FC236}">
                <a16:creationId xmlns:a16="http://schemas.microsoft.com/office/drawing/2014/main" id="{BEED44CD-DE7D-4166-8C1F-C0DF5098152A}"/>
              </a:ext>
            </a:extLst>
          </p:cNvPr>
          <p:cNvSpPr>
            <a:spLocks xmlns:a="http://schemas.openxmlformats.org/drawingml/2006/main" noGrp="1"/>
          </p:cNvSpPr>
          <p:nvPr/>
        </p:nvSpPr>
        <p:spPr>
          <a:xfrm xmlns:a="http://schemas.openxmlformats.org/drawingml/2006/main">
            <a:off x="6381750" y="2924175"/>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Secure exam entry and answer submission</a:t>
            </a:r>
          </a:p>
          <a:p xmlns:a="http://schemas.openxmlformats.org/drawingml/2006/main">
            <a:r>
              <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Capture evidence and recover offline events</a:t>
            </a:r>
          </a:p>
          <a:p xmlns:a="http://schemas.openxmlformats.org/drawingml/2006/main">
            <a:r>
              <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Give examiners timely review tools</a:t>
            </a:r>
          </a:p>
        </p:txBody>
      </p:sp>
    </p:spTree>
    <p:extLst>
      <p:ext uri="{BB962C8B-B14F-4D97-AF65-F5344CB8AC3E}">
        <p14:creationId xmlns:p14="http://schemas.microsoft.com/office/powerpoint/2010/main" val="1973214111"/>
      </p:ext>
    </p:extLst>
  </p:cSld>
</p:sld>
</file>

<file path=ppt/slides/slide4.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7" name="fixed">
            <a:extLst xmlns:a="http://schemas.openxmlformats.org/drawingml/2006/main">
              <a:ext uri="{FF2B5EF4-FFF2-40B4-BE49-F238E27FC236}">
                <a16:creationId xmlns:a16="http://schemas.microsoft.com/office/drawing/2014/main" id="{1C6C3C8E-6E57-4161-8076-28432761E3E0}"/>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System architecture</a:t>
            </a:r>
          </a:p>
        </p:txBody>
      </p:sp>
      <p:sp>
        <p:nvSpPr>
          <p:cNvPr id="2" name="fixed">
            <a:extLst xmlns:a="http://schemas.openxmlformats.org/drawingml/2006/main">
              <a:ext uri="{FF2B5EF4-FFF2-40B4-BE49-F238E27FC236}">
                <a16:creationId xmlns:a16="http://schemas.microsoft.com/office/drawing/2014/main" id="{E60C0834-FE4F-44B6-8481-7EDD0AEB9A1C}"/>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04</a:t>
            </a:r>
          </a:p>
        </p:txBody>
      </p:sp>
      <p:sp>
        <p:nvSpPr>
          <p:cNvPr id="3" name="fixed">
            <a:extLst xmlns:a="http://schemas.openxmlformats.org/drawingml/2006/main">
              <a:ext uri="{FF2B5EF4-FFF2-40B4-BE49-F238E27FC236}">
                <a16:creationId xmlns:a16="http://schemas.microsoft.com/office/drawing/2014/main" id="{02A618F7-594F-4260-9B92-E7D0A2FD6153}"/>
              </a:ext>
            </a:extLst>
          </p:cNvPr>
          <p:cNvSpPr>
            <a:spLocks xmlns:a="http://schemas.openxmlformats.org/drawingml/2006/main" noGrp="1"/>
          </p:cNvSpPr>
          <p:nvPr/>
        </p:nvSpPr>
        <p:spPr>
          <a:xfrm xmlns:a="http://schemas.openxmlformats.org/drawingml/2006/main">
            <a:off x="609600" y="18097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Candidate workstation</a:t>
            </a:r>
          </a:p>
        </p:txBody>
      </p:sp>
      <p:sp>
        <p:nvSpPr>
          <p:cNvPr id="4" name="fixed">
            <a:extLst xmlns:a="http://schemas.openxmlformats.org/drawingml/2006/main">
              <a:ext uri="{FF2B5EF4-FFF2-40B4-BE49-F238E27FC236}">
                <a16:creationId xmlns:a16="http://schemas.microsoft.com/office/drawing/2014/main" id="{CF2E365A-3E9B-447C-9957-C986C3A1D9D2}"/>
              </a:ext>
            </a:extLst>
          </p:cNvPr>
          <p:cNvSpPr>
            <a:spLocks xmlns:a="http://schemas.openxmlformats.org/drawingml/2006/main" noGrp="1"/>
          </p:cNvSpPr>
          <p:nvPr/>
        </p:nvSpPr>
        <p:spPr>
          <a:xfrm xmlns:a="http://schemas.openxmlformats.org/drawingml/2006/main">
            <a:off x="6381750" y="18097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Central review</a:t>
            </a:r>
          </a:p>
        </p:txBody>
      </p:sp>
      <p:sp>
        <p:nvSpPr>
          <p:cNvPr id="5" name="reveal-1">
            <a:extLst xmlns:a="http://schemas.openxmlformats.org/drawingml/2006/main">
              <a:ext uri="{FF2B5EF4-FFF2-40B4-BE49-F238E27FC236}">
                <a16:creationId xmlns:a16="http://schemas.microsoft.com/office/drawing/2014/main" id="{35360B7A-1C66-4955-B761-CDA7B7F66454}"/>
              </a:ext>
            </a:extLst>
          </p:cNvPr>
          <p:cNvSpPr>
            <a:spLocks xmlns:a="http://schemas.openxmlformats.org/drawingml/2006/main" noGrp="1"/>
          </p:cNvSpPr>
          <p:nvPr/>
        </p:nvSpPr>
        <p:spPr>
          <a:xfrm xmlns:a="http://schemas.openxmlformats.org/drawingml/2006/main">
            <a:off x="609600" y="2543175"/>
            <a:ext cx="2381250" cy="9525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Python monitors</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Vision / voice / OS</a:t>
            </a:r>
          </a:p>
        </p:txBody>
      </p:sp>
      <p:sp>
        <p:nvSpPr>
          <p:cNvPr id="6" name="reveal-2">
            <a:extLst xmlns:a="http://schemas.openxmlformats.org/drawingml/2006/main">
              <a:ext uri="{FF2B5EF4-FFF2-40B4-BE49-F238E27FC236}">
                <a16:creationId xmlns:a16="http://schemas.microsoft.com/office/drawing/2014/main" id="{962E0CFD-AAE3-4FC1-9A00-1514F5BC57FE}"/>
              </a:ext>
            </a:extLst>
          </p:cNvPr>
          <p:cNvSpPr>
            <a:spLocks xmlns:a="http://schemas.openxmlformats.org/drawingml/2006/main" noGrp="1"/>
          </p:cNvSpPr>
          <p:nvPr/>
        </p:nvSpPr>
        <p:spPr>
          <a:xfrm xmlns:a="http://schemas.openxmlformats.org/drawingml/2006/main">
            <a:off x="3467100" y="2543175"/>
            <a:ext cx="2381250" cy="9525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Electron app</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Kiosk / IPC / queue</a:t>
            </a:r>
          </a:p>
        </p:txBody>
      </p:sp>
      <p:sp>
        <p:nvSpPr>
          <p:cNvPr id="7" name="reveal-3">
            <a:extLst xmlns:a="http://schemas.openxmlformats.org/drawingml/2006/main">
              <a:ext uri="{FF2B5EF4-FFF2-40B4-BE49-F238E27FC236}">
                <a16:creationId xmlns:a16="http://schemas.microsoft.com/office/drawing/2014/main" id="{B285E727-52D0-4399-9DDA-4854FCF0C916}"/>
              </a:ext>
            </a:extLst>
          </p:cNvPr>
          <p:cNvSpPr>
            <a:spLocks xmlns:a="http://schemas.openxmlformats.org/drawingml/2006/main" noGrp="1"/>
          </p:cNvSpPr>
          <p:nvPr/>
        </p:nvSpPr>
        <p:spPr>
          <a:xfrm xmlns:a="http://schemas.openxmlformats.org/drawingml/2006/main">
            <a:off x="6324600" y="2543175"/>
            <a:ext cx="2381250" cy="9525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Express server</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Validation / scoring</a:t>
            </a:r>
          </a:p>
        </p:txBody>
      </p:sp>
      <p:sp>
        <p:nvSpPr>
          <p:cNvPr id="8" name="reveal-4">
            <a:extLst xmlns:a="http://schemas.openxmlformats.org/drawingml/2006/main">
              <a:ext uri="{FF2B5EF4-FFF2-40B4-BE49-F238E27FC236}">
                <a16:creationId xmlns:a16="http://schemas.microsoft.com/office/drawing/2014/main" id="{BDCF71B5-DA78-4E81-B8B7-151CA3A659AB}"/>
              </a:ext>
            </a:extLst>
          </p:cNvPr>
          <p:cNvSpPr>
            <a:spLocks xmlns:a="http://schemas.openxmlformats.org/drawingml/2006/main" noGrp="1"/>
          </p:cNvSpPr>
          <p:nvPr/>
        </p:nvSpPr>
        <p:spPr>
          <a:xfrm xmlns:a="http://schemas.openxmlformats.org/drawingml/2006/main">
            <a:off x="9182100" y="2543175"/>
            <a:ext cx="2381250" cy="9525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React dashboard</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Examiner review</a:t>
            </a:r>
          </a:p>
        </p:txBody>
      </p:sp>
      <p:cxnSp>
        <p:nvCxnSpPr>
          <p:cNvPr id="25" name="reveal-2"/>
          <p:cNvCxnSpPr>
            <a:stCxn xmlns:a="http://schemas.openxmlformats.org/drawingml/2006/main" id="5" idx="3"/>
            <a:endCxn xmlns:a="http://schemas.openxmlformats.org/drawingml/2006/main" id="6" idx="1"/>
          </p:cNvCxnSpPr>
          <p:nvPr/>
        </p:nvCxnSpPr>
        <p:spPr>
          <a:xfrm xmlns:a="http://schemas.openxmlformats.org/drawingml/2006/main">
            <a:off x="2990850" y="301942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6" name="reveal-3"/>
          <p:cNvCxnSpPr>
            <a:stCxn xmlns:a="http://schemas.openxmlformats.org/drawingml/2006/main" id="6" idx="3"/>
            <a:endCxn xmlns:a="http://schemas.openxmlformats.org/drawingml/2006/main" id="7" idx="1"/>
          </p:cNvCxnSpPr>
          <p:nvPr/>
        </p:nvCxnSpPr>
        <p:spPr>
          <a:xfrm xmlns:a="http://schemas.openxmlformats.org/drawingml/2006/main">
            <a:off x="5848350" y="301942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7" name="reveal-4"/>
          <p:cNvCxnSpPr>
            <a:stCxn xmlns:a="http://schemas.openxmlformats.org/drawingml/2006/main" id="7" idx="3"/>
            <a:endCxn xmlns:a="http://schemas.openxmlformats.org/drawingml/2006/main" id="8" idx="1"/>
          </p:cNvCxnSpPr>
          <p:nvPr/>
        </p:nvCxnSpPr>
        <p:spPr>
          <a:xfrm xmlns:a="http://schemas.openxmlformats.org/drawingml/2006/main">
            <a:off x="8705850" y="301942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sp>
        <p:nvSpPr>
          <p:cNvPr id="12" name="reveal-1">
            <a:extLst xmlns:a="http://schemas.openxmlformats.org/drawingml/2006/main">
              <a:ext uri="{FF2B5EF4-FFF2-40B4-BE49-F238E27FC236}">
                <a16:creationId xmlns:a16="http://schemas.microsoft.com/office/drawing/2014/main" id="{2B8526E8-A505-4D91-ADAD-2FDCDDBAF421}"/>
              </a:ext>
            </a:extLst>
          </p:cNvPr>
          <p:cNvSpPr>
            <a:spLocks xmlns:a="http://schemas.openxmlformats.org/drawingml/2006/main" noGrp="1"/>
          </p:cNvSpPr>
          <p:nvPr/>
        </p:nvSpPr>
        <p:spPr>
          <a:xfrm xmlns:a="http://schemas.openxmlformats.org/drawingml/2006/main">
            <a:off x="609600" y="37338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3"/>
                </a:solidFill>
                <a:latin typeface="Arial"/>
                <a:ea typeface="Arial"/>
                <a:cs typeface="Arial"/>
              </a:defRPr>
            </a:pPr>
            <a:r>
              <a:rPr sz="1725" b="0">
                <a:solidFill>
                  <a:srgbClr val="526573"/>
                </a:solidFill>
                <a:latin typeface="Arial"/>
                <a:ea typeface="Arial"/>
                <a:cs typeface="Arial"/>
              </a:rPr>
              <a:t>SQLite event spool</a:t>
            </a:r>
          </a:p>
        </p:txBody>
      </p:sp>
      <p:sp>
        <p:nvSpPr>
          <p:cNvPr id="13" name="reveal-2">
            <a:extLst xmlns:a="http://schemas.openxmlformats.org/drawingml/2006/main">
              <a:ext uri="{FF2B5EF4-FFF2-40B4-BE49-F238E27FC236}">
                <a16:creationId xmlns:a16="http://schemas.microsoft.com/office/drawing/2014/main" id="{EA40B17A-C51B-4221-83AE-8E1E9494F8BE}"/>
              </a:ext>
            </a:extLst>
          </p:cNvPr>
          <p:cNvSpPr>
            <a:spLocks xmlns:a="http://schemas.openxmlformats.org/drawingml/2006/main" noGrp="1"/>
          </p:cNvSpPr>
          <p:nvPr/>
        </p:nvSpPr>
        <p:spPr>
          <a:xfrm xmlns:a="http://schemas.openxmlformats.org/drawingml/2006/main">
            <a:off x="3467100" y="373380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3"/>
                </a:solidFill>
                <a:latin typeface="Arial"/>
                <a:ea typeface="Arial"/>
                <a:cs typeface="Arial"/>
              </a:defRPr>
            </a:pPr>
            <a:r>
              <a:rPr sz="1725" b="0">
                <a:solidFill>
                  <a:srgbClr val="526573"/>
                </a:solidFill>
                <a:latin typeface="Arial"/>
                <a:ea typeface="Arial"/>
                <a:cs typeface="Arial"/>
              </a:rPr>
              <a:t>Disk-backed retry queue</a:t>
            </a:r>
          </a:p>
        </p:txBody>
      </p:sp>
      <p:sp>
        <p:nvSpPr>
          <p:cNvPr id="14" name="reveal-3">
            <a:extLst xmlns:a="http://schemas.openxmlformats.org/drawingml/2006/main">
              <a:ext uri="{FF2B5EF4-FFF2-40B4-BE49-F238E27FC236}">
                <a16:creationId xmlns:a16="http://schemas.microsoft.com/office/drawing/2014/main" id="{EA3DD44C-5EDD-4958-BBE4-EE255090B181}"/>
              </a:ext>
            </a:extLst>
          </p:cNvPr>
          <p:cNvSpPr>
            <a:spLocks xmlns:a="http://schemas.openxmlformats.org/drawingml/2006/main" noGrp="1"/>
          </p:cNvSpPr>
          <p:nvPr/>
        </p:nvSpPr>
        <p:spPr>
          <a:xfrm xmlns:a="http://schemas.openxmlformats.org/drawingml/2006/main">
            <a:off x="6324600" y="37338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3"/>
                </a:solidFill>
                <a:latin typeface="Arial"/>
                <a:ea typeface="Arial"/>
                <a:cs typeface="Arial"/>
              </a:defRPr>
            </a:pPr>
            <a:r>
              <a:rPr sz="1725" b="0">
                <a:solidFill>
                  <a:srgbClr val="526573"/>
                </a:solidFill>
                <a:latin typeface="Arial"/>
                <a:ea typeface="Arial"/>
                <a:cs typeface="Arial"/>
              </a:rPr>
              <a:t>MongoDB + media storage</a:t>
            </a:r>
          </a:p>
        </p:txBody>
      </p:sp>
      <p:sp>
        <p:nvSpPr>
          <p:cNvPr id="15" name="reveal-4">
            <a:extLst xmlns:a="http://schemas.openxmlformats.org/drawingml/2006/main">
              <a:ext uri="{FF2B5EF4-FFF2-40B4-BE49-F238E27FC236}">
                <a16:creationId xmlns:a16="http://schemas.microsoft.com/office/drawing/2014/main" id="{B5957A58-565F-420C-9CF9-BC3DF8194EF6}"/>
              </a:ext>
            </a:extLst>
          </p:cNvPr>
          <p:cNvSpPr>
            <a:spLocks xmlns:a="http://schemas.openxmlformats.org/drawingml/2006/main" noGrp="1"/>
          </p:cNvSpPr>
          <p:nvPr/>
        </p:nvSpPr>
        <p:spPr>
          <a:xfrm xmlns:a="http://schemas.openxmlformats.org/drawingml/2006/main">
            <a:off x="9182100" y="37338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3"/>
                </a:solidFill>
                <a:latin typeface="Arial"/>
                <a:ea typeface="Arial"/>
                <a:cs typeface="Arial"/>
              </a:defRPr>
            </a:pPr>
            <a:r>
              <a:rPr sz="1725" b="0">
                <a:solidFill>
                  <a:srgbClr val="526573"/>
                </a:solidFill>
                <a:latin typeface="Arial"/>
                <a:ea typeface="Arial"/>
                <a:cs typeface="Arial"/>
              </a:rPr>
              <a:t>Owner / admin sockets</a:t>
            </a:r>
          </a:p>
        </p:txBody>
      </p:sp>
      <p:sp>
        <p:nvSpPr>
          <p:cNvPr id="16" name="fixed">
            <a:extLst xmlns:a="http://schemas.openxmlformats.org/drawingml/2006/main">
              <a:ext uri="{FF2B5EF4-FFF2-40B4-BE49-F238E27FC236}">
                <a16:creationId xmlns:a16="http://schemas.microsoft.com/office/drawing/2014/main" id="{9E66FCEC-78E4-40F2-9C40-00FFA70BA768}"/>
              </a:ext>
            </a:extLst>
          </p:cNvPr>
          <p:cNvSpPr>
            <a:spLocks xmlns:a="http://schemas.openxmlformats.org/drawingml/2006/main" noGrp="1"/>
          </p:cNvSpPr>
          <p:nvPr/>
        </p:nvSpPr>
        <p:spPr>
          <a:xfrm xmlns:a="http://schemas.openxmlformats.org/drawingml/2006/main">
            <a:off x="609600" y="538162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32D3A"/>
                </a:solidFill>
                <a:latin typeface="Arial"/>
                <a:ea typeface="Arial"/>
                <a:cs typeface="Arial"/>
              </a:defRPr>
            </a:pPr>
            <a:r>
              <a:rPr sz="2400" b="1">
                <a:solidFill>
                  <a:srgbClr val="132D3A"/>
                </a:solidFill>
                <a:latin typeface="Arial"/>
                <a:ea typeface="Arial"/>
                <a:cs typeface="Arial"/>
              </a:rPr>
              <a:t>Local inference. Event-triggered evidence. Central examiner decisions.</a:t>
            </a:r>
          </a:p>
        </p:txBody>
      </p:sp>
    </p:spTree>
    <p:extLst>
      <p:ext uri="{BB962C8B-B14F-4D97-AF65-F5344CB8AC3E}">
        <p14:creationId xmlns:p14="http://schemas.microsoft.com/office/powerpoint/2010/main" val="1507183660"/>
      </p:ext>
    </p:extLst>
  </p:cSld>
</p:sld>
</file>

<file path=ppt/slides/slide5.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4" name="fixed">
            <a:extLst xmlns:a="http://schemas.openxmlformats.org/drawingml/2006/main">
              <a:ext uri="{FF2B5EF4-FFF2-40B4-BE49-F238E27FC236}">
                <a16:creationId xmlns:a16="http://schemas.microsoft.com/office/drawing/2014/main" id="{25890214-9B5B-4BD5-990A-5ED6FAAF47EF}"/>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Eight modules in the project scope</a:t>
            </a:r>
          </a:p>
        </p:txBody>
      </p:sp>
      <p:sp>
        <p:nvSpPr>
          <p:cNvPr id="2" name="fixed">
            <a:extLst xmlns:a="http://schemas.openxmlformats.org/drawingml/2006/main">
              <a:ext uri="{FF2B5EF4-FFF2-40B4-BE49-F238E27FC236}">
                <a16:creationId xmlns:a16="http://schemas.microsoft.com/office/drawing/2014/main" id="{674865AD-1089-4D15-9959-7BB253A0F540}"/>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05</a:t>
            </a:r>
          </a:p>
        </p:txBody>
      </p:sp>
      <p:graphicFrame>
        <p:nvGraphicFramePr>
          <p:cNvPr id="6" name=""/>
          <p:cNvGraphicFramePr/>
          <p:nvPr/>
        </p:nvGraphicFramePr>
        <p:xfrm>
          <a:off xmlns:a="http://schemas.openxmlformats.org/drawingml/2006/main" x="609600" y="1714500"/>
          <a:ext xmlns:a="http://schemas.openxmlformats.org/drawingml/2006/main" cx="10953750" cy="4286250"/>
        </p:xfrm>
        <a:graphic xmlns:a="http://schemas.openxmlformats.org/drawingml/2006/main">
          <a:graphicData uri="http://schemas.openxmlformats.org/drawingml/2006/table">
            <a:tbl>
              <a:tblPr/>
              <a:tblGrid>
                <a:gridCol w="7620000"/>
                <a:gridCol w="3333750"/>
              </a:tblGrid>
              <a:tr h="476250">
                <a:tc>
                  <a:txBody>
                    <a:bodyPr/>
                    <a:lstStyle/>
                    <a:p>
                      <a:r>
                        <a:rPr sz="1875" b="1">
                          <a:solidFill>
                            <a:srgbClr val="FFFFFF"/>
                          </a:solidFill>
                          <a:latin typeface="Arial"/>
                          <a:ea typeface="Arial"/>
                          <a:cs typeface="Arial"/>
                        </a:rPr>
                        <a:t>MODULE</a:t>
                      </a:r>
                    </a:p>
                  </a:txBody>
                  <a:tcPr marL="91440" marR="91440" marT="45720" marB="45720">
                    <a:solidFill>
                      <a:srgbClr val="132D3A"/>
                    </a:solidFill>
                  </a:tcPr>
                </a:tc>
                <a:tc>
                  <a:txBody>
                    <a:bodyPr/>
                    <a:lstStyle/>
                    <a:p>
                      <a:r>
                        <a:rPr sz="1875" b="1">
                          <a:solidFill>
                            <a:srgbClr val="FFFFFF"/>
                          </a:solidFill>
                          <a:latin typeface="Arial"/>
                          <a:ea typeface="Arial"/>
                          <a:cs typeface="Arial"/>
                        </a:rPr>
                        <a:t>SCOPE CATEGORY</a:t>
                      </a:r>
                    </a:p>
                  </a:txBody>
                  <a:tcPr marL="91440" marR="91440" marT="45720" marB="45720">
                    <a:solidFill>
                      <a:srgbClr val="132D3A"/>
                    </a:solidFill>
                  </a:tcPr>
                </a:tc>
              </a:tr>
              <a:tr h="476250">
                <a:tc>
                  <a:txBody>
                    <a:bodyPr/>
                    <a:lstStyle/>
                    <a:p>
                      <a:r>
                        <a:rPr sz="1875" b="0">
                          <a:solidFill>
                            <a:srgbClr val="132D3A"/>
                          </a:solidFill>
                          <a:latin typeface="Arial"/>
                          <a:ea typeface="Arial"/>
                          <a:cs typeface="Arial"/>
                        </a:rPr>
                        <a:t>1  Secure environment</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2  AI monitoring</a:t>
                      </a:r>
                    </a:p>
                  </a:txBody>
                  <a:tcPr marL="91440" marR="91440" marT="45720" marB="45720">
                    <a:solidFill>
                      <a:srgbClr val="F5F7F5"/>
                    </a:solidFill>
                  </a:tcPr>
                </a:tc>
                <a:tc>
                  <a:txBody>
                    <a:bodyPr/>
                    <a:lstStyle/>
                    <a:p>
                      <a:r>
                        <a:rPr sz="1875" b="0">
                          <a:solidFill>
                            <a:srgbClr val="132D3A"/>
                          </a:solidFill>
                          <a:latin typeface="Arial"/>
                          <a:ea typeface="Arial"/>
                          <a:cs typeface="Arial"/>
                        </a:rPr>
                        <a:t>Core</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3  Evidence capture</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4  System self-check</a:t>
                      </a:r>
                    </a:p>
                  </a:txBody>
                  <a:tcPr marL="91440" marR="91440" marT="45720" marB="45720">
                    <a:solidFill>
                      <a:srgbClr val="F5F7F5"/>
                    </a:solidFill>
                  </a:tcPr>
                </a:tc>
                <a:tc>
                  <a:txBody>
                    <a:bodyPr/>
                    <a:lstStyle/>
                    <a:p>
                      <a:r>
                        <a:rPr sz="1875" b="0">
                          <a:solidFill>
                            <a:srgbClr val="132D3A"/>
                          </a:solidFill>
                          <a:latin typeface="Arial"/>
                          <a:ea typeface="Arial"/>
                          <a:cs typeface="Arial"/>
                        </a:rPr>
                        <a:t>Optional</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5  Severity scoring</a:t>
                      </a:r>
                    </a:p>
                  </a:txBody>
                  <a:tcPr marL="91440" marR="91440" marT="45720" marB="45720">
                    <a:solidFill>
                      <a:srgbClr val="E5EEEC"/>
                    </a:solidFill>
                  </a:tcPr>
                </a:tc>
                <a:tc>
                  <a:txBody>
                    <a:bodyPr/>
                    <a:lstStyle/>
                    <a:p>
                      <a:r>
                        <a:rPr sz="1875" b="0">
                          <a:solidFill>
                            <a:srgbClr val="132D3A"/>
                          </a:solidFill>
                          <a:latin typeface="Arial"/>
                          <a:ea typeface="Arial"/>
                          <a:cs typeface="Arial"/>
                        </a:rPr>
                        <a:t>Optional</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6  Examiner dashboard</a:t>
                      </a:r>
                    </a:p>
                  </a:txBody>
                  <a:tcPr marL="91440" marR="91440" marT="45720" marB="45720">
                    <a:solidFill>
                      <a:srgbClr val="F5F7F5"/>
                    </a:solidFill>
                  </a:tcPr>
                </a:tc>
                <a:tc>
                  <a:txBody>
                    <a:bodyPr/>
                    <a:lstStyle/>
                    <a:p>
                      <a:r>
                        <a:rPr sz="1875" b="0">
                          <a:solidFill>
                            <a:srgbClr val="132D3A"/>
                          </a:solidFill>
                          <a:latin typeface="Arial"/>
                          <a:ea typeface="Arial"/>
                          <a:cs typeface="Arial"/>
                        </a:rPr>
                        <a:t>Core</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7  Answer submission</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8  Audit reporting</a:t>
                      </a:r>
                    </a:p>
                  </a:txBody>
                  <a:tcPr marL="91440" marR="91440" marT="45720" marB="45720">
                    <a:solidFill>
                      <a:srgbClr val="F5F7F5"/>
                    </a:solidFill>
                  </a:tcPr>
                </a:tc>
                <a:tc>
                  <a:txBody>
                    <a:bodyPr/>
                    <a:lstStyle/>
                    <a:p>
                      <a:r>
                        <a:rPr sz="1875" b="0">
                          <a:solidFill>
                            <a:srgbClr val="132D3A"/>
                          </a:solidFill>
                          <a:latin typeface="Arial"/>
                          <a:ea typeface="Arial"/>
                          <a:cs typeface="Arial"/>
                        </a:rPr>
                        <a:t>Advanced</a:t>
                      </a:r>
                    </a:p>
                  </a:txBody>
                  <a:tcPr marL="91440" marR="91440" marT="45720" marB="45720">
                    <a:solidFill>
                      <a:srgbClr val="F5F7F5"/>
                    </a:solidFill>
                  </a:tcPr>
                </a:tc>
              </a:tr>
            </a:tbl>
          </a:graphicData>
        </a:graphic>
      </p:graphicFrame>
    </p:spTree>
    <p:extLst>
      <p:ext uri="{BB962C8B-B14F-4D97-AF65-F5344CB8AC3E}">
        <p14:creationId xmlns:p14="http://schemas.microsoft.com/office/powerpoint/2010/main" val="97568083"/>
      </p:ext>
    </p:extLst>
  </p:cSld>
</p:sld>
</file>

<file path=ppt/slides/slide6.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4" name="fixed">
            <a:extLst xmlns:a="http://schemas.openxmlformats.org/drawingml/2006/main">
              <a:ext uri="{FF2B5EF4-FFF2-40B4-BE49-F238E27FC236}">
                <a16:creationId xmlns:a16="http://schemas.microsoft.com/office/drawing/2014/main" id="{CCA23016-A481-424F-B914-E0A5B672F8CF}"/>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Exam entry and environment controls</a:t>
            </a:r>
          </a:p>
        </p:txBody>
      </p:sp>
      <p:sp>
        <p:nvSpPr>
          <p:cNvPr id="2" name="fixed">
            <a:extLst xmlns:a="http://schemas.openxmlformats.org/drawingml/2006/main">
              <a:ext uri="{FF2B5EF4-FFF2-40B4-BE49-F238E27FC236}">
                <a16:creationId xmlns:a16="http://schemas.microsoft.com/office/drawing/2014/main" id="{FBFDE04B-B189-4C8F-8044-D7B74927A367}"/>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06</a:t>
            </a:r>
          </a:p>
        </p:txBody>
      </p:sp>
      <p:sp>
        <p:nvSpPr>
          <p:cNvPr id="3" name="reveal-1">
            <a:extLst xmlns:a="http://schemas.openxmlformats.org/drawingml/2006/main">
              <a:ext uri="{FF2B5EF4-FFF2-40B4-BE49-F238E27FC236}">
                <a16:creationId xmlns:a16="http://schemas.microsoft.com/office/drawing/2014/main" id="{D9DD23F2-8293-40E2-8E22-627104A33A73}"/>
              </a:ext>
            </a:extLst>
          </p:cNvPr>
          <p:cNvSpPr>
            <a:spLocks xmlns:a="http://schemas.openxmlformats.org/drawingml/2006/main" noGrp="1"/>
          </p:cNvSpPr>
          <p:nvPr/>
        </p:nvSpPr>
        <p:spPr>
          <a:xfrm xmlns:a="http://schemas.openxmlformats.org/drawingml/2006/main">
            <a:off x="60960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MODULE 1 / CORE</a:t>
            </a:r>
          </a:p>
        </p:txBody>
      </p:sp>
      <p:sp>
        <p:nvSpPr>
          <p:cNvPr id="4" name="reveal-1">
            <a:extLst xmlns:a="http://schemas.openxmlformats.org/drawingml/2006/main">
              <a:ext uri="{FF2B5EF4-FFF2-40B4-BE49-F238E27FC236}">
                <a16:creationId xmlns:a16="http://schemas.microsoft.com/office/drawing/2014/main" id="{029F1598-F910-4EED-9E9A-F65BFC164762}"/>
              </a:ext>
            </a:extLst>
          </p:cNvPr>
          <p:cNvSpPr>
            <a:spLocks xmlns:a="http://schemas.openxmlformats.org/drawingml/2006/main" noGrp="1"/>
          </p:cNvSpPr>
          <p:nvPr/>
        </p:nvSpPr>
        <p:spPr>
          <a:xfrm xmlns:a="http://schemas.openxmlformats.org/drawingml/2006/main">
            <a:off x="60960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Secure environment</a:t>
            </a:r>
          </a:p>
        </p:txBody>
      </p:sp>
      <p:sp>
        <p:nvSpPr>
          <p:cNvPr id="5" name="reveal-1">
            <a:extLst xmlns:a="http://schemas.openxmlformats.org/drawingml/2006/main">
              <a:ext uri="{FF2B5EF4-FFF2-40B4-BE49-F238E27FC236}">
                <a16:creationId xmlns:a16="http://schemas.microsoft.com/office/drawing/2014/main" id="{90852E6E-92EA-435A-98D2-D0D67A52538B}"/>
              </a:ext>
            </a:extLst>
          </p:cNvPr>
          <p:cNvSpPr>
            <a:spLocks xmlns:a="http://schemas.openxmlformats.org/drawingml/2006/main" noGrp="1"/>
          </p:cNvSpPr>
          <p:nvPr/>
        </p:nvSpPr>
        <p:spPr>
          <a:xfrm xmlns:a="http://schemas.openxmlformats.org/drawingml/2006/main">
            <a:off x="60960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Electron kiosk and shortcut controls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psutil application and file checks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Windows CIM USB storage checks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Single-display entry requirement</a:t>
            </a:r>
          </a:p>
        </p:txBody>
      </p:sp>
      <p:sp>
        <p:nvSpPr>
          <p:cNvPr id="6" name="reveal-2">
            <a:extLst xmlns:a="http://schemas.openxmlformats.org/drawingml/2006/main">
              <a:ext uri="{FF2B5EF4-FFF2-40B4-BE49-F238E27FC236}">
                <a16:creationId xmlns:a16="http://schemas.microsoft.com/office/drawing/2014/main" id="{5233617F-F8E3-40C7-8E9B-0AAEE0A9006D}"/>
              </a:ext>
            </a:extLst>
          </p:cNvPr>
          <p:cNvSpPr>
            <a:spLocks xmlns:a="http://schemas.openxmlformats.org/drawingml/2006/main" noGrp="1"/>
          </p:cNvSpPr>
          <p:nvPr/>
        </p:nvSpPr>
        <p:spPr>
          <a:xfrm xmlns:a="http://schemas.openxmlformats.org/drawingml/2006/main">
            <a:off x="638175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MODULE 4 / OPTIONAL</a:t>
            </a:r>
          </a:p>
        </p:txBody>
      </p:sp>
      <p:sp>
        <p:nvSpPr>
          <p:cNvPr id="7" name="reveal-2">
            <a:extLst xmlns:a="http://schemas.openxmlformats.org/drawingml/2006/main">
              <a:ext uri="{FF2B5EF4-FFF2-40B4-BE49-F238E27FC236}">
                <a16:creationId xmlns:a16="http://schemas.microsoft.com/office/drawing/2014/main" id="{FF0F9EBE-CBD1-414A-A6BA-A6FCB3A86F78}"/>
              </a:ext>
            </a:extLst>
          </p:cNvPr>
          <p:cNvSpPr>
            <a:spLocks xmlns:a="http://schemas.openxmlformats.org/drawingml/2006/main" noGrp="1"/>
          </p:cNvSpPr>
          <p:nvPr/>
        </p:nvSpPr>
        <p:spPr>
          <a:xfrm xmlns:a="http://schemas.openxmlformats.org/drawingml/2006/main">
            <a:off x="638175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System self-check</a:t>
            </a:r>
          </a:p>
        </p:txBody>
      </p:sp>
      <p:sp>
        <p:nvSpPr>
          <p:cNvPr id="8" name="reveal-2">
            <a:extLst xmlns:a="http://schemas.openxmlformats.org/drawingml/2006/main">
              <a:ext uri="{FF2B5EF4-FFF2-40B4-BE49-F238E27FC236}">
                <a16:creationId xmlns:a16="http://schemas.microsoft.com/office/drawing/2014/main" id="{4F76FA99-C3F3-4F7B-9F43-EF0B318DAFDC}"/>
              </a:ext>
            </a:extLst>
          </p:cNvPr>
          <p:cNvSpPr>
            <a:spLocks xmlns:a="http://schemas.openxmlformats.org/drawingml/2006/main" noGrp="1"/>
          </p:cNvSpPr>
          <p:nvPr/>
        </p:nvSpPr>
        <p:spPr>
          <a:xfrm xmlns:a="http://schemas.openxmlformats.org/drawingml/2006/main">
            <a:off x="638175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Camera, microphone and face readiness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Enrollment plus voice confirmation</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Exam rules and permitted applications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Health diagnostics before entry</a:t>
            </a:r>
          </a:p>
        </p:txBody>
      </p:sp>
      <p:sp>
        <p:nvSpPr>
          <p:cNvPr id="9" name="reveal-3">
            <a:extLst xmlns:a="http://schemas.openxmlformats.org/drawingml/2006/main">
              <a:ext uri="{FF2B5EF4-FFF2-40B4-BE49-F238E27FC236}">
                <a16:creationId xmlns:a16="http://schemas.microsoft.com/office/drawing/2014/main" id="{6488F3C9-D7DD-416D-9465-D7E18A78DBAF}"/>
              </a:ext>
            </a:extLst>
          </p:cNvPr>
          <p:cNvSpPr>
            <a:spLocks xmlns:a="http://schemas.openxmlformats.org/drawingml/2006/main" noGrp="1"/>
          </p:cNvSpPr>
          <p:nvPr/>
        </p:nvSpPr>
        <p:spPr>
          <a:xfrm xmlns:a="http://schemas.openxmlformats.org/drawingml/2006/main">
            <a:off x="60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Exam rules</a:t>
            </a:r>
          </a:p>
        </p:txBody>
      </p:sp>
      <p:sp>
        <p:nvSpPr>
          <p:cNvPr id="10" name="reveal-3">
            <a:extLst xmlns:a="http://schemas.openxmlformats.org/drawingml/2006/main">
              <a:ext uri="{FF2B5EF4-FFF2-40B4-BE49-F238E27FC236}">
                <a16:creationId xmlns:a16="http://schemas.microsoft.com/office/drawing/2014/main" id="{13CABF74-9B91-42C1-A16D-16FF9A681471}"/>
              </a:ext>
            </a:extLst>
          </p:cNvPr>
          <p:cNvSpPr>
            <a:spLocks xmlns:a="http://schemas.openxmlformats.org/drawingml/2006/main" noGrp="1"/>
          </p:cNvSpPr>
          <p:nvPr/>
        </p:nvSpPr>
        <p:spPr>
          <a:xfrm xmlns:a="http://schemas.openxmlformats.org/drawingml/2006/main">
            <a:off x="441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Local readiness checks</a:t>
            </a:r>
          </a:p>
        </p:txBody>
      </p:sp>
      <p:sp>
        <p:nvSpPr>
          <p:cNvPr id="11" name="reveal-3">
            <a:extLst xmlns:a="http://schemas.openxmlformats.org/drawingml/2006/main">
              <a:ext uri="{FF2B5EF4-FFF2-40B4-BE49-F238E27FC236}">
                <a16:creationId xmlns:a16="http://schemas.microsoft.com/office/drawing/2014/main" id="{7DBA0FA4-EC8B-4170-A89D-4B2934D3D56E}"/>
              </a:ext>
            </a:extLst>
          </p:cNvPr>
          <p:cNvSpPr>
            <a:spLocks xmlns:a="http://schemas.openxmlformats.org/drawingml/2006/main" noGrp="1"/>
          </p:cNvSpPr>
          <p:nvPr/>
        </p:nvSpPr>
        <p:spPr>
          <a:xfrm xmlns:a="http://schemas.openxmlformats.org/drawingml/2006/main">
            <a:off x="822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Entry and enforcement</a:t>
            </a:r>
          </a:p>
        </p:txBody>
      </p:sp>
      <p:cxnSp>
        <p:nvCxnSpPr>
          <p:cNvPr id="25" name="reveal-3"/>
          <p:cNvCxnSpPr>
            <a:stCxn xmlns:a="http://schemas.openxmlformats.org/drawingml/2006/main" id="9" idx="3"/>
            <a:endCxn xmlns:a="http://schemas.openxmlformats.org/drawingml/2006/main" id="10" idx="1"/>
          </p:cNvCxnSpPr>
          <p:nvPr/>
        </p:nvCxnSpPr>
        <p:spPr>
          <a:xfrm xmlns:a="http://schemas.openxmlformats.org/drawingml/2006/main">
            <a:off x="3943350" y="54006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6" name="reveal-3"/>
          <p:cNvCxnSpPr>
            <a:stCxn xmlns:a="http://schemas.openxmlformats.org/drawingml/2006/main" id="10" idx="3"/>
            <a:endCxn xmlns:a="http://schemas.openxmlformats.org/drawingml/2006/main" id="11" idx="1"/>
          </p:cNvCxnSpPr>
          <p:nvPr/>
        </p:nvCxnSpPr>
        <p:spPr>
          <a:xfrm xmlns:a="http://schemas.openxmlformats.org/drawingml/2006/main">
            <a:off x="7753350" y="54006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spTree>
    <p:extLst>
      <p:ext uri="{BB962C8B-B14F-4D97-AF65-F5344CB8AC3E}">
        <p14:creationId xmlns:p14="http://schemas.microsoft.com/office/powerpoint/2010/main" val="1314027044"/>
      </p:ext>
    </p:extLst>
  </p:cSld>
</p:sld>
</file>

<file path=ppt/slides/slide7.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15" name="fixed">
            <a:extLst xmlns:a="http://schemas.openxmlformats.org/drawingml/2006/main">
              <a:ext uri="{FF2B5EF4-FFF2-40B4-BE49-F238E27FC236}">
                <a16:creationId xmlns:a16="http://schemas.microsoft.com/office/drawing/2014/main" id="{0CE6EEE3-2439-48FF-A373-F8E25FEC3550}"/>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Local vision and voice monitoring</a:t>
            </a:r>
          </a:p>
        </p:txBody>
      </p:sp>
      <p:sp>
        <p:nvSpPr>
          <p:cNvPr id="2" name="fixed">
            <a:extLst xmlns:a="http://schemas.openxmlformats.org/drawingml/2006/main">
              <a:ext uri="{FF2B5EF4-FFF2-40B4-BE49-F238E27FC236}">
                <a16:creationId xmlns:a16="http://schemas.microsoft.com/office/drawing/2014/main" id="{05C5D155-3740-4F14-BB62-69CFA1AD3400}"/>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1BDC5"/>
                </a:solidFill>
                <a:latin typeface="Arial"/>
                <a:ea typeface="Arial"/>
                <a:cs typeface="Arial"/>
              </a:defRPr>
            </a:pPr>
            <a:r>
              <a:rPr sz="1350" b="0">
                <a:solidFill>
                  <a:srgbClr val="A1BDC5"/>
                </a:solidFill>
                <a:latin typeface="Arial"/>
                <a:ea typeface="Arial"/>
                <a:cs typeface="Arial"/>
              </a:rPr>
              <a:t>07</a:t>
            </a:r>
          </a:p>
        </p:txBody>
      </p:sp>
      <p:sp>
        <p:nvSpPr>
          <p:cNvPr id="3" name="fixed">
            <a:extLst xmlns:a="http://schemas.openxmlformats.org/drawingml/2006/main">
              <a:ext uri="{FF2B5EF4-FFF2-40B4-BE49-F238E27FC236}">
                <a16:creationId xmlns:a16="http://schemas.microsoft.com/office/drawing/2014/main" id="{21A59DDE-CA68-4977-B73C-E9E1581A5453}"/>
              </a:ext>
            </a:extLst>
          </p:cNvPr>
          <p:cNvSpPr>
            <a:spLocks xmlns:a="http://schemas.openxmlformats.org/drawingml/2006/main" noGrp="1"/>
          </p:cNvSpPr>
          <p:nvPr/>
        </p:nvSpPr>
        <p:spPr>
          <a:xfrm xmlns:a="http://schemas.openxmlformats.org/drawingml/2006/main">
            <a:off x="609600" y="15716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DE2CD"/>
                </a:solidFill>
                <a:latin typeface="Arial"/>
                <a:ea typeface="Arial"/>
                <a:cs typeface="Arial"/>
              </a:defRPr>
            </a:pPr>
            <a:r>
              <a:rPr sz="1725" b="1">
                <a:solidFill>
                  <a:srgbClr val="5DE2CD"/>
                </a:solidFill>
                <a:latin typeface="Arial"/>
                <a:ea typeface="Arial"/>
                <a:cs typeface="Arial"/>
              </a:rPr>
              <a:t>MODULE 2 / CORE</a:t>
            </a:r>
          </a:p>
        </p:txBody>
      </p:sp>
      <p:sp>
        <p:nvSpPr>
          <p:cNvPr id="4" name="reveal-1">
            <a:extLst xmlns:a="http://schemas.openxmlformats.org/drawingml/2006/main">
              <a:ext uri="{FF2B5EF4-FFF2-40B4-BE49-F238E27FC236}">
                <a16:creationId xmlns:a16="http://schemas.microsoft.com/office/drawing/2014/main" id="{D2459FA3-016A-428C-A8EC-4DA28E3406A7}"/>
              </a:ext>
            </a:extLst>
          </p:cNvPr>
          <p:cNvSpPr>
            <a:spLocks xmlns:a="http://schemas.openxmlformats.org/drawingml/2006/main" noGrp="1"/>
          </p:cNvSpPr>
          <p:nvPr/>
        </p:nvSpPr>
        <p:spPr>
          <a:xfrm xmlns:a="http://schemas.openxmlformats.org/drawingml/2006/main">
            <a:off x="609600" y="2286000"/>
            <a:ext cx="2381250" cy="857250"/>
          </a:xfrm>
          <a:prstGeom xmlns:a="http://schemas.openxmlformats.org/drawingml/2006/main" prst="rect">
            <a:avLst/>
          </a:prstGeom>
          <a:solidFill xmlns:a="http://schemas.openxmlformats.org/drawingml/2006/main">
            <a:srgbClr val="102A3A"/>
          </a:solidFill>
          <a:ln xmlns:a="http://schemas.openxmlformats.org/drawingml/2006/main" w="9525">
            <a:solidFill>
              <a:srgbClr val="37616C"/>
            </a:solid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Webcam frames</a:t>
            </a:r>
          </a:p>
        </p:txBody>
      </p:sp>
      <p:sp>
        <p:nvSpPr>
          <p:cNvPr id="5" name="reveal-1">
            <a:extLst xmlns:a="http://schemas.openxmlformats.org/drawingml/2006/main">
              <a:ext uri="{FF2B5EF4-FFF2-40B4-BE49-F238E27FC236}">
                <a16:creationId xmlns:a16="http://schemas.microsoft.com/office/drawing/2014/main" id="{EF1FF5D3-1331-4BAB-802D-25D1030DF94B}"/>
              </a:ext>
            </a:extLst>
          </p:cNvPr>
          <p:cNvSpPr>
            <a:spLocks xmlns:a="http://schemas.openxmlformats.org/drawingml/2006/main" noGrp="1"/>
          </p:cNvSpPr>
          <p:nvPr/>
        </p:nvSpPr>
        <p:spPr>
          <a:xfrm xmlns:a="http://schemas.openxmlformats.org/drawingml/2006/main">
            <a:off x="3524250" y="2286000"/>
            <a:ext cx="3333750" cy="857250"/>
          </a:xfrm>
          <a:prstGeom xmlns:a="http://schemas.openxmlformats.org/drawingml/2006/main" prst="rect">
            <a:avLst/>
          </a:prstGeom>
          <a:solidFill xmlns:a="http://schemas.openxmlformats.org/drawingml/2006/main">
            <a:srgbClr val="102A3A"/>
          </a:solidFill>
          <a:ln xmlns:a="http://schemas.openxmlformats.org/drawingml/2006/main" w="9525">
            <a:solidFill>
              <a:srgbClr val="37616C"/>
            </a:solid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MediaPipe + OpenCV</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Head pose / face count</a:t>
            </a:r>
          </a:p>
        </p:txBody>
      </p:sp>
      <p:sp>
        <p:nvSpPr>
          <p:cNvPr id="6" name="reveal-1">
            <a:extLst xmlns:a="http://schemas.openxmlformats.org/drawingml/2006/main">
              <a:ext uri="{FF2B5EF4-FFF2-40B4-BE49-F238E27FC236}">
                <a16:creationId xmlns:a16="http://schemas.microsoft.com/office/drawing/2014/main" id="{9B0DA8FF-EE58-43C9-9EEF-F7D6939E5875}"/>
              </a:ext>
            </a:extLst>
          </p:cNvPr>
          <p:cNvSpPr>
            <a:spLocks xmlns:a="http://schemas.openxmlformats.org/drawingml/2006/main" noGrp="1"/>
          </p:cNvSpPr>
          <p:nvPr/>
        </p:nvSpPr>
        <p:spPr>
          <a:xfrm xmlns:a="http://schemas.openxmlformats.org/drawingml/2006/main">
            <a:off x="7400925" y="2286000"/>
            <a:ext cx="4095750" cy="857250"/>
          </a:xfrm>
          <a:prstGeom xmlns:a="http://schemas.openxmlformats.org/drawingml/2006/main" prst="rect">
            <a:avLst/>
          </a:prstGeom>
          <a:solidFill xmlns:a="http://schemas.openxmlformats.org/drawingml/2006/main">
            <a:srgbClr val="102A3A"/>
          </a:solidFill>
          <a:ln xmlns:a="http://schemas.openxmlformats.org/drawingml/2006/main" w="9525">
            <a:solidFill>
              <a:srgbClr val="37616C"/>
            </a:solid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YOLO26n + ONNX</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Phone / book</a:t>
            </a:r>
          </a:p>
        </p:txBody>
      </p:sp>
      <p:cxnSp>
        <p:nvCxnSpPr>
          <p:cNvPr id="21" name="reveal-1"/>
          <p:cNvCxnSpPr>
            <a:stCxn xmlns:a="http://schemas.openxmlformats.org/drawingml/2006/main" id="4" idx="3"/>
            <a:endCxn xmlns:a="http://schemas.openxmlformats.org/drawingml/2006/main" id="5" idx="1"/>
          </p:cNvCxnSpPr>
          <p:nvPr/>
        </p:nvCxnSpPr>
        <p:spPr>
          <a:xfrm xmlns:a="http://schemas.openxmlformats.org/drawingml/2006/main">
            <a:off x="2990850" y="2714625"/>
            <a:ext cx="53340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2" name="reveal-1"/>
          <p:cNvCxnSpPr>
            <a:stCxn xmlns:a="http://schemas.openxmlformats.org/drawingml/2006/main" id="5" idx="3"/>
            <a:endCxn xmlns:a="http://schemas.openxmlformats.org/drawingml/2006/main" id="6" idx="1"/>
          </p:cNvCxnSpPr>
          <p:nvPr/>
        </p:nvCxnSpPr>
        <p:spPr>
          <a:xfrm xmlns:a="http://schemas.openxmlformats.org/drawingml/2006/main">
            <a:off x="6858000" y="2714625"/>
            <a:ext cx="542925" cy="0"/>
          </a:xfrm>
          <a:prstGeom xmlns:a="http://schemas.openxmlformats.org/drawingml/2006/main" prst="straightConnector1">
            <a:avLst/>
          </a:prstGeom>
          <a:ln xmlns:a="http://schemas.openxmlformats.org/drawingml/2006/main" w="19050">
            <a:solidFill>
              <a:srgbClr val="087F8C"/>
            </a:solidFill>
            <a:tailEnd type="arrow" w="med" len="med"/>
          </a:ln>
        </p:spPr>
      </p:cxnSp>
      <p:sp>
        <p:nvSpPr>
          <p:cNvPr id="9" name="reveal-2">
            <a:extLst xmlns:a="http://schemas.openxmlformats.org/drawingml/2006/main">
              <a:ext uri="{FF2B5EF4-FFF2-40B4-BE49-F238E27FC236}">
                <a16:creationId xmlns:a16="http://schemas.microsoft.com/office/drawing/2014/main" id="{879FC965-D95D-4B51-9BF3-38E29A8D85BE}"/>
              </a:ext>
            </a:extLst>
          </p:cNvPr>
          <p:cNvSpPr>
            <a:spLocks xmlns:a="http://schemas.openxmlformats.org/drawingml/2006/main" noGrp="1"/>
          </p:cNvSpPr>
          <p:nvPr/>
        </p:nvSpPr>
        <p:spPr>
          <a:xfrm xmlns:a="http://schemas.openxmlformats.org/drawingml/2006/main">
            <a:off x="609600" y="3857625"/>
            <a:ext cx="2381250" cy="857250"/>
          </a:xfrm>
          <a:prstGeom xmlns:a="http://schemas.openxmlformats.org/drawingml/2006/main" prst="rect">
            <a:avLst/>
          </a:prstGeom>
          <a:solidFill xmlns:a="http://schemas.openxmlformats.org/drawingml/2006/main">
            <a:srgbClr val="102A3A"/>
          </a:solidFill>
          <a:ln xmlns:a="http://schemas.openxmlformats.org/drawingml/2006/main" w="9525">
            <a:solidFill>
              <a:srgbClr val="37616C"/>
            </a:solid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Microphone audio</a:t>
            </a:r>
          </a:p>
        </p:txBody>
      </p:sp>
      <p:sp>
        <p:nvSpPr>
          <p:cNvPr id="10" name="reveal-2">
            <a:extLst xmlns:a="http://schemas.openxmlformats.org/drawingml/2006/main">
              <a:ext uri="{FF2B5EF4-FFF2-40B4-BE49-F238E27FC236}">
                <a16:creationId xmlns:a16="http://schemas.microsoft.com/office/drawing/2014/main" id="{E98B378A-6292-4D1C-9110-B79A7A16FEA4}"/>
              </a:ext>
            </a:extLst>
          </p:cNvPr>
          <p:cNvSpPr>
            <a:spLocks xmlns:a="http://schemas.openxmlformats.org/drawingml/2006/main" noGrp="1"/>
          </p:cNvSpPr>
          <p:nvPr/>
        </p:nvSpPr>
        <p:spPr>
          <a:xfrm xmlns:a="http://schemas.openxmlformats.org/drawingml/2006/main">
            <a:off x="3524250" y="3857625"/>
            <a:ext cx="3333750" cy="857250"/>
          </a:xfrm>
          <a:prstGeom xmlns:a="http://schemas.openxmlformats.org/drawingml/2006/main" prst="rect">
            <a:avLst/>
          </a:prstGeom>
          <a:solidFill xmlns:a="http://schemas.openxmlformats.org/drawingml/2006/main">
            <a:srgbClr val="102A3A"/>
          </a:solidFill>
          <a:ln xmlns:a="http://schemas.openxmlformats.org/drawingml/2006/main" w="9525">
            <a:solidFill>
              <a:srgbClr val="37616C"/>
            </a:solid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WebRTC VAD</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Speech gating</a:t>
            </a:r>
          </a:p>
        </p:txBody>
      </p:sp>
      <p:sp>
        <p:nvSpPr>
          <p:cNvPr id="11" name="reveal-2">
            <a:extLst xmlns:a="http://schemas.openxmlformats.org/drawingml/2006/main">
              <a:ext uri="{FF2B5EF4-FFF2-40B4-BE49-F238E27FC236}">
                <a16:creationId xmlns:a16="http://schemas.microsoft.com/office/drawing/2014/main" id="{E889335A-05AC-4BDA-B2A4-140C825086DA}"/>
              </a:ext>
            </a:extLst>
          </p:cNvPr>
          <p:cNvSpPr>
            <a:spLocks xmlns:a="http://schemas.openxmlformats.org/drawingml/2006/main" noGrp="1"/>
          </p:cNvSpPr>
          <p:nvPr/>
        </p:nvSpPr>
        <p:spPr>
          <a:xfrm xmlns:a="http://schemas.openxmlformats.org/drawingml/2006/main">
            <a:off x="7400925" y="3857625"/>
            <a:ext cx="4095750" cy="857250"/>
          </a:xfrm>
          <a:prstGeom xmlns:a="http://schemas.openxmlformats.org/drawingml/2006/main" prst="rect">
            <a:avLst/>
          </a:prstGeom>
          <a:solidFill xmlns:a="http://schemas.openxmlformats.org/drawingml/2006/main">
            <a:srgbClr val="102A3A"/>
          </a:solidFill>
          <a:ln xmlns:a="http://schemas.openxmlformats.org/drawingml/2006/main" w="9525">
            <a:solidFill>
              <a:srgbClr val="37616C"/>
            </a:solid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Resemblyzer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Reference similarity</a:t>
            </a:r>
          </a:p>
        </p:txBody>
      </p:sp>
      <p:cxnSp>
        <p:nvCxnSpPr>
          <p:cNvPr id="26" name="reveal-2"/>
          <p:cNvCxnSpPr>
            <a:stCxn xmlns:a="http://schemas.openxmlformats.org/drawingml/2006/main" id="9" idx="3"/>
            <a:endCxn xmlns:a="http://schemas.openxmlformats.org/drawingml/2006/main" id="10" idx="1"/>
          </p:cNvCxnSpPr>
          <p:nvPr/>
        </p:nvCxnSpPr>
        <p:spPr>
          <a:xfrm xmlns:a="http://schemas.openxmlformats.org/drawingml/2006/main">
            <a:off x="2990850" y="4286250"/>
            <a:ext cx="53340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7" name="reveal-2"/>
          <p:cNvCxnSpPr>
            <a:stCxn xmlns:a="http://schemas.openxmlformats.org/drawingml/2006/main" id="10" idx="3"/>
            <a:endCxn xmlns:a="http://schemas.openxmlformats.org/drawingml/2006/main" id="11" idx="1"/>
          </p:cNvCxnSpPr>
          <p:nvPr/>
        </p:nvCxnSpPr>
        <p:spPr>
          <a:xfrm xmlns:a="http://schemas.openxmlformats.org/drawingml/2006/main">
            <a:off x="6858000" y="4286250"/>
            <a:ext cx="542925" cy="0"/>
          </a:xfrm>
          <a:prstGeom xmlns:a="http://schemas.openxmlformats.org/drawingml/2006/main" prst="straightConnector1">
            <a:avLst/>
          </a:prstGeom>
          <a:ln xmlns:a="http://schemas.openxmlformats.org/drawingml/2006/main" w="19050">
            <a:solidFill>
              <a:srgbClr val="087F8C"/>
            </a:solidFill>
            <a:tailEnd type="arrow" w="med" len="med"/>
          </a:ln>
        </p:spPr>
      </p:cxnSp>
      <p:sp>
        <p:nvSpPr>
          <p:cNvPr id="14" name="reveal-3">
            <a:extLst xmlns:a="http://schemas.openxmlformats.org/drawingml/2006/main">
              <a:ext uri="{FF2B5EF4-FFF2-40B4-BE49-F238E27FC236}">
                <a16:creationId xmlns:a16="http://schemas.microsoft.com/office/drawing/2014/main" id="{89BCA3D5-A624-4841-BEF6-E4CF58D402AC}"/>
              </a:ext>
            </a:extLst>
          </p:cNvPr>
          <p:cNvSpPr>
            <a:spLocks xmlns:a="http://schemas.openxmlformats.org/drawingml/2006/main" noGrp="1"/>
          </p:cNvSpPr>
          <p:nvPr/>
        </p:nvSpPr>
        <p:spPr>
          <a:xfrm xmlns:a="http://schemas.openxmlformats.org/drawingml/2006/main">
            <a:off x="609600" y="54768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Temporal checks reduce brief alerts. Examiners review the evidence.</a:t>
            </a:r>
          </a:p>
        </p:txBody>
      </p:sp>
    </p:spTree>
    <p:extLst>
      <p:ext uri="{BB962C8B-B14F-4D97-AF65-F5344CB8AC3E}">
        <p14:creationId xmlns:p14="http://schemas.microsoft.com/office/powerpoint/2010/main" val="161965188"/>
      </p:ext>
    </p:extLst>
  </p:cSld>
</p:sld>
</file>

<file path=ppt/slides/slide8.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4" name="fixed">
            <a:extLst xmlns:a="http://schemas.openxmlformats.org/drawingml/2006/main">
              <a:ext uri="{FF2B5EF4-FFF2-40B4-BE49-F238E27FC236}">
                <a16:creationId xmlns:a16="http://schemas.microsoft.com/office/drawing/2014/main" id="{105FA4DC-1FE1-4CA9-A166-7205EFBEBD45}"/>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Evidence and review priority</a:t>
            </a:r>
          </a:p>
        </p:txBody>
      </p:sp>
      <p:sp>
        <p:nvSpPr>
          <p:cNvPr id="2" name="fixed">
            <a:extLst xmlns:a="http://schemas.openxmlformats.org/drawingml/2006/main">
              <a:ext uri="{FF2B5EF4-FFF2-40B4-BE49-F238E27FC236}">
                <a16:creationId xmlns:a16="http://schemas.microsoft.com/office/drawing/2014/main" id="{F50266D9-3B3F-4CAB-A347-F1600967F52C}"/>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08</a:t>
            </a:r>
          </a:p>
        </p:txBody>
      </p:sp>
      <p:sp>
        <p:nvSpPr>
          <p:cNvPr id="3" name="reveal-1">
            <a:extLst xmlns:a="http://schemas.openxmlformats.org/drawingml/2006/main">
              <a:ext uri="{FF2B5EF4-FFF2-40B4-BE49-F238E27FC236}">
                <a16:creationId xmlns:a16="http://schemas.microsoft.com/office/drawing/2014/main" id="{762E9AE5-D4FB-46D5-9786-4B1476F945EC}"/>
              </a:ext>
            </a:extLst>
          </p:cNvPr>
          <p:cNvSpPr>
            <a:spLocks xmlns:a="http://schemas.openxmlformats.org/drawingml/2006/main" noGrp="1"/>
          </p:cNvSpPr>
          <p:nvPr/>
        </p:nvSpPr>
        <p:spPr>
          <a:xfrm xmlns:a="http://schemas.openxmlformats.org/drawingml/2006/main">
            <a:off x="60960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MODULE 3 / CORE</a:t>
            </a:r>
          </a:p>
        </p:txBody>
      </p:sp>
      <p:sp>
        <p:nvSpPr>
          <p:cNvPr id="4" name="reveal-1">
            <a:extLst xmlns:a="http://schemas.openxmlformats.org/drawingml/2006/main">
              <a:ext uri="{FF2B5EF4-FFF2-40B4-BE49-F238E27FC236}">
                <a16:creationId xmlns:a16="http://schemas.microsoft.com/office/drawing/2014/main" id="{E2D4C346-BFF5-4B78-84F2-179C343B4199}"/>
              </a:ext>
            </a:extLst>
          </p:cNvPr>
          <p:cNvSpPr>
            <a:spLocks xmlns:a="http://schemas.openxmlformats.org/drawingml/2006/main" noGrp="1"/>
          </p:cNvSpPr>
          <p:nvPr/>
        </p:nvSpPr>
        <p:spPr>
          <a:xfrm xmlns:a="http://schemas.openxmlformats.org/drawingml/2006/main">
            <a:off x="60960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Evidence capture</a:t>
            </a:r>
          </a:p>
        </p:txBody>
      </p:sp>
      <p:sp>
        <p:nvSpPr>
          <p:cNvPr id="5" name="reveal-1">
            <a:extLst xmlns:a="http://schemas.openxmlformats.org/drawingml/2006/main">
              <a:ext uri="{FF2B5EF4-FFF2-40B4-BE49-F238E27FC236}">
                <a16:creationId xmlns:a16="http://schemas.microsoft.com/office/drawing/2014/main" id="{72490C2E-3A39-4F9E-93F8-AB6F495F0354}"/>
              </a:ext>
            </a:extLst>
          </p:cNvPr>
          <p:cNvSpPr>
            <a:spLocks xmlns:a="http://schemas.openxmlformats.org/drawingml/2006/main" noGrp="1"/>
          </p:cNvSpPr>
          <p:nvPr/>
        </p:nvSpPr>
        <p:spPr>
          <a:xfrm xmlns:a="http://schemas.openxmlformats.org/drawingml/2006/main">
            <a:off x="60960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Annotated webcam stills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Environment screenshots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Suspicious audio clips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Durable event IDs and retry queues</a:t>
            </a:r>
          </a:p>
        </p:txBody>
      </p:sp>
      <p:sp>
        <p:nvSpPr>
          <p:cNvPr id="6" name="reveal-2">
            <a:extLst xmlns:a="http://schemas.openxmlformats.org/drawingml/2006/main">
              <a:ext uri="{FF2B5EF4-FFF2-40B4-BE49-F238E27FC236}">
                <a16:creationId xmlns:a16="http://schemas.microsoft.com/office/drawing/2014/main" id="{1CEC8A22-F117-4C04-ADD8-766FF0EEFA73}"/>
              </a:ext>
            </a:extLst>
          </p:cNvPr>
          <p:cNvSpPr>
            <a:spLocks xmlns:a="http://schemas.openxmlformats.org/drawingml/2006/main" noGrp="1"/>
          </p:cNvSpPr>
          <p:nvPr/>
        </p:nvSpPr>
        <p:spPr>
          <a:xfrm xmlns:a="http://schemas.openxmlformats.org/drawingml/2006/main">
            <a:off x="638175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MODULE 5 / OPTIONAL</a:t>
            </a:r>
          </a:p>
        </p:txBody>
      </p:sp>
      <p:sp>
        <p:nvSpPr>
          <p:cNvPr id="7" name="reveal-2">
            <a:extLst xmlns:a="http://schemas.openxmlformats.org/drawingml/2006/main">
              <a:ext uri="{FF2B5EF4-FFF2-40B4-BE49-F238E27FC236}">
                <a16:creationId xmlns:a16="http://schemas.microsoft.com/office/drawing/2014/main" id="{2537A6D6-5130-450D-BC36-F01B46606205}"/>
              </a:ext>
            </a:extLst>
          </p:cNvPr>
          <p:cNvSpPr>
            <a:spLocks xmlns:a="http://schemas.openxmlformats.org/drawingml/2006/main" noGrp="1"/>
          </p:cNvSpPr>
          <p:nvPr/>
        </p:nvSpPr>
        <p:spPr>
          <a:xfrm xmlns:a="http://schemas.openxmlformats.org/drawingml/2006/main">
            <a:off x="638175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Severity scoring</a:t>
            </a:r>
          </a:p>
        </p:txBody>
      </p:sp>
      <p:sp>
        <p:nvSpPr>
          <p:cNvPr id="8" name="reveal-2">
            <a:extLst xmlns:a="http://schemas.openxmlformats.org/drawingml/2006/main">
              <a:ext uri="{FF2B5EF4-FFF2-40B4-BE49-F238E27FC236}">
                <a16:creationId xmlns:a16="http://schemas.microsoft.com/office/drawing/2014/main" id="{FD861FD9-FC6A-43F1-97E4-74C826D9B08F}"/>
              </a:ext>
            </a:extLst>
          </p:cNvPr>
          <p:cNvSpPr>
            <a:spLocks xmlns:a="http://schemas.openxmlformats.org/drawingml/2006/main" noGrp="1"/>
          </p:cNvSpPr>
          <p:nvPr/>
        </p:nvSpPr>
        <p:spPr>
          <a:xfrm xmlns:a="http://schemas.openxmlformats.org/drawingml/2006/main">
            <a:off x="638175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Severity weights and recency decay</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Exam-scoped review priority</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Dismissed events excluded</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Late evidence needs confirmation</a:t>
            </a:r>
          </a:p>
        </p:txBody>
      </p:sp>
      <p:sp>
        <p:nvSpPr>
          <p:cNvPr id="9" name="reveal-3">
            <a:extLst xmlns:a="http://schemas.openxmlformats.org/drawingml/2006/main">
              <a:ext uri="{FF2B5EF4-FFF2-40B4-BE49-F238E27FC236}">
                <a16:creationId xmlns:a16="http://schemas.microsoft.com/office/drawing/2014/main" id="{0F0E8755-CE7D-4AAB-A5F4-F21919F871ED}"/>
              </a:ext>
            </a:extLst>
          </p:cNvPr>
          <p:cNvSpPr>
            <a:spLocks xmlns:a="http://schemas.openxmlformats.org/drawingml/2006/main" noGrp="1"/>
          </p:cNvSpPr>
          <p:nvPr/>
        </p:nvSpPr>
        <p:spPr>
          <a:xfrm xmlns:a="http://schemas.openxmlformats.org/drawingml/2006/main">
            <a:off x="60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Monitoring event</a:t>
            </a:r>
          </a:p>
        </p:txBody>
      </p:sp>
      <p:sp>
        <p:nvSpPr>
          <p:cNvPr id="10" name="reveal-3">
            <a:extLst xmlns:a="http://schemas.openxmlformats.org/drawingml/2006/main">
              <a:ext uri="{FF2B5EF4-FFF2-40B4-BE49-F238E27FC236}">
                <a16:creationId xmlns:a16="http://schemas.microsoft.com/office/drawing/2014/main" id="{BD371800-5B6F-4D54-A1F8-DF907124224B}"/>
              </a:ext>
            </a:extLst>
          </p:cNvPr>
          <p:cNvSpPr>
            <a:spLocks xmlns:a="http://schemas.openxmlformats.org/drawingml/2006/main" noGrp="1"/>
          </p:cNvSpPr>
          <p:nvPr/>
        </p:nvSpPr>
        <p:spPr>
          <a:xfrm xmlns:a="http://schemas.openxmlformats.org/drawingml/2006/main">
            <a:off x="441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Evidence and priority</a:t>
            </a:r>
          </a:p>
        </p:txBody>
      </p:sp>
      <p:sp>
        <p:nvSpPr>
          <p:cNvPr id="11" name="reveal-3">
            <a:extLst xmlns:a="http://schemas.openxmlformats.org/drawingml/2006/main">
              <a:ext uri="{FF2B5EF4-FFF2-40B4-BE49-F238E27FC236}">
                <a16:creationId xmlns:a16="http://schemas.microsoft.com/office/drawing/2014/main" id="{7AC33409-07D7-4D78-89E1-97B5CFAE246B}"/>
              </a:ext>
            </a:extLst>
          </p:cNvPr>
          <p:cNvSpPr>
            <a:spLocks xmlns:a="http://schemas.openxmlformats.org/drawingml/2006/main" noGrp="1"/>
          </p:cNvSpPr>
          <p:nvPr/>
        </p:nvSpPr>
        <p:spPr>
          <a:xfrm xmlns:a="http://schemas.openxmlformats.org/drawingml/2006/main">
            <a:off x="822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Examiner decision</a:t>
            </a:r>
          </a:p>
        </p:txBody>
      </p:sp>
      <p:cxnSp>
        <p:nvCxnSpPr>
          <p:cNvPr id="25" name="reveal-3"/>
          <p:cNvCxnSpPr>
            <a:stCxn xmlns:a="http://schemas.openxmlformats.org/drawingml/2006/main" id="9" idx="3"/>
            <a:endCxn xmlns:a="http://schemas.openxmlformats.org/drawingml/2006/main" id="10" idx="1"/>
          </p:cNvCxnSpPr>
          <p:nvPr/>
        </p:nvCxnSpPr>
        <p:spPr>
          <a:xfrm xmlns:a="http://schemas.openxmlformats.org/drawingml/2006/main">
            <a:off x="3943350" y="54006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6" name="reveal-3"/>
          <p:cNvCxnSpPr>
            <a:stCxn xmlns:a="http://schemas.openxmlformats.org/drawingml/2006/main" id="10" idx="3"/>
            <a:endCxn xmlns:a="http://schemas.openxmlformats.org/drawingml/2006/main" id="11" idx="1"/>
          </p:cNvCxnSpPr>
          <p:nvPr/>
        </p:nvCxnSpPr>
        <p:spPr>
          <a:xfrm xmlns:a="http://schemas.openxmlformats.org/drawingml/2006/main">
            <a:off x="7753350" y="54006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spTree>
    <p:extLst>
      <p:ext uri="{BB962C8B-B14F-4D97-AF65-F5344CB8AC3E}">
        <p14:creationId xmlns:p14="http://schemas.microsoft.com/office/powerpoint/2010/main" val="488712373"/>
      </p:ext>
    </p:extLst>
  </p:cSld>
</p:sld>
</file>

<file path=ppt/slides/slide9.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4" name="fixed">
            <a:extLst xmlns:a="http://schemas.openxmlformats.org/drawingml/2006/main">
              <a:ext uri="{FF2B5EF4-FFF2-40B4-BE49-F238E27FC236}">
                <a16:creationId xmlns:a16="http://schemas.microsoft.com/office/drawing/2014/main" id="{99B25B2C-FC50-41AE-BE65-AFE7F06C85BE}"/>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Examiner review and answer submission</a:t>
            </a:r>
          </a:p>
        </p:txBody>
      </p:sp>
      <p:sp>
        <p:nvSpPr>
          <p:cNvPr id="2" name="fixed">
            <a:extLst xmlns:a="http://schemas.openxmlformats.org/drawingml/2006/main">
              <a:ext uri="{FF2B5EF4-FFF2-40B4-BE49-F238E27FC236}">
                <a16:creationId xmlns:a16="http://schemas.microsoft.com/office/drawing/2014/main" id="{D2940066-2715-44F3-9D2D-8EC7279DBB57}"/>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09</a:t>
            </a:r>
          </a:p>
        </p:txBody>
      </p:sp>
      <p:sp>
        <p:nvSpPr>
          <p:cNvPr id="3" name="reveal-1">
            <a:extLst xmlns:a="http://schemas.openxmlformats.org/drawingml/2006/main">
              <a:ext uri="{FF2B5EF4-FFF2-40B4-BE49-F238E27FC236}">
                <a16:creationId xmlns:a16="http://schemas.microsoft.com/office/drawing/2014/main" id="{48FFAD03-025C-4103-A136-E9C100C6764C}"/>
              </a:ext>
            </a:extLst>
          </p:cNvPr>
          <p:cNvSpPr>
            <a:spLocks xmlns:a="http://schemas.openxmlformats.org/drawingml/2006/main" noGrp="1"/>
          </p:cNvSpPr>
          <p:nvPr/>
        </p:nvSpPr>
        <p:spPr>
          <a:xfrm xmlns:a="http://schemas.openxmlformats.org/drawingml/2006/main">
            <a:off x="60960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MODULE 6 / CORE</a:t>
            </a:r>
          </a:p>
        </p:txBody>
      </p:sp>
      <p:sp>
        <p:nvSpPr>
          <p:cNvPr id="4" name="reveal-1">
            <a:extLst xmlns:a="http://schemas.openxmlformats.org/drawingml/2006/main">
              <a:ext uri="{FF2B5EF4-FFF2-40B4-BE49-F238E27FC236}">
                <a16:creationId xmlns:a16="http://schemas.microsoft.com/office/drawing/2014/main" id="{CD5E39FD-50C6-43EA-8629-070CFFDDB017}"/>
              </a:ext>
            </a:extLst>
          </p:cNvPr>
          <p:cNvSpPr>
            <a:spLocks xmlns:a="http://schemas.openxmlformats.org/drawingml/2006/main" noGrp="1"/>
          </p:cNvSpPr>
          <p:nvPr/>
        </p:nvSpPr>
        <p:spPr>
          <a:xfrm xmlns:a="http://schemas.openxmlformats.org/drawingml/2006/main">
            <a:off x="60960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Examiner dashboard</a:t>
            </a:r>
          </a:p>
        </p:txBody>
      </p:sp>
      <p:sp>
        <p:nvSpPr>
          <p:cNvPr id="5" name="reveal-1">
            <a:extLst xmlns:a="http://schemas.openxmlformats.org/drawingml/2006/main">
              <a:ext uri="{FF2B5EF4-FFF2-40B4-BE49-F238E27FC236}">
                <a16:creationId xmlns:a16="http://schemas.microsoft.com/office/drawing/2014/main" id="{F44CECF9-8997-44D7-853B-D58526BC7520}"/>
              </a:ext>
            </a:extLst>
          </p:cNvPr>
          <p:cNvSpPr>
            <a:spLocks xmlns:a="http://schemas.openxmlformats.org/drawingml/2006/main" noGrp="1"/>
          </p:cNvSpPr>
          <p:nvPr/>
        </p:nvSpPr>
        <p:spPr>
          <a:xfrm xmlns:a="http://schemas.openxmlformats.org/drawingml/2006/main">
            <a:off x="60960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Live Monitoring and priority queue</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Evidence review and risk badges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Exam management and history</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Warnings, chat and termination</a:t>
            </a:r>
          </a:p>
        </p:txBody>
      </p:sp>
      <p:sp>
        <p:nvSpPr>
          <p:cNvPr id="6" name="reveal-2">
            <a:extLst xmlns:a="http://schemas.openxmlformats.org/drawingml/2006/main">
              <a:ext uri="{FF2B5EF4-FFF2-40B4-BE49-F238E27FC236}">
                <a16:creationId xmlns:a16="http://schemas.microsoft.com/office/drawing/2014/main" id="{D8783D95-54AC-4FB0-8427-4FB6689F8131}"/>
              </a:ext>
            </a:extLst>
          </p:cNvPr>
          <p:cNvSpPr>
            <a:spLocks xmlns:a="http://schemas.openxmlformats.org/drawingml/2006/main" noGrp="1"/>
          </p:cNvSpPr>
          <p:nvPr/>
        </p:nvSpPr>
        <p:spPr>
          <a:xfrm xmlns:a="http://schemas.openxmlformats.org/drawingml/2006/main">
            <a:off x="638175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MODULE 7 / CORE</a:t>
            </a:r>
          </a:p>
        </p:txBody>
      </p:sp>
      <p:sp>
        <p:nvSpPr>
          <p:cNvPr id="7" name="reveal-2">
            <a:extLst xmlns:a="http://schemas.openxmlformats.org/drawingml/2006/main">
              <a:ext uri="{FF2B5EF4-FFF2-40B4-BE49-F238E27FC236}">
                <a16:creationId xmlns:a16="http://schemas.microsoft.com/office/drawing/2014/main" id="{31333C9B-B38C-434D-934C-F0B48A32104C}"/>
              </a:ext>
            </a:extLst>
          </p:cNvPr>
          <p:cNvSpPr>
            <a:spLocks xmlns:a="http://schemas.openxmlformats.org/drawingml/2006/main" noGrp="1"/>
          </p:cNvSpPr>
          <p:nvPr/>
        </p:nvSpPr>
        <p:spPr>
          <a:xfrm xmlns:a="http://schemas.openxmlformats.org/drawingml/2006/main">
            <a:off x="638175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Answer submission</a:t>
            </a:r>
          </a:p>
        </p:txBody>
      </p:sp>
      <p:sp>
        <p:nvSpPr>
          <p:cNvPr id="8" name="reveal-2">
            <a:extLst xmlns:a="http://schemas.openxmlformats.org/drawingml/2006/main">
              <a:ext uri="{FF2B5EF4-FFF2-40B4-BE49-F238E27FC236}">
                <a16:creationId xmlns:a16="http://schemas.microsoft.com/office/drawing/2014/main" id="{12051E69-F2D4-4F90-A8B8-6D6B66443A39}"/>
              </a:ext>
            </a:extLst>
          </p:cNvPr>
          <p:cNvSpPr>
            <a:spLocks xmlns:a="http://schemas.openxmlformats.org/drawingml/2006/main" noGrp="1"/>
          </p:cNvSpPr>
          <p:nvPr/>
        </p:nvSpPr>
        <p:spPr>
          <a:xfrm xmlns:a="http://schemas.openxmlformats.org/drawingml/2006/main">
            <a:off x="638175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Integrated exam paper workspace</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Typed answers with local drafts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Session-linked file upload</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Teacher viewing and download</a:t>
            </a:r>
          </a:p>
        </p:txBody>
      </p:sp>
      <p:sp>
        <p:nvSpPr>
          <p:cNvPr id="9" name="reveal-3">
            <a:extLst xmlns:a="http://schemas.openxmlformats.org/drawingml/2006/main">
              <a:ext uri="{FF2B5EF4-FFF2-40B4-BE49-F238E27FC236}">
                <a16:creationId xmlns:a16="http://schemas.microsoft.com/office/drawing/2014/main" id="{A118508B-45F7-4559-9D57-C916A1C1F174}"/>
              </a:ext>
            </a:extLst>
          </p:cNvPr>
          <p:cNvSpPr>
            <a:spLocks xmlns:a="http://schemas.openxmlformats.org/drawingml/2006/main" noGrp="1"/>
          </p:cNvSpPr>
          <p:nvPr/>
        </p:nvSpPr>
        <p:spPr>
          <a:xfrm xmlns:a="http://schemas.openxmlformats.org/drawingml/2006/main">
            <a:off x="60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Configured exam</a:t>
            </a:r>
          </a:p>
        </p:txBody>
      </p:sp>
      <p:sp>
        <p:nvSpPr>
          <p:cNvPr id="10" name="reveal-3">
            <a:extLst xmlns:a="http://schemas.openxmlformats.org/drawingml/2006/main">
              <a:ext uri="{FF2B5EF4-FFF2-40B4-BE49-F238E27FC236}">
                <a16:creationId xmlns:a16="http://schemas.microsoft.com/office/drawing/2014/main" id="{0DCB5A89-8BED-458B-AE63-2D52A32AA968}"/>
              </a:ext>
            </a:extLst>
          </p:cNvPr>
          <p:cNvSpPr>
            <a:spLocks xmlns:a="http://schemas.openxmlformats.org/drawingml/2006/main" noGrp="1"/>
          </p:cNvSpPr>
          <p:nvPr/>
        </p:nvSpPr>
        <p:spPr>
          <a:xfrm xmlns:a="http://schemas.openxmlformats.org/drawingml/2006/main">
            <a:off x="441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Candidate workspace</a:t>
            </a:r>
          </a:p>
        </p:txBody>
      </p:sp>
      <p:sp>
        <p:nvSpPr>
          <p:cNvPr id="11" name="reveal-3">
            <a:extLst xmlns:a="http://schemas.openxmlformats.org/drawingml/2006/main">
              <a:ext uri="{FF2B5EF4-FFF2-40B4-BE49-F238E27FC236}">
                <a16:creationId xmlns:a16="http://schemas.microsoft.com/office/drawing/2014/main" id="{47850414-59A5-45C2-B7E5-BC01EFDEBBE0}"/>
              </a:ext>
            </a:extLst>
          </p:cNvPr>
          <p:cNvSpPr>
            <a:spLocks xmlns:a="http://schemas.openxmlformats.org/drawingml/2006/main" noGrp="1"/>
          </p:cNvSpPr>
          <p:nvPr/>
        </p:nvSpPr>
        <p:spPr>
          <a:xfrm xmlns:a="http://schemas.openxmlformats.org/drawingml/2006/main">
            <a:off x="822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Submission and review</a:t>
            </a:r>
          </a:p>
        </p:txBody>
      </p:sp>
      <p:cxnSp>
        <p:nvCxnSpPr>
          <p:cNvPr id="25" name="reveal-3"/>
          <p:cNvCxnSpPr>
            <a:stCxn xmlns:a="http://schemas.openxmlformats.org/drawingml/2006/main" id="9" idx="3"/>
            <a:endCxn xmlns:a="http://schemas.openxmlformats.org/drawingml/2006/main" id="10" idx="1"/>
          </p:cNvCxnSpPr>
          <p:nvPr/>
        </p:nvCxnSpPr>
        <p:spPr>
          <a:xfrm xmlns:a="http://schemas.openxmlformats.org/drawingml/2006/main">
            <a:off x="3943350" y="54006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6" name="reveal-3"/>
          <p:cNvCxnSpPr>
            <a:stCxn xmlns:a="http://schemas.openxmlformats.org/drawingml/2006/main" id="10" idx="3"/>
            <a:endCxn xmlns:a="http://schemas.openxmlformats.org/drawingml/2006/main" id="11" idx="1"/>
          </p:cNvCxnSpPr>
          <p:nvPr/>
        </p:nvCxnSpPr>
        <p:spPr>
          <a:xfrm xmlns:a="http://schemas.openxmlformats.org/drawingml/2006/main">
            <a:off x="7753350" y="54006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spTree>
    <p:extLst>
      <p:ext uri="{BB962C8B-B14F-4D97-AF65-F5344CB8AC3E}">
        <p14:creationId xmlns:p14="http://schemas.microsoft.com/office/powerpoint/2010/main" val="1918301644"/>
      </p:ext>
    </p:extLst>
  </p:cSld>
</p:sld>
</file>

<file path=ppt/slides/slide10.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4" name="fixed">
            <a:extLst xmlns:a="http://schemas.openxmlformats.org/drawingml/2006/main">
              <a:ext uri="{FF2B5EF4-FFF2-40B4-BE49-F238E27FC236}">
                <a16:creationId xmlns:a16="http://schemas.microsoft.com/office/drawing/2014/main" id="{8915003F-2A83-4479-8606-898A8912971A}"/>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Reporting and additions beyond the scope</a:t>
            </a:r>
          </a:p>
        </p:txBody>
      </p:sp>
      <p:sp>
        <p:nvSpPr>
          <p:cNvPr id="2" name="fixed">
            <a:extLst xmlns:a="http://schemas.openxmlformats.org/drawingml/2006/main">
              <a:ext uri="{FF2B5EF4-FFF2-40B4-BE49-F238E27FC236}">
                <a16:creationId xmlns:a16="http://schemas.microsoft.com/office/drawing/2014/main" id="{ED93F530-0636-4073-98FC-4C0F8C55529A}"/>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10</a:t>
            </a:r>
          </a:p>
        </p:txBody>
      </p:sp>
      <p:sp>
        <p:nvSpPr>
          <p:cNvPr id="3" name="reveal-1">
            <a:extLst xmlns:a="http://schemas.openxmlformats.org/drawingml/2006/main">
              <a:ext uri="{FF2B5EF4-FFF2-40B4-BE49-F238E27FC236}">
                <a16:creationId xmlns:a16="http://schemas.microsoft.com/office/drawing/2014/main" id="{DBE7E177-67DD-4C4D-9A0E-8FB7EE6C7907}"/>
              </a:ext>
            </a:extLst>
          </p:cNvPr>
          <p:cNvSpPr>
            <a:spLocks xmlns:a="http://schemas.openxmlformats.org/drawingml/2006/main" noGrp="1"/>
          </p:cNvSpPr>
          <p:nvPr/>
        </p:nvSpPr>
        <p:spPr>
          <a:xfrm xmlns:a="http://schemas.openxmlformats.org/drawingml/2006/main">
            <a:off x="60960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MODULE 8 / ADVANCED</a:t>
            </a:r>
          </a:p>
        </p:txBody>
      </p:sp>
      <p:sp>
        <p:nvSpPr>
          <p:cNvPr id="4" name="reveal-1">
            <a:extLst xmlns:a="http://schemas.openxmlformats.org/drawingml/2006/main">
              <a:ext uri="{FF2B5EF4-FFF2-40B4-BE49-F238E27FC236}">
                <a16:creationId xmlns:a16="http://schemas.microsoft.com/office/drawing/2014/main" id="{54C10044-347B-4DB6-BCE2-877F290ED895}"/>
              </a:ext>
            </a:extLst>
          </p:cNvPr>
          <p:cNvSpPr>
            <a:spLocks xmlns:a="http://schemas.openxmlformats.org/drawingml/2006/main" noGrp="1"/>
          </p:cNvSpPr>
          <p:nvPr/>
        </p:nvSpPr>
        <p:spPr>
          <a:xfrm xmlns:a="http://schemas.openxmlformats.org/drawingml/2006/main">
            <a:off x="60960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Audit reporting</a:t>
            </a:r>
          </a:p>
        </p:txBody>
      </p:sp>
      <p:sp>
        <p:nvSpPr>
          <p:cNvPr id="5" name="reveal-1">
            <a:extLst xmlns:a="http://schemas.openxmlformats.org/drawingml/2006/main">
              <a:ext uri="{FF2B5EF4-FFF2-40B4-BE49-F238E27FC236}">
                <a16:creationId xmlns:a16="http://schemas.microsoft.com/office/drawing/2014/main" id="{88670FE8-684A-4459-80CE-F908F659C15C}"/>
              </a:ext>
            </a:extLst>
          </p:cNvPr>
          <p:cNvSpPr>
            <a:spLocks xmlns:a="http://schemas.openxmlformats.org/drawingml/2006/main" noGrp="1"/>
          </p:cNvSpPr>
          <p:nvPr/>
        </p:nvSpPr>
        <p:spPr>
          <a:xfrm xmlns:a="http://schemas.openxmlformats.org/drawingml/2006/main">
            <a:off x="60960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Historical exam summaries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Risk and violation breakdowns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CSV export and browser Save PDF</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Detailed evidence opens separately</a:t>
            </a:r>
          </a:p>
        </p:txBody>
      </p:sp>
      <p:sp>
        <p:nvSpPr>
          <p:cNvPr id="6" name="reveal-2">
            <a:extLst xmlns:a="http://schemas.openxmlformats.org/drawingml/2006/main">
              <a:ext uri="{FF2B5EF4-FFF2-40B4-BE49-F238E27FC236}">
                <a16:creationId xmlns:a16="http://schemas.microsoft.com/office/drawing/2014/main" id="{840FBFE1-5FC2-4AC1-8E79-ADFA82B6D2CA}"/>
              </a:ext>
            </a:extLst>
          </p:cNvPr>
          <p:cNvSpPr>
            <a:spLocks xmlns:a="http://schemas.openxmlformats.org/drawingml/2006/main" noGrp="1"/>
          </p:cNvSpPr>
          <p:nvPr/>
        </p:nvSpPr>
        <p:spPr>
          <a:xfrm xmlns:a="http://schemas.openxmlformats.org/drawingml/2006/main">
            <a:off x="638175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ADDITIONAL WORK</a:t>
            </a:r>
          </a:p>
        </p:txBody>
      </p:sp>
      <p:sp>
        <p:nvSpPr>
          <p:cNvPr id="7" name="reveal-2">
            <a:extLst xmlns:a="http://schemas.openxmlformats.org/drawingml/2006/main">
              <a:ext uri="{FF2B5EF4-FFF2-40B4-BE49-F238E27FC236}">
                <a16:creationId xmlns:a16="http://schemas.microsoft.com/office/drawing/2014/main" id="{8316371E-CC71-471F-AB17-8272171CDF6C}"/>
              </a:ext>
            </a:extLst>
          </p:cNvPr>
          <p:cNvSpPr>
            <a:spLocks xmlns:a="http://schemas.openxmlformats.org/drawingml/2006/main" noGrp="1"/>
          </p:cNvSpPr>
          <p:nvPr/>
        </p:nvSpPr>
        <p:spPr>
          <a:xfrm xmlns:a="http://schemas.openxmlformats.org/drawingml/2006/main">
            <a:off x="638175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Beyond the original baseline</a:t>
            </a:r>
          </a:p>
        </p:txBody>
      </p:sp>
      <p:sp>
        <p:nvSpPr>
          <p:cNvPr id="8" name="reveal-2">
            <a:extLst xmlns:a="http://schemas.openxmlformats.org/drawingml/2006/main">
              <a:ext uri="{FF2B5EF4-FFF2-40B4-BE49-F238E27FC236}">
                <a16:creationId xmlns:a16="http://schemas.microsoft.com/office/drawing/2014/main" id="{2263F0CA-9D97-4754-BE8F-80DCB5DEC84F}"/>
              </a:ext>
            </a:extLst>
          </p:cNvPr>
          <p:cNvSpPr>
            <a:spLocks xmlns:a="http://schemas.openxmlformats.org/drawingml/2006/main" noGrp="1"/>
          </p:cNvSpPr>
          <p:nvPr/>
        </p:nvSpPr>
        <p:spPr>
          <a:xfrm xmlns:a="http://schemas.openxmlformats.org/drawingml/2006/main">
            <a:off x="638175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Voice verification and consent</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Physical-lab mode and chat</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Admin accounts and asset management</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Multiple exams, dark mode and recovery</a:t>
            </a:r>
          </a:p>
        </p:txBody>
      </p:sp>
      <p:sp>
        <p:nvSpPr>
          <p:cNvPr id="9" name="reveal-3">
            <a:extLst xmlns:a="http://schemas.openxmlformats.org/drawingml/2006/main">
              <a:ext uri="{FF2B5EF4-FFF2-40B4-BE49-F238E27FC236}">
                <a16:creationId xmlns:a16="http://schemas.microsoft.com/office/drawing/2014/main" id="{71AB5102-EF4E-400D-AE0F-63434B974FA8}"/>
              </a:ext>
            </a:extLst>
          </p:cNvPr>
          <p:cNvSpPr>
            <a:spLocks xmlns:a="http://schemas.openxmlformats.org/drawingml/2006/main" noGrp="1"/>
          </p:cNvSpPr>
          <p:nvPr/>
        </p:nvSpPr>
        <p:spPr>
          <a:xfrm xmlns:a="http://schemas.openxmlformats.org/drawingml/2006/main">
            <a:off x="60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Completed exam</a:t>
            </a:r>
          </a:p>
        </p:txBody>
      </p:sp>
      <p:sp>
        <p:nvSpPr>
          <p:cNvPr id="10" name="reveal-3">
            <a:extLst xmlns:a="http://schemas.openxmlformats.org/drawingml/2006/main">
              <a:ext uri="{FF2B5EF4-FFF2-40B4-BE49-F238E27FC236}">
                <a16:creationId xmlns:a16="http://schemas.microsoft.com/office/drawing/2014/main" id="{F72A6CD8-FAE2-462F-97C5-D4D7CF3864A6}"/>
              </a:ext>
            </a:extLst>
          </p:cNvPr>
          <p:cNvSpPr>
            <a:spLocks xmlns:a="http://schemas.openxmlformats.org/drawingml/2006/main" noGrp="1"/>
          </p:cNvSpPr>
          <p:nvPr/>
        </p:nvSpPr>
        <p:spPr>
          <a:xfrm xmlns:a="http://schemas.openxmlformats.org/drawingml/2006/main">
            <a:off x="441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Summary and exports</a:t>
            </a:r>
          </a:p>
        </p:txBody>
      </p:sp>
      <p:sp>
        <p:nvSpPr>
          <p:cNvPr id="11" name="reveal-3">
            <a:extLst xmlns:a="http://schemas.openxmlformats.org/drawingml/2006/main">
              <a:ext uri="{FF2B5EF4-FFF2-40B4-BE49-F238E27FC236}">
                <a16:creationId xmlns:a16="http://schemas.microsoft.com/office/drawing/2014/main" id="{F9C2C2D2-6A8E-4D86-B3E5-CB1DA8C48FC6}"/>
              </a:ext>
            </a:extLst>
          </p:cNvPr>
          <p:cNvSpPr>
            <a:spLocks xmlns:a="http://schemas.openxmlformats.org/drawingml/2006/main" noGrp="1"/>
          </p:cNvSpPr>
          <p:nvPr/>
        </p:nvSpPr>
        <p:spPr>
          <a:xfrm xmlns:a="http://schemas.openxmlformats.org/drawingml/2006/main">
            <a:off x="8229600" y="5067300"/>
            <a:ext cx="3333750" cy="666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Institutional review</a:t>
            </a:r>
          </a:p>
        </p:txBody>
      </p:sp>
      <p:cxnSp>
        <p:nvCxnSpPr>
          <p:cNvPr id="25" name="reveal-3"/>
          <p:cNvCxnSpPr>
            <a:stCxn xmlns:a="http://schemas.openxmlformats.org/drawingml/2006/main" id="9" idx="3"/>
            <a:endCxn xmlns:a="http://schemas.openxmlformats.org/drawingml/2006/main" id="10" idx="1"/>
          </p:cNvCxnSpPr>
          <p:nvPr/>
        </p:nvCxnSpPr>
        <p:spPr>
          <a:xfrm xmlns:a="http://schemas.openxmlformats.org/drawingml/2006/main">
            <a:off x="3943350" y="54006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6" name="reveal-3"/>
          <p:cNvCxnSpPr>
            <a:stCxn xmlns:a="http://schemas.openxmlformats.org/drawingml/2006/main" id="10" idx="3"/>
            <a:endCxn xmlns:a="http://schemas.openxmlformats.org/drawingml/2006/main" id="11" idx="1"/>
          </p:cNvCxnSpPr>
          <p:nvPr/>
        </p:nvCxnSpPr>
        <p:spPr>
          <a:xfrm xmlns:a="http://schemas.openxmlformats.org/drawingml/2006/main">
            <a:off x="7753350" y="54006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spTree>
    <p:extLst>
      <p:ext uri="{BB962C8B-B14F-4D97-AF65-F5344CB8AC3E}">
        <p14:creationId xmlns:p14="http://schemas.microsoft.com/office/powerpoint/2010/main" val="467864040"/>
      </p:ext>
    </p:extLst>
  </p:cSld>
</p:sld>
</file>

<file path=ppt/slides/slide11.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0" name="fixed">
            <a:extLst xmlns:a="http://schemas.openxmlformats.org/drawingml/2006/main">
              <a:ext uri="{FF2B5EF4-FFF2-40B4-BE49-F238E27FC236}">
                <a16:creationId xmlns:a16="http://schemas.microsoft.com/office/drawing/2014/main" id="{0E259AB0-D0FE-4B3E-9754-C547645B7027}"/>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Reported load test: 50 simulated candidates</a:t>
            </a:r>
          </a:p>
        </p:txBody>
      </p:sp>
      <p:sp>
        <p:nvSpPr>
          <p:cNvPr id="2" name="fixed">
            <a:extLst xmlns:a="http://schemas.openxmlformats.org/drawingml/2006/main">
              <a:ext uri="{FF2B5EF4-FFF2-40B4-BE49-F238E27FC236}">
                <a16:creationId xmlns:a16="http://schemas.microsoft.com/office/drawing/2014/main" id="{09D571F7-6B17-4CD9-9BEB-B202C4BFF826}"/>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11</a:t>
            </a:r>
          </a:p>
        </p:txBody>
      </p:sp>
      <p:sp>
        <p:nvSpPr>
          <p:cNvPr id="3" name="fixed">
            <a:extLst xmlns:a="http://schemas.openxmlformats.org/drawingml/2006/main">
              <a:ext uri="{FF2B5EF4-FFF2-40B4-BE49-F238E27FC236}">
                <a16:creationId xmlns:a16="http://schemas.microsoft.com/office/drawing/2014/main" id="{4ABE7F90-87C4-478B-8B36-CD5F05272400}"/>
              </a:ext>
            </a:extLst>
          </p:cNvPr>
          <p:cNvSpPr>
            <a:spLocks xmlns:a="http://schemas.openxmlformats.org/drawingml/2006/main" noGrp="1"/>
          </p:cNvSpPr>
          <p:nvPr/>
        </p:nvSpPr>
        <p:spPr>
          <a:xfrm xmlns:a="http://schemas.openxmlformats.org/drawingml/2006/main">
            <a:off x="609600" y="1657350"/>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3"/>
                </a:solidFill>
                <a:latin typeface="Arial"/>
                <a:ea typeface="Arial"/>
                <a:cs typeface="Arial"/>
              </a:defRPr>
            </a:pPr>
            <a:r>
              <a:rPr sz="1950" b="0">
                <a:solidFill>
                  <a:srgbClr val="526573"/>
                </a:solidFill>
                <a:latin typeface="Arial"/>
                <a:ea typeface="Arial"/>
                <a:cs typeface="Arial"/>
              </a:rPr>
              <a:t>Average HTTP latency</a:t>
            </a:r>
          </a:p>
        </p:txBody>
      </p:sp>
      <p:graphicFrame>
        <p:nvGraphicFramePr>
          <p:cNvPr id="13" name="Chart"/>
          <p:cNvGraphicFramePr/>
          <p:nvPr/>
        </p:nvGraphicFramePr>
        <p:xfrm>
          <a:off xmlns:a="http://schemas.openxmlformats.org/drawingml/2006/main" x="514350" y="2209800"/>
          <a:ext xmlns:a="http://schemas.openxmlformats.org/drawingml/2006/main" cx="7239000" cy="3429000"/>
        </p:xfrm>
        <a:graphic xmlns:a="http://schemas.openxmlformats.org/drawingml/2006/main">
          <a:graphicData uri="http://schemas.openxmlformats.org/drawingml/2006/chart">
            <c:chart xmlns:r="http://schemas.openxmlformats.org/officeDocument/2006/relationships" xmlns:c="http://schemas.openxmlformats.org/drawingml/2006/chart" r:id="R0a55d9aa35fe4ef3"/>
          </a:graphicData>
        </a:graphic>
      </p:graphicFrame>
      <p:sp>
        <p:nvSpPr>
          <p:cNvPr id="5" name="reveal-1">
            <a:extLst xmlns:a="http://schemas.openxmlformats.org/drawingml/2006/main">
              <a:ext uri="{FF2B5EF4-FFF2-40B4-BE49-F238E27FC236}">
                <a16:creationId xmlns:a16="http://schemas.microsoft.com/office/drawing/2014/main" id="{4A3876F7-6AB7-40E1-AB39-4272E241365E}"/>
              </a:ext>
            </a:extLst>
          </p:cNvPr>
          <p:cNvSpPr>
            <a:spLocks xmlns:a="http://schemas.openxmlformats.org/drawingml/2006/main" noGrp="1"/>
          </p:cNvSpPr>
          <p:nvPr/>
        </p:nvSpPr>
        <p:spPr>
          <a:xfrm xmlns:a="http://schemas.openxmlformats.org/drawingml/2006/main">
            <a:off x="8267700" y="2257425"/>
            <a:ext cx="319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a:solidFill>
                  <a:srgbClr val="087F8C"/>
                </a:solidFill>
                <a:latin typeface="Arial"/>
                <a:ea typeface="Arial"/>
                <a:cs typeface="Arial"/>
              </a:defRPr>
            </a:pPr>
            <a:r>
              <a:rPr sz="5550" b="1">
                <a:solidFill>
                  <a:srgbClr val="087F8C"/>
                </a:solidFill>
                <a:latin typeface="Arial"/>
                <a:ea typeface="Arial"/>
                <a:cs typeface="Arial"/>
              </a:rPr>
              <a:t>10.1×</a:t>
            </a:r>
          </a:p>
        </p:txBody>
      </p:sp>
      <p:sp>
        <p:nvSpPr>
          <p:cNvPr id="6" name="reveal-1">
            <a:extLst xmlns:a="http://schemas.openxmlformats.org/drawingml/2006/main">
              <a:ext uri="{FF2B5EF4-FFF2-40B4-BE49-F238E27FC236}">
                <a16:creationId xmlns:a16="http://schemas.microsoft.com/office/drawing/2014/main" id="{C1910058-FA82-42CB-838D-D3ABD4CE6B1E}"/>
              </a:ext>
            </a:extLst>
          </p:cNvPr>
          <p:cNvSpPr>
            <a:spLocks xmlns:a="http://schemas.openxmlformats.org/drawingml/2006/main" noGrp="1"/>
          </p:cNvSpPr>
          <p:nvPr/>
        </p:nvSpPr>
        <p:spPr>
          <a:xfrm xmlns:a="http://schemas.openxmlformats.org/drawingml/2006/main">
            <a:off x="8267700" y="3286125"/>
            <a:ext cx="319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3"/>
                </a:solidFill>
                <a:latin typeface="Arial"/>
                <a:ea typeface="Arial"/>
                <a:cs typeface="Arial"/>
              </a:defRPr>
            </a:pPr>
            <a:r>
              <a:rPr sz="1950" b="0">
                <a:solidFill>
                  <a:srgbClr val="526573"/>
                </a:solidFill>
                <a:latin typeface="Arial"/>
                <a:ea typeface="Arial"/>
                <a:cs typeface="Arial"/>
              </a:rPr>
              <a:t>lower average latency</a:t>
            </a:r>
          </a:p>
        </p:txBody>
      </p:sp>
      <p:sp>
        <p:nvSpPr>
          <p:cNvPr id="7" name="reveal-2">
            <a:extLst xmlns:a="http://schemas.openxmlformats.org/drawingml/2006/main">
              <a:ext uri="{FF2B5EF4-FFF2-40B4-BE49-F238E27FC236}">
                <a16:creationId xmlns:a16="http://schemas.microsoft.com/office/drawing/2014/main" id="{59FE668B-C136-4D57-939E-C7F4827A6A4E}"/>
              </a:ext>
            </a:extLst>
          </p:cNvPr>
          <p:cNvSpPr>
            <a:spLocks xmlns:a="http://schemas.openxmlformats.org/drawingml/2006/main" noGrp="1"/>
          </p:cNvSpPr>
          <p:nvPr/>
        </p:nvSpPr>
        <p:spPr>
          <a:xfrm xmlns:a="http://schemas.openxmlformats.org/drawingml/2006/main">
            <a:off x="8267700" y="4257675"/>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32D3A"/>
                </a:solidFill>
                <a:latin typeface="Arial"/>
                <a:ea typeface="Arial"/>
                <a:cs typeface="Arial"/>
              </a:defRPr>
            </a:pPr>
            <a:r>
              <a:rPr sz="4800" b="1">
                <a:solidFill>
                  <a:srgbClr val="132D3A"/>
                </a:solidFill>
                <a:latin typeface="Arial"/>
                <a:ea typeface="Arial"/>
                <a:cs typeface="Arial"/>
              </a:rPr>
              <a:t>100%</a:t>
            </a:r>
          </a:p>
        </p:txBody>
      </p:sp>
      <p:sp>
        <p:nvSpPr>
          <p:cNvPr id="8" name="reveal-2">
            <a:extLst xmlns:a="http://schemas.openxmlformats.org/drawingml/2006/main">
              <a:ext uri="{FF2B5EF4-FFF2-40B4-BE49-F238E27FC236}">
                <a16:creationId xmlns:a16="http://schemas.microsoft.com/office/drawing/2014/main" id="{4B0C5B7C-87D9-4923-B485-E5133233881F}"/>
              </a:ext>
            </a:extLst>
          </p:cNvPr>
          <p:cNvSpPr>
            <a:spLocks xmlns:a="http://schemas.openxmlformats.org/drawingml/2006/main" noGrp="1"/>
          </p:cNvSpPr>
          <p:nvPr/>
        </p:nvSpPr>
        <p:spPr>
          <a:xfrm xmlns:a="http://schemas.openxmlformats.org/drawingml/2006/main">
            <a:off x="8267700" y="5095875"/>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573"/>
                </a:solidFill>
                <a:latin typeface="Arial"/>
                <a:ea typeface="Arial"/>
                <a:cs typeface="Arial"/>
              </a:defRPr>
            </a:pPr>
            <a:r>
              <a:rPr sz="1800" b="0">
                <a:solidFill>
                  <a:srgbClr val="526573"/>
                </a:solidFill>
                <a:latin typeface="Arial"/>
                <a:ea typeface="Arial"/>
                <a:cs typeface="Arial"/>
              </a:rPr>
              <a:t>request success in the</a:t>
            </a:r>
          </a:p>
          <a:p xmlns:a="http://schemas.openxmlformats.org/drawingml/2006/main">
            <a:pPr>
              <a:defRPr sz="1800" b="0">
                <a:solidFill>
                  <a:srgbClr val="526573"/>
                </a:solidFill>
                <a:latin typeface="Arial"/>
                <a:ea typeface="Arial"/>
                <a:cs typeface="Arial"/>
              </a:defRPr>
            </a:pPr>
            <a:r>
              <a:rPr sz="1800" b="0">
                <a:solidFill>
                  <a:srgbClr val="526573"/>
                </a:solidFill>
                <a:latin typeface="Arial"/>
                <a:ea typeface="Arial"/>
                <a:cs typeface="Arial"/>
              </a:rPr>
              <a:t>reported after-run</a:t>
            </a:r>
          </a:p>
        </p:txBody>
      </p:sp>
      <p:sp>
        <p:nvSpPr>
          <p:cNvPr id="9" name="fixed">
            <a:extLst xmlns:a="http://schemas.openxmlformats.org/drawingml/2006/main">
              <a:ext uri="{FF2B5EF4-FFF2-40B4-BE49-F238E27FC236}">
                <a16:creationId xmlns:a16="http://schemas.microsoft.com/office/drawing/2014/main" id="{9CD6A07C-F3B3-427F-830C-74D68A545C1D}"/>
              </a:ext>
            </a:extLst>
          </p:cNvPr>
          <p:cNvSpPr>
            <a:spLocks xmlns:a="http://schemas.openxmlformats.org/drawingml/2006/main" noGrp="1"/>
          </p:cNvSpPr>
          <p:nvPr/>
        </p:nvSpPr>
        <p:spPr>
          <a:xfrm xmlns:a="http://schemas.openxmlformats.org/drawingml/2006/main">
            <a:off x="609600" y="6057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Short synthetic HTTP benchmark supplied by the team. AI accuracy and end-to-end delivery were not measured.</a:t>
            </a:r>
          </a:p>
        </p:txBody>
      </p:sp>
    </p:spTree>
    <p:extLst>
      <p:ext uri="{BB962C8B-B14F-4D97-AF65-F5344CB8AC3E}">
        <p14:creationId xmlns:p14="http://schemas.microsoft.com/office/powerpoint/2010/main" val="1591371630"/>
      </p:ext>
    </p:extLst>
  </p:cSld>
</p:sld>
</file>

<file path=ppt/slides/slide12.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6" name="fixed">
            <a:extLst xmlns:a="http://schemas.openxmlformats.org/drawingml/2006/main">
              <a:ext uri="{FF2B5EF4-FFF2-40B4-BE49-F238E27FC236}">
                <a16:creationId xmlns:a16="http://schemas.microsoft.com/office/drawing/2014/main" id="{99631EE6-9C22-483D-8AA8-9E296114F20B}"/>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The ingestion pipeline now acknowledges before scoring</a:t>
            </a:r>
          </a:p>
        </p:txBody>
      </p:sp>
      <p:sp>
        <p:nvSpPr>
          <p:cNvPr id="2" name="fixed">
            <a:extLst xmlns:a="http://schemas.openxmlformats.org/drawingml/2006/main">
              <a:ext uri="{FF2B5EF4-FFF2-40B4-BE49-F238E27FC236}">
                <a16:creationId xmlns:a16="http://schemas.microsoft.com/office/drawing/2014/main" id="{952ACAA7-B286-4A03-B46B-CA5D18026025}"/>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12</a:t>
            </a:r>
          </a:p>
        </p:txBody>
      </p:sp>
      <p:sp>
        <p:nvSpPr>
          <p:cNvPr id="3" name="reveal-1">
            <a:extLst xmlns:a="http://schemas.openxmlformats.org/drawingml/2006/main">
              <a:ext uri="{FF2B5EF4-FFF2-40B4-BE49-F238E27FC236}">
                <a16:creationId xmlns:a16="http://schemas.microsoft.com/office/drawing/2014/main" id="{A76A7B66-AA22-474D-9952-C5221CA9F734}"/>
              </a:ext>
            </a:extLst>
          </p:cNvPr>
          <p:cNvSpPr>
            <a:spLocks xmlns:a="http://schemas.openxmlformats.org/drawingml/2006/main" noGrp="1"/>
          </p:cNvSpPr>
          <p:nvPr/>
        </p:nvSpPr>
        <p:spPr>
          <a:xfrm xmlns:a="http://schemas.openxmlformats.org/drawingml/2006/main">
            <a:off x="609600" y="1752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526573"/>
                </a:solidFill>
                <a:latin typeface="Arial"/>
                <a:ea typeface="Arial"/>
                <a:cs typeface="Arial"/>
              </a:defRPr>
            </a:pPr>
            <a:r>
              <a:rPr sz="2025" b="1">
                <a:solidFill>
                  <a:srgbClr val="526573"/>
                </a:solidFill>
                <a:latin typeface="Arial"/>
                <a:ea typeface="Arial"/>
                <a:cs typeface="Arial"/>
              </a:rPr>
              <a:t>Before: response waits for analytics</a:t>
            </a:r>
          </a:p>
        </p:txBody>
      </p:sp>
      <p:sp>
        <p:nvSpPr>
          <p:cNvPr id="4" name="reveal-1">
            <a:extLst xmlns:a="http://schemas.openxmlformats.org/drawingml/2006/main">
              <a:ext uri="{FF2B5EF4-FFF2-40B4-BE49-F238E27FC236}">
                <a16:creationId xmlns:a16="http://schemas.microsoft.com/office/drawing/2014/main" id="{2B7C0224-B5FF-464E-AA9B-B117BBC3D6CF}"/>
              </a:ext>
            </a:extLst>
          </p:cNvPr>
          <p:cNvSpPr>
            <a:spLocks xmlns:a="http://schemas.openxmlformats.org/drawingml/2006/main" noGrp="1"/>
          </p:cNvSpPr>
          <p:nvPr/>
        </p:nvSpPr>
        <p:spPr>
          <a:xfrm xmlns:a="http://schemas.openxmlformats.org/drawingml/2006/main">
            <a:off x="609600" y="2352675"/>
            <a:ext cx="2333625" cy="7620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Save violation</a:t>
            </a:r>
          </a:p>
        </p:txBody>
      </p:sp>
      <p:sp>
        <p:nvSpPr>
          <p:cNvPr id="5" name="reveal-1">
            <a:extLst xmlns:a="http://schemas.openxmlformats.org/drawingml/2006/main">
              <a:ext uri="{FF2B5EF4-FFF2-40B4-BE49-F238E27FC236}">
                <a16:creationId xmlns:a16="http://schemas.microsoft.com/office/drawing/2014/main" id="{FA269475-EC50-4374-A630-F755FE406652}"/>
              </a:ext>
            </a:extLst>
          </p:cNvPr>
          <p:cNvSpPr>
            <a:spLocks xmlns:a="http://schemas.openxmlformats.org/drawingml/2006/main" noGrp="1"/>
          </p:cNvSpPr>
          <p:nvPr/>
        </p:nvSpPr>
        <p:spPr>
          <a:xfrm xmlns:a="http://schemas.openxmlformats.org/drawingml/2006/main">
            <a:off x="3467100" y="2352675"/>
            <a:ext cx="2333625" cy="7620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Calculate risk</a:t>
            </a:r>
          </a:p>
        </p:txBody>
      </p:sp>
      <p:sp>
        <p:nvSpPr>
          <p:cNvPr id="6" name="reveal-1">
            <a:extLst xmlns:a="http://schemas.openxmlformats.org/drawingml/2006/main">
              <a:ext uri="{FF2B5EF4-FFF2-40B4-BE49-F238E27FC236}">
                <a16:creationId xmlns:a16="http://schemas.microsoft.com/office/drawing/2014/main" id="{CA0FA5C6-636E-45F6-8479-597B65DEF2E8}"/>
              </a:ext>
            </a:extLst>
          </p:cNvPr>
          <p:cNvSpPr>
            <a:spLocks xmlns:a="http://schemas.openxmlformats.org/drawingml/2006/main" noGrp="1"/>
          </p:cNvSpPr>
          <p:nvPr/>
        </p:nvSpPr>
        <p:spPr>
          <a:xfrm xmlns:a="http://schemas.openxmlformats.org/drawingml/2006/main">
            <a:off x="6324600" y="2352675"/>
            <a:ext cx="3333750" cy="7620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Broadcast + respond</a:t>
            </a:r>
          </a:p>
        </p:txBody>
      </p:sp>
      <p:cxnSp>
        <p:nvCxnSpPr>
          <p:cNvPr id="22" name="reveal-1"/>
          <p:cNvCxnSpPr>
            <a:stCxn xmlns:a="http://schemas.openxmlformats.org/drawingml/2006/main" id="4" idx="3"/>
            <a:endCxn xmlns:a="http://schemas.openxmlformats.org/drawingml/2006/main" id="5" idx="1"/>
          </p:cNvCxnSpPr>
          <p:nvPr/>
        </p:nvCxnSpPr>
        <p:spPr>
          <a:xfrm xmlns:a="http://schemas.openxmlformats.org/drawingml/2006/main">
            <a:off x="2943225" y="2733675"/>
            <a:ext cx="523875"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3" name="reveal-1"/>
          <p:cNvCxnSpPr>
            <a:stCxn xmlns:a="http://schemas.openxmlformats.org/drawingml/2006/main" id="5" idx="3"/>
            <a:endCxn xmlns:a="http://schemas.openxmlformats.org/drawingml/2006/main" id="6" idx="1"/>
          </p:cNvCxnSpPr>
          <p:nvPr/>
        </p:nvCxnSpPr>
        <p:spPr>
          <a:xfrm xmlns:a="http://schemas.openxmlformats.org/drawingml/2006/main">
            <a:off x="5800725" y="2733675"/>
            <a:ext cx="523875" cy="0"/>
          </a:xfrm>
          <a:prstGeom xmlns:a="http://schemas.openxmlformats.org/drawingml/2006/main" prst="straightConnector1">
            <a:avLst/>
          </a:prstGeom>
          <a:ln xmlns:a="http://schemas.openxmlformats.org/drawingml/2006/main" w="19050">
            <a:solidFill>
              <a:srgbClr val="087F8C"/>
            </a:solidFill>
            <a:tailEnd type="arrow" w="med" len="med"/>
          </a:ln>
        </p:spPr>
      </p:cxnSp>
      <p:sp>
        <p:nvSpPr>
          <p:cNvPr id="9" name="reveal-2">
            <a:extLst xmlns:a="http://schemas.openxmlformats.org/drawingml/2006/main">
              <a:ext uri="{FF2B5EF4-FFF2-40B4-BE49-F238E27FC236}">
                <a16:creationId xmlns:a16="http://schemas.microsoft.com/office/drawing/2014/main" id="{61FFA6CD-FFB5-434B-9FBC-1E7F5D238DF8}"/>
              </a:ext>
            </a:extLst>
          </p:cNvPr>
          <p:cNvSpPr>
            <a:spLocks xmlns:a="http://schemas.openxmlformats.org/drawingml/2006/main" noGrp="1"/>
          </p:cNvSpPr>
          <p:nvPr/>
        </p:nvSpPr>
        <p:spPr>
          <a:xfrm xmlns:a="http://schemas.openxmlformats.org/drawingml/2006/main">
            <a:off x="609600" y="3667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Current: respond after a successful commit</a:t>
            </a:r>
          </a:p>
        </p:txBody>
      </p:sp>
      <p:sp>
        <p:nvSpPr>
          <p:cNvPr id="10" name="reveal-2">
            <a:extLst xmlns:a="http://schemas.openxmlformats.org/drawingml/2006/main">
              <a:ext uri="{FF2B5EF4-FFF2-40B4-BE49-F238E27FC236}">
                <a16:creationId xmlns:a16="http://schemas.microsoft.com/office/drawing/2014/main" id="{3618C3A6-EE8F-4D26-B0AA-AF3F04335C24}"/>
              </a:ext>
            </a:extLst>
          </p:cNvPr>
          <p:cNvSpPr>
            <a:spLocks xmlns:a="http://schemas.openxmlformats.org/drawingml/2006/main" noGrp="1"/>
          </p:cNvSpPr>
          <p:nvPr/>
        </p:nvSpPr>
        <p:spPr>
          <a:xfrm xmlns:a="http://schemas.openxmlformats.org/drawingml/2006/main">
            <a:off x="609600" y="4267200"/>
            <a:ext cx="2333625" cy="7620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Save violation</a:t>
            </a:r>
          </a:p>
        </p:txBody>
      </p:sp>
      <p:sp>
        <p:nvSpPr>
          <p:cNvPr id="11" name="reveal-2">
            <a:extLst xmlns:a="http://schemas.openxmlformats.org/drawingml/2006/main">
              <a:ext uri="{FF2B5EF4-FFF2-40B4-BE49-F238E27FC236}">
                <a16:creationId xmlns:a16="http://schemas.microsoft.com/office/drawing/2014/main" id="{FD2D94A1-29D4-4981-BE0C-1C2C496A407A}"/>
              </a:ext>
            </a:extLst>
          </p:cNvPr>
          <p:cNvSpPr>
            <a:spLocks xmlns:a="http://schemas.openxmlformats.org/drawingml/2006/main" noGrp="1"/>
          </p:cNvSpPr>
          <p:nvPr/>
        </p:nvSpPr>
        <p:spPr>
          <a:xfrm xmlns:a="http://schemas.openxmlformats.org/drawingml/2006/main">
            <a:off x="3467100" y="4267200"/>
            <a:ext cx="2333625" cy="7620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HTTP 201</a:t>
            </a:r>
          </a:p>
        </p:txBody>
      </p:sp>
      <p:sp>
        <p:nvSpPr>
          <p:cNvPr id="12" name="reveal-3">
            <a:extLst xmlns:a="http://schemas.openxmlformats.org/drawingml/2006/main">
              <a:ext uri="{FF2B5EF4-FFF2-40B4-BE49-F238E27FC236}">
                <a16:creationId xmlns:a16="http://schemas.microsoft.com/office/drawing/2014/main" id="{78AFF5A8-5BF4-4C78-9D0A-109532218DE6}"/>
              </a:ext>
            </a:extLst>
          </p:cNvPr>
          <p:cNvSpPr>
            <a:spLocks xmlns:a="http://schemas.openxmlformats.org/drawingml/2006/main" noGrp="1"/>
          </p:cNvSpPr>
          <p:nvPr/>
        </p:nvSpPr>
        <p:spPr>
          <a:xfrm xmlns:a="http://schemas.openxmlformats.org/drawingml/2006/main">
            <a:off x="6324600" y="4267200"/>
            <a:ext cx="3333750" cy="76200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Deferred broadcast</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and risk update</a:t>
            </a:r>
          </a:p>
        </p:txBody>
      </p:sp>
      <p:cxnSp>
        <p:nvCxnSpPr>
          <p:cNvPr id="28" name="reveal-2"/>
          <p:cNvCxnSpPr>
            <a:stCxn xmlns:a="http://schemas.openxmlformats.org/drawingml/2006/main" id="10" idx="3"/>
            <a:endCxn xmlns:a="http://schemas.openxmlformats.org/drawingml/2006/main" id="11" idx="1"/>
          </p:cNvCxnSpPr>
          <p:nvPr/>
        </p:nvCxnSpPr>
        <p:spPr>
          <a:xfrm xmlns:a="http://schemas.openxmlformats.org/drawingml/2006/main">
            <a:off x="2943225" y="4648200"/>
            <a:ext cx="523875"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9" name="reveal-3"/>
          <p:cNvCxnSpPr>
            <a:stCxn xmlns:a="http://schemas.openxmlformats.org/drawingml/2006/main" id="11" idx="3"/>
            <a:endCxn xmlns:a="http://schemas.openxmlformats.org/drawingml/2006/main" id="12" idx="1"/>
          </p:cNvCxnSpPr>
          <p:nvPr/>
        </p:nvCxnSpPr>
        <p:spPr>
          <a:xfrm xmlns:a="http://schemas.openxmlformats.org/drawingml/2006/main">
            <a:off x="5800725" y="4648200"/>
            <a:ext cx="523875" cy="0"/>
          </a:xfrm>
          <a:prstGeom xmlns:a="http://schemas.openxmlformats.org/drawingml/2006/main" prst="straightConnector1">
            <a:avLst/>
          </a:prstGeom>
          <a:ln xmlns:a="http://schemas.openxmlformats.org/drawingml/2006/main" w="19050">
            <a:solidFill>
              <a:srgbClr val="087F8C"/>
            </a:solidFill>
            <a:tailEnd type="arrow" w="med" len="med"/>
          </a:ln>
        </p:spPr>
      </p:cxnSp>
      <p:sp>
        <p:nvSpPr>
          <p:cNvPr id="15" name="fixed">
            <a:extLst xmlns:a="http://schemas.openxmlformats.org/drawingml/2006/main">
              <a:ext uri="{FF2B5EF4-FFF2-40B4-BE49-F238E27FC236}">
                <a16:creationId xmlns:a16="http://schemas.microsoft.com/office/drawing/2014/main" id="{0C28257C-A7CE-42AC-9382-46A542CCB9F2}"/>
              </a:ext>
            </a:extLst>
          </p:cNvPr>
          <p:cNvSpPr>
            <a:spLocks xmlns:a="http://schemas.openxmlformats.org/drawingml/2006/main" noGrp="1"/>
          </p:cNvSpPr>
          <p:nvPr/>
        </p:nvSpPr>
        <p:spPr>
          <a:xfrm xmlns:a="http://schemas.openxmlformats.org/drawingml/2006/main">
            <a:off x="609600" y="56769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D3A"/>
                </a:solidFill>
                <a:latin typeface="Arial"/>
                <a:ea typeface="Arial"/>
                <a:cs typeface="Arial"/>
              </a:defRPr>
            </a:pPr>
            <a:r>
              <a:rPr sz="2100" b="1">
                <a:solidFill>
                  <a:srgbClr val="132D3A"/>
                </a:solidFill>
                <a:latin typeface="Arial"/>
                <a:ea typeface="Arial"/>
                <a:cs typeface="Arial"/>
              </a:rPr>
              <a:t>Faster acknowledgement does not guarantee faster examiner delivery</a:t>
            </a:r>
          </a:p>
        </p:txBody>
      </p:sp>
    </p:spTree>
    <p:extLst>
      <p:ext uri="{BB962C8B-B14F-4D97-AF65-F5344CB8AC3E}">
        <p14:creationId xmlns:p14="http://schemas.microsoft.com/office/powerpoint/2010/main" val="2036526967"/>
      </p:ext>
    </p:extLst>
  </p:cSld>
</p:sld>
</file>

<file path=ppt/slides/slide13.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5" name="fixed">
            <a:extLst xmlns:a="http://schemas.openxmlformats.org/drawingml/2006/main">
              <a:ext uri="{FF2B5EF4-FFF2-40B4-BE49-F238E27FC236}">
                <a16:creationId xmlns:a16="http://schemas.microsoft.com/office/drawing/2014/main" id="{19807482-59A4-4ABF-8CE6-208CE5E93963}"/>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Current implementation progress</a:t>
            </a:r>
          </a:p>
        </p:txBody>
      </p:sp>
      <p:sp>
        <p:nvSpPr>
          <p:cNvPr id="2" name="fixed">
            <a:extLst xmlns:a="http://schemas.openxmlformats.org/drawingml/2006/main">
              <a:ext uri="{FF2B5EF4-FFF2-40B4-BE49-F238E27FC236}">
                <a16:creationId xmlns:a16="http://schemas.microsoft.com/office/drawing/2014/main" id="{07EB8737-8032-4987-90DF-28CEB1044A48}"/>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13</a:t>
            </a:r>
          </a:p>
        </p:txBody>
      </p:sp>
      <p:graphicFrame>
        <p:nvGraphicFramePr>
          <p:cNvPr id="7" name=""/>
          <p:cNvGraphicFramePr/>
          <p:nvPr/>
        </p:nvGraphicFramePr>
        <p:xfrm>
          <a:off xmlns:a="http://schemas.openxmlformats.org/drawingml/2006/main" x="609600" y="1885950"/>
          <a:ext xmlns:a="http://schemas.openxmlformats.org/drawingml/2006/main" cx="10953750" cy="3429000"/>
        </p:xfrm>
        <a:graphic xmlns:a="http://schemas.openxmlformats.org/drawingml/2006/main">
          <a:graphicData uri="http://schemas.openxmlformats.org/drawingml/2006/table">
            <a:tbl>
              <a:tblPr/>
              <a:tblGrid>
                <a:gridCol w="2381250"/>
                <a:gridCol w="4286250"/>
                <a:gridCol w="4286250"/>
              </a:tblGrid>
              <a:tr h="685800">
                <a:tc>
                  <a:txBody>
                    <a:bodyPr/>
                    <a:lstStyle/>
                    <a:p>
                      <a:r>
                        <a:rPr sz="1725" b="1">
                          <a:solidFill>
                            <a:srgbClr val="FFFFFF"/>
                          </a:solidFill>
                          <a:latin typeface="Arial"/>
                          <a:ea typeface="Arial"/>
                          <a:cs typeface="Arial"/>
                        </a:rPr>
                        <a:t>AREA</a:t>
                      </a:r>
                    </a:p>
                  </a:txBody>
                  <a:tcPr marL="91440" marR="91440" marT="45720" marB="45720">
                    <a:solidFill>
                      <a:srgbClr val="132D3A"/>
                    </a:solidFill>
                  </a:tcPr>
                </a:tc>
                <a:tc>
                  <a:txBody>
                    <a:bodyPr/>
                    <a:lstStyle/>
                    <a:p>
                      <a:r>
                        <a:rPr sz="1725" b="1">
                          <a:solidFill>
                            <a:srgbClr val="FFFFFF"/>
                          </a:solidFill>
                          <a:latin typeface="Arial"/>
                          <a:ea typeface="Arial"/>
                          <a:cs typeface="Arial"/>
                        </a:rPr>
                        <a:t>IMPLEMENTED</a:t>
                      </a:r>
                    </a:p>
                  </a:txBody>
                  <a:tcPr marL="91440" marR="91440" marT="45720" marB="45720">
                    <a:solidFill>
                      <a:srgbClr val="132D3A"/>
                    </a:solidFill>
                  </a:tcPr>
                </a:tc>
                <a:tc>
                  <a:txBody>
                    <a:bodyPr/>
                    <a:lstStyle/>
                    <a:p>
                      <a:r>
                        <a:rPr sz="1725" b="1">
                          <a:solidFill>
                            <a:srgbClr val="FFFFFF"/>
                          </a:solidFill>
                          <a:latin typeface="Arial"/>
                          <a:ea typeface="Arial"/>
                          <a:cs typeface="Arial"/>
                        </a:rPr>
                        <a:t>REMAINING ACCEPTANCE</a:t>
                      </a:r>
                    </a:p>
                  </a:txBody>
                  <a:tcPr marL="91440" marR="91440" marT="45720" marB="45720">
                    <a:solidFill>
                      <a:srgbClr val="132D3A"/>
                    </a:solidFill>
                  </a:tcPr>
                </a:tc>
              </a:tr>
              <a:tr h="685800">
                <a:tc>
                  <a:txBody>
                    <a:bodyPr/>
                    <a:lstStyle/>
                    <a:p>
                      <a:r>
                        <a:rPr sz="1725" b="0">
                          <a:solidFill>
                            <a:srgbClr val="132D3A"/>
                          </a:solidFill>
                          <a:latin typeface="Arial"/>
                          <a:ea typeface="Arial"/>
                          <a:cs typeface="Arial"/>
                        </a:rPr>
                        <a:t>Core workflow</a:t>
                      </a:r>
                    </a:p>
                  </a:txBody>
                  <a:tcPr marL="91440" marR="91440" marT="45720" marB="45720">
                    <a:solidFill>
                      <a:srgbClr val="E5EEEC"/>
                    </a:solidFill>
                  </a:tcPr>
                </a:tc>
                <a:tc>
                  <a:txBody>
                    <a:bodyPr/>
                    <a:lstStyle/>
                    <a:p>
                      <a:r>
                        <a:rPr sz="1725" b="0">
                          <a:solidFill>
                            <a:srgbClr val="132D3A"/>
                          </a:solidFill>
                          <a:latin typeface="Arial"/>
                          <a:ea typeface="Arial"/>
                          <a:cs typeface="Arial"/>
                        </a:rPr>
                        <a:t>Entry, monitoring, review, submission</a:t>
                      </a:r>
                    </a:p>
                  </a:txBody>
                  <a:tcPr marL="91440" marR="91440" marT="45720" marB="45720">
                    <a:solidFill>
                      <a:srgbClr val="E5EEEC"/>
                    </a:solidFill>
                  </a:tcPr>
                </a:tc>
                <a:tc>
                  <a:txBody>
                    <a:bodyPr/>
                    <a:lstStyle/>
                    <a:p>
                      <a:r>
                        <a:rPr sz="1725" b="0">
                          <a:solidFill>
                            <a:srgbClr val="132D3A"/>
                          </a:solidFill>
                          <a:latin typeface="Arial"/>
                          <a:ea typeface="Arial"/>
                          <a:cs typeface="Arial"/>
                        </a:rPr>
                        <a:t>Full laptop / network rehearsal</a:t>
                      </a:r>
                    </a:p>
                  </a:txBody>
                  <a:tcPr marL="91440" marR="91440" marT="45720" marB="45720">
                    <a:solidFill>
                      <a:srgbClr val="E5EEEC"/>
                    </a:solidFill>
                  </a:tcPr>
                </a:tc>
              </a:tr>
              <a:tr h="685800">
                <a:tc>
                  <a:txBody>
                    <a:bodyPr/>
                    <a:lstStyle/>
                    <a:p>
                      <a:r>
                        <a:rPr sz="1725" b="0">
                          <a:solidFill>
                            <a:srgbClr val="132D3A"/>
                          </a:solidFill>
                          <a:latin typeface="Arial"/>
                          <a:ea typeface="Arial"/>
                          <a:cs typeface="Arial"/>
                        </a:rPr>
                        <a:t>AI monitoring</a:t>
                      </a:r>
                    </a:p>
                  </a:txBody>
                  <a:tcPr marL="91440" marR="91440" marT="45720" marB="45720">
                    <a:solidFill>
                      <a:srgbClr val="F5F7F5"/>
                    </a:solidFill>
                  </a:tcPr>
                </a:tc>
                <a:tc>
                  <a:txBody>
                    <a:bodyPr/>
                    <a:lstStyle/>
                    <a:p>
                      <a:r>
                        <a:rPr sz="1725" b="0">
                          <a:solidFill>
                            <a:srgbClr val="132D3A"/>
                          </a:solidFill>
                          <a:latin typeface="Arial"/>
                          <a:ea typeface="Arial"/>
                          <a:cs typeface="Arial"/>
                        </a:rPr>
                        <a:t>Face, head pose, phone/book, voice</a:t>
                      </a:r>
                    </a:p>
                  </a:txBody>
                  <a:tcPr marL="91440" marR="91440" marT="45720" marB="45720">
                    <a:solidFill>
                      <a:srgbClr val="F5F7F5"/>
                    </a:solidFill>
                  </a:tcPr>
                </a:tc>
                <a:tc>
                  <a:txBody>
                    <a:bodyPr/>
                    <a:lstStyle/>
                    <a:p>
                      <a:r>
                        <a:rPr sz="1725" b="0">
                          <a:solidFill>
                            <a:srgbClr val="132D3A"/>
                          </a:solidFill>
                          <a:latin typeface="Arial"/>
                          <a:ea typeface="Arial"/>
                          <a:cs typeface="Arial"/>
                        </a:rPr>
                        <a:t>False alerts / missed detections</a:t>
                      </a:r>
                    </a:p>
                  </a:txBody>
                  <a:tcPr marL="91440" marR="91440" marT="45720" marB="45720">
                    <a:solidFill>
                      <a:srgbClr val="F5F7F5"/>
                    </a:solidFill>
                  </a:tcPr>
                </a:tc>
              </a:tr>
              <a:tr h="685800">
                <a:tc>
                  <a:txBody>
                    <a:bodyPr/>
                    <a:lstStyle/>
                    <a:p>
                      <a:r>
                        <a:rPr sz="1725" b="0">
                          <a:solidFill>
                            <a:srgbClr val="132D3A"/>
                          </a:solidFill>
                          <a:latin typeface="Arial"/>
                          <a:ea typeface="Arial"/>
                          <a:cs typeface="Arial"/>
                        </a:rPr>
                        <a:t>Reliability</a:t>
                      </a:r>
                    </a:p>
                  </a:txBody>
                  <a:tcPr marL="91440" marR="91440" marT="45720" marB="45720">
                    <a:solidFill>
                      <a:srgbClr val="E5EEEC"/>
                    </a:solidFill>
                  </a:tcPr>
                </a:tc>
                <a:tc>
                  <a:txBody>
                    <a:bodyPr/>
                    <a:lstStyle/>
                    <a:p>
                      <a:r>
                        <a:rPr sz="1725" b="0">
                          <a:solidFill>
                            <a:srgbClr val="132D3A"/>
                          </a:solidFill>
                          <a:latin typeface="Arial"/>
                          <a:ea typeface="Arial"/>
                          <a:cs typeface="Arial"/>
                        </a:rPr>
                        <a:t>Durable retries and late evidence</a:t>
                      </a:r>
                    </a:p>
                  </a:txBody>
                  <a:tcPr marL="91440" marR="91440" marT="45720" marB="45720">
                    <a:solidFill>
                      <a:srgbClr val="E5EEEC"/>
                    </a:solidFill>
                  </a:tcPr>
                </a:tc>
                <a:tc>
                  <a:txBody>
                    <a:bodyPr/>
                    <a:lstStyle/>
                    <a:p>
                      <a:r>
                        <a:rPr sz="1725" b="0">
                          <a:solidFill>
                            <a:srgbClr val="132D3A"/>
                          </a:solidFill>
                          <a:latin typeface="Arial"/>
                          <a:ea typeface="Arial"/>
                          <a:cs typeface="Arial"/>
                        </a:rPr>
                        <a:t>Hardware / network interruption tests</a:t>
                      </a:r>
                    </a:p>
                  </a:txBody>
                  <a:tcPr marL="91440" marR="91440" marT="45720" marB="45720">
                    <a:solidFill>
                      <a:srgbClr val="E5EEEC"/>
                    </a:solidFill>
                  </a:tcPr>
                </a:tc>
              </a:tr>
              <a:tr h="685800">
                <a:tc>
                  <a:txBody>
                    <a:bodyPr/>
                    <a:lstStyle/>
                    <a:p>
                      <a:r>
                        <a:rPr sz="1725" b="0">
                          <a:solidFill>
                            <a:srgbClr val="132D3A"/>
                          </a:solidFill>
                          <a:latin typeface="Arial"/>
                          <a:ea typeface="Arial"/>
                          <a:cs typeface="Arial"/>
                        </a:rPr>
                        <a:t>Reporting</a:t>
                      </a:r>
                    </a:p>
                  </a:txBody>
                  <a:tcPr marL="91440" marR="91440" marT="45720" marB="45720">
                    <a:solidFill>
                      <a:srgbClr val="F5F7F5"/>
                    </a:solidFill>
                  </a:tcPr>
                </a:tc>
                <a:tc>
                  <a:txBody>
                    <a:bodyPr/>
                    <a:lstStyle/>
                    <a:p>
                      <a:r>
                        <a:rPr sz="1725" b="0">
                          <a:solidFill>
                            <a:srgbClr val="132D3A"/>
                          </a:solidFill>
                          <a:latin typeface="Arial"/>
                          <a:ea typeface="Arial"/>
                          <a:cs typeface="Arial"/>
                        </a:rPr>
                        <a:t>Summary, CSV and browser Save PDF</a:t>
                      </a:r>
                    </a:p>
                  </a:txBody>
                  <a:tcPr marL="91440" marR="91440" marT="45720" marB="45720">
                    <a:solidFill>
                      <a:srgbClr val="F5F7F5"/>
                    </a:solidFill>
                  </a:tcPr>
                </a:tc>
                <a:tc>
                  <a:txBody>
                    <a:bodyPr/>
                    <a:lstStyle/>
                    <a:p>
                      <a:r>
                        <a:rPr sz="1725" b="0">
                          <a:solidFill>
                            <a:srgbClr val="132D3A"/>
                          </a:solidFill>
                          <a:latin typeface="Arial"/>
                          <a:ea typeface="Arial"/>
                          <a:cs typeface="Arial"/>
                        </a:rPr>
                        <a:t>Combined logs and evidence export</a:t>
                      </a:r>
                    </a:p>
                  </a:txBody>
                  <a:tcPr marL="91440" marR="91440" marT="45720" marB="45720">
                    <a:solidFill>
                      <a:srgbClr val="F5F7F5"/>
                    </a:solidFill>
                  </a:tcPr>
                </a:tc>
              </a:tr>
            </a:tbl>
          </a:graphicData>
        </a:graphic>
      </p:graphicFrame>
      <p:sp>
        <p:nvSpPr>
          <p:cNvPr id="4" name="reveal-1">
            <a:extLst xmlns:a="http://schemas.openxmlformats.org/drawingml/2006/main">
              <a:ext uri="{FF2B5EF4-FFF2-40B4-BE49-F238E27FC236}">
                <a16:creationId xmlns:a16="http://schemas.microsoft.com/office/drawing/2014/main" id="{6408C766-6EC2-411E-97CF-1E3272DC62D0}"/>
              </a:ext>
            </a:extLst>
          </p:cNvPr>
          <p:cNvSpPr>
            <a:spLocks xmlns:a="http://schemas.openxmlformats.org/drawingml/2006/main" noGrp="1"/>
          </p:cNvSpPr>
          <p:nvPr/>
        </p:nvSpPr>
        <p:spPr>
          <a:xfrm xmlns:a="http://schemas.openxmlformats.org/drawingml/2006/main">
            <a:off x="609600" y="5715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25 detector regression checks passed</a:t>
            </a:r>
          </a:p>
        </p:txBody>
      </p:sp>
    </p:spTree>
    <p:extLst>
      <p:ext uri="{BB962C8B-B14F-4D97-AF65-F5344CB8AC3E}">
        <p14:creationId xmlns:p14="http://schemas.microsoft.com/office/powerpoint/2010/main" val="1151950789"/>
      </p:ext>
    </p:extLst>
  </p:cSld>
</p:sld>
</file>

<file path=ppt/slides/slide14.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9" name="fixed">
            <a:extLst xmlns:a="http://schemas.openxmlformats.org/drawingml/2006/main">
              <a:ext uri="{FF2B5EF4-FFF2-40B4-BE49-F238E27FC236}">
                <a16:creationId xmlns:a16="http://schemas.microsoft.com/office/drawing/2014/main" id="{A41C05E6-8227-4B22-9AFC-8F826CFD5EE0}"/>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Remaining work before final evaluation</a:t>
            </a:r>
          </a:p>
        </p:txBody>
      </p:sp>
      <p:sp>
        <p:nvSpPr>
          <p:cNvPr id="2" name="fixed">
            <a:extLst xmlns:a="http://schemas.openxmlformats.org/drawingml/2006/main">
              <a:ext uri="{FF2B5EF4-FFF2-40B4-BE49-F238E27FC236}">
                <a16:creationId xmlns:a16="http://schemas.microsoft.com/office/drawing/2014/main" id="{D8FB8B74-5767-40A2-99C3-C3F9AEFD2330}"/>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14</a:t>
            </a:r>
          </a:p>
        </p:txBody>
      </p:sp>
      <p:sp>
        <p:nvSpPr>
          <p:cNvPr id="3" name="reveal-1">
            <a:extLst xmlns:a="http://schemas.openxmlformats.org/drawingml/2006/main">
              <a:ext uri="{FF2B5EF4-FFF2-40B4-BE49-F238E27FC236}">
                <a16:creationId xmlns:a16="http://schemas.microsoft.com/office/drawing/2014/main" id="{7A7DC0D4-6393-4A8F-8349-B62469437B25}"/>
              </a:ext>
            </a:extLst>
          </p:cNvPr>
          <p:cNvSpPr>
            <a:spLocks xmlns:a="http://schemas.openxmlformats.org/drawingml/2006/main" noGrp="1"/>
          </p:cNvSpPr>
          <p:nvPr/>
        </p:nvSpPr>
        <p:spPr>
          <a:xfrm xmlns:a="http://schemas.openxmlformats.org/drawingml/2006/main">
            <a:off x="60960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VALIDATION</a:t>
            </a:r>
          </a:p>
        </p:txBody>
      </p:sp>
      <p:sp>
        <p:nvSpPr>
          <p:cNvPr id="4" name="reveal-1">
            <a:extLst xmlns:a="http://schemas.openxmlformats.org/drawingml/2006/main">
              <a:ext uri="{FF2B5EF4-FFF2-40B4-BE49-F238E27FC236}">
                <a16:creationId xmlns:a16="http://schemas.microsoft.com/office/drawing/2014/main" id="{49862E35-3ABE-410D-9161-762A13F6E30E}"/>
              </a:ext>
            </a:extLst>
          </p:cNvPr>
          <p:cNvSpPr>
            <a:spLocks xmlns:a="http://schemas.openxmlformats.org/drawingml/2006/main" noGrp="1"/>
          </p:cNvSpPr>
          <p:nvPr/>
        </p:nvSpPr>
        <p:spPr>
          <a:xfrm xmlns:a="http://schemas.openxmlformats.org/drawingml/2006/main">
            <a:off x="60960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Measured real-device results</a:t>
            </a:r>
          </a:p>
        </p:txBody>
      </p:sp>
      <p:sp>
        <p:nvSpPr>
          <p:cNvPr id="5" name="reveal-1">
            <a:extLst xmlns:a="http://schemas.openxmlformats.org/drawingml/2006/main">
              <a:ext uri="{FF2B5EF4-FFF2-40B4-BE49-F238E27FC236}">
                <a16:creationId xmlns:a16="http://schemas.microsoft.com/office/drawing/2014/main" id="{D62BF557-2CC1-4459-8195-418499F61DE6}"/>
              </a:ext>
            </a:extLst>
          </p:cNvPr>
          <p:cNvSpPr>
            <a:spLocks xmlns:a="http://schemas.openxmlformats.org/drawingml/2006/main" noGrp="1"/>
          </p:cNvSpPr>
          <p:nvPr/>
        </p:nvSpPr>
        <p:spPr>
          <a:xfrm xmlns:a="http://schemas.openxmlformats.org/drawingml/2006/main">
            <a:off x="60960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False positives and missed detections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Detection-to-dashboard latency</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Longer, repeated load tests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Lighting and microphone variation</a:t>
            </a:r>
          </a:p>
        </p:txBody>
      </p:sp>
      <p:sp>
        <p:nvSpPr>
          <p:cNvPr id="6" name="reveal-2">
            <a:extLst xmlns:a="http://schemas.openxmlformats.org/drawingml/2006/main">
              <a:ext uri="{FF2B5EF4-FFF2-40B4-BE49-F238E27FC236}">
                <a16:creationId xmlns:a16="http://schemas.microsoft.com/office/drawing/2014/main" id="{D0523A8C-F6A9-4D17-8745-572E3626DCDB}"/>
              </a:ext>
            </a:extLst>
          </p:cNvPr>
          <p:cNvSpPr>
            <a:spLocks xmlns:a="http://schemas.openxmlformats.org/drawingml/2006/main" noGrp="1"/>
          </p:cNvSpPr>
          <p:nvPr/>
        </p:nvSpPr>
        <p:spPr>
          <a:xfrm xmlns:a="http://schemas.openxmlformats.org/drawingml/2006/main">
            <a:off x="638175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SCOPE &amp; READINESS</a:t>
            </a:r>
          </a:p>
        </p:txBody>
      </p:sp>
      <p:sp>
        <p:nvSpPr>
          <p:cNvPr id="7" name="reveal-2">
            <a:extLst xmlns:a="http://schemas.openxmlformats.org/drawingml/2006/main">
              <a:ext uri="{FF2B5EF4-FFF2-40B4-BE49-F238E27FC236}">
                <a16:creationId xmlns:a16="http://schemas.microsoft.com/office/drawing/2014/main" id="{A47356AF-0839-4906-8A29-E7DB6C63841A}"/>
              </a:ext>
            </a:extLst>
          </p:cNvPr>
          <p:cNvSpPr>
            <a:spLocks xmlns:a="http://schemas.openxmlformats.org/drawingml/2006/main" noGrp="1"/>
          </p:cNvSpPr>
          <p:nvPr/>
        </p:nvSpPr>
        <p:spPr>
          <a:xfrm xmlns:a="http://schemas.openxmlformats.org/drawingml/2006/main">
            <a:off x="638175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Clear remaining deliverables</a:t>
            </a:r>
          </a:p>
        </p:txBody>
      </p:sp>
      <p:sp>
        <p:nvSpPr>
          <p:cNvPr id="8" name="reveal-2">
            <a:extLst xmlns:a="http://schemas.openxmlformats.org/drawingml/2006/main">
              <a:ext uri="{FF2B5EF4-FFF2-40B4-BE49-F238E27FC236}">
                <a16:creationId xmlns:a16="http://schemas.microsoft.com/office/drawing/2014/main" id="{9172DF21-8B33-4023-9D31-29598CC41186}"/>
              </a:ext>
            </a:extLst>
          </p:cNvPr>
          <p:cNvSpPr>
            <a:spLocks xmlns:a="http://schemas.openxmlformats.org/drawingml/2006/main" noGrp="1"/>
          </p:cNvSpPr>
          <p:nvPr/>
        </p:nvSpPr>
        <p:spPr>
          <a:xfrm xmlns:a="http://schemas.openxmlformats.org/drawingml/2006/main">
            <a:off x="638175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Headphone detection or scope alignment</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Combined evidence report export</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Retention policy and expiry decisions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Full HDMI and recovery rehearsal</a:t>
            </a:r>
          </a:p>
        </p:txBody>
      </p:sp>
    </p:spTree>
    <p:extLst>
      <p:ext uri="{BB962C8B-B14F-4D97-AF65-F5344CB8AC3E}">
        <p14:creationId xmlns:p14="http://schemas.microsoft.com/office/powerpoint/2010/main" val="447549518"/>
      </p:ext>
    </p:extLst>
  </p:cSld>
</p:sld>
</file>

<file path=ppt/slides/slide15.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981fb2a828d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fixed">
            <a:extLst xmlns:a="http://schemas.openxmlformats.org/drawingml/2006/main">
              <a:ext uri="{FF2B5EF4-FFF2-40B4-BE49-F238E27FC236}">
                <a16:creationId xmlns:a16="http://schemas.microsoft.com/office/drawing/2014/main" id="{C81A405F-5039-4504-9056-A73EE4E82185}"/>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Live demonstration</a:t>
            </a:r>
          </a:p>
        </p:txBody>
      </p:sp>
      <p:sp>
        <p:nvSpPr>
          <p:cNvPr id="3" name="fixed">
            <a:extLst xmlns:a="http://schemas.openxmlformats.org/drawingml/2006/main">
              <a:ext uri="{FF2B5EF4-FFF2-40B4-BE49-F238E27FC236}">
                <a16:creationId xmlns:a16="http://schemas.microsoft.com/office/drawing/2014/main" id="{C4584AB4-B617-4AC8-BABD-2AE6E9053AD0}"/>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1BDC5"/>
                </a:solidFill>
                <a:latin typeface="Arial"/>
                <a:ea typeface="Arial"/>
                <a:cs typeface="Arial"/>
              </a:defRPr>
            </a:pPr>
            <a:r>
              <a:rPr sz="1350" b="0">
                <a:solidFill>
                  <a:srgbClr val="A1BDC5"/>
                </a:solidFill>
                <a:latin typeface="Arial"/>
                <a:ea typeface="Arial"/>
                <a:cs typeface="Arial"/>
              </a:rPr>
              <a:t>15</a:t>
            </a:r>
          </a:p>
        </p:txBody>
      </p:sp>
      <p:sp>
        <p:nvSpPr>
          <p:cNvPr id="4" name="reveal-1">
            <a:extLst xmlns:a="http://schemas.openxmlformats.org/drawingml/2006/main">
              <a:ext uri="{FF2B5EF4-FFF2-40B4-BE49-F238E27FC236}">
                <a16:creationId xmlns:a16="http://schemas.microsoft.com/office/drawing/2014/main" id="{1DF5A4A4-4EB8-4777-A351-F402A970CCEA}"/>
              </a:ext>
            </a:extLst>
          </p:cNvPr>
          <p:cNvSpPr>
            <a:spLocks xmlns:a="http://schemas.openxmlformats.org/drawingml/2006/main" noGrp="1"/>
          </p:cNvSpPr>
          <p:nvPr/>
        </p:nvSpPr>
        <p:spPr>
          <a:xfrm xmlns:a="http://schemas.openxmlformats.org/drawingml/2006/main">
            <a:off x="609600" y="200025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01  Exam setup</a:t>
            </a:r>
          </a:p>
        </p:txBody>
      </p:sp>
      <p:sp>
        <p:nvSpPr>
          <p:cNvPr id="5" name="reveal-2">
            <a:extLst xmlns:a="http://schemas.openxmlformats.org/drawingml/2006/main">
              <a:ext uri="{FF2B5EF4-FFF2-40B4-BE49-F238E27FC236}">
                <a16:creationId xmlns:a16="http://schemas.microsoft.com/office/drawing/2014/main" id="{877CE389-55E7-453E-96C4-2CF0CD8A92D3}"/>
              </a:ext>
            </a:extLst>
          </p:cNvPr>
          <p:cNvSpPr>
            <a:spLocks xmlns:a="http://schemas.openxmlformats.org/drawingml/2006/main" noGrp="1"/>
          </p:cNvSpPr>
          <p:nvPr/>
        </p:nvSpPr>
        <p:spPr>
          <a:xfrm xmlns:a="http://schemas.openxmlformats.org/drawingml/2006/main">
            <a:off x="609600" y="280987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02  Candidate consent and self-check</a:t>
            </a:r>
          </a:p>
        </p:txBody>
      </p:sp>
      <p:sp>
        <p:nvSpPr>
          <p:cNvPr id="6" name="reveal-3">
            <a:extLst xmlns:a="http://schemas.openxmlformats.org/drawingml/2006/main">
              <a:ext uri="{FF2B5EF4-FFF2-40B4-BE49-F238E27FC236}">
                <a16:creationId xmlns:a16="http://schemas.microsoft.com/office/drawing/2014/main" id="{7F62D36E-ABA4-44DB-B0E9-8EED30F2B6BD}"/>
              </a:ext>
            </a:extLst>
          </p:cNvPr>
          <p:cNvSpPr>
            <a:spLocks xmlns:a="http://schemas.openxmlformats.org/drawingml/2006/main" noGrp="1"/>
          </p:cNvSpPr>
          <p:nvPr/>
        </p:nvSpPr>
        <p:spPr>
          <a:xfrm xmlns:a="http://schemas.openxmlformats.org/drawingml/2006/main">
            <a:off x="609600" y="36195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03  Monitoring and evidence review</a:t>
            </a:r>
          </a:p>
        </p:txBody>
      </p:sp>
      <p:sp>
        <p:nvSpPr>
          <p:cNvPr id="7" name="reveal-4">
            <a:extLst xmlns:a="http://schemas.openxmlformats.org/drawingml/2006/main">
              <a:ext uri="{FF2B5EF4-FFF2-40B4-BE49-F238E27FC236}">
                <a16:creationId xmlns:a16="http://schemas.microsoft.com/office/drawing/2014/main" id="{49E7A45E-84CB-43EE-BC63-ACE799D08115}"/>
              </a:ext>
            </a:extLst>
          </p:cNvPr>
          <p:cNvSpPr>
            <a:spLocks xmlns:a="http://schemas.openxmlformats.org/drawingml/2006/main" noGrp="1"/>
          </p:cNvSpPr>
          <p:nvPr/>
        </p:nvSpPr>
        <p:spPr>
          <a:xfrm xmlns:a="http://schemas.openxmlformats.org/drawingml/2006/main">
            <a:off x="609600" y="4429125"/>
            <a:ext cx="885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04  Warning, submission and summary</a:t>
            </a:r>
          </a:p>
        </p:txBody>
      </p:sp>
      <p:sp>
        <p:nvSpPr>
          <p:cNvPr id="8" name="fixed">
            <a:extLst xmlns:a="http://schemas.openxmlformats.org/drawingml/2006/main">
              <a:ext uri="{FF2B5EF4-FFF2-40B4-BE49-F238E27FC236}">
                <a16:creationId xmlns:a16="http://schemas.microsoft.com/office/drawing/2014/main" id="{14275104-C39D-487B-AE5D-863DD9164806}"/>
              </a:ext>
            </a:extLst>
          </p:cNvPr>
          <p:cNvSpPr>
            <a:spLocks xmlns:a="http://schemas.openxmlformats.org/drawingml/2006/main" noGrp="1"/>
          </p:cNvSpPr>
          <p:nvPr/>
        </p:nvSpPr>
        <p:spPr>
          <a:xfrm xmlns:a="http://schemas.openxmlformats.org/drawingml/2006/main">
            <a:off x="609600" y="57150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1D5DD"/>
                </a:solidFill>
                <a:latin typeface="Arial"/>
                <a:ea typeface="Arial"/>
                <a:cs typeface="Arial"/>
              </a:defRPr>
            </a:pPr>
            <a:r>
              <a:rPr sz="1875" b="0">
                <a:solidFill>
                  <a:srgbClr val="C1D5DD"/>
                </a:solidFill>
                <a:latin typeface="Arial"/>
                <a:ea typeface="Arial"/>
                <a:cs typeface="Arial"/>
              </a:rPr>
              <a:t>7–8 minutes  /  one rehearsed end-to-end examination</a:t>
            </a:r>
          </a:p>
        </p:txBody>
      </p:sp>
    </p:spTree>
    <p:extLst>
      <p:ext uri="{BB962C8B-B14F-4D97-AF65-F5344CB8AC3E}">
        <p14:creationId xmlns:p14="http://schemas.microsoft.com/office/powerpoint/2010/main" val="420584333"/>
      </p:ext>
    </p:extLst>
  </p:cSld>
</p:sld>
</file>

<file path=ppt/slides/slide16.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8a00ff5b4744de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fixed">
            <a:extLst xmlns:a="http://schemas.openxmlformats.org/drawingml/2006/main">
              <a:ext uri="{FF2B5EF4-FFF2-40B4-BE49-F238E27FC236}">
                <a16:creationId xmlns:a16="http://schemas.microsoft.com/office/drawing/2014/main" id="{E278E402-3AC4-4732-8868-6F58E0282F7E}"/>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Questions and technical detail</a:t>
            </a:r>
          </a:p>
        </p:txBody>
      </p:sp>
      <p:sp>
        <p:nvSpPr>
          <p:cNvPr id="3" name="fixed">
            <a:extLst xmlns:a="http://schemas.openxmlformats.org/drawingml/2006/main">
              <a:ext uri="{FF2B5EF4-FFF2-40B4-BE49-F238E27FC236}">
                <a16:creationId xmlns:a16="http://schemas.microsoft.com/office/drawing/2014/main" id="{5CEC870E-0F65-4ABF-9A7E-48FA89D38ED8}"/>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1BDC5"/>
                </a:solidFill>
                <a:latin typeface="Arial"/>
                <a:ea typeface="Arial"/>
                <a:cs typeface="Arial"/>
              </a:defRPr>
            </a:pPr>
            <a:r>
              <a:rPr sz="1350" b="0">
                <a:solidFill>
                  <a:srgbClr val="A1BDC5"/>
                </a:solidFill>
                <a:latin typeface="Arial"/>
                <a:ea typeface="Arial"/>
                <a:cs typeface="Arial"/>
              </a:rPr>
              <a:t>16</a:t>
            </a:r>
          </a:p>
        </p:txBody>
      </p:sp>
      <p:sp>
        <p:nvSpPr>
          <p:cNvPr id="4" name="fixed">
            <a:extLst xmlns:a="http://schemas.openxmlformats.org/drawingml/2006/main">
              <a:ext uri="{FF2B5EF4-FFF2-40B4-BE49-F238E27FC236}">
                <a16:creationId xmlns:a16="http://schemas.microsoft.com/office/drawing/2014/main" id="{32BA2D2A-4136-48F4-9F02-5C9CFBDCC103}"/>
              </a:ext>
            </a:extLst>
          </p:cNvPr>
          <p:cNvSpPr>
            <a:spLocks xmlns:a="http://schemas.openxmlformats.org/drawingml/2006/main" noGrp="1"/>
          </p:cNvSpPr>
          <p:nvPr/>
        </p:nvSpPr>
        <p:spPr>
          <a:xfrm xmlns:a="http://schemas.openxmlformats.org/drawingml/2006/main">
            <a:off x="609600" y="2381250"/>
            <a:ext cx="809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IntegrityFlow</a:t>
            </a:r>
          </a:p>
        </p:txBody>
      </p:sp>
      <p:sp>
        <p:nvSpPr>
          <p:cNvPr id="5" name="fixed">
            <a:extLst xmlns:a="http://schemas.openxmlformats.org/drawingml/2006/main">
              <a:ext uri="{FF2B5EF4-FFF2-40B4-BE49-F238E27FC236}">
                <a16:creationId xmlns:a16="http://schemas.microsoft.com/office/drawing/2014/main" id="{20C90741-6D32-468F-A0BC-222BE266DC4C}"/>
              </a:ext>
            </a:extLst>
          </p:cNvPr>
          <p:cNvSpPr>
            <a:spLocks xmlns:a="http://schemas.openxmlformats.org/drawingml/2006/main" noGrp="1"/>
          </p:cNvSpPr>
          <p:nvPr/>
        </p:nvSpPr>
        <p:spPr>
          <a:xfrm xmlns:a="http://schemas.openxmlformats.org/drawingml/2006/main">
            <a:off x="609600" y="3619500"/>
            <a:ext cx="800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D8F2EC"/>
                </a:solidFill>
                <a:latin typeface="Arial"/>
                <a:ea typeface="Arial"/>
                <a:cs typeface="Arial"/>
              </a:defRPr>
            </a:pPr>
            <a:r>
              <a:rPr sz="2850" b="0">
                <a:solidFill>
                  <a:srgbClr val="D8F2EC"/>
                </a:solidFill>
                <a:latin typeface="Arial"/>
                <a:ea typeface="Arial"/>
                <a:cs typeface="Arial"/>
              </a:rPr>
              <a:t>Local monitoring with evidence</a:t>
            </a:r>
          </a:p>
          <a:p xmlns:a="http://schemas.openxmlformats.org/drawingml/2006/main">
            <a:pPr>
              <a:defRPr sz="2850" b="0">
                <a:solidFill>
                  <a:srgbClr val="D8F2EC"/>
                </a:solidFill>
                <a:latin typeface="Arial"/>
                <a:ea typeface="Arial"/>
                <a:cs typeface="Arial"/>
              </a:defRPr>
            </a:pPr>
            <a:r>
              <a:rPr sz="2850" b="0">
                <a:solidFill>
                  <a:srgbClr val="D8F2EC"/>
                </a:solidFill>
                <a:latin typeface="Arial"/>
                <a:ea typeface="Arial"/>
                <a:cs typeface="Arial"/>
              </a:rPr>
              <a:t>for examiner decisions</a:t>
            </a:r>
          </a:p>
        </p:txBody>
      </p:sp>
      <p:sp>
        <p:nvSpPr>
          <p:cNvPr id="6" name="fixed">
            <a:extLst xmlns:a="http://schemas.openxmlformats.org/drawingml/2006/main">
              <a:ext uri="{FF2B5EF4-FFF2-40B4-BE49-F238E27FC236}">
                <a16:creationId xmlns:a16="http://schemas.microsoft.com/office/drawing/2014/main" id="{2A5F2BB1-463B-4B12-926D-288AB890F625}"/>
              </a:ext>
            </a:extLst>
          </p:cNvPr>
          <p:cNvSpPr>
            <a:spLocks xmlns:a="http://schemas.openxmlformats.org/drawingml/2006/main" noGrp="1"/>
          </p:cNvSpPr>
          <p:nvPr/>
        </p:nvSpPr>
        <p:spPr>
          <a:xfrm xmlns:a="http://schemas.openxmlformats.org/drawingml/2006/main">
            <a:off x="609600" y="56578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1D5DD"/>
                </a:solidFill>
                <a:latin typeface="Arial"/>
                <a:ea typeface="Arial"/>
                <a:cs typeface="Arial"/>
              </a:defRPr>
            </a:pPr>
            <a:r>
              <a:rPr sz="1800" b="0">
                <a:solidFill>
                  <a:srgbClr val="C1D5DD"/>
                </a:solidFill>
                <a:latin typeface="Arial"/>
                <a:ea typeface="Arial"/>
                <a:cs typeface="Arial"/>
              </a:rPr>
              <a:t>Technical appendix follows</a:t>
            </a:r>
          </a:p>
        </p:txBody>
      </p:sp>
    </p:spTree>
    <p:extLst>
      <p:ext uri="{BB962C8B-B14F-4D97-AF65-F5344CB8AC3E}">
        <p14:creationId xmlns:p14="http://schemas.microsoft.com/office/powerpoint/2010/main" val="1424867577"/>
      </p:ext>
    </p:extLst>
  </p:cSld>
</p:sld>
</file>

<file path=ppt/slides/slide17.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9" name="fixed">
            <a:extLst xmlns:a="http://schemas.openxmlformats.org/drawingml/2006/main">
              <a:ext uri="{FF2B5EF4-FFF2-40B4-BE49-F238E27FC236}">
                <a16:creationId xmlns:a16="http://schemas.microsoft.com/office/drawing/2014/main" id="{1EBDB5D5-69B3-47B1-B8D8-B7D78781C95A}"/>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Vision: calibration and phone confirmation</a:t>
            </a:r>
          </a:p>
        </p:txBody>
      </p:sp>
      <p:sp>
        <p:nvSpPr>
          <p:cNvPr id="2" name="fixed">
            <a:extLst xmlns:a="http://schemas.openxmlformats.org/drawingml/2006/main">
              <a:ext uri="{FF2B5EF4-FFF2-40B4-BE49-F238E27FC236}">
                <a16:creationId xmlns:a16="http://schemas.microsoft.com/office/drawing/2014/main" id="{180FC57A-26AF-4D77-A85D-BCA1DB6B3F2F}"/>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17</a:t>
            </a:r>
          </a:p>
        </p:txBody>
      </p:sp>
      <p:sp>
        <p:nvSpPr>
          <p:cNvPr id="3" name="reveal-1">
            <a:extLst xmlns:a="http://schemas.openxmlformats.org/drawingml/2006/main">
              <a:ext uri="{FF2B5EF4-FFF2-40B4-BE49-F238E27FC236}">
                <a16:creationId xmlns:a16="http://schemas.microsoft.com/office/drawing/2014/main" id="{2A8B8AF7-5009-4997-A532-BF0D70FA592B}"/>
              </a:ext>
            </a:extLst>
          </p:cNvPr>
          <p:cNvSpPr>
            <a:spLocks xmlns:a="http://schemas.openxmlformats.org/drawingml/2006/main" noGrp="1"/>
          </p:cNvSpPr>
          <p:nvPr/>
        </p:nvSpPr>
        <p:spPr>
          <a:xfrm xmlns:a="http://schemas.openxmlformats.org/drawingml/2006/main">
            <a:off x="60960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HEAD DIRECTION</a:t>
            </a:r>
          </a:p>
        </p:txBody>
      </p:sp>
      <p:sp>
        <p:nvSpPr>
          <p:cNvPr id="4" name="reveal-1">
            <a:extLst xmlns:a="http://schemas.openxmlformats.org/drawingml/2006/main">
              <a:ext uri="{FF2B5EF4-FFF2-40B4-BE49-F238E27FC236}">
                <a16:creationId xmlns:a16="http://schemas.microsoft.com/office/drawing/2014/main" id="{71A16621-2EA4-479B-B737-134245DA20B5}"/>
              </a:ext>
            </a:extLst>
          </p:cNvPr>
          <p:cNvSpPr>
            <a:spLocks xmlns:a="http://schemas.openxmlformats.org/drawingml/2006/main" noGrp="1"/>
          </p:cNvSpPr>
          <p:nvPr/>
        </p:nvSpPr>
        <p:spPr>
          <a:xfrm xmlns:a="http://schemas.openxmlformats.org/drawingml/2006/main">
            <a:off x="60960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Calibrated temporal checks</a:t>
            </a:r>
          </a:p>
        </p:txBody>
      </p:sp>
      <p:sp>
        <p:nvSpPr>
          <p:cNvPr id="5" name="reveal-1">
            <a:extLst xmlns:a="http://schemas.openxmlformats.org/drawingml/2006/main">
              <a:ext uri="{FF2B5EF4-FFF2-40B4-BE49-F238E27FC236}">
                <a16:creationId xmlns:a16="http://schemas.microsoft.com/office/drawing/2014/main" id="{EF3FFF43-1969-4C72-9A54-E70ACD2C0E06}"/>
              </a:ext>
            </a:extLst>
          </p:cNvPr>
          <p:cNvSpPr>
            <a:spLocks xmlns:a="http://schemas.openxmlformats.org/drawingml/2006/main" noGrp="1"/>
          </p:cNvSpPr>
          <p:nvPr/>
        </p:nvSpPr>
        <p:spPr>
          <a:xfrm xmlns:a="http://schemas.openxmlformats.org/drawingml/2006/main">
            <a:off x="60960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MediaPipe Tasks facial landmarks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OpenCV PnP head-pose estimate</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Stable neutral pose and smoothing</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Absolute-yaw guard against biased baseline</a:t>
            </a:r>
          </a:p>
        </p:txBody>
      </p:sp>
      <p:sp>
        <p:nvSpPr>
          <p:cNvPr id="6" name="reveal-2">
            <a:extLst xmlns:a="http://schemas.openxmlformats.org/drawingml/2006/main">
              <a:ext uri="{FF2B5EF4-FFF2-40B4-BE49-F238E27FC236}">
                <a16:creationId xmlns:a16="http://schemas.microsoft.com/office/drawing/2014/main" id="{C784D43C-6403-4DC8-ACF6-FB8B67063306}"/>
              </a:ext>
            </a:extLst>
          </p:cNvPr>
          <p:cNvSpPr>
            <a:spLocks xmlns:a="http://schemas.openxmlformats.org/drawingml/2006/main" noGrp="1"/>
          </p:cNvSpPr>
          <p:nvPr/>
        </p:nvSpPr>
        <p:spPr>
          <a:xfrm xmlns:a="http://schemas.openxmlformats.org/drawingml/2006/main">
            <a:off x="638175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PHONE / BOOK</a:t>
            </a:r>
          </a:p>
        </p:txBody>
      </p:sp>
      <p:sp>
        <p:nvSpPr>
          <p:cNvPr id="7" name="reveal-2">
            <a:extLst xmlns:a="http://schemas.openxmlformats.org/drawingml/2006/main">
              <a:ext uri="{FF2B5EF4-FFF2-40B4-BE49-F238E27FC236}">
                <a16:creationId xmlns:a16="http://schemas.microsoft.com/office/drawing/2014/main" id="{C6826426-3DAA-47FC-A05A-5462F4CC2702}"/>
              </a:ext>
            </a:extLst>
          </p:cNvPr>
          <p:cNvSpPr>
            <a:spLocks xmlns:a="http://schemas.openxmlformats.org/drawingml/2006/main" noGrp="1"/>
          </p:cNvSpPr>
          <p:nvPr/>
        </p:nvSpPr>
        <p:spPr>
          <a:xfrm xmlns:a="http://schemas.openxmlformats.org/drawingml/2006/main">
            <a:off x="638175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Class and spatial continuity</a:t>
            </a:r>
          </a:p>
        </p:txBody>
      </p:sp>
      <p:sp>
        <p:nvSpPr>
          <p:cNvPr id="8" name="reveal-2">
            <a:extLst xmlns:a="http://schemas.openxmlformats.org/drawingml/2006/main">
              <a:ext uri="{FF2B5EF4-FFF2-40B4-BE49-F238E27FC236}">
                <a16:creationId xmlns:a16="http://schemas.microsoft.com/office/drawing/2014/main" id="{A494E854-B419-42EC-82E8-B4BD0625DF56}"/>
              </a:ext>
            </a:extLst>
          </p:cNvPr>
          <p:cNvSpPr>
            <a:spLocks xmlns:a="http://schemas.openxmlformats.org/drawingml/2006/main" noGrp="1"/>
          </p:cNvSpPr>
          <p:nvPr/>
        </p:nvSpPr>
        <p:spPr>
          <a:xfrm xmlns:a="http://schemas.openxmlformats.org/drawingml/2006/main">
            <a:off x="638175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YOLO26n through ONNX Runtime</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640 × 640 letterboxed input</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Phone: two strong matching detections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Weak phone / book: three matching checks</a:t>
            </a:r>
          </a:p>
        </p:txBody>
      </p:sp>
    </p:spTree>
    <p:extLst>
      <p:ext uri="{BB962C8B-B14F-4D97-AF65-F5344CB8AC3E}">
        <p14:creationId xmlns:p14="http://schemas.microsoft.com/office/powerpoint/2010/main" val="977490225"/>
      </p:ext>
    </p:extLst>
  </p:cSld>
</p:sld>
</file>

<file path=ppt/slides/slide18.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12" name="fixed">
            <a:extLst xmlns:a="http://schemas.openxmlformats.org/drawingml/2006/main">
              <a:ext uri="{FF2B5EF4-FFF2-40B4-BE49-F238E27FC236}">
                <a16:creationId xmlns:a16="http://schemas.microsoft.com/office/drawing/2014/main" id="{81AB81CA-1AE6-4138-98BA-8EF21647A6CB}"/>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Voice: speech gating and reference comparison</a:t>
            </a:r>
          </a:p>
        </p:txBody>
      </p:sp>
      <p:sp>
        <p:nvSpPr>
          <p:cNvPr id="2" name="fixed">
            <a:extLst xmlns:a="http://schemas.openxmlformats.org/drawingml/2006/main">
              <a:ext uri="{FF2B5EF4-FFF2-40B4-BE49-F238E27FC236}">
                <a16:creationId xmlns:a16="http://schemas.microsoft.com/office/drawing/2014/main" id="{3AA123A6-B4FF-43FD-8640-94FC0DC62D0A}"/>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18</a:t>
            </a:r>
          </a:p>
        </p:txBody>
      </p:sp>
      <p:sp>
        <p:nvSpPr>
          <p:cNvPr id="3" name="reveal-1">
            <a:extLst xmlns:a="http://schemas.openxmlformats.org/drawingml/2006/main">
              <a:ext uri="{FF2B5EF4-FFF2-40B4-BE49-F238E27FC236}">
                <a16:creationId xmlns:a16="http://schemas.microsoft.com/office/drawing/2014/main" id="{151E20DC-67D5-40DA-B172-118D91F3CB4C}"/>
              </a:ext>
            </a:extLst>
          </p:cNvPr>
          <p:cNvSpPr>
            <a:spLocks xmlns:a="http://schemas.openxmlformats.org/drawingml/2006/main" noGrp="1"/>
          </p:cNvSpPr>
          <p:nvPr/>
        </p:nvSpPr>
        <p:spPr>
          <a:xfrm xmlns:a="http://schemas.openxmlformats.org/drawingml/2006/main">
            <a:off x="609600" y="2133600"/>
            <a:ext cx="2381250" cy="1047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Microphone</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16 kHz mono</a:t>
            </a:r>
          </a:p>
        </p:txBody>
      </p:sp>
      <p:sp>
        <p:nvSpPr>
          <p:cNvPr id="4" name="reveal-2">
            <a:extLst xmlns:a="http://schemas.openxmlformats.org/drawingml/2006/main">
              <a:ext uri="{FF2B5EF4-FFF2-40B4-BE49-F238E27FC236}">
                <a16:creationId xmlns:a16="http://schemas.microsoft.com/office/drawing/2014/main" id="{C80B80EE-C916-4FD2-A960-42C1669587AE}"/>
              </a:ext>
            </a:extLst>
          </p:cNvPr>
          <p:cNvSpPr>
            <a:spLocks xmlns:a="http://schemas.openxmlformats.org/drawingml/2006/main" noGrp="1"/>
          </p:cNvSpPr>
          <p:nvPr/>
        </p:nvSpPr>
        <p:spPr>
          <a:xfrm xmlns:a="http://schemas.openxmlformats.org/drawingml/2006/main">
            <a:off x="3467100" y="2133600"/>
            <a:ext cx="2381250" cy="1047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WebRTC VAD</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Speech frames</a:t>
            </a:r>
          </a:p>
        </p:txBody>
      </p:sp>
      <p:sp>
        <p:nvSpPr>
          <p:cNvPr id="5" name="reveal-3">
            <a:extLst xmlns:a="http://schemas.openxmlformats.org/drawingml/2006/main">
              <a:ext uri="{FF2B5EF4-FFF2-40B4-BE49-F238E27FC236}">
                <a16:creationId xmlns:a16="http://schemas.microsoft.com/office/drawing/2014/main" id="{FAAFE5A0-773D-47B3-94EF-3EAE7613A982}"/>
              </a:ext>
            </a:extLst>
          </p:cNvPr>
          <p:cNvSpPr>
            <a:spLocks xmlns:a="http://schemas.openxmlformats.org/drawingml/2006/main" noGrp="1"/>
          </p:cNvSpPr>
          <p:nvPr/>
        </p:nvSpPr>
        <p:spPr>
          <a:xfrm xmlns:a="http://schemas.openxmlformats.org/drawingml/2006/main">
            <a:off x="6324600" y="2133600"/>
            <a:ext cx="2381250" cy="1047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Resemblyzer</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256-d embedding</a:t>
            </a:r>
          </a:p>
        </p:txBody>
      </p:sp>
      <p:sp>
        <p:nvSpPr>
          <p:cNvPr id="6" name="reveal-4">
            <a:extLst xmlns:a="http://schemas.openxmlformats.org/drawingml/2006/main">
              <a:ext uri="{FF2B5EF4-FFF2-40B4-BE49-F238E27FC236}">
                <a16:creationId xmlns:a16="http://schemas.microsoft.com/office/drawing/2014/main" id="{93956954-7C9D-48B9-8F91-9F30ABBDD642}"/>
              </a:ext>
            </a:extLst>
          </p:cNvPr>
          <p:cNvSpPr>
            <a:spLocks xmlns:a="http://schemas.openxmlformats.org/drawingml/2006/main" noGrp="1"/>
          </p:cNvSpPr>
          <p:nvPr/>
        </p:nvSpPr>
        <p:spPr>
          <a:xfrm xmlns:a="http://schemas.openxmlformats.org/drawingml/2006/main">
            <a:off x="9182100" y="2133600"/>
            <a:ext cx="2381250" cy="1047750"/>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Reference check</a:t>
            </a:r>
          </a:p>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Cosine similarity</a:t>
            </a:r>
          </a:p>
        </p:txBody>
      </p:sp>
      <p:cxnSp>
        <p:nvCxnSpPr>
          <p:cNvPr id="18" name="reveal-2"/>
          <p:cNvCxnSpPr>
            <a:stCxn xmlns:a="http://schemas.openxmlformats.org/drawingml/2006/main" id="3" idx="3"/>
            <a:endCxn xmlns:a="http://schemas.openxmlformats.org/drawingml/2006/main" id="4" idx="1"/>
          </p:cNvCxnSpPr>
          <p:nvPr/>
        </p:nvCxnSpPr>
        <p:spPr>
          <a:xfrm xmlns:a="http://schemas.openxmlformats.org/drawingml/2006/main">
            <a:off x="2990850" y="26574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19" name="reveal-3"/>
          <p:cNvCxnSpPr>
            <a:stCxn xmlns:a="http://schemas.openxmlformats.org/drawingml/2006/main" id="4" idx="3"/>
            <a:endCxn xmlns:a="http://schemas.openxmlformats.org/drawingml/2006/main" id="5" idx="1"/>
          </p:cNvCxnSpPr>
          <p:nvPr/>
        </p:nvCxnSpPr>
        <p:spPr>
          <a:xfrm xmlns:a="http://schemas.openxmlformats.org/drawingml/2006/main">
            <a:off x="5848350" y="26574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cxnSp>
        <p:nvCxnSpPr>
          <p:cNvPr id="20" name="reveal-4"/>
          <p:cNvCxnSpPr>
            <a:stCxn xmlns:a="http://schemas.openxmlformats.org/drawingml/2006/main" id="5" idx="3"/>
            <a:endCxn xmlns:a="http://schemas.openxmlformats.org/drawingml/2006/main" id="6" idx="1"/>
          </p:cNvCxnSpPr>
          <p:nvPr/>
        </p:nvCxnSpPr>
        <p:spPr>
          <a:xfrm xmlns:a="http://schemas.openxmlformats.org/drawingml/2006/main">
            <a:off x="8705850" y="2657475"/>
            <a:ext cx="476250" cy="0"/>
          </a:xfrm>
          <a:prstGeom xmlns:a="http://schemas.openxmlformats.org/drawingml/2006/main" prst="straightConnector1">
            <a:avLst/>
          </a:prstGeom>
          <a:ln xmlns:a="http://schemas.openxmlformats.org/drawingml/2006/main" w="19050">
            <a:solidFill>
              <a:srgbClr val="087F8C"/>
            </a:solidFill>
            <a:tailEnd type="arrow" w="med" len="med"/>
          </a:ln>
        </p:spPr>
      </p:cxnSp>
      <p:sp>
        <p:nvSpPr>
          <p:cNvPr id="10" name="reveal-5">
            <a:extLst xmlns:a="http://schemas.openxmlformats.org/drawingml/2006/main">
              <a:ext uri="{FF2B5EF4-FFF2-40B4-BE49-F238E27FC236}">
                <a16:creationId xmlns:a16="http://schemas.microsoft.com/office/drawing/2014/main" id="{CD9751C9-C73E-4047-8A46-B166FCB23DB1}"/>
              </a:ext>
            </a:extLst>
          </p:cNvPr>
          <p:cNvSpPr>
            <a:spLocks xmlns:a="http://schemas.openxmlformats.org/drawingml/2006/main" noGrp="1"/>
          </p:cNvSpPr>
          <p:nvPr/>
        </p:nvSpPr>
        <p:spPr>
          <a:xfrm xmlns:a="http://schemas.openxmlformats.org/drawingml/2006/main">
            <a:off x="609600" y="395287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Two valid mismatches before an alert</a:t>
            </a:r>
          </a:p>
        </p:txBody>
      </p:sp>
      <p:sp>
        <p:nvSpPr>
          <p:cNvPr id="11" name="reveal-5">
            <a:extLst xmlns:a="http://schemas.openxmlformats.org/drawingml/2006/main">
              <a:ext uri="{FF2B5EF4-FFF2-40B4-BE49-F238E27FC236}">
                <a16:creationId xmlns:a16="http://schemas.microsoft.com/office/drawing/2014/main" id="{CC2D6755-2081-40B3-A5CF-4291AB719429}"/>
              </a:ext>
            </a:extLst>
          </p:cNvPr>
          <p:cNvSpPr>
            <a:spLocks xmlns:a="http://schemas.openxmlformats.org/drawingml/2006/main" noGrp="1"/>
          </p:cNvSpPr>
          <p:nvPr/>
        </p:nvSpPr>
        <p:spPr>
          <a:xfrm xmlns:a="http://schemas.openxmlformats.org/drawingml/2006/main">
            <a:off x="609600" y="4810125"/>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573"/>
                </a:solidFill>
                <a:latin typeface="Arial"/>
                <a:ea typeface="Arial"/>
                <a:cs typeface="Arial"/>
              </a:defRPr>
            </a:pPr>
            <a:r>
              <a:rPr sz="2175" b="0">
                <a:solidFill>
                  <a:srgbClr val="526573"/>
                </a:solidFill>
                <a:latin typeface="Arial"/>
                <a:ea typeface="Arial"/>
                <a:cs typeface="Arial"/>
              </a:rPr>
              <a:t>Short or clipped audio does not accumulate mismatches.</a:t>
            </a:r>
          </a:p>
          <a:p xmlns:a="http://schemas.openxmlformats.org/drawingml/2006/main">
            <a:pPr>
              <a:defRPr sz="2175" b="0">
                <a:solidFill>
                  <a:srgbClr val="526573"/>
                </a:solidFill>
                <a:latin typeface="Arial"/>
                <a:ea typeface="Arial"/>
                <a:cs typeface="Arial"/>
              </a:defRPr>
            </a:pPr>
            <a:r>
              <a:rPr sz="2175" b="0">
                <a:solidFill>
                  <a:srgbClr val="526573"/>
                </a:solidFill>
                <a:latin typeface="Arial"/>
                <a:ea typeface="Arial"/>
                <a:cs typeface="Arial"/>
              </a:rPr>
              <a:t>Real-room testing must establish false alerts and missed speakers.</a:t>
            </a:r>
          </a:p>
        </p:txBody>
      </p:sp>
    </p:spTree>
    <p:extLst>
      <p:ext uri="{BB962C8B-B14F-4D97-AF65-F5344CB8AC3E}">
        <p14:creationId xmlns:p14="http://schemas.microsoft.com/office/powerpoint/2010/main" val="1961247539"/>
      </p:ext>
    </p:extLst>
  </p:cSld>
</p:sld>
</file>

<file path=ppt/slides/slide19.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21" name="fixed">
            <a:extLst xmlns:a="http://schemas.openxmlformats.org/drawingml/2006/main">
              <a:ext uri="{FF2B5EF4-FFF2-40B4-BE49-F238E27FC236}">
                <a16:creationId xmlns:a16="http://schemas.microsoft.com/office/drawing/2014/main" id="{FAB92A0F-E3D8-4AF0-B2AE-A4D3DEFDD6F1}"/>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UML sequence: live event and examiner review</a:t>
            </a:r>
          </a:p>
        </p:txBody>
      </p:sp>
      <p:sp>
        <p:nvSpPr>
          <p:cNvPr id="2" name="fixed">
            <a:extLst xmlns:a="http://schemas.openxmlformats.org/drawingml/2006/main">
              <a:ext uri="{FF2B5EF4-FFF2-40B4-BE49-F238E27FC236}">
                <a16:creationId xmlns:a16="http://schemas.microsoft.com/office/drawing/2014/main" id="{102FB3F4-7383-4DC3-BFF7-4890DC08735C}"/>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19</a:t>
            </a:r>
          </a:p>
        </p:txBody>
      </p:sp>
      <p:sp>
        <p:nvSpPr>
          <p:cNvPr id="3" name="reveal-1">
            <a:extLst xmlns:a="http://schemas.openxmlformats.org/drawingml/2006/main">
              <a:ext uri="{FF2B5EF4-FFF2-40B4-BE49-F238E27FC236}">
                <a16:creationId xmlns:a16="http://schemas.microsoft.com/office/drawing/2014/main" id="{5064DDC5-54D1-47AD-B7A6-2BF3FC8DC2B9}"/>
              </a:ext>
            </a:extLst>
          </p:cNvPr>
          <p:cNvSpPr>
            <a:spLocks xmlns:a="http://schemas.openxmlformats.org/drawingml/2006/main" noGrp="1"/>
          </p:cNvSpPr>
          <p:nvPr/>
        </p:nvSpPr>
        <p:spPr>
          <a:xfrm xmlns:a="http://schemas.openxmlformats.org/drawingml/2006/main">
            <a:off x="609600" y="1714500"/>
            <a:ext cx="2381250" cy="619125"/>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Python</a:t>
            </a:r>
          </a:p>
        </p:txBody>
      </p:sp>
      <p:sp>
        <p:nvSpPr>
          <p:cNvPr id="4" name="reveal-1">
            <a:extLst xmlns:a="http://schemas.openxmlformats.org/drawingml/2006/main">
              <a:ext uri="{FF2B5EF4-FFF2-40B4-BE49-F238E27FC236}">
                <a16:creationId xmlns:a16="http://schemas.microsoft.com/office/drawing/2014/main" id="{6CEDFAE9-5344-405F-810D-6D881B695034}"/>
              </a:ext>
            </a:extLst>
          </p:cNvPr>
          <p:cNvSpPr>
            <a:spLocks xmlns:a="http://schemas.openxmlformats.org/drawingml/2006/main" noGrp="1"/>
          </p:cNvSpPr>
          <p:nvPr/>
        </p:nvSpPr>
        <p:spPr>
          <a:xfrm xmlns:a="http://schemas.openxmlformats.org/drawingml/2006/main">
            <a:off x="3467100" y="1714500"/>
            <a:ext cx="2381250" cy="619125"/>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Electron</a:t>
            </a:r>
          </a:p>
        </p:txBody>
      </p:sp>
      <p:sp>
        <p:nvSpPr>
          <p:cNvPr id="5" name="reveal-1">
            <a:extLst xmlns:a="http://schemas.openxmlformats.org/drawingml/2006/main">
              <a:ext uri="{FF2B5EF4-FFF2-40B4-BE49-F238E27FC236}">
                <a16:creationId xmlns:a16="http://schemas.microsoft.com/office/drawing/2014/main" id="{E7E20525-5D8D-446A-9B9A-5DDD95E75AF8}"/>
              </a:ext>
            </a:extLst>
          </p:cNvPr>
          <p:cNvSpPr>
            <a:spLocks xmlns:a="http://schemas.openxmlformats.org/drawingml/2006/main" noGrp="1"/>
          </p:cNvSpPr>
          <p:nvPr/>
        </p:nvSpPr>
        <p:spPr>
          <a:xfrm xmlns:a="http://schemas.openxmlformats.org/drawingml/2006/main">
            <a:off x="6324600" y="1714500"/>
            <a:ext cx="2381250" cy="619125"/>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Express / MongoDB</a:t>
            </a:r>
          </a:p>
        </p:txBody>
      </p:sp>
      <p:sp>
        <p:nvSpPr>
          <p:cNvPr id="6" name="reveal-1">
            <a:extLst xmlns:a="http://schemas.openxmlformats.org/drawingml/2006/main">
              <a:ext uri="{FF2B5EF4-FFF2-40B4-BE49-F238E27FC236}">
                <a16:creationId xmlns:a16="http://schemas.microsoft.com/office/drawing/2014/main" id="{FAB1AD81-EE3D-4B70-9A32-332CEFA8A679}"/>
              </a:ext>
            </a:extLst>
          </p:cNvPr>
          <p:cNvSpPr>
            <a:spLocks xmlns:a="http://schemas.openxmlformats.org/drawingml/2006/main" noGrp="1"/>
          </p:cNvSpPr>
          <p:nvPr/>
        </p:nvSpPr>
        <p:spPr>
          <a:xfrm xmlns:a="http://schemas.openxmlformats.org/drawingml/2006/main">
            <a:off x="9182100" y="1714500"/>
            <a:ext cx="2381250" cy="619125"/>
          </a:xfrm>
          <a:prstGeom xmlns:a="http://schemas.openxmlformats.org/drawingml/2006/main" prst="rect">
            <a:avLst/>
          </a:prstGeom>
          <a:solidFill xmlns:a="http://schemas.openxmlformats.org/drawingml/2006/main">
            <a:srgbClr val="E3EFED"/>
          </a:solidFill>
          <a:ln xmlns:a="http://schemas.openxmlformats.org/drawingml/2006/main" w="9525">
            <a:solidFill>
              <a:srgbClr val="B8C9CD"/>
            </a:solidFill>
          </a:ln>
        </p:spPr>
        <p:txBody>
          <a:bodyPr xmlns:a="http://schemas.openxmlformats.org/drawingml/2006/main" anchor="ctr"/>
          <a:lstStyle xmlns:a="http://schemas.openxmlformats.org/drawingml/2006/main"/>
          <a:p xmlns:a="http://schemas.openxmlformats.org/drawingml/2006/main">
            <a:pPr algn="ctr">
              <a:defRPr sz="1800" b="1">
                <a:solidFill>
                  <a:srgbClr val="132D3A"/>
                </a:solidFill>
                <a:latin typeface="Arial"/>
                <a:ea typeface="Arial"/>
                <a:cs typeface="Arial"/>
              </a:defRPr>
            </a:pPr>
            <a:r>
              <a:rPr sz="1800" b="1">
                <a:solidFill>
                  <a:srgbClr val="132D3A"/>
                </a:solidFill>
                <a:latin typeface="Arial"/>
                <a:ea typeface="Arial"/>
                <a:cs typeface="Arial"/>
              </a:rPr>
              <a:t>Examiner</a:t>
            </a:r>
          </a:p>
        </p:txBody>
      </p:sp>
      <p:sp>
        <p:nvSpPr>
          <p:cNvPr id="7" name="fixed">
            <a:extLst xmlns:a="http://schemas.openxmlformats.org/drawingml/2006/main">
              <a:ext uri="{FF2B5EF4-FFF2-40B4-BE49-F238E27FC236}">
                <a16:creationId xmlns:a16="http://schemas.microsoft.com/office/drawing/2014/main" id="{4103357D-7153-4A0A-A7AF-D4664049E455}"/>
              </a:ext>
            </a:extLst>
          </p:cNvPr>
          <p:cNvSpPr>
            <a:spLocks xmlns:a="http://schemas.openxmlformats.org/drawingml/2006/main" noGrp="1"/>
          </p:cNvSpPr>
          <p:nvPr/>
        </p:nvSpPr>
        <p:spPr>
          <a:xfrm xmlns:a="http://schemas.openxmlformats.org/drawingml/2006/main">
            <a:off x="1800225" y="2381250"/>
            <a:ext cx="0" cy="3619500"/>
          </a:xfrm>
          <a:prstGeom xmlns:a="http://schemas.openxmlformats.org/drawingml/2006/main" prst="line">
            <a:avLst/>
          </a:prstGeom>
          <a:noFill xmlns:a="http://schemas.openxmlformats.org/drawingml/2006/main"/>
          <a:ln xmlns:a="http://schemas.openxmlformats.org/drawingml/2006/main" w="9525">
            <a:solidFill>
              <a:srgbClr val="B8C9CD"/>
            </a:solidFill>
            <a:prstDash val="dash"/>
          </a:ln>
        </p:spPr>
      </p:sp>
      <p:sp>
        <p:nvSpPr>
          <p:cNvPr id="8" name="fixed">
            <a:extLst xmlns:a="http://schemas.openxmlformats.org/drawingml/2006/main">
              <a:ext uri="{FF2B5EF4-FFF2-40B4-BE49-F238E27FC236}">
                <a16:creationId xmlns:a16="http://schemas.microsoft.com/office/drawing/2014/main" id="{C69B2F5F-7707-44EE-889B-86EBD31FBF32}"/>
              </a:ext>
            </a:extLst>
          </p:cNvPr>
          <p:cNvSpPr>
            <a:spLocks xmlns:a="http://schemas.openxmlformats.org/drawingml/2006/main" noGrp="1"/>
          </p:cNvSpPr>
          <p:nvPr/>
        </p:nvSpPr>
        <p:spPr>
          <a:xfrm xmlns:a="http://schemas.openxmlformats.org/drawingml/2006/main">
            <a:off x="4657725" y="2381250"/>
            <a:ext cx="0" cy="3619500"/>
          </a:xfrm>
          <a:prstGeom xmlns:a="http://schemas.openxmlformats.org/drawingml/2006/main" prst="line">
            <a:avLst/>
          </a:prstGeom>
          <a:noFill xmlns:a="http://schemas.openxmlformats.org/drawingml/2006/main"/>
          <a:ln xmlns:a="http://schemas.openxmlformats.org/drawingml/2006/main" w="9525">
            <a:solidFill>
              <a:srgbClr val="B8C9CD"/>
            </a:solidFill>
            <a:prstDash val="dash"/>
          </a:ln>
        </p:spPr>
      </p:sp>
      <p:sp>
        <p:nvSpPr>
          <p:cNvPr id="9" name="fixed">
            <a:extLst xmlns:a="http://schemas.openxmlformats.org/drawingml/2006/main">
              <a:ext uri="{FF2B5EF4-FFF2-40B4-BE49-F238E27FC236}">
                <a16:creationId xmlns:a16="http://schemas.microsoft.com/office/drawing/2014/main" id="{210CCA07-8112-4B18-9ECE-F3A8B8CC7DBA}"/>
              </a:ext>
            </a:extLst>
          </p:cNvPr>
          <p:cNvSpPr>
            <a:spLocks xmlns:a="http://schemas.openxmlformats.org/drawingml/2006/main" noGrp="1"/>
          </p:cNvSpPr>
          <p:nvPr/>
        </p:nvSpPr>
        <p:spPr>
          <a:xfrm xmlns:a="http://schemas.openxmlformats.org/drawingml/2006/main">
            <a:off x="7515225" y="2381250"/>
            <a:ext cx="0" cy="3619500"/>
          </a:xfrm>
          <a:prstGeom xmlns:a="http://schemas.openxmlformats.org/drawingml/2006/main" prst="line">
            <a:avLst/>
          </a:prstGeom>
          <a:noFill xmlns:a="http://schemas.openxmlformats.org/drawingml/2006/main"/>
          <a:ln xmlns:a="http://schemas.openxmlformats.org/drawingml/2006/main" w="9525">
            <a:solidFill>
              <a:srgbClr val="B8C9CD"/>
            </a:solidFill>
            <a:prstDash val="dash"/>
          </a:ln>
        </p:spPr>
      </p:sp>
      <p:sp>
        <p:nvSpPr>
          <p:cNvPr id="10" name="fixed">
            <a:extLst xmlns:a="http://schemas.openxmlformats.org/drawingml/2006/main">
              <a:ext uri="{FF2B5EF4-FFF2-40B4-BE49-F238E27FC236}">
                <a16:creationId xmlns:a16="http://schemas.microsoft.com/office/drawing/2014/main" id="{E2BEA51C-F5B4-48E0-AD0C-9F0C0717EF6F}"/>
              </a:ext>
            </a:extLst>
          </p:cNvPr>
          <p:cNvSpPr>
            <a:spLocks xmlns:a="http://schemas.openxmlformats.org/drawingml/2006/main" noGrp="1"/>
          </p:cNvSpPr>
          <p:nvPr/>
        </p:nvSpPr>
        <p:spPr>
          <a:xfrm xmlns:a="http://schemas.openxmlformats.org/drawingml/2006/main">
            <a:off x="10372725" y="2381250"/>
            <a:ext cx="0" cy="3619500"/>
          </a:xfrm>
          <a:prstGeom xmlns:a="http://schemas.openxmlformats.org/drawingml/2006/main" prst="line">
            <a:avLst/>
          </a:prstGeom>
          <a:noFill xmlns:a="http://schemas.openxmlformats.org/drawingml/2006/main"/>
          <a:ln xmlns:a="http://schemas.openxmlformats.org/drawingml/2006/main" w="9525">
            <a:solidFill>
              <a:srgbClr val="B8C9CD"/>
            </a:solidFill>
            <a:prstDash val="dash"/>
          </a:ln>
        </p:spPr>
      </p:sp>
      <p:sp>
        <p:nvSpPr>
          <p:cNvPr id="11" name="reveal-2">
            <a:extLst xmlns:a="http://schemas.openxmlformats.org/drawingml/2006/main">
              <a:ext uri="{FF2B5EF4-FFF2-40B4-BE49-F238E27FC236}">
                <a16:creationId xmlns:a16="http://schemas.microsoft.com/office/drawing/2014/main" id="{1C827ACD-0BD2-482D-A1D0-54D2F1FEE5B4}"/>
              </a:ext>
            </a:extLst>
          </p:cNvPr>
          <p:cNvSpPr>
            <a:spLocks xmlns:a="http://schemas.openxmlformats.org/drawingml/2006/main" noGrp="1"/>
          </p:cNvSpPr>
          <p:nvPr/>
        </p:nvSpPr>
        <p:spPr>
          <a:xfrm xmlns:a="http://schemas.openxmlformats.org/drawingml/2006/main">
            <a:off x="1800225" y="3028950"/>
            <a:ext cx="2857500" cy="114300"/>
          </a:xfrm>
          <a:prstGeom xmlns:a="http://schemas.openxmlformats.org/drawingml/2006/main" prst="rightArrow">
            <a:avLst/>
          </a:prstGeom>
          <a:solidFill xmlns:a="http://schemas.openxmlformats.org/drawingml/2006/main">
            <a:srgbClr val="087F8C"/>
          </a:solidFill>
          <a:ln xmlns:a="http://schemas.openxmlformats.org/drawingml/2006/main" w="0">
            <a:noFill/>
          </a:ln>
        </p:spPr>
      </p:sp>
      <p:sp>
        <p:nvSpPr>
          <p:cNvPr id="12" name="reveal-2">
            <a:extLst xmlns:a="http://schemas.openxmlformats.org/drawingml/2006/main">
              <a:ext uri="{FF2B5EF4-FFF2-40B4-BE49-F238E27FC236}">
                <a16:creationId xmlns:a16="http://schemas.microsoft.com/office/drawing/2014/main" id="{A550479E-8D22-488A-8A6E-FE4E24114385}"/>
              </a:ext>
            </a:extLst>
          </p:cNvPr>
          <p:cNvSpPr>
            <a:spLocks xmlns:a="http://schemas.openxmlformats.org/drawingml/2006/main" noGrp="1"/>
          </p:cNvSpPr>
          <p:nvPr/>
        </p:nvSpPr>
        <p:spPr>
          <a:xfrm xmlns:a="http://schemas.openxmlformats.org/drawingml/2006/main">
            <a:off x="1800225" y="2647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D3A"/>
                </a:solidFill>
                <a:latin typeface="Arial"/>
                <a:ea typeface="Arial"/>
                <a:cs typeface="Arial"/>
              </a:defRPr>
            </a:pPr>
            <a:r>
              <a:rPr sz="1650" b="0">
                <a:solidFill>
                  <a:srgbClr val="132D3A"/>
                </a:solidFill>
                <a:latin typeface="Arial"/>
                <a:ea typeface="Arial"/>
                <a:cs typeface="Arial"/>
              </a:rPr>
              <a:t>Persist and deliver event</a:t>
            </a:r>
          </a:p>
        </p:txBody>
      </p:sp>
      <p:sp>
        <p:nvSpPr>
          <p:cNvPr id="13" name="reveal-3">
            <a:extLst xmlns:a="http://schemas.openxmlformats.org/drawingml/2006/main">
              <a:ext uri="{FF2B5EF4-FFF2-40B4-BE49-F238E27FC236}">
                <a16:creationId xmlns:a16="http://schemas.microsoft.com/office/drawing/2014/main" id="{DBA28AB3-0D8E-48F9-AEE0-6DD22C6C9A86}"/>
              </a:ext>
            </a:extLst>
          </p:cNvPr>
          <p:cNvSpPr>
            <a:spLocks xmlns:a="http://schemas.openxmlformats.org/drawingml/2006/main" noGrp="1"/>
          </p:cNvSpPr>
          <p:nvPr/>
        </p:nvSpPr>
        <p:spPr>
          <a:xfrm xmlns:a="http://schemas.openxmlformats.org/drawingml/2006/main">
            <a:off x="4657725" y="3743325"/>
            <a:ext cx="2857500" cy="114300"/>
          </a:xfrm>
          <a:prstGeom xmlns:a="http://schemas.openxmlformats.org/drawingml/2006/main" prst="rightArrow">
            <a:avLst/>
          </a:prstGeom>
          <a:solidFill xmlns:a="http://schemas.openxmlformats.org/drawingml/2006/main">
            <a:srgbClr val="087F8C"/>
          </a:solidFill>
          <a:ln xmlns:a="http://schemas.openxmlformats.org/drawingml/2006/main" w="0">
            <a:noFill/>
          </a:ln>
        </p:spPr>
      </p:sp>
      <p:sp>
        <p:nvSpPr>
          <p:cNvPr id="14" name="reveal-3">
            <a:extLst xmlns:a="http://schemas.openxmlformats.org/drawingml/2006/main">
              <a:ext uri="{FF2B5EF4-FFF2-40B4-BE49-F238E27FC236}">
                <a16:creationId xmlns:a16="http://schemas.microsoft.com/office/drawing/2014/main" id="{DA765FB2-22C1-4A8F-931F-CB00CB61CDC6}"/>
              </a:ext>
            </a:extLst>
          </p:cNvPr>
          <p:cNvSpPr>
            <a:spLocks xmlns:a="http://schemas.openxmlformats.org/drawingml/2006/main" noGrp="1"/>
          </p:cNvSpPr>
          <p:nvPr/>
        </p:nvSpPr>
        <p:spPr>
          <a:xfrm xmlns:a="http://schemas.openxmlformats.org/drawingml/2006/main">
            <a:off x="4657725" y="33623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D3A"/>
                </a:solidFill>
                <a:latin typeface="Arial"/>
                <a:ea typeface="Arial"/>
                <a:cs typeface="Arial"/>
              </a:defRPr>
            </a:pPr>
            <a:r>
              <a:rPr sz="1650" b="0">
                <a:solidFill>
                  <a:srgbClr val="132D3A"/>
                </a:solidFill>
                <a:latin typeface="Arial"/>
                <a:ea typeface="Arial"/>
                <a:cs typeface="Arial"/>
              </a:rPr>
              <a:t>Persist and POST event</a:t>
            </a:r>
          </a:p>
        </p:txBody>
      </p:sp>
      <p:sp>
        <p:nvSpPr>
          <p:cNvPr id="15" name="reveal-4">
            <a:extLst xmlns:a="http://schemas.openxmlformats.org/drawingml/2006/main">
              <a:ext uri="{FF2B5EF4-FFF2-40B4-BE49-F238E27FC236}">
                <a16:creationId xmlns:a16="http://schemas.microsoft.com/office/drawing/2014/main" id="{42B2EF3D-D47C-4C19-BD4B-B32CA4208446}"/>
              </a:ext>
            </a:extLst>
          </p:cNvPr>
          <p:cNvSpPr>
            <a:spLocks xmlns:a="http://schemas.openxmlformats.org/drawingml/2006/main" noGrp="1"/>
          </p:cNvSpPr>
          <p:nvPr/>
        </p:nvSpPr>
        <p:spPr>
          <a:xfrm xmlns:a="http://schemas.openxmlformats.org/drawingml/2006/main">
            <a:off x="4657725" y="4457700"/>
            <a:ext cx="2857500" cy="114300"/>
          </a:xfrm>
          <a:prstGeom xmlns:a="http://schemas.openxmlformats.org/drawingml/2006/main" prst="leftArrow">
            <a:avLst/>
          </a:prstGeom>
          <a:solidFill xmlns:a="http://schemas.openxmlformats.org/drawingml/2006/main">
            <a:srgbClr val="087F8C"/>
          </a:solidFill>
          <a:ln xmlns:a="http://schemas.openxmlformats.org/drawingml/2006/main" w="0">
            <a:noFill/>
          </a:ln>
        </p:spPr>
      </p:sp>
      <p:sp>
        <p:nvSpPr>
          <p:cNvPr id="16" name="reveal-4">
            <a:extLst xmlns:a="http://schemas.openxmlformats.org/drawingml/2006/main">
              <a:ext uri="{FF2B5EF4-FFF2-40B4-BE49-F238E27FC236}">
                <a16:creationId xmlns:a16="http://schemas.microsoft.com/office/drawing/2014/main" id="{6F863DC5-8F2E-4653-966C-0208DCB6DA44}"/>
              </a:ext>
            </a:extLst>
          </p:cNvPr>
          <p:cNvSpPr>
            <a:spLocks xmlns:a="http://schemas.openxmlformats.org/drawingml/2006/main" noGrp="1"/>
          </p:cNvSpPr>
          <p:nvPr/>
        </p:nvSpPr>
        <p:spPr>
          <a:xfrm xmlns:a="http://schemas.openxmlformats.org/drawingml/2006/main">
            <a:off x="4657725" y="40767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D3A"/>
                </a:solidFill>
                <a:latin typeface="Arial"/>
                <a:ea typeface="Arial"/>
                <a:cs typeface="Arial"/>
              </a:defRPr>
            </a:pPr>
            <a:r>
              <a:rPr sz="1650" b="0">
                <a:solidFill>
                  <a:srgbClr val="132D3A"/>
                </a:solidFill>
                <a:latin typeface="Arial"/>
                <a:ea typeface="Arial"/>
                <a:cs typeface="Arial"/>
              </a:rPr>
              <a:t>Commit, then HTTP 201</a:t>
            </a:r>
          </a:p>
        </p:txBody>
      </p:sp>
      <p:sp>
        <p:nvSpPr>
          <p:cNvPr id="17" name="reveal-5">
            <a:extLst xmlns:a="http://schemas.openxmlformats.org/drawingml/2006/main">
              <a:ext uri="{FF2B5EF4-FFF2-40B4-BE49-F238E27FC236}">
                <a16:creationId xmlns:a16="http://schemas.microsoft.com/office/drawing/2014/main" id="{852EC0E7-9D17-43E5-A994-F6DF73F82335}"/>
              </a:ext>
            </a:extLst>
          </p:cNvPr>
          <p:cNvSpPr>
            <a:spLocks xmlns:a="http://schemas.openxmlformats.org/drawingml/2006/main" noGrp="1"/>
          </p:cNvSpPr>
          <p:nvPr/>
        </p:nvSpPr>
        <p:spPr>
          <a:xfrm xmlns:a="http://schemas.openxmlformats.org/drawingml/2006/main">
            <a:off x="7515225" y="5172075"/>
            <a:ext cx="2857500" cy="114300"/>
          </a:xfrm>
          <a:prstGeom xmlns:a="http://schemas.openxmlformats.org/drawingml/2006/main" prst="rightArrow">
            <a:avLst/>
          </a:prstGeom>
          <a:solidFill xmlns:a="http://schemas.openxmlformats.org/drawingml/2006/main">
            <a:srgbClr val="087F8C"/>
          </a:solidFill>
          <a:ln xmlns:a="http://schemas.openxmlformats.org/drawingml/2006/main" w="0">
            <a:noFill/>
          </a:ln>
        </p:spPr>
      </p:sp>
      <p:sp>
        <p:nvSpPr>
          <p:cNvPr id="18" name="reveal-5">
            <a:extLst xmlns:a="http://schemas.openxmlformats.org/drawingml/2006/main">
              <a:ext uri="{FF2B5EF4-FFF2-40B4-BE49-F238E27FC236}">
                <a16:creationId xmlns:a16="http://schemas.microsoft.com/office/drawing/2014/main" id="{48B34FBF-8E87-400F-A3AF-C82AA398E65B}"/>
              </a:ext>
            </a:extLst>
          </p:cNvPr>
          <p:cNvSpPr>
            <a:spLocks xmlns:a="http://schemas.openxmlformats.org/drawingml/2006/main" noGrp="1"/>
          </p:cNvSpPr>
          <p:nvPr/>
        </p:nvSpPr>
        <p:spPr>
          <a:xfrm xmlns:a="http://schemas.openxmlformats.org/drawingml/2006/main">
            <a:off x="7515225" y="47910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D3A"/>
                </a:solidFill>
                <a:latin typeface="Arial"/>
                <a:ea typeface="Arial"/>
                <a:cs typeface="Arial"/>
              </a:defRPr>
            </a:pPr>
            <a:r>
              <a:rPr sz="1650" b="0">
                <a:solidFill>
                  <a:srgbClr val="132D3A"/>
                </a:solidFill>
                <a:latin typeface="Arial"/>
                <a:ea typeface="Arial"/>
                <a:cs typeface="Arial"/>
              </a:rPr>
              <a:t>Authorized live update</a:t>
            </a:r>
          </a:p>
        </p:txBody>
      </p:sp>
      <p:sp>
        <p:nvSpPr>
          <p:cNvPr id="19" name="reveal-6">
            <a:extLst xmlns:a="http://schemas.openxmlformats.org/drawingml/2006/main">
              <a:ext uri="{FF2B5EF4-FFF2-40B4-BE49-F238E27FC236}">
                <a16:creationId xmlns:a16="http://schemas.microsoft.com/office/drawing/2014/main" id="{24488EBD-60D7-4CA4-B90F-8A961B9D0037}"/>
              </a:ext>
            </a:extLst>
          </p:cNvPr>
          <p:cNvSpPr>
            <a:spLocks xmlns:a="http://schemas.openxmlformats.org/drawingml/2006/main" noGrp="1"/>
          </p:cNvSpPr>
          <p:nvPr/>
        </p:nvSpPr>
        <p:spPr>
          <a:xfrm xmlns:a="http://schemas.openxmlformats.org/drawingml/2006/main">
            <a:off x="7515225" y="5886450"/>
            <a:ext cx="2857500" cy="114300"/>
          </a:xfrm>
          <a:prstGeom xmlns:a="http://schemas.openxmlformats.org/drawingml/2006/main" prst="leftArrow">
            <a:avLst/>
          </a:prstGeom>
          <a:solidFill xmlns:a="http://schemas.openxmlformats.org/drawingml/2006/main">
            <a:srgbClr val="087F8C"/>
          </a:solidFill>
          <a:ln xmlns:a="http://schemas.openxmlformats.org/drawingml/2006/main" w="0">
            <a:noFill/>
          </a:ln>
        </p:spPr>
      </p:sp>
      <p:sp>
        <p:nvSpPr>
          <p:cNvPr id="20" name="reveal-6">
            <a:extLst xmlns:a="http://schemas.openxmlformats.org/drawingml/2006/main">
              <a:ext uri="{FF2B5EF4-FFF2-40B4-BE49-F238E27FC236}">
                <a16:creationId xmlns:a16="http://schemas.microsoft.com/office/drawing/2014/main" id="{101B2102-5BCC-41F6-B8EA-B5BA073A2A48}"/>
              </a:ext>
            </a:extLst>
          </p:cNvPr>
          <p:cNvSpPr>
            <a:spLocks xmlns:a="http://schemas.openxmlformats.org/drawingml/2006/main" noGrp="1"/>
          </p:cNvSpPr>
          <p:nvPr/>
        </p:nvSpPr>
        <p:spPr>
          <a:xfrm xmlns:a="http://schemas.openxmlformats.org/drawingml/2006/main">
            <a:off x="7515225" y="55054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D3A"/>
                </a:solidFill>
                <a:latin typeface="Arial"/>
                <a:ea typeface="Arial"/>
                <a:cs typeface="Arial"/>
              </a:defRPr>
            </a:pPr>
            <a:r>
              <a:rPr sz="1650" b="0">
                <a:solidFill>
                  <a:srgbClr val="132D3A"/>
                </a:solidFill>
                <a:latin typeface="Arial"/>
                <a:ea typeface="Arial"/>
                <a:cs typeface="Arial"/>
              </a:rPr>
              <a:t>Confirm / dismiss evidence</a:t>
            </a:r>
          </a:p>
        </p:txBody>
      </p:sp>
    </p:spTree>
    <p:extLst>
      <p:ext uri="{BB962C8B-B14F-4D97-AF65-F5344CB8AC3E}">
        <p14:creationId xmlns:p14="http://schemas.microsoft.com/office/powerpoint/2010/main" val="1484165676"/>
      </p:ext>
    </p:extLst>
  </p:cSld>
</p:sld>
</file>

<file path=ppt/slides/slide20.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9" name="fixed">
            <a:extLst xmlns:a="http://schemas.openxmlformats.org/drawingml/2006/main">
              <a:ext uri="{FF2B5EF4-FFF2-40B4-BE49-F238E27FC236}">
                <a16:creationId xmlns:a16="http://schemas.microsoft.com/office/drawing/2014/main" id="{12ABB5CE-AA9A-49B6-BE5D-5C15E1DB7401}"/>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Delayed evidence after exam completion</a:t>
            </a:r>
          </a:p>
        </p:txBody>
      </p:sp>
      <p:sp>
        <p:nvSpPr>
          <p:cNvPr id="2" name="fixed">
            <a:extLst xmlns:a="http://schemas.openxmlformats.org/drawingml/2006/main">
              <a:ext uri="{FF2B5EF4-FFF2-40B4-BE49-F238E27FC236}">
                <a16:creationId xmlns:a16="http://schemas.microsoft.com/office/drawing/2014/main" id="{594B2AB4-A880-474B-B177-33F80A881727}"/>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20</a:t>
            </a:r>
          </a:p>
        </p:txBody>
      </p:sp>
      <p:sp>
        <p:nvSpPr>
          <p:cNvPr id="3" name="reveal-1">
            <a:extLst xmlns:a="http://schemas.openxmlformats.org/drawingml/2006/main">
              <a:ext uri="{FF2B5EF4-FFF2-40B4-BE49-F238E27FC236}">
                <a16:creationId xmlns:a16="http://schemas.microsoft.com/office/drawing/2014/main" id="{F3B11BE5-3913-4C10-AC91-B5829E4D005C}"/>
              </a:ext>
            </a:extLst>
          </p:cNvPr>
          <p:cNvSpPr>
            <a:spLocks xmlns:a="http://schemas.openxmlformats.org/drawingml/2006/main" noGrp="1"/>
          </p:cNvSpPr>
          <p:nvPr/>
        </p:nvSpPr>
        <p:spPr>
          <a:xfrm xmlns:a="http://schemas.openxmlformats.org/drawingml/2006/main">
            <a:off x="60960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RECOVERY</a:t>
            </a:r>
          </a:p>
        </p:txBody>
      </p:sp>
      <p:sp>
        <p:nvSpPr>
          <p:cNvPr id="4" name="reveal-1">
            <a:extLst xmlns:a="http://schemas.openxmlformats.org/drawingml/2006/main">
              <a:ext uri="{FF2B5EF4-FFF2-40B4-BE49-F238E27FC236}">
                <a16:creationId xmlns:a16="http://schemas.microsoft.com/office/drawing/2014/main" id="{8258B2AB-3EBA-4CE6-A069-99C984C1C151}"/>
              </a:ext>
            </a:extLst>
          </p:cNvPr>
          <p:cNvSpPr>
            <a:spLocks xmlns:a="http://schemas.openxmlformats.org/drawingml/2006/main" noGrp="1"/>
          </p:cNvSpPr>
          <p:nvPr/>
        </p:nvSpPr>
        <p:spPr>
          <a:xfrm xmlns:a="http://schemas.openxmlformats.org/drawingml/2006/main">
            <a:off x="60960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Original event identity survives</a:t>
            </a:r>
          </a:p>
        </p:txBody>
      </p:sp>
      <p:sp>
        <p:nvSpPr>
          <p:cNvPr id="5" name="reveal-1">
            <a:extLst xmlns:a="http://schemas.openxmlformats.org/drawingml/2006/main">
              <a:ext uri="{FF2B5EF4-FFF2-40B4-BE49-F238E27FC236}">
                <a16:creationId xmlns:a16="http://schemas.microsoft.com/office/drawing/2014/main" id="{CB589FA4-D799-4436-B4A2-25C9AFAC69BE}"/>
              </a:ext>
            </a:extLst>
          </p:cNvPr>
          <p:cNvSpPr>
            <a:spLocks xmlns:a="http://schemas.openxmlformats.org/drawingml/2006/main" noGrp="1"/>
          </p:cNvSpPr>
          <p:nvPr/>
        </p:nvSpPr>
        <p:spPr>
          <a:xfrm xmlns:a="http://schemas.openxmlformats.org/drawingml/2006/main">
            <a:off x="60960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Candidate records an event during exam</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Connectivity drops before upload</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Durable queues retry after reconnection</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Server retains valid delayed evidence</a:t>
            </a:r>
          </a:p>
        </p:txBody>
      </p:sp>
      <p:sp>
        <p:nvSpPr>
          <p:cNvPr id="6" name="reveal-2">
            <a:extLst xmlns:a="http://schemas.openxmlformats.org/drawingml/2006/main">
              <a:ext uri="{FF2B5EF4-FFF2-40B4-BE49-F238E27FC236}">
                <a16:creationId xmlns:a16="http://schemas.microsoft.com/office/drawing/2014/main" id="{07F32607-E653-40FE-9108-A66FBC477224}"/>
              </a:ext>
            </a:extLst>
          </p:cNvPr>
          <p:cNvSpPr>
            <a:spLocks xmlns:a="http://schemas.openxmlformats.org/drawingml/2006/main" noGrp="1"/>
          </p:cNvSpPr>
          <p:nvPr/>
        </p:nvSpPr>
        <p:spPr>
          <a:xfrm xmlns:a="http://schemas.openxmlformats.org/drawingml/2006/main">
            <a:off x="638175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EXAMINER CONTROL</a:t>
            </a:r>
          </a:p>
        </p:txBody>
      </p:sp>
      <p:sp>
        <p:nvSpPr>
          <p:cNvPr id="7" name="reveal-2">
            <a:extLst xmlns:a="http://schemas.openxmlformats.org/drawingml/2006/main">
              <a:ext uri="{FF2B5EF4-FFF2-40B4-BE49-F238E27FC236}">
                <a16:creationId xmlns:a16="http://schemas.microsoft.com/office/drawing/2014/main" id="{E879D796-9B2D-49DD-904C-D892AF9DBBA6}"/>
              </a:ext>
            </a:extLst>
          </p:cNvPr>
          <p:cNvSpPr>
            <a:spLocks xmlns:a="http://schemas.openxmlformats.org/drawingml/2006/main" noGrp="1"/>
          </p:cNvSpPr>
          <p:nvPr/>
        </p:nvSpPr>
        <p:spPr>
          <a:xfrm xmlns:a="http://schemas.openxmlformats.org/drawingml/2006/main">
            <a:off x="638175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Final score remains reviewable</a:t>
            </a:r>
          </a:p>
        </p:txBody>
      </p:sp>
      <p:sp>
        <p:nvSpPr>
          <p:cNvPr id="8" name="reveal-2">
            <a:extLst xmlns:a="http://schemas.openxmlformats.org/drawingml/2006/main">
              <a:ext uri="{FF2B5EF4-FFF2-40B4-BE49-F238E27FC236}">
                <a16:creationId xmlns:a16="http://schemas.microsoft.com/office/drawing/2014/main" id="{94D550FD-E8FF-48CD-9B03-9C8A1DFF14C9}"/>
              </a:ext>
            </a:extLst>
          </p:cNvPr>
          <p:cNvSpPr>
            <a:spLocks xmlns:a="http://schemas.openxmlformats.org/drawingml/2006/main" noGrp="1"/>
          </p:cNvSpPr>
          <p:nvPr/>
        </p:nvSpPr>
        <p:spPr>
          <a:xfrm xmlns:a="http://schemas.openxmlformats.org/drawingml/2006/main">
            <a:off x="638175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Late evidence is visibly marked</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Retries do not create duplicate events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Review confirms or dismisses the event</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Invalid post-session activity is rejected</a:t>
            </a:r>
          </a:p>
        </p:txBody>
      </p:sp>
    </p:spTree>
    <p:extLst>
      <p:ext uri="{BB962C8B-B14F-4D97-AF65-F5344CB8AC3E}">
        <p14:creationId xmlns:p14="http://schemas.microsoft.com/office/powerpoint/2010/main" val="637199890"/>
      </p:ext>
    </p:extLst>
  </p:cSld>
</p:sld>
</file>

<file path=ppt/slides/slide21.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6" name="fixed">
            <a:extLst xmlns:a="http://schemas.openxmlformats.org/drawingml/2006/main">
              <a:ext uri="{FF2B5EF4-FFF2-40B4-BE49-F238E27FC236}">
                <a16:creationId xmlns:a16="http://schemas.microsoft.com/office/drawing/2014/main" id="{450B7909-0A84-4FC9-97B3-3C08AB3BDB36}"/>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Reported benchmark details</a:t>
            </a:r>
          </a:p>
        </p:txBody>
      </p:sp>
      <p:sp>
        <p:nvSpPr>
          <p:cNvPr id="2" name="fixed">
            <a:extLst xmlns:a="http://schemas.openxmlformats.org/drawingml/2006/main">
              <a:ext uri="{FF2B5EF4-FFF2-40B4-BE49-F238E27FC236}">
                <a16:creationId xmlns:a16="http://schemas.microsoft.com/office/drawing/2014/main" id="{6ABB2ABE-ECF5-4D3A-8E6A-C8B733D3006A}"/>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21</a:t>
            </a:r>
          </a:p>
        </p:txBody>
      </p:sp>
      <p:graphicFrame>
        <p:nvGraphicFramePr>
          <p:cNvPr id="8" name=""/>
          <p:cNvGraphicFramePr/>
          <p:nvPr/>
        </p:nvGraphicFramePr>
        <p:xfrm>
          <a:off xmlns:a="http://schemas.openxmlformats.org/drawingml/2006/main" x="609600" y="1762125"/>
          <a:ext xmlns:a="http://schemas.openxmlformats.org/drawingml/2006/main" cx="10953750" cy="3714750"/>
        </p:xfrm>
        <a:graphic xmlns:a="http://schemas.openxmlformats.org/drawingml/2006/main">
          <a:graphicData uri="http://schemas.openxmlformats.org/drawingml/2006/table">
            <a:tbl>
              <a:tblPr/>
              <a:tblGrid>
                <a:gridCol w="4619625"/>
                <a:gridCol w="3171825"/>
                <a:gridCol w="3162300"/>
              </a:tblGrid>
              <a:tr h="530679">
                <a:tc>
                  <a:txBody>
                    <a:bodyPr/>
                    <a:lstStyle/>
                    <a:p>
                      <a:r>
                        <a:rPr sz="1800" b="1">
                          <a:solidFill>
                            <a:srgbClr val="FFFFFF"/>
                          </a:solidFill>
                          <a:latin typeface="Arial"/>
                          <a:ea typeface="Arial"/>
                          <a:cs typeface="Arial"/>
                        </a:rPr>
                        <a:t>METRIC</a:t>
                      </a:r>
                    </a:p>
                  </a:txBody>
                  <a:tcPr marL="91440" marR="91440" marT="45720" marB="45720">
                    <a:solidFill>
                      <a:srgbClr val="132D3A"/>
                    </a:solidFill>
                  </a:tcPr>
                </a:tc>
                <a:tc>
                  <a:txBody>
                    <a:bodyPr/>
                    <a:lstStyle/>
                    <a:p>
                      <a:r>
                        <a:rPr sz="1800" b="1">
                          <a:solidFill>
                            <a:srgbClr val="FFFFFF"/>
                          </a:solidFill>
                          <a:latin typeface="Arial"/>
                          <a:ea typeface="Arial"/>
                          <a:cs typeface="Arial"/>
                        </a:rPr>
                        <a:t>BEFORE</a:t>
                      </a:r>
                    </a:p>
                  </a:txBody>
                  <a:tcPr marL="91440" marR="91440" marT="45720" marB="45720">
                    <a:solidFill>
                      <a:srgbClr val="132D3A"/>
                    </a:solidFill>
                  </a:tcPr>
                </a:tc>
                <a:tc>
                  <a:txBody>
                    <a:bodyPr/>
                    <a:lstStyle/>
                    <a:p>
                      <a:r>
                        <a:rPr sz="1800" b="1">
                          <a:solidFill>
                            <a:srgbClr val="FFFFFF"/>
                          </a:solidFill>
                          <a:latin typeface="Arial"/>
                          <a:ea typeface="Arial"/>
                          <a:cs typeface="Arial"/>
                        </a:rPr>
                        <a:t>AFTER</a:t>
                      </a:r>
                    </a:p>
                  </a:txBody>
                  <a:tcPr marL="91440" marR="91440" marT="45720" marB="45720">
                    <a:solidFill>
                      <a:srgbClr val="132D3A"/>
                    </a:solidFill>
                  </a:tcPr>
                </a:tc>
              </a:tr>
              <a:tr h="530679">
                <a:tc>
                  <a:txBody>
                    <a:bodyPr/>
                    <a:lstStyle/>
                    <a:p>
                      <a:r>
                        <a:rPr sz="1800" b="0">
                          <a:solidFill>
                            <a:srgbClr val="132D3A"/>
                          </a:solidFill>
                          <a:latin typeface="Arial"/>
                          <a:ea typeface="Arial"/>
                          <a:cs typeface="Arial"/>
                        </a:rPr>
                        <a:t>HTTP request success</a:t>
                      </a:r>
                    </a:p>
                  </a:txBody>
                  <a:tcPr marL="91440" marR="91440" marT="45720" marB="45720">
                    <a:solidFill>
                      <a:srgbClr val="E5EEEC"/>
                    </a:solidFill>
                  </a:tcPr>
                </a:tc>
                <a:tc>
                  <a:txBody>
                    <a:bodyPr/>
                    <a:lstStyle/>
                    <a:p>
                      <a:r>
                        <a:rPr sz="1800" b="0">
                          <a:solidFill>
                            <a:srgbClr val="132D3A"/>
                          </a:solidFill>
                          <a:latin typeface="Arial"/>
                          <a:ea typeface="Arial"/>
                          <a:cs typeface="Arial"/>
                        </a:rPr>
                        <a:t>89.2%</a:t>
                      </a:r>
                    </a:p>
                  </a:txBody>
                  <a:tcPr marL="91440" marR="91440" marT="45720" marB="45720">
                    <a:solidFill>
                      <a:srgbClr val="E5EEEC"/>
                    </a:solidFill>
                  </a:tcPr>
                </a:tc>
                <a:tc>
                  <a:txBody>
                    <a:bodyPr/>
                    <a:lstStyle/>
                    <a:p>
                      <a:r>
                        <a:rPr sz="1800" b="0">
                          <a:solidFill>
                            <a:srgbClr val="132D3A"/>
                          </a:solidFill>
                          <a:latin typeface="Arial"/>
                          <a:ea typeface="Arial"/>
                          <a:cs typeface="Arial"/>
                        </a:rPr>
                        <a:t>100.0%</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Requests / timeouts</a:t>
                      </a:r>
                    </a:p>
                  </a:txBody>
                  <a:tcPr marL="91440" marR="91440" marT="45720" marB="45720">
                    <a:solidFill>
                      <a:srgbClr val="F5F7F5"/>
                    </a:solidFill>
                  </a:tcPr>
                </a:tc>
                <a:tc>
                  <a:txBody>
                    <a:bodyPr/>
                    <a:lstStyle/>
                    <a:p>
                      <a:r>
                        <a:rPr sz="1800" b="0">
                          <a:solidFill>
                            <a:srgbClr val="132D3A"/>
                          </a:solidFill>
                          <a:latin typeface="Arial"/>
                          <a:ea typeface="Arial"/>
                          <a:cs typeface="Arial"/>
                        </a:rPr>
                        <a:t>158 / 17</a:t>
                      </a:r>
                    </a:p>
                  </a:txBody>
                  <a:tcPr marL="91440" marR="91440" marT="45720" marB="45720">
                    <a:solidFill>
                      <a:srgbClr val="F5F7F5"/>
                    </a:solidFill>
                  </a:tcPr>
                </a:tc>
                <a:tc>
                  <a:txBody>
                    <a:bodyPr/>
                    <a:lstStyle/>
                    <a:p>
                      <a:r>
                        <a:rPr sz="1800" b="0">
                          <a:solidFill>
                            <a:srgbClr val="132D3A"/>
                          </a:solidFill>
                          <a:latin typeface="Arial"/>
                          <a:ea typeface="Arial"/>
                          <a:cs typeface="Arial"/>
                        </a:rPr>
                        <a:t>189 / 0</a:t>
                      </a:r>
                    </a:p>
                  </a:txBody>
                  <a:tcPr marL="91440" marR="91440" marT="45720" marB="45720">
                    <a:solidFill>
                      <a:srgbClr val="F5F7F5"/>
                    </a:solidFill>
                  </a:tcPr>
                </a:tc>
              </a:tr>
              <a:tr h="530679">
                <a:tc>
                  <a:txBody>
                    <a:bodyPr/>
                    <a:lstStyle/>
                    <a:p>
                      <a:r>
                        <a:rPr sz="1800" b="0">
                          <a:solidFill>
                            <a:srgbClr val="132D3A"/>
                          </a:solidFill>
                          <a:latin typeface="Arial"/>
                          <a:ea typeface="Arial"/>
                          <a:cs typeface="Arial"/>
                        </a:rPr>
                        <a:t>Mean latency</a:t>
                      </a:r>
                    </a:p>
                  </a:txBody>
                  <a:tcPr marL="91440" marR="91440" marT="45720" marB="45720">
                    <a:solidFill>
                      <a:srgbClr val="E5EEEC"/>
                    </a:solidFill>
                  </a:tcPr>
                </a:tc>
                <a:tc>
                  <a:txBody>
                    <a:bodyPr/>
                    <a:lstStyle/>
                    <a:p>
                      <a:r>
                        <a:rPr sz="1800" b="0">
                          <a:solidFill>
                            <a:srgbClr val="132D3A"/>
                          </a:solidFill>
                          <a:latin typeface="Arial"/>
                          <a:ea typeface="Arial"/>
                          <a:cs typeface="Arial"/>
                        </a:rPr>
                        <a:t>4,142.10 ms</a:t>
                      </a:r>
                    </a:p>
                  </a:txBody>
                  <a:tcPr marL="91440" marR="91440" marT="45720" marB="45720">
                    <a:solidFill>
                      <a:srgbClr val="E5EEEC"/>
                    </a:solidFill>
                  </a:tcPr>
                </a:tc>
                <a:tc>
                  <a:txBody>
                    <a:bodyPr/>
                    <a:lstStyle/>
                    <a:p>
                      <a:r>
                        <a:rPr sz="1800" b="0">
                          <a:solidFill>
                            <a:srgbClr val="132D3A"/>
                          </a:solidFill>
                          <a:latin typeface="Arial"/>
                          <a:ea typeface="Arial"/>
                          <a:cs typeface="Arial"/>
                        </a:rPr>
                        <a:t>408.76 ms</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Median latency</a:t>
                      </a:r>
                    </a:p>
                  </a:txBody>
                  <a:tcPr marL="91440" marR="91440" marT="45720" marB="45720">
                    <a:solidFill>
                      <a:srgbClr val="F5F7F5"/>
                    </a:solidFill>
                  </a:tcPr>
                </a:tc>
                <a:tc>
                  <a:txBody>
                    <a:bodyPr/>
                    <a:lstStyle/>
                    <a:p>
                      <a:r>
                        <a:rPr sz="1800" b="0">
                          <a:solidFill>
                            <a:srgbClr val="132D3A"/>
                          </a:solidFill>
                          <a:latin typeface="Arial"/>
                          <a:ea typeface="Arial"/>
                          <a:cs typeface="Arial"/>
                        </a:rPr>
                        <a:t>3,923.40 ms</a:t>
                      </a:r>
                    </a:p>
                  </a:txBody>
                  <a:tcPr marL="91440" marR="91440" marT="45720" marB="45720">
                    <a:solidFill>
                      <a:srgbClr val="F5F7F5"/>
                    </a:solidFill>
                  </a:tcPr>
                </a:tc>
                <a:tc>
                  <a:txBody>
                    <a:bodyPr/>
                    <a:lstStyle/>
                    <a:p>
                      <a:r>
                        <a:rPr sz="1800" b="0">
                          <a:solidFill>
                            <a:srgbClr val="132D3A"/>
                          </a:solidFill>
                          <a:latin typeface="Arial"/>
                          <a:ea typeface="Arial"/>
                          <a:cs typeface="Arial"/>
                        </a:rPr>
                        <a:t>333.25 ms</a:t>
                      </a:r>
                    </a:p>
                  </a:txBody>
                  <a:tcPr marL="91440" marR="91440" marT="45720" marB="45720">
                    <a:solidFill>
                      <a:srgbClr val="F5F7F5"/>
                    </a:solidFill>
                  </a:tcPr>
                </a:tc>
              </a:tr>
              <a:tr h="530679">
                <a:tc>
                  <a:txBody>
                    <a:bodyPr/>
                    <a:lstStyle/>
                    <a:p>
                      <a:r>
                        <a:rPr sz="1800" b="0">
                          <a:solidFill>
                            <a:srgbClr val="132D3A"/>
                          </a:solidFill>
                          <a:latin typeface="Arial"/>
                          <a:ea typeface="Arial"/>
                          <a:cs typeface="Arial"/>
                        </a:rPr>
                        <a:t>Reported P95</a:t>
                      </a:r>
                    </a:p>
                  </a:txBody>
                  <a:tcPr marL="91440" marR="91440" marT="45720" marB="45720">
                    <a:solidFill>
                      <a:srgbClr val="E5EEEC"/>
                    </a:solidFill>
                  </a:tcPr>
                </a:tc>
                <a:tc>
                  <a:txBody>
                    <a:bodyPr/>
                    <a:lstStyle/>
                    <a:p>
                      <a:r>
                        <a:rPr sz="1800" b="0">
                          <a:solidFill>
                            <a:srgbClr val="132D3A"/>
                          </a:solidFill>
                          <a:latin typeface="Arial"/>
                          <a:ea typeface="Arial"/>
                          <a:cs typeface="Arial"/>
                        </a:rPr>
                        <a:t>8,000 ms (timeout ceiling)</a:t>
                      </a:r>
                    </a:p>
                  </a:txBody>
                  <a:tcPr marL="91440" marR="91440" marT="45720" marB="45720">
                    <a:solidFill>
                      <a:srgbClr val="E5EEEC"/>
                    </a:solidFill>
                  </a:tcPr>
                </a:tc>
                <a:tc>
                  <a:txBody>
                    <a:bodyPr/>
                    <a:lstStyle/>
                    <a:p>
                      <a:r>
                        <a:rPr sz="1800" b="0">
                          <a:solidFill>
                            <a:srgbClr val="132D3A"/>
                          </a:solidFill>
                          <a:latin typeface="Arial"/>
                          <a:ea typeface="Arial"/>
                          <a:cs typeface="Arial"/>
                        </a:rPr>
                        <a:t>856.43 ms</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Reported throughput</a:t>
                      </a:r>
                    </a:p>
                  </a:txBody>
                  <a:tcPr marL="91440" marR="91440" marT="45720" marB="45720">
                    <a:solidFill>
                      <a:srgbClr val="F5F7F5"/>
                    </a:solidFill>
                  </a:tcPr>
                </a:tc>
                <a:tc>
                  <a:txBody>
                    <a:bodyPr/>
                    <a:lstStyle/>
                    <a:p>
                      <a:r>
                        <a:rPr sz="1800" b="0">
                          <a:solidFill>
                            <a:srgbClr val="132D3A"/>
                          </a:solidFill>
                          <a:latin typeface="Arial"/>
                          <a:ea typeface="Arial"/>
                          <a:cs typeface="Arial"/>
                        </a:rPr>
                        <a:t>6.58 requests/s</a:t>
                      </a:r>
                    </a:p>
                  </a:txBody>
                  <a:tcPr marL="91440" marR="91440" marT="45720" marB="45720">
                    <a:solidFill>
                      <a:srgbClr val="F5F7F5"/>
                    </a:solidFill>
                  </a:tcPr>
                </a:tc>
                <a:tc>
                  <a:txBody>
                    <a:bodyPr/>
                    <a:lstStyle/>
                    <a:p>
                      <a:r>
                        <a:rPr sz="1800" b="0">
                          <a:solidFill>
                            <a:srgbClr val="132D3A"/>
                          </a:solidFill>
                          <a:latin typeface="Arial"/>
                          <a:ea typeface="Arial"/>
                          <a:cs typeface="Arial"/>
                        </a:rPr>
                        <a:t>9.45 requests/s</a:t>
                      </a:r>
                    </a:p>
                  </a:txBody>
                  <a:tcPr marL="91440" marR="91440" marT="45720" marB="45720">
                    <a:solidFill>
                      <a:srgbClr val="F5F7F5"/>
                    </a:solidFill>
                  </a:tcPr>
                </a:tc>
              </a:tr>
            </a:tbl>
          </a:graphicData>
        </a:graphic>
      </p:graphicFrame>
      <p:sp>
        <p:nvSpPr>
          <p:cNvPr id="4" name="fixed">
            <a:extLst xmlns:a="http://schemas.openxmlformats.org/drawingml/2006/main">
              <a:ext uri="{FF2B5EF4-FFF2-40B4-BE49-F238E27FC236}">
                <a16:creationId xmlns:a16="http://schemas.microsoft.com/office/drawing/2014/main" id="{79BCBD90-F4A8-4E25-993E-5E41BDD9DB58}"/>
              </a:ext>
            </a:extLst>
          </p:cNvPr>
          <p:cNvSpPr>
            <a:spLocks xmlns:a="http://schemas.openxmlformats.org/drawingml/2006/main" noGrp="1"/>
          </p:cNvSpPr>
          <p:nvPr/>
        </p:nvSpPr>
        <p:spPr>
          <a:xfrm xmlns:a="http://schemas.openxmlformats.org/drawingml/2006/main">
            <a:off x="609600" y="56673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After command: 50 candidates, 20 seconds, dashboard reads enabled</a:t>
            </a:r>
          </a:p>
        </p:txBody>
      </p:sp>
      <p:sp>
        <p:nvSpPr>
          <p:cNvPr id="5" name="fixed">
            <a:extLst xmlns:a="http://schemas.openxmlformats.org/drawingml/2006/main">
              <a:ext uri="{FF2B5EF4-FFF2-40B4-BE49-F238E27FC236}">
                <a16:creationId xmlns:a16="http://schemas.microsoft.com/office/drawing/2014/main" id="{186D468A-1125-4085-98B9-59F82DD6F586}"/>
              </a:ext>
            </a:extLst>
          </p:cNvPr>
          <p:cNvSpPr>
            <a:spLocks xmlns:a="http://schemas.openxmlformats.org/drawingml/2006/main" noGrp="1"/>
          </p:cNvSpPr>
          <p:nvPr/>
        </p:nvSpPr>
        <p:spPr>
          <a:xfrm xmlns:a="http://schemas.openxmlformats.org/drawingml/2006/main">
            <a:off x="609600" y="61150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Raw logs and test environment were not supplied. Repeat longer matched runs before claiming capacity.</a:t>
            </a:r>
          </a:p>
        </p:txBody>
      </p:sp>
    </p:spTree>
    <p:extLst>
      <p:ext uri="{BB962C8B-B14F-4D97-AF65-F5344CB8AC3E}">
        <p14:creationId xmlns:p14="http://schemas.microsoft.com/office/powerpoint/2010/main" val="2031635464"/>
      </p:ext>
    </p:extLst>
  </p:cSld>
</p:sld>
</file>

<file path=ppt/slides/slide22.xml><?xml version="1.0" encoding="utf-8"?>
<p:sld xmlns:p="http://schemas.openxmlformats.org/presentationml/2006/main">
  <p:cSld>
    <p:bg>
      <p:bgPr>
        <a:solidFill xmlns:a="http://schemas.openxmlformats.org/drawingml/2006/main">
          <a:srgbClr val="F5F7F5"/>
        </a:solidFill>
      </p:bgPr>
    </p:bg>
    <p:spTree>
      <p:nvGrpSpPr>
        <p:cNvPr id="1" name=""/>
        <p:cNvGrpSpPr/>
        <p:nvPr/>
      </p:nvGrpSpPr>
      <p:grpSpPr>
        <a:xfrm xmlns:a="http://schemas.openxmlformats.org/drawingml/2006/main"/>
      </p:grpSpPr>
      <p:sp>
        <p:nvSpPr>
          <p:cNvPr id="9" name="fixed">
            <a:extLst xmlns:a="http://schemas.openxmlformats.org/drawingml/2006/main">
              <a:ext uri="{FF2B5EF4-FFF2-40B4-BE49-F238E27FC236}">
                <a16:creationId xmlns:a16="http://schemas.microsoft.com/office/drawing/2014/main" id="{141E62F1-9DAC-4BDA-B1EE-EC798CAB15C5}"/>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D3A"/>
                </a:solidFill>
                <a:latin typeface="Arial"/>
                <a:ea typeface="Arial"/>
                <a:cs typeface="Arial"/>
              </a:defRPr>
            </a:pPr>
            <a:r>
              <a:rPr sz="3300" b="1">
                <a:solidFill>
                  <a:srgbClr val="132D3A"/>
                </a:solidFill>
                <a:latin typeface="Arial"/>
                <a:ea typeface="Arial"/>
                <a:cs typeface="Arial"/>
              </a:rPr>
              <a:t>Access boundaries, consent and evaluation limits</a:t>
            </a:r>
          </a:p>
        </p:txBody>
      </p:sp>
      <p:sp>
        <p:nvSpPr>
          <p:cNvPr id="2" name="fixed">
            <a:extLst xmlns:a="http://schemas.openxmlformats.org/drawingml/2006/main">
              <a:ext uri="{FF2B5EF4-FFF2-40B4-BE49-F238E27FC236}">
                <a16:creationId xmlns:a16="http://schemas.microsoft.com/office/drawing/2014/main" id="{C4A28900-3943-470A-A806-DBC8367EA262}"/>
              </a:ext>
            </a:extLst>
          </p:cNvPr>
          <p:cNvSpPr>
            <a:spLocks xmlns:a="http://schemas.openxmlformats.org/drawingml/2006/main" noGrp="1"/>
          </p:cNvSpPr>
          <p:nvPr/>
        </p:nvSpPr>
        <p:spPr>
          <a:xfrm xmlns:a="http://schemas.openxmlformats.org/drawingml/2006/main">
            <a:off x="1095375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3"/>
                </a:solidFill>
                <a:latin typeface="Arial"/>
                <a:ea typeface="Arial"/>
                <a:cs typeface="Arial"/>
              </a:defRPr>
            </a:pPr>
            <a:r>
              <a:rPr sz="1350" b="0">
                <a:solidFill>
                  <a:srgbClr val="526573"/>
                </a:solidFill>
                <a:latin typeface="Arial"/>
                <a:ea typeface="Arial"/>
                <a:cs typeface="Arial"/>
              </a:rPr>
              <a:t>22</a:t>
            </a:r>
          </a:p>
        </p:txBody>
      </p:sp>
      <p:sp>
        <p:nvSpPr>
          <p:cNvPr id="3" name="reveal-1">
            <a:extLst xmlns:a="http://schemas.openxmlformats.org/drawingml/2006/main">
              <a:ext uri="{FF2B5EF4-FFF2-40B4-BE49-F238E27FC236}">
                <a16:creationId xmlns:a16="http://schemas.microsoft.com/office/drawing/2014/main" id="{96E156B5-85EA-4F57-958A-927FC44AA9F2}"/>
              </a:ext>
            </a:extLst>
          </p:cNvPr>
          <p:cNvSpPr>
            <a:spLocks xmlns:a="http://schemas.openxmlformats.org/drawingml/2006/main" noGrp="1"/>
          </p:cNvSpPr>
          <p:nvPr/>
        </p:nvSpPr>
        <p:spPr>
          <a:xfrm xmlns:a="http://schemas.openxmlformats.org/drawingml/2006/main">
            <a:off x="60960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ACCESS &amp; PRIVACY</a:t>
            </a:r>
          </a:p>
        </p:txBody>
      </p:sp>
      <p:sp>
        <p:nvSpPr>
          <p:cNvPr id="4" name="reveal-1">
            <a:extLst xmlns:a="http://schemas.openxmlformats.org/drawingml/2006/main">
              <a:ext uri="{FF2B5EF4-FFF2-40B4-BE49-F238E27FC236}">
                <a16:creationId xmlns:a16="http://schemas.microsoft.com/office/drawing/2014/main" id="{0B8DB3B2-0084-47B2-B619-14D4EA8062F7}"/>
              </a:ext>
            </a:extLst>
          </p:cNvPr>
          <p:cNvSpPr>
            <a:spLocks xmlns:a="http://schemas.openxmlformats.org/drawingml/2006/main" noGrp="1"/>
          </p:cNvSpPr>
          <p:nvPr/>
        </p:nvSpPr>
        <p:spPr>
          <a:xfrm xmlns:a="http://schemas.openxmlformats.org/drawingml/2006/main">
            <a:off x="60960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Explicit boundaries</a:t>
            </a:r>
          </a:p>
        </p:txBody>
      </p:sp>
      <p:sp>
        <p:nvSpPr>
          <p:cNvPr id="5" name="reveal-1">
            <a:extLst xmlns:a="http://schemas.openxmlformats.org/drawingml/2006/main">
              <a:ext uri="{FF2B5EF4-FFF2-40B4-BE49-F238E27FC236}">
                <a16:creationId xmlns:a16="http://schemas.microsoft.com/office/drawing/2014/main" id="{07077514-7204-45B6-BC60-420E0C0658F7}"/>
              </a:ext>
            </a:extLst>
          </p:cNvPr>
          <p:cNvSpPr>
            <a:spLocks xmlns:a="http://schemas.openxmlformats.org/drawingml/2006/main" noGrp="1"/>
          </p:cNvSpPr>
          <p:nvPr/>
        </p:nvSpPr>
        <p:spPr>
          <a:xfrm xmlns:a="http://schemas.openxmlformats.org/drawingml/2006/main">
            <a:off x="60960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Teacher events scoped to owned exams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Administrators have broader access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Consent covers voice profiles and clips</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Retention currently requires manual removal</a:t>
            </a:r>
          </a:p>
        </p:txBody>
      </p:sp>
      <p:sp>
        <p:nvSpPr>
          <p:cNvPr id="6" name="reveal-2">
            <a:extLst xmlns:a="http://schemas.openxmlformats.org/drawingml/2006/main">
              <a:ext uri="{FF2B5EF4-FFF2-40B4-BE49-F238E27FC236}">
                <a16:creationId xmlns:a16="http://schemas.microsoft.com/office/drawing/2014/main" id="{7984C5A6-A9ED-4C57-A058-C3880228C0B6}"/>
              </a:ext>
            </a:extLst>
          </p:cNvPr>
          <p:cNvSpPr>
            <a:spLocks xmlns:a="http://schemas.openxmlformats.org/drawingml/2006/main" noGrp="1"/>
          </p:cNvSpPr>
          <p:nvPr/>
        </p:nvSpPr>
        <p:spPr>
          <a:xfrm xmlns:a="http://schemas.openxmlformats.org/drawingml/2006/main">
            <a:off x="6381750" y="1809750"/>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EVALUATION</a:t>
            </a:r>
          </a:p>
        </p:txBody>
      </p:sp>
      <p:sp>
        <p:nvSpPr>
          <p:cNvPr id="7" name="reveal-2">
            <a:extLst xmlns:a="http://schemas.openxmlformats.org/drawingml/2006/main">
              <a:ext uri="{FF2B5EF4-FFF2-40B4-BE49-F238E27FC236}">
                <a16:creationId xmlns:a16="http://schemas.microsoft.com/office/drawing/2014/main" id="{5E3D1938-2F90-429B-9257-7F5867542503}"/>
              </a:ext>
            </a:extLst>
          </p:cNvPr>
          <p:cNvSpPr>
            <a:spLocks xmlns:a="http://schemas.openxmlformats.org/drawingml/2006/main" noGrp="1"/>
          </p:cNvSpPr>
          <p:nvPr/>
        </p:nvSpPr>
        <p:spPr>
          <a:xfrm xmlns:a="http://schemas.openxmlformats.org/drawingml/2006/main">
            <a:off x="6381750" y="22098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D3A"/>
                </a:solidFill>
                <a:latin typeface="Arial"/>
                <a:ea typeface="Arial"/>
                <a:cs typeface="Arial"/>
              </a:defRPr>
            </a:pPr>
            <a:r>
              <a:rPr sz="2550" b="1">
                <a:solidFill>
                  <a:srgbClr val="132D3A"/>
                </a:solidFill>
                <a:latin typeface="Arial"/>
                <a:ea typeface="Arial"/>
                <a:cs typeface="Arial"/>
              </a:rPr>
              <a:t>Evidence behind each claim</a:t>
            </a:r>
          </a:p>
        </p:txBody>
      </p:sp>
      <p:sp>
        <p:nvSpPr>
          <p:cNvPr id="8" name="reveal-2">
            <a:extLst xmlns:a="http://schemas.openxmlformats.org/drawingml/2006/main">
              <a:ext uri="{FF2B5EF4-FFF2-40B4-BE49-F238E27FC236}">
                <a16:creationId xmlns:a16="http://schemas.microsoft.com/office/drawing/2014/main" id="{5367DC97-CC66-4697-895D-F77330D79B6D}"/>
              </a:ext>
            </a:extLst>
          </p:cNvPr>
          <p:cNvSpPr>
            <a:spLocks xmlns:a="http://schemas.openxmlformats.org/drawingml/2006/main" noGrp="1"/>
          </p:cNvSpPr>
          <p:nvPr/>
        </p:nvSpPr>
        <p:spPr>
          <a:xfrm xmlns:a="http://schemas.openxmlformats.org/drawingml/2006/main">
            <a:off x="6381750" y="287655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Pretrained models, integrated locally</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Controlled regression checks completed</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HTTP benchmark supplied by the team</a:t>
            </a:r>
          </a:p>
          <a:p xmlns:a="http://schemas.openxmlformats.org/drawingml/2006/main">
            <a:pPr>
              <a:defRPr sz="2025" b="0">
                <a:solidFill>
                  <a:srgbClr val="526573"/>
                </a:solidFill>
                <a:latin typeface="Arial"/>
                <a:ea typeface="Arial"/>
                <a:cs typeface="Arial"/>
              </a:defRPr>
            </a:pPr>
            <a:r>
              <a:rPr sz="2025" b="0">
                <a:solidFill>
                  <a:srgbClr val="526573"/>
                </a:solidFill>
                <a:latin typeface="Arial"/>
                <a:ea typeface="Arial"/>
                <a:cs typeface="Arial"/>
              </a:rPr>
              <a:t>Accuracy and long-run capacity still open</a:t>
            </a:r>
          </a:p>
        </p:txBody>
      </p:sp>
    </p:spTree>
    <p:extLst>
      <p:ext uri="{BB962C8B-B14F-4D97-AF65-F5344CB8AC3E}">
        <p14:creationId xmlns:p14="http://schemas.microsoft.com/office/powerpoint/2010/main" val="18674461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2026-10-03T17:38:39.9360000Z</dcterms:created>
  <dcterms:modified xsi:type="dcterms:W3CDTF">2026-10-03T17:38:39.9360000Z</dcterms:modified>
</coreProperties>
</file>