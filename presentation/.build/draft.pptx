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e60a0f93ae4a62" /><Relationship Type="http://schemas.openxmlformats.org/officeDocument/2006/relationships/extended-properties" Target="/docProps/app.xml" Id="R22b09f095f2546a8" /><Relationship Type="http://schemas.openxmlformats.org/officeDocument/2006/relationships/officeDocument" Target="/ppt/presentation.xml" Id="R602b73b499e7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0d74ad3304215"/>
  </p:sldMasterIdLst>
  <p:notesMasterIdLst>
    <p:notesMasterId xmlns:r="http://schemas.openxmlformats.org/officeDocument/2006/relationships" r:id="R62b00bbcf9f347f9"/>
  </p:notesMasterIdLst>
  <p:sldIdLst>
    <p:sldId xmlns:r="http://schemas.openxmlformats.org/officeDocument/2006/relationships" id="256" r:id="Re7fad1e04cb0462e"/>
    <p:sldId xmlns:r="http://schemas.openxmlformats.org/officeDocument/2006/relationships" id="257" r:id="R2ce644e563a242bc"/>
    <p:sldId xmlns:r="http://schemas.openxmlformats.org/officeDocument/2006/relationships" id="258" r:id="R26b587edb80143fd"/>
    <p:sldId xmlns:r="http://schemas.openxmlformats.org/officeDocument/2006/relationships" id="259" r:id="Rcd881ff7c0ac46fd"/>
    <p:sldId xmlns:r="http://schemas.openxmlformats.org/officeDocument/2006/relationships" id="260" r:id="R0828933f2ee84bfb"/>
    <p:sldId xmlns:r="http://schemas.openxmlformats.org/officeDocument/2006/relationships" id="261" r:id="R00850c7576b54b7c"/>
    <p:sldId xmlns:r="http://schemas.openxmlformats.org/officeDocument/2006/relationships" id="262" r:id="R892be95cec054caf"/>
    <p:sldId xmlns:r="http://schemas.openxmlformats.org/officeDocument/2006/relationships" id="263" r:id="R5e2837321d8f41fd"/>
    <p:sldId xmlns:r="http://schemas.openxmlformats.org/officeDocument/2006/relationships" id="264" r:id="R730bef7678084dac"/>
    <p:sldId xmlns:r="http://schemas.openxmlformats.org/officeDocument/2006/relationships" id="265" r:id="Ra5f8e2fe4b234815"/>
    <p:sldId xmlns:r="http://schemas.openxmlformats.org/officeDocument/2006/relationships" id="266" r:id="R1971a65b6fd64922"/>
    <p:sldId xmlns:r="http://schemas.openxmlformats.org/officeDocument/2006/relationships" id="267" r:id="R123d4817b92e45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b5e8347b544f02" /><Relationship Type="http://schemas.openxmlformats.org/officeDocument/2006/relationships/slideMaster" Target="/ppt/slideMasters/slideMaster1.xml" Id="R0c50d74ad3304215" /><Relationship Type="http://schemas.openxmlformats.org/officeDocument/2006/relationships/notesMaster" Target="/ppt/notesMasters/notesMaster1.xml" Id="R62b00bbcf9f347f9" /><Relationship Type="http://schemas.openxmlformats.org/officeDocument/2006/relationships/presProps" Target="/ppt/presProps.xml" Id="Rc0e561d193e748ed" /><Relationship Type="http://schemas.openxmlformats.org/officeDocument/2006/relationships/tableStyles" Target="/ppt/tableStyles.xml" Id="R110cdee8d5e54d6f" /><Relationship Type="http://schemas.openxmlformats.org/officeDocument/2006/relationships/slide" Target="/ppt/slides/slide1.xml" Id="Re7fad1e04cb0462e" /><Relationship Type="http://schemas.openxmlformats.org/officeDocument/2006/relationships/slide" Target="/ppt/slides/slide2.xml" Id="R2ce644e563a242bc" /><Relationship Type="http://schemas.openxmlformats.org/officeDocument/2006/relationships/slide" Target="/ppt/slides/slide3.xml" Id="R26b587edb80143fd" /><Relationship Type="http://schemas.openxmlformats.org/officeDocument/2006/relationships/slide" Target="/ppt/slides/slide4.xml" Id="Rcd881ff7c0ac46fd" /><Relationship Type="http://schemas.openxmlformats.org/officeDocument/2006/relationships/slide" Target="/ppt/slides/slide5.xml" Id="R0828933f2ee84bfb" /><Relationship Type="http://schemas.openxmlformats.org/officeDocument/2006/relationships/slide" Target="/ppt/slides/slide6.xml" Id="R00850c7576b54b7c" /><Relationship Type="http://schemas.openxmlformats.org/officeDocument/2006/relationships/slide" Target="/ppt/slides/slide7.xml" Id="R892be95cec054caf" /><Relationship Type="http://schemas.openxmlformats.org/officeDocument/2006/relationships/slide" Target="/ppt/slides/slide8.xml" Id="R5e2837321d8f41fd" /><Relationship Type="http://schemas.openxmlformats.org/officeDocument/2006/relationships/slide" Target="/ppt/slides/slide9.xml" Id="R730bef7678084dac" /><Relationship Type="http://schemas.openxmlformats.org/officeDocument/2006/relationships/slide" Target="/ppt/slides/slide10.xml" Id="Ra5f8e2fe4b234815" /><Relationship Type="http://schemas.openxmlformats.org/officeDocument/2006/relationships/slide" Target="/ppt/slides/slide11.xml" Id="R1971a65b6fd64922" /><Relationship Type="http://schemas.openxmlformats.org/officeDocument/2006/relationships/slide" Target="/ppt/slides/slide12.xml" Id="R123d4817b92e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cde6224ed40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b452613044890" /><Relationship Type="http://schemas.openxmlformats.org/officeDocument/2006/relationships/notesMaster" Target="/ppt/notesMasters/notesMaster1.xml" Id="Rc7aaaaa6a3884f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f9aa4c0104b85" /><Relationship Type="http://schemas.openxmlformats.org/officeDocument/2006/relationships/notesMaster" Target="/ppt/notesMasters/notesMaster1.xml" Id="Rdf7b8a1de02143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642fed6ba40a6" /><Relationship Type="http://schemas.openxmlformats.org/officeDocument/2006/relationships/notesMaster" Target="/ppt/notesMasters/notesMaster1.xml" Id="Ra1f83eeb5e0648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3e4a20289c446f" /><Relationship Type="http://schemas.openxmlformats.org/officeDocument/2006/relationships/notesMaster" Target="/ppt/notesMasters/notesMaster1.xml" Id="R35e2ea13785d48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60f5e3e0b04fd1" /><Relationship Type="http://schemas.openxmlformats.org/officeDocument/2006/relationships/notesMaster" Target="/ppt/notesMasters/notesMaster1.xml" Id="R79022333a5d947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d66a77fa4d4f19" /><Relationship Type="http://schemas.openxmlformats.org/officeDocument/2006/relationships/notesMaster" Target="/ppt/notesMasters/notesMaster1.xml" Id="Rce7571d35c3043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81d8bac1304fc5" /><Relationship Type="http://schemas.openxmlformats.org/officeDocument/2006/relationships/notesMaster" Target="/ppt/notesMasters/notesMaster1.xml" Id="R6e70838e6d4c4f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5664c411be4847" /><Relationship Type="http://schemas.openxmlformats.org/officeDocument/2006/relationships/notesMaster" Target="/ppt/notesMasters/notesMaster1.xml" Id="R804b6e0ae78144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f7ebc48e4b4238" /><Relationship Type="http://schemas.openxmlformats.org/officeDocument/2006/relationships/notesMaster" Target="/ppt/notesMasters/notesMaster1.xml" Id="R16f423357ce54e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8c306624fa4ab3" /><Relationship Type="http://schemas.openxmlformats.org/officeDocument/2006/relationships/notesMaster" Target="/ppt/notesMasters/notesMaster1.xml" Id="Rde4f23917d674b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575de9da214424" /><Relationship Type="http://schemas.openxmlformats.org/officeDocument/2006/relationships/notesMaster" Target="/ppt/notesMasters/notesMaster1.xml" Id="R22c8faad44b547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3b89d76ff84acb" /><Relationship Type="http://schemas.openxmlformats.org/officeDocument/2006/relationships/notesMaster" Target="/ppt/notesMasters/notesMaster1.xml" Id="Rc7ec4fb5f092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15 seconds. Introduce the team and supervisor. Names are from scope p. 1. Confirm current roles with the team. Presentation date follows the teacher message: Monday 5 October 2026 at 4 PM.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seconds. Remote candidates may use unauthorized software, physical aids or help from another person. The project creates a semi-controlled environment, analyzes signals locally, records event evidence and helps the examiner review. Avoid unverified claims about competitors or guaranteed prevention. Scope pp. 2, 4-6.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Windows desktop, local vision and process enforcement, event-based evidence, examiner alerts and session-linked submissions are in scope. Voice is an added feature outside v3 scope. Facial identity recognition, macOS/Linux, network scanning and IoT remain outside. Scope p. 6. Discuss the exact scope update in backup slide 11 if asked.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seconds. Candidate camera/audio/process inputs are analyzed locally in Python. Local loopback HTTP connects Electron and Python using dynamically assigned ports. Electron sends events and evidence to Express/MongoDB with optional local or Cloudinary storage. Authenticated Socket.IO delivers updates to React. Do not claim full tenant isolation: socket recipient condition still needs tightening. Sources: candidate-app/ai-module/main.py, electron/ipc/pythonBridge.js, server/src/index.js, services/storage/index.js, dashboard/src/hooks/useSocket.js.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Five core modules exist in code. Secure environment, evidence, dashboard and submission substantially match the functional scope. AI is partial against exact specifications because model family/classes/fallback differ. Both optional modules have implementation paths. Advanced reporting has summary/CSV/browser printing. This is implementation coverage, not an acceptance percentage. Scope pp. 8-10 and Scope_Progress_Verification.md.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Explain the difference between deterministic tests and real-world accuracy. During this preparation actual local online and lab self-check startups passed, as did queue persistence/retry and 13 Python regression checks. They use controlled inputs and a fake HTTP backend. They do not establish strict enforcement, real microphone accuracy, capacity or dashboard latency. Source: candidate-app/electron/check_reliability.js, ai-module/check_detection.py and current tool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seconds. List additions as implemented code paths, not all independently acceptance-tested. Voice was explicitly future work in scope p. 6. It now has enrollment/confirmation and saved suspicious clips; it is a mismatch signal for review. The scope and consent must acknowledge stored speaker embeddings. Sources: voice_monitor.py, usb_monitor.py, selfCheck.js, ExamManager.jsx, ExamSummary.jsx, AdminDashboard/, Dashboard.jsx, messages.js.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seconds. Make four concrete points. First, controlled head-turn/multiple-face/object/voice evaluation and false-positive measurement. Second, remaining headphones/model/quantization specifications and scope alignment. Third, socket ownership, voice consent/retention and late-evidence handling. Fourth, 20-client load, less than 2-second trigger-to-dashboard target and less than 35% average CPU over 30 minutes. None is an achieved result. Scope pp. 14-15; ai_monitor.py; violations.js; violationSocket.js:54; consent.html.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seconds. Demo 7-8 minutes. Prepare an exam before the talk, then show candidate entry/consent/self-check, paper and typed answer, one rehearsed head turn and phone observation, examiner review/score, message, submission and history. Rehearse HDMI/display policy. Keep strict app termination, voice/offline/admin as Q&amp;A options unless fully rehearsed. Demo_and_Speaking_Plan.md contains timing and fallback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Reserve 3-7 minutes. Explain contribution as integration and local event-based monitoring using pretrained models. Do not describe a risk score as cheating probability. Acknowledge that AI accuracy and capacity targets still need formal evaluation. Use slides 11-12 only if asked. Scope pp. 2, 5 and 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detail only. Code prefers yolo26n.onnx over INT8. Targets phone/book, not headphones. Current installed MediaPipe lacks legacy solutions so OpenCV is active. Voice speaker embeddings conflict with scope no-biometric statement and consent lacks explicit audio-storage disclosure. This slide is for transparent discussion, not an assertion that all scope changes have supervisor approval. Scope pp. 6, 9-12; ai_monitor.py:138-140 and targets; voice_monitor.py storage; consent.html.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detail. All values are scope targets rather than achieved measurements. Scope pp. 14-15. Head-pose scenarios refer to the original greater-than-30-degree evaluation condition, despite changed runtime threshold. Scope p. 7 discusses 50 students, whereas acceptance p. 15 requires a 20-client test. Do not treat either as a passed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Scope: IntegrityFlow_Scope_v3_Enhanced.pdf, 8 May 2026. Code review: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dd52a858741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2d972f1c054bd1" /><Relationship Type="http://schemas.openxmlformats.org/officeDocument/2006/relationships/slideLayout" Target="/ppt/slideLayouts/slideLayout1.xml" Id="R6c45a72f4ac547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45a72f4ac547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720443a6a433d" /><Relationship Type="http://schemas.openxmlformats.org/officeDocument/2006/relationships/image" Target="/ppt/media/image.png" Id="Re070e066a042418d" /><Relationship Type="http://schemas.openxmlformats.org/officeDocument/2006/relationships/notesSlide" Target="/ppt/notesSlides/notesSlide1.xml" Id="R82408ede18754c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995b854dd4696" /><Relationship Type="http://schemas.openxmlformats.org/officeDocument/2006/relationships/notesSlide" Target="/ppt/notesSlides/notesSlide2.xml" Id="R0d687d02b8bc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2a556dc83458b" /><Relationship Type="http://schemas.openxmlformats.org/officeDocument/2006/relationships/notesSlide" Target="/ppt/notesSlides/notesSlide3.xml" Id="R2824f8ad3aa642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113042d5e456b" /><Relationship Type="http://schemas.openxmlformats.org/officeDocument/2006/relationships/notesSlide" Target="/ppt/notesSlides/notesSlide4.xml" Id="R6d16b7a4350240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98d8f180b4caa" /><Relationship Type="http://schemas.openxmlformats.org/officeDocument/2006/relationships/notesSlide" Target="/ppt/notesSlides/notesSlide5.xml" Id="R098c691fc9ee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6d4379e4341c4" /><Relationship Type="http://schemas.openxmlformats.org/officeDocument/2006/relationships/notesSlide" Target="/ppt/notesSlides/notesSlide6.xml" Id="R4f4f776fa2c84b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c2464555641a3" /><Relationship Type="http://schemas.openxmlformats.org/officeDocument/2006/relationships/notesSlide" Target="/ppt/notesSlides/notesSlide7.xml" Id="Rcb96086a24794b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09b297d0347b6" /><Relationship Type="http://schemas.openxmlformats.org/officeDocument/2006/relationships/notesSlide" Target="/ppt/notesSlides/notesSlide8.xml" Id="R8be5b3dba74c46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d5a7dfab1491a" /><Relationship Type="http://schemas.openxmlformats.org/officeDocument/2006/relationships/notesSlide" Target="/ppt/notesSlides/notesSlide9.xml" Id="Rd746f9f32fac45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0462c4ac74948" /><Relationship Type="http://schemas.openxmlformats.org/officeDocument/2006/relationships/notesSlide" Target="/ppt/notesSlides/notesSlide10.xml" Id="R9ab8646fcd3647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e2f5a828c4c62" /><Relationship Type="http://schemas.openxmlformats.org/officeDocument/2006/relationships/notesSlide" Target="/ppt/notesSlides/notesSlide11.xml" Id="R6cf92b0e1ba747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e6ec2ae2a491f" /><Relationship Type="http://schemas.openxmlformats.org/officeDocument/2006/relationships/notesSlide" Target="/ppt/notesSlides/notesSlide12.xml" Id="R505d4e74b84a41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E7466-8AFF-4BBC-A925-9F1AA3F5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IntegrityFlow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47E96-786C-4B61-83CE-1D59C18D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01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03B72-DBA8-406D-8EF4-019B59DC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A46"/>
                </a:solidFill>
                <a:latin typeface="Arial"/>
                <a:ea typeface="Arial"/>
                <a:cs typeface="Arial"/>
              </a:rPr>
              <a:t>FYP Progress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20620-74A9-4655-A553-C2E7146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766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Local AI examination monitoring</a:t>
            </a:r>
          </a:p>
          <a:p xmlns:a="http://schemas.openxmlformats.org/drawingml/2006/main">
            <a:pPr>
              <a:defRPr sz="262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and a controlled exam 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45B08-1A4D-47DA-829B-55436212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667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Rao Umair Ahmed</a:t>
            </a:r>
          </a:p>
          <a:p xmlns:a="http://schemas.openxmlformats.org/drawingml/2006/main">
            <a:pPr>
              <a:defRPr sz="195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Muhammad Usman</a:t>
            </a:r>
          </a:p>
          <a:p xmlns:a="http://schemas.openxmlformats.org/drawingml/2006/main">
            <a:pPr>
              <a:defRPr sz="195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Muhammad Abubakar Siddique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A8304-D1B3-49C7-B7A9-DB397A41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Supervisor: Mr. Abdullah     5 October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0e066a042418d"/>
          <a:stretch xmlns:a="http://schemas.openxmlformats.org/drawingml/2006/main"/>
        </p:blipFill>
        <p:spPr>
          <a:xfrm xmlns:a="http://schemas.openxmlformats.org/drawingml/2006/main">
            <a:off x="8953500" y="1981200"/>
            <a:ext cx="2333625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57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12263-0532-47BB-9AF3-DED6A02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D44D3-2C6F-4B14-BD4E-691679C0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02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03D22-ABB9-4D40-8349-2305D6D7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Unauthorized tools and physical aids challenge exam integrity.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BA522-246F-447D-A4DF-A9592F96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Local analysis reduces dependence on continuous video upload.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78A2D-AD1C-4D3E-B474-2E58C230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Application controls restrict the allowed exam environment.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8AD2A-0152-4860-806D-5C78AA97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Evidence and risk scores help examiners prioritize review.</a:t>
            </a:r>
          </a:p>
        </p:txBody>
      </p:sp>
    </p:spTree>
    <p:extLst>
      <p:ext uri="{BB962C8B-B14F-4D97-AF65-F5344CB8AC3E}">
        <p14:creationId xmlns:p14="http://schemas.microsoft.com/office/powerpoint/2010/main" val="1365042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DF08A-93F4-477A-8A73-A03D3AC9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17543-E6FA-4100-A65C-6CC05656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03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4A6D4-1E71-46C2-A553-C4418FD8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Candidate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357E3-3E51-42F9-AFA7-6C607142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Windows Electron shell, exam paper and answer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8F00B-77AC-4742-81CB-8D5F3228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Local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F5592-4ED8-4AF6-8DC8-F5940BD7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431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Head turns, multiple faces and phone/book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37AE9-5A9A-430D-A50B-C6866C8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Examiner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C6739-FFA7-480E-9650-0AB11AEF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Live alerts and evidence review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Student risk ratings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463A5-2912-4AB6-AF1B-6348919F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81908-DD21-4F24-B666-8EEFEFE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528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Best-effort assistance with human review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Advanced face recognition and other OSes remain outside</a:t>
            </a:r>
          </a:p>
        </p:txBody>
      </p:sp>
    </p:spTree>
    <p:extLst>
      <p:ext uri="{BB962C8B-B14F-4D97-AF65-F5344CB8AC3E}">
        <p14:creationId xmlns:p14="http://schemas.microsoft.com/office/powerpoint/2010/main" val="502846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3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EBF11-1E12-453C-927D-6069D1EE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C50D3-17B9-4FFE-8946-D565FA0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D9C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D9CF"/>
                </a:solidFill>
                <a:latin typeface="Arial"/>
                <a:ea typeface="Arial"/>
                <a:cs typeface="Arial"/>
              </a:rPr>
              <a:t>04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83448-2C5F-4D35-9164-2421187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AE1C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E1CC"/>
                </a:solidFill>
                <a:latin typeface="Arial"/>
                <a:ea typeface="Arial"/>
                <a:cs typeface="Arial"/>
              </a:rPr>
              <a:t>Candidate device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D9B3C-DE15-4FB4-8B61-09CB23CE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6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4"/>
                </a:solidFill>
                <a:latin typeface="Arial"/>
                <a:ea typeface="Arial"/>
                <a:cs typeface="Arial"/>
              </a:rPr>
              <a:t>Electron workspace with Python monitoring</a:t>
            </a:r>
          </a:p>
          <a:p xmlns:a="http://schemas.openxmlformats.org/drawingml/2006/main">
            <a:pPr>
              <a:defRPr sz="1875" b="0">
                <a:solidFill>
                  <a:srgbClr val="EEF6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4"/>
                </a:solidFill>
                <a:latin typeface="Arial"/>
                <a:ea typeface="Arial"/>
                <a:cs typeface="Arial"/>
              </a:rPr>
              <a:t>MediaPipe when available, OpenCV fallback and ONNX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DD02A-C1B8-4193-B018-89EE3A0C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AE1C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E1CC"/>
                </a:solidFill>
                <a:latin typeface="Arial"/>
                <a:ea typeface="Arial"/>
                <a:cs typeface="Arial"/>
              </a:rPr>
              <a:t>Local bridge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AB932-E9A6-4E9F-B69F-D6F4D5ED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431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6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4"/>
                </a:solidFill>
                <a:latin typeface="Arial"/>
                <a:ea typeface="Arial"/>
                <a:cs typeface="Arial"/>
              </a:rPr>
              <a:t>Available loopback ports</a:t>
            </a:r>
          </a:p>
          <a:p xmlns:a="http://schemas.openxmlformats.org/drawingml/2006/main">
            <a:pPr>
              <a:defRPr sz="1875" b="0">
                <a:solidFill>
                  <a:srgbClr val="EEF6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4"/>
                </a:solidFill>
                <a:latin typeface="Arial"/>
                <a:ea typeface="Arial"/>
                <a:cs typeface="Arial"/>
              </a:rPr>
              <a:t>Health checks and an Electron offline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15F3B-709D-4AC1-B75E-532ED944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AE1C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E1CC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8CE36-0CD4-44A4-9F19-3140461C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6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4"/>
                </a:solidFill>
                <a:latin typeface="Arial"/>
                <a:ea typeface="Arial"/>
                <a:cs typeface="Arial"/>
              </a:rPr>
              <a:t>Express API and MongoDB</a:t>
            </a:r>
          </a:p>
          <a:p xmlns:a="http://schemas.openxmlformats.org/drawingml/2006/main">
            <a:pPr>
              <a:defRPr sz="1875" b="0">
                <a:solidFill>
                  <a:srgbClr val="EEF6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4"/>
                </a:solidFill>
                <a:latin typeface="Arial"/>
                <a:ea typeface="Arial"/>
                <a:cs typeface="Arial"/>
              </a:rPr>
              <a:t>Evidence storage and severity scoring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1BF94-7FF3-4C1A-A8E5-45E5917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AE1C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E1CC"/>
                </a:solidFill>
                <a:latin typeface="Arial"/>
                <a:ea typeface="Arial"/>
                <a:cs typeface="Arial"/>
              </a:rPr>
              <a:t>Examiner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B24BE-27C5-484E-B509-3E16AFFC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528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6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4"/>
                </a:solidFill>
                <a:latin typeface="Arial"/>
                <a:ea typeface="Arial"/>
                <a:cs typeface="Arial"/>
              </a:rPr>
              <a:t>React with Socket.IO updates</a:t>
            </a:r>
          </a:p>
          <a:p xmlns:a="http://schemas.openxmlformats.org/drawingml/2006/main">
            <a:pPr>
              <a:defRPr sz="1875" b="0">
                <a:solidFill>
                  <a:srgbClr val="EEF6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4"/>
                </a:solidFill>
                <a:latin typeface="Arial"/>
                <a:ea typeface="Arial"/>
                <a:cs typeface="Arial"/>
              </a:rPr>
              <a:t>Evidence review and session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56023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27346-F461-4E27-A9A1-016464E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Major modules and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880FE-E48D-4C1F-A886-BB725EC0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05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ABB21-67D1-4256-A929-AFBC00FE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Core: environment and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84FF4-9366-4D24-8EB8-D33E0D56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Allowlist checks and triggered evidence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05D7B-9231-418D-B2A7-D21D1F12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Core: candidate submissions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77F6B-EA61-4833-A4B8-7BC4A7C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431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Paper viewer, typed drafts and uploaded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CF02D-66BB-4AB2-ADDB-C567851E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Core: examiner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D7952-CE12-4831-AD9C-6B5106E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Candidates, alert feed and evidence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7A286-4B09-4FDD-9638-1ACD1AA7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Core: AI monitoring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A9CD6-2065-452A-ACCF-4E39A1C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528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Implemented with model/class scope gaps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BBCBB-1EAF-45A5-A0D1-C5D7BEED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Optional: self-check and scoring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4AFB0-1365-4057-B639-A0B1B396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Both have integrated implementation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0860B-AA4A-4B56-8741-F8A21F28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958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Advanced: reporting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9835C-13FB-4700-BCC3-398A07D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625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Summary and CSV available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Automatic full PDF report remains partial</a:t>
            </a:r>
          </a:p>
        </p:txBody>
      </p:sp>
    </p:spTree>
    <p:extLst>
      <p:ext uri="{BB962C8B-B14F-4D97-AF65-F5344CB8AC3E}">
        <p14:creationId xmlns:p14="http://schemas.microsoft.com/office/powerpoint/2010/main" val="607186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71203-889F-4DAA-B261-B0B12279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Current 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88F5A-122A-4C94-A3E9-96181520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06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AE0A2-15D5-4409-BF6E-9FBA3DF3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13 regression checks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C62C8-0497-4C22-BEC8-DE421EE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Both local startup modes and offline retry checks passed.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2C1B6-4954-4A3C-8438-DEE55274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Controlled checks cover detector continuity, calibration,</a:t>
            </a:r>
          </a:p>
          <a:p xmlns:a="http://schemas.openxmlformats.org/drawingml/2006/main">
            <a:pPr>
              <a:defRPr sz="225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evidence duration and failure reporting.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C10D1-FB7F-4237-84CF-96EE842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4B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C4B20"/>
                </a:solidFill>
                <a:latin typeface="Arial"/>
                <a:ea typeface="Arial"/>
                <a:cs typeface="Arial"/>
              </a:rPr>
              <a:t>Live accuracy, capacity and performance targets remain to measure.</a:t>
            </a:r>
          </a:p>
        </p:txBody>
      </p:sp>
    </p:spTree>
    <p:extLst>
      <p:ext uri="{BB962C8B-B14F-4D97-AF65-F5344CB8AC3E}">
        <p14:creationId xmlns:p14="http://schemas.microsoft.com/office/powerpoint/2010/main" val="688999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8B79F-D97E-4765-B33E-4D05D01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Additions beyond scope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D67F7-161D-4F15-BDA9-44F74925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07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A15E4-5ADF-4A34-992C-282AE208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Physical-lab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15C6B-CC04-4668-BF7C-04E3F85B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Environment checks with camera/voice bypass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2759B-6DB7-4628-BAAA-AC15956F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Speaker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ECBC5-96B5-4768-A2C1-3543EA01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431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Reference enrollment and suspicious audio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6B70A-032A-42AE-9F8C-2E705D1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Exam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06422-E21B-471D-BA9C-C4D1043F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Chat, warnings, time extensions and lifecycle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85E3F-8AA9-455C-930F-0A05A073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Examiner organization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13380-EBAB-42F9-98A7-C4AF1145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528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Priority queue, history and dark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22C56-617A-4435-9D75-379A65ED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Environment safeguards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41DED-1033-42F6-8BE3-5F2A3ECB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USB/display checks and pre-existing-file guards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92D73-35F0-4E78-8E47-1CC53071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958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Administration and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4F39E-8ABF-4169-99C1-1B33EA7C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625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Asset/user management, audit logs and offline buffering</a:t>
            </a:r>
          </a:p>
        </p:txBody>
      </p:sp>
    </p:spTree>
    <p:extLst>
      <p:ext uri="{BB962C8B-B14F-4D97-AF65-F5344CB8AC3E}">
        <p14:creationId xmlns:p14="http://schemas.microsoft.com/office/powerpoint/2010/main" val="1463604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07927-FE39-4F8A-9661-22A4FF77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A8EB4-7768-452E-800B-62AD3DE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D9C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D9CF"/>
                </a:solidFill>
                <a:latin typeface="Arial"/>
                <a:ea typeface="Arial"/>
                <a:cs typeface="Arial"/>
              </a:rPr>
              <a:t>08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227C8-062F-45A9-BB35-30F042F0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 accuracy and false-positive measurement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9D86E-1ECC-4A54-BDBB-BABD9EE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Model/class alignment and the missing headphone detector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C7FC1-CEE0-4EC4-BCC9-B722CB61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Examiner isolation, voice consent and delayed evidence handling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4F6D8-35D4-4E98-BD67-7B33EFBF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20-client load, alert latency and 30-minute resource tests</a:t>
            </a:r>
          </a:p>
        </p:txBody>
      </p:sp>
    </p:spTree>
    <p:extLst>
      <p:ext uri="{BB962C8B-B14F-4D97-AF65-F5344CB8AC3E}">
        <p14:creationId xmlns:p14="http://schemas.microsoft.com/office/powerpoint/2010/main" val="1817963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B3389-5607-4089-8E56-BDBD7381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FD4F7-AC9C-4602-BD5D-A380A4A8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09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6E363-37D5-4B7D-9E74-A2325D7C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Exam setup and candidate self-check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DE3E1-F36A-443C-A753-4F02862E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Local detection with event evidence on the examiner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B5D5D-689E-461B-B11A-7C5A84D2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Human review, risk score and candidate 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78990-65E0-45FE-B845-24518086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Submission, historical summary and report options</a:t>
            </a:r>
          </a:p>
        </p:txBody>
      </p:sp>
    </p:spTree>
    <p:extLst>
      <p:ext uri="{BB962C8B-B14F-4D97-AF65-F5344CB8AC3E}">
        <p14:creationId xmlns:p14="http://schemas.microsoft.com/office/powerpoint/2010/main" val="453978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3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09FB1-7570-43E9-A101-25E9D761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and answers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06BE9-25EB-403D-B4A2-A4D88AA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D9C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D9CF"/>
                </a:solidFill>
                <a:latin typeface="Arial"/>
                <a:ea typeface="Arial"/>
                <a:cs typeface="Arial"/>
              </a:rPr>
              <a:t>10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186FB-ABA9-4F47-B156-BA0AE414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Examiner judgment remains central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3BE1-4E44-4BBD-B551-965BEDC1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10668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8D9C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8D9CF"/>
                </a:solidFill>
                <a:latin typeface="Arial"/>
                <a:ea typeface="Arial"/>
                <a:cs typeface="Arial"/>
              </a:rPr>
              <a:t>Implemented workflow</a:t>
            </a:r>
          </a:p>
          <a:p xmlns:a="http://schemas.openxmlformats.org/drawingml/2006/main">
            <a:pPr>
              <a:defRPr sz="2400" b="0">
                <a:solidFill>
                  <a:srgbClr val="A8D9C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8D9CF"/>
                </a:solidFill>
                <a:latin typeface="Arial"/>
                <a:ea typeface="Arial"/>
                <a:cs typeface="Arial"/>
              </a:rPr>
              <a:t>Scope changes and limitations</a:t>
            </a:r>
          </a:p>
          <a:p xmlns:a="http://schemas.openxmlformats.org/drawingml/2006/main">
            <a:pPr>
              <a:defRPr sz="2400" b="0">
                <a:solidFill>
                  <a:srgbClr val="A8D9C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8D9CF"/>
                </a:solidFill>
                <a:latin typeface="Arial"/>
                <a:ea typeface="Arial"/>
                <a:cs typeface="Arial"/>
              </a:rPr>
              <a:t>Validation and remaining work</a:t>
            </a:r>
          </a:p>
        </p:txBody>
      </p:sp>
    </p:spTree>
    <p:extLst>
      <p:ext uri="{BB962C8B-B14F-4D97-AF65-F5344CB8AC3E}">
        <p14:creationId xmlns:p14="http://schemas.microsoft.com/office/powerpoint/2010/main" val="1291775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2208F-85E3-4627-B6DF-478A2BF0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Backup: scope and code differences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9CAC9-74B1-492C-8361-28BDACFD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11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FF6FD-FD3E-457F-BEF6-E34C5D4B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Model and classes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767C7-9C99-49E5-B3A6-18CB318F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YOLO26n with phone/book targets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YOLOv8n INT8 and headphones differ from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13C01-C2ED-4D9D-8291-ED250B6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Head-turn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08D04-2490-43A0-8DED-FE26C4C0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431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OpenCV fallback on this environment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MediaPipe PnP code remains available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DE9F4-D470-4DD9-BBC3-AFA920B9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Evidence and privacy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CE5A5-0AA9-4A17-8CE4-3908982E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Annotated stills, reference photo and audio clips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Voice profiles require scope/consent alignment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66EBD-994D-46B7-8AC2-338C96E6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Reporting and 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D0E04-4614-4AC7-923B-F83BD63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528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CSV and browser print rather than automatic PDF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30-minute decay with a persistent baseline</a:t>
            </a:r>
          </a:p>
        </p:txBody>
      </p:sp>
    </p:spTree>
    <p:extLst>
      <p:ext uri="{BB962C8B-B14F-4D97-AF65-F5344CB8AC3E}">
        <p14:creationId xmlns:p14="http://schemas.microsoft.com/office/powerpoint/2010/main" val="8821718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116EC-7FE4-454C-92C6-294B68D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5E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5E59"/>
                </a:solidFill>
                <a:latin typeface="Arial"/>
                <a:ea typeface="Arial"/>
                <a:cs typeface="Arial"/>
              </a:rPr>
              <a:t>Evaluation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B3D6-B220-4DC1-AF00-EAE7BEF1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C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C80"/>
                </a:solidFill>
                <a:latin typeface="Arial"/>
                <a:ea typeface="Arial"/>
                <a:cs typeface="Arial"/>
              </a:rPr>
              <a:t>12  IntegrityFlow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87EE4-C7C5-4111-8FB0-1BB233B9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Vision 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2FA94-DFF8-4788-89C0-DA03ED77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Head turns: 80%+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Multiple-person: 85%+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Phone detection: 75%+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5D443-3114-499E-940B-E231EF81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764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Application enforcement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234FE-FF4F-45EC-92AE-2EE433AB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431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Ten unauthorized-app attempts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Target: all blocked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F5297-3FC4-4A69-A259-4F807E89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Alert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C0C31-A74F-494F-AC48-0C492EAB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Within 2 seconds after trigger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Measure through visible dashboard 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7F8E2-4EB3-43B0-840E-90B6E730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861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78"/>
                </a:solidFill>
                <a:latin typeface="Arial"/>
                <a:ea typeface="Arial"/>
                <a:cs typeface="Arial"/>
              </a:rPr>
              <a:t>Capacity and resources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A0455-49C7-4C26-B6C1-10351104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5282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CPU average below 35% over 30 minutes</a:t>
            </a:r>
          </a:p>
          <a:p xmlns:a="http://schemas.openxmlformats.org/drawingml/2006/main">
            <a:pPr>
              <a:defRPr sz="1875" b="0">
                <a:solidFill>
                  <a:srgbClr val="213A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13A46"/>
                </a:solidFill>
                <a:latin typeface="Arial"/>
                <a:ea typeface="Arial"/>
                <a:cs typeface="Arial"/>
              </a:rPr>
              <a:t>Twenty simulated clients without failure</a:t>
            </a:r>
          </a:p>
        </p:txBody>
      </p:sp>
    </p:spTree>
    <p:extLst>
      <p:ext uri="{BB962C8B-B14F-4D97-AF65-F5344CB8AC3E}">
        <p14:creationId xmlns:p14="http://schemas.microsoft.com/office/powerpoint/2010/main" val="633812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2026-10-02T19:45:17.6040000Z</dcterms:created>
  <dcterms:modified xsi:type="dcterms:W3CDTF">2026-10-02T19:45:17.6050000Z</dcterms:modified>
</coreProperties>
</file>