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slides/charts/chart1.xml" ContentType="application/vnd.openxmlformats-officedocument.drawingml.chart+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slides/charts/chart2.xml" ContentType="application/vnd.openxmlformats-officedocument.drawingml.chart+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6db20521905f4b8a" /><Relationship Type="http://schemas.openxmlformats.org/officeDocument/2006/relationships/extended-properties" Target="/docProps/app.xml" Id="Rcf7444f20e7941c1" /><Relationship Type="http://schemas.openxmlformats.org/officeDocument/2006/relationships/officeDocument" Target="/ppt/presentation.xml" Id="R67669831ce3a4d69" /></Relationships>
</file>

<file path=ppt/presentation.xml><?xml version="1.0" encoding="utf-8"?>
<p:presentation xmlns:p="http://schemas.openxmlformats.org/presentationml/2006/main" xmlns:r="http://schemas.openxmlformats.org/officeDocument/2006/relationships">
  <p:sldMasterIdLst>
    <p:sldMasterId id="2147483648" r:id="R4b96b846893c4afd"/>
  </p:sldMasterIdLst>
  <p:notesMasterIdLst>
    <p:notesMasterId r:id="R6ba01687da1449df"/>
  </p:notesMasterIdLst>
  <p:sldIdLst>
    <p:sldId id="256" r:id="Rbb7f9a88ec6e4ed2"/>
    <p:sldId id="257" r:id="R22adbfd800354440"/>
    <p:sldId id="258" r:id="R5045ace813324327"/>
    <p:sldId id="259" r:id="R58f8ea587bf645b1"/>
    <p:sldId id="260" r:id="R1aaeaf5f4beb432b"/>
    <p:sldId id="261" r:id="Rd07096a528984282"/>
    <p:sldId id="262" r:id="R772437c2a8c44116"/>
    <p:sldId id="263" r:id="Rbe82904551514d1c"/>
    <p:sldId id="264" r:id="R3a506933e0b54d9c"/>
    <p:sldId id="265" r:id="Red31dbe601554db8"/>
    <p:sldId id="266" r:id="R63350d9b53c0426d"/>
    <p:sldId id="267" r:id="R4dd40f31141548f7"/>
    <p:sldId id="268" r:id="R4c35dc8318db4f96"/>
    <p:sldId id="269" r:id="R77069e6279524dd2"/>
    <p:sldId id="270" r:id="R21cf1df8fe714e25"/>
    <p:sldId id="271" r:id="Rcc106fa3467b40c0"/>
    <p:sldId id="272" r:id="R86b98be11ab24599"/>
    <p:sldId id="273" r:id="R8ac5837e4f184523"/>
    <p:sldId id="274" r:id="Rfe9eb085bfe9433b"/>
    <p:sldId id="275" r:id="R2e5b0cfae8874023"/>
    <p:sldId id="276" r:id="Ra7fef2d23546480a"/>
    <p:sldId id="277" r:id="R9f49ba3ab78d4a2e"/>
    <p:sldId id="278" r:id="R0d9f859279654b5a"/>
    <p:sldId id="279" r:id="R4be2d0de1ef248d8"/>
    <p:sldId id="280" r:id="Redf7ab87e5474416"/>
    <p:sldId id="281" r:id="Rda5143e4217244b3"/>
    <p:sldId id="282" r:id="R5f5707dcba0148ed"/>
    <p:sldId id="283" r:id="R71d41f7733014f44"/>
    <p:sldId id="284" r:id="R2be94a33c59846a9"/>
    <p:sldId id="285" r:id="Re49466d7fb8b48a1"/>
    <p:sldId id="286" r:id="R5467c10047f84720"/>
    <p:sldId id="287" r:id="Rcaf219c9cbe7494d"/>
    <p:sldId id="288" r:id="Ra069f4696acd4c61"/>
    <p:sldId id="289" r:id="Rbbe6ca80d0ed4c5b"/>
    <p:sldId id="290" r:id="Rfbe3046d5cb94405"/>
    <p:sldId id="291" r:id="R4a6797dbeb1f43d1"/>
    <p:sldId id="292" r:id="R447dcfdab7534d16"/>
    <p:sldId id="293" r:id="R4f13f0b170db4d11"/>
    <p:sldId id="294" r:id="Rd38dc89e56e146af"/>
    <p:sldId id="295" r:id="Rcef82c9f2b024a91"/>
  </p:sldIdLst>
  <p:sldSz cx="12192000" cy="6858000"/>
  <p:notesSz cx="6858000" cy="9144000"/>
  <p:custShowLst>
    <p:custShow name="Panel overview - approximately 6 minutes" id="1">
      <p:sldLst>
        <p:sld r:id="Rbb7f9a88ec6e4ed2"/>
        <p:sld r:id="R22adbfd800354440"/>
        <p:sld r:id="R5045ace813324327"/>
        <p:sld r:id="R58f8ea587bf645b1"/>
        <p:sld r:id="R1aaeaf5f4beb432b"/>
        <p:sld r:id="Rd07096a528984282"/>
        <p:sld r:id="Red31dbe601554db8"/>
        <p:sld r:id="R86b98be11ab24599"/>
        <p:sld r:id="Ra7fef2d23546480a"/>
        <p:sld r:id="R0d9f859279654b5a"/>
        <p:sld r:id="Redf7ab87e5474416"/>
        <p:sld r:id="R5f5707dcba0148ed"/>
        <p:sld r:id="R2be94a33c59846a9"/>
        <p:sld r:id="R5467c10047f84720"/>
        <p:sld r:id="Ra069f4696acd4c61"/>
        <p:sld r:id="Rfbe3046d5cb94405"/>
        <p:sld r:id="R447dcfdab7534d16"/>
        <p:sld r:id="Rcef82c9f2b024a91"/>
      </p:sldLst>
    </p:custShow>
  </p:custShow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174bab4da2f4b27" /><Relationship Type="http://schemas.openxmlformats.org/officeDocument/2006/relationships/slideMaster" Target="/ppt/slideMasters/slideMaster1.xml" Id="R4b96b846893c4afd" /><Relationship Type="http://schemas.openxmlformats.org/officeDocument/2006/relationships/notesMaster" Target="/ppt/notesMasters/notesMaster1.xml" Id="R6ba01687da1449df" /><Relationship Type="http://schemas.openxmlformats.org/officeDocument/2006/relationships/presProps" Target="/ppt/presProps.xml" Id="Rc681d9598e864755" /><Relationship Type="http://schemas.openxmlformats.org/officeDocument/2006/relationships/tableStyles" Target="/ppt/tableStyles.xml" Id="R01e80fd590744702" /><Relationship Type="http://schemas.openxmlformats.org/officeDocument/2006/relationships/slide" Target="/ppt/slides/slide1.xml" Id="Rbb7f9a88ec6e4ed2" /><Relationship Type="http://schemas.openxmlformats.org/officeDocument/2006/relationships/slide" Target="/ppt/slides/slide2.xml" Id="R22adbfd800354440" /><Relationship Type="http://schemas.openxmlformats.org/officeDocument/2006/relationships/slide" Target="/ppt/slides/slide3.xml" Id="R5045ace813324327" /><Relationship Type="http://schemas.openxmlformats.org/officeDocument/2006/relationships/slide" Target="/ppt/slides/slide4.xml" Id="R58f8ea587bf645b1" /><Relationship Type="http://schemas.openxmlformats.org/officeDocument/2006/relationships/slide" Target="/ppt/slides/slide5.xml" Id="R1aaeaf5f4beb432b" /><Relationship Type="http://schemas.openxmlformats.org/officeDocument/2006/relationships/slide" Target="/ppt/slides/slide6.xml" Id="Rd07096a528984282" /><Relationship Type="http://schemas.openxmlformats.org/officeDocument/2006/relationships/slide" Target="/ppt/slides/slide7.xml" Id="R772437c2a8c44116" /><Relationship Type="http://schemas.openxmlformats.org/officeDocument/2006/relationships/slide" Target="/ppt/slides/slide8.xml" Id="Rbe82904551514d1c" /><Relationship Type="http://schemas.openxmlformats.org/officeDocument/2006/relationships/slide" Target="/ppt/slides/slide9.xml" Id="R3a506933e0b54d9c" /><Relationship Type="http://schemas.openxmlformats.org/officeDocument/2006/relationships/slide" Target="/ppt/slides/slide10.xml" Id="Red31dbe601554db8" /><Relationship Type="http://schemas.openxmlformats.org/officeDocument/2006/relationships/slide" Target="/ppt/slides/slide11.xml" Id="R63350d9b53c0426d" /><Relationship Type="http://schemas.openxmlformats.org/officeDocument/2006/relationships/slide" Target="/ppt/slides/slide12.xml" Id="R4dd40f31141548f7" /><Relationship Type="http://schemas.openxmlformats.org/officeDocument/2006/relationships/slide" Target="/ppt/slides/slide13.xml" Id="R4c35dc8318db4f96" /><Relationship Type="http://schemas.openxmlformats.org/officeDocument/2006/relationships/slide" Target="/ppt/slides/slide14.xml" Id="R77069e6279524dd2" /><Relationship Type="http://schemas.openxmlformats.org/officeDocument/2006/relationships/slide" Target="/ppt/slides/slide15.xml" Id="R21cf1df8fe714e25" /><Relationship Type="http://schemas.openxmlformats.org/officeDocument/2006/relationships/slide" Target="/ppt/slides/slide16.xml" Id="Rcc106fa3467b40c0" /><Relationship Type="http://schemas.openxmlformats.org/officeDocument/2006/relationships/slide" Target="/ppt/slides/slide17.xml" Id="R86b98be11ab24599" /><Relationship Type="http://schemas.openxmlformats.org/officeDocument/2006/relationships/slide" Target="/ppt/slides/slide18.xml" Id="R8ac5837e4f184523" /><Relationship Type="http://schemas.openxmlformats.org/officeDocument/2006/relationships/slide" Target="/ppt/slides/slide19.xml" Id="Rfe9eb085bfe9433b" /><Relationship Type="http://schemas.openxmlformats.org/officeDocument/2006/relationships/slide" Target="/ppt/slides/slide20.xml" Id="R2e5b0cfae8874023" /><Relationship Type="http://schemas.openxmlformats.org/officeDocument/2006/relationships/slide" Target="/ppt/slides/slide21.xml" Id="Ra7fef2d23546480a" /><Relationship Type="http://schemas.openxmlformats.org/officeDocument/2006/relationships/slide" Target="/ppt/slides/slide22.xml" Id="R9f49ba3ab78d4a2e" /><Relationship Type="http://schemas.openxmlformats.org/officeDocument/2006/relationships/slide" Target="/ppt/slides/slide23.xml" Id="R0d9f859279654b5a" /><Relationship Type="http://schemas.openxmlformats.org/officeDocument/2006/relationships/slide" Target="/ppt/slides/slide24.xml" Id="R4be2d0de1ef248d8" /><Relationship Type="http://schemas.openxmlformats.org/officeDocument/2006/relationships/slide" Target="/ppt/slides/slide25.xml" Id="Redf7ab87e5474416" /><Relationship Type="http://schemas.openxmlformats.org/officeDocument/2006/relationships/slide" Target="/ppt/slides/slide26.xml" Id="Rda5143e4217244b3" /><Relationship Type="http://schemas.openxmlformats.org/officeDocument/2006/relationships/slide" Target="/ppt/slides/slide27.xml" Id="R5f5707dcba0148ed" /><Relationship Type="http://schemas.openxmlformats.org/officeDocument/2006/relationships/slide" Target="/ppt/slides/slide28.xml" Id="R71d41f7733014f44" /><Relationship Type="http://schemas.openxmlformats.org/officeDocument/2006/relationships/slide" Target="/ppt/slides/slide29.xml" Id="R2be94a33c59846a9" /><Relationship Type="http://schemas.openxmlformats.org/officeDocument/2006/relationships/slide" Target="/ppt/slides/slide30.xml" Id="Re49466d7fb8b48a1" /><Relationship Type="http://schemas.openxmlformats.org/officeDocument/2006/relationships/slide" Target="/ppt/slides/slide31.xml" Id="R5467c10047f84720" /><Relationship Type="http://schemas.openxmlformats.org/officeDocument/2006/relationships/slide" Target="/ppt/slides/slide32.xml" Id="Rcaf219c9cbe7494d" /><Relationship Type="http://schemas.openxmlformats.org/officeDocument/2006/relationships/slide" Target="/ppt/slides/slide33.xml" Id="Ra069f4696acd4c61" /><Relationship Type="http://schemas.openxmlformats.org/officeDocument/2006/relationships/slide" Target="/ppt/slides/slide34.xml" Id="Rbbe6ca80d0ed4c5b" /><Relationship Type="http://schemas.openxmlformats.org/officeDocument/2006/relationships/slide" Target="/ppt/slides/slide35.xml" Id="Rfbe3046d5cb94405" /><Relationship Type="http://schemas.openxmlformats.org/officeDocument/2006/relationships/slide" Target="/ppt/slides/slide36.xml" Id="R4a6797dbeb1f43d1" /><Relationship Type="http://schemas.openxmlformats.org/officeDocument/2006/relationships/slide" Target="/ppt/slides/slide37.xml" Id="R447dcfdab7534d16" /><Relationship Type="http://schemas.openxmlformats.org/officeDocument/2006/relationships/slide" Target="/ppt/slides/slide38.xml" Id="R4f13f0b170db4d11" /><Relationship Type="http://schemas.openxmlformats.org/officeDocument/2006/relationships/slide" Target="/ppt/slides/slide39.xml" Id="Rd38dc89e56e146af" /><Relationship Type="http://schemas.openxmlformats.org/officeDocument/2006/relationships/slide" Target="/ppt/slides/slide40.xml" Id="Rcef82c9f2b024a9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6834d5952bf45e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77eef657c2643cc" /><Relationship Type="http://schemas.openxmlformats.org/officeDocument/2006/relationships/notesMaster" Target="/ppt/notesMasters/notesMaster1.xml" Id="R6e2b5a3585074640" /></Relationships>
</file>

<file path=ppt/notesSlides/_rels/notesSlide2.xml.rels>&#65279;<?xml version="1.0" encoding="utf-8"?><Relationships xmlns="http://schemas.openxmlformats.org/package/2006/relationships"><Relationship Type="http://schemas.openxmlformats.org/officeDocument/2006/relationships/slide" Target="/ppt/slides/slide2.xml" Id="Rb445602a65eb4ac0" /><Relationship Type="http://schemas.openxmlformats.org/officeDocument/2006/relationships/notesMaster" Target="/ppt/notesMasters/notesMaster1.xml" Id="R3ddb33b0cdba422d" /></Relationships>
</file>

<file path=ppt/notesSlides/_rels/notesSlide3.xml.rels>&#65279;<?xml version="1.0" encoding="utf-8"?><Relationships xmlns="http://schemas.openxmlformats.org/package/2006/relationships"><Relationship Type="http://schemas.openxmlformats.org/officeDocument/2006/relationships/slide" Target="/ppt/slides/slide3.xml" Id="Rf453e9ea1d394be0" /><Relationship Type="http://schemas.openxmlformats.org/officeDocument/2006/relationships/notesMaster" Target="/ppt/notesMasters/notesMaster1.xml" Id="R70619fa87e754568" /></Relationships>
</file>

<file path=ppt/notesSlides/_rels/notesSlide4.xml.rels>&#65279;<?xml version="1.0" encoding="utf-8"?><Relationships xmlns="http://schemas.openxmlformats.org/package/2006/relationships"><Relationship Type="http://schemas.openxmlformats.org/officeDocument/2006/relationships/slide" Target="/ppt/slides/slide4.xml" Id="Rb4878f40377c45b9" /><Relationship Type="http://schemas.openxmlformats.org/officeDocument/2006/relationships/notesMaster" Target="/ppt/notesMasters/notesMaster1.xml" Id="Ra25dba01883147ae" /></Relationships>
</file>

<file path=ppt/notesSlides/_rels/notesSlide5.xml.rels>&#65279;<?xml version="1.0" encoding="utf-8"?><Relationships xmlns="http://schemas.openxmlformats.org/package/2006/relationships"><Relationship Type="http://schemas.openxmlformats.org/officeDocument/2006/relationships/slide" Target="/ppt/slides/slide5.xml" Id="R9ca29a9b4f8641fb" /><Relationship Type="http://schemas.openxmlformats.org/officeDocument/2006/relationships/notesMaster" Target="/ppt/notesMasters/notesMaster1.xml" Id="R30ace0753e51476a" /></Relationships>
</file>

<file path=ppt/notesSlides/_rels/notesSlide6.xml.rels>&#65279;<?xml version="1.0" encoding="utf-8"?><Relationships xmlns="http://schemas.openxmlformats.org/package/2006/relationships"><Relationship Type="http://schemas.openxmlformats.org/officeDocument/2006/relationships/slide" Target="/ppt/slides/slide6.xml" Id="Rd3e5cfb2a51d4bc8" /><Relationship Type="http://schemas.openxmlformats.org/officeDocument/2006/relationships/notesMaster" Target="/ppt/notesMasters/notesMaster1.xml" Id="Rde34030626cd4d43" /></Relationships>
</file>

<file path=ppt/notesSlides/_rels/notesSlide7.xml.rels>&#65279;<?xml version="1.0" encoding="utf-8"?><Relationships xmlns="http://schemas.openxmlformats.org/package/2006/relationships"><Relationship Type="http://schemas.openxmlformats.org/officeDocument/2006/relationships/slide" Target="/ppt/slides/slide7.xml" Id="R3bf5895567744ef3" /><Relationship Type="http://schemas.openxmlformats.org/officeDocument/2006/relationships/notesMaster" Target="/ppt/notesMasters/notesMaster1.xml" Id="R59e956cc6fb143be" /></Relationships>
</file>

<file path=ppt/notesSlides/_rels/notesSlide8.xml.rels>&#65279;<?xml version="1.0" encoding="utf-8"?><Relationships xmlns="http://schemas.openxmlformats.org/package/2006/relationships"><Relationship Type="http://schemas.openxmlformats.org/officeDocument/2006/relationships/slide" Target="/ppt/slides/slide8.xml" Id="R877522bff08f4a09" /><Relationship Type="http://schemas.openxmlformats.org/officeDocument/2006/relationships/notesMaster" Target="/ppt/notesMasters/notesMaster1.xml" Id="Raee03874bc734557" /></Relationships>
</file>

<file path=ppt/notesSlides/_rels/notesSlide9.xml.rels>&#65279;<?xml version="1.0" encoding="utf-8"?><Relationships xmlns="http://schemas.openxmlformats.org/package/2006/relationships"><Relationship Type="http://schemas.openxmlformats.org/officeDocument/2006/relationships/slide" Target="/ppt/slides/slide9.xml" Id="Re0bb3f3609aa4970" /><Relationship Type="http://schemas.openxmlformats.org/officeDocument/2006/relationships/notesMaster" Target="/ppt/notesMasters/notesMaster1.xml" Id="Rb09b55ab053c49e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11d8d56801344d0" /><Relationship Type="http://schemas.openxmlformats.org/officeDocument/2006/relationships/notesMaster" Target="/ppt/notesMasters/notesMaster1.xml" Id="Rb37201bccdb0476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abadcaff5f34740" /><Relationship Type="http://schemas.openxmlformats.org/officeDocument/2006/relationships/notesMaster" Target="/ppt/notesMasters/notesMaster1.xml" Id="R665ee2ce3810419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18b85f582fb4732" /><Relationship Type="http://schemas.openxmlformats.org/officeDocument/2006/relationships/notesMaster" Target="/ppt/notesMasters/notesMaster1.xml" Id="R18adf53a43cd4a1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20e9c3b92a74f21" /><Relationship Type="http://schemas.openxmlformats.org/officeDocument/2006/relationships/notesMaster" Target="/ppt/notesMasters/notesMaster1.xml" Id="R478ed948a87f486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5e0bf761d2d4652" /><Relationship Type="http://schemas.openxmlformats.org/officeDocument/2006/relationships/notesMaster" Target="/ppt/notesMasters/notesMaster1.xml" Id="R6b82004b39de45b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4138634b76c4368" /><Relationship Type="http://schemas.openxmlformats.org/officeDocument/2006/relationships/notesMaster" Target="/ppt/notesMasters/notesMaster1.xml" Id="R79993aecf9de4675"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33018075b88455a" /><Relationship Type="http://schemas.openxmlformats.org/officeDocument/2006/relationships/notesMaster" Target="/ppt/notesMasters/notesMaster1.xml" Id="Rdef973ea75a64f4d"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eb79dc3fc68949a6" /><Relationship Type="http://schemas.openxmlformats.org/officeDocument/2006/relationships/notesMaster" Target="/ppt/notesMasters/notesMaster1.xml" Id="R5ac050c80b724986"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da710b2094b54f96" /><Relationship Type="http://schemas.openxmlformats.org/officeDocument/2006/relationships/notesMaster" Target="/ppt/notesMasters/notesMaster1.xml" Id="R89346c0dd9f0438b"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dbecd449745947ea" /><Relationship Type="http://schemas.openxmlformats.org/officeDocument/2006/relationships/notesMaster" Target="/ppt/notesMasters/notesMaster1.xml" Id="R190f7fc01f4e4e9a"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88ca72f2c39c46c0" /><Relationship Type="http://schemas.openxmlformats.org/officeDocument/2006/relationships/notesMaster" Target="/ppt/notesMasters/notesMaster1.xml" Id="Re626574d62704796"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db22ab929eea47ea" /><Relationship Type="http://schemas.openxmlformats.org/officeDocument/2006/relationships/notesMaster" Target="/ppt/notesMasters/notesMaster1.xml" Id="R377d1993dafa4197"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ef126c70f05e464d" /><Relationship Type="http://schemas.openxmlformats.org/officeDocument/2006/relationships/notesMaster" Target="/ppt/notesMasters/notesMaster1.xml" Id="R8ac1f778b31e4165"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d419602267004879" /><Relationship Type="http://schemas.openxmlformats.org/officeDocument/2006/relationships/notesMaster" Target="/ppt/notesMasters/notesMaster1.xml" Id="Rc82971de06fe4193"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c62d713539b94dcc" /><Relationship Type="http://schemas.openxmlformats.org/officeDocument/2006/relationships/notesMaster" Target="/ppt/notesMasters/notesMaster1.xml" Id="Rcfb7622f29714838"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c70378a221f14fd0" /><Relationship Type="http://schemas.openxmlformats.org/officeDocument/2006/relationships/notesMaster" Target="/ppt/notesMasters/notesMaster1.xml" Id="R53ca5452739b4cc2"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4a2782e70d8f4f24" /><Relationship Type="http://schemas.openxmlformats.org/officeDocument/2006/relationships/notesMaster" Target="/ppt/notesMasters/notesMaster1.xml" Id="Re2977427b45540c2"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2c163a9ac4be434b" /><Relationship Type="http://schemas.openxmlformats.org/officeDocument/2006/relationships/notesMaster" Target="/ppt/notesMasters/notesMaster1.xml" Id="R5d4726e2ff254639"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c847da646f3d4707" /><Relationship Type="http://schemas.openxmlformats.org/officeDocument/2006/relationships/notesMaster" Target="/ppt/notesMasters/notesMaster1.xml" Id="R89669a9dabd74c6e"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b65b072acc984a67" /><Relationship Type="http://schemas.openxmlformats.org/officeDocument/2006/relationships/notesMaster" Target="/ppt/notesMasters/notesMaster1.xml" Id="R4e6b218ab2654ea5"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3616a4792e2f4d01" /><Relationship Type="http://schemas.openxmlformats.org/officeDocument/2006/relationships/notesMaster" Target="/ppt/notesMasters/notesMaster1.xml" Id="R09e18042a92f4269"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398630c55a404d19" /><Relationship Type="http://schemas.openxmlformats.org/officeDocument/2006/relationships/notesMaster" Target="/ppt/notesMasters/notesMaster1.xml" Id="Ra43cf8a89d0c4023"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c6afd6a62d264e22" /><Relationship Type="http://schemas.openxmlformats.org/officeDocument/2006/relationships/notesMaster" Target="/ppt/notesMasters/notesMaster1.xml" Id="R3bedc20405ec478e"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5d7c048178c244ea" /><Relationship Type="http://schemas.openxmlformats.org/officeDocument/2006/relationships/notesMaster" Target="/ppt/notesMasters/notesMaster1.xml" Id="R0f124eb3d6354602"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a00c17a5ae864185" /><Relationship Type="http://schemas.openxmlformats.org/officeDocument/2006/relationships/notesMaster" Target="/ppt/notesMasters/notesMaster1.xml" Id="Rc31e0ba3885e46cc"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321ea1d99c4f4366" /><Relationship Type="http://schemas.openxmlformats.org/officeDocument/2006/relationships/notesMaster" Target="/ppt/notesMasters/notesMaster1.xml" Id="R3c49c733066f4720"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def2361fe3c245cc" /><Relationship Type="http://schemas.openxmlformats.org/officeDocument/2006/relationships/notesMaster" Target="/ppt/notesMasters/notesMaster1.xml" Id="Rb92ea87e26474f68"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32d5f6a83fb249ac" /><Relationship Type="http://schemas.openxmlformats.org/officeDocument/2006/relationships/notesMaster" Target="/ppt/notesMasters/notesMaster1.xml" Id="R73ae5751b1974306"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9e9c6bcb6d5846ac" /><Relationship Type="http://schemas.openxmlformats.org/officeDocument/2006/relationships/notesMaster" Target="/ppt/notesMasters/notesMaster1.xml" Id="Red354f75abd54bc8"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d03f50ac11034ad1" /><Relationship Type="http://schemas.openxmlformats.org/officeDocument/2006/relationships/notesMaster" Target="/ppt/notesMasters/notesMaster1.xml" Id="R6ff164e1625f4524"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6c8d5d225ba64390" /><Relationship Type="http://schemas.openxmlformats.org/officeDocument/2006/relationships/notesMaster" Target="/ppt/notesMasters/notesMaster1.xml" Id="Rc214652f3158434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the project and team. Vision and voice inference run on the candidate device. Examiners review events centrally. Academic metadata comes from the previous project deck. Presentation date: 5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examiner needs visibility into the candidate environment as well as the camera. Normal head movements and speech can produce ambiguous signals, so alerts need evidence and human 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Online mode includes vision and voice with environment checks. Physical-lab mode deliberately bypasses camera and voice while retaining environment controls. The project integrates pretrained models. Local inference does not remove the need for connectivity to central live monitoring. D:/BS_FYP Project/IntegrityFlow/candidate-app/ai-module/main.py</a:t>
            </a:r>
          </a:p>
          <a:p xmlns:a="http://schemas.openxmlformats.org/drawingml/2006/main">
            <a:r>
              <a:t>D:/BS_FYP Project/IntegrityFlow/candidate-app/electron/main.js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Eight original scope modules: five core, two optional and one advanced. Voice monitoring is an extension presented immediately after vision. USB/display controls extend the secure environment. Admin management follows the reporting module. Implementation statuses do not claim statistical AI accuracy or production acceptance.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Python has a durable SQLite event spool. Electron stores accepted events in a disk-backed retry queue and forwards them. Express validates and commits metadata to MongoDB with media stored through configured providers. Authorized teacher/admin sockets receive updates. Local control and receiver ports are separate and dynamically negotiated. D:/BS_FYP Project/IntegrityFlow/candidate-app/ai-module/services/violation_delivery.py</a:t>
            </a:r>
          </a:p>
          <a:p xmlns:a="http://schemas.openxmlformats.org/drawingml/2006/main">
            <a:r>
              <a:t>D:/BS_FYP Project/IntegrityFlow/candidate-app/electron/ipc/violationBuffer.js</a:t>
            </a:r>
          </a:p>
          <a:p xmlns:a="http://schemas.openxmlformats.org/drawingml/2006/main">
            <a:r>
              <a:t>D:/BS_FYP Project/IntegrityFlow/server/src/routes/violations.js</a:t>
            </a:r>
          </a:p>
          <a:p xmlns:a="http://schemas.openxmlformats.org/drawingml/2006/main">
            <a:r>
              <a:t>D:/BS_FYP Project/IntegrityFlow/server/src/sockets/violationSocket.js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D:/BS_FYP Project/IntegrityFlow/candidate-app/electron/main.js</a:t>
            </a:r>
          </a:p>
          <a:p xmlns:a="http://schemas.openxmlformats.org/drawingml/2006/main">
            <a:r>
              <a:t>D:/BS_FYP Project/IntegrityFlow/candidate-app/ai-module/whitelist_enforcer.py</a:t>
            </a:r>
          </a:p>
          <a:p xmlns:a="http://schemas.openxmlformats.org/drawingml/2006/main">
            <a:r>
              <a:t>D:/BS_FYP Project/IntegrityFlow/candidate-app/ai-module/usb_monitor.py</a:t>
            </a:r>
          </a:p>
          <a:p xmlns:a="http://schemas.openxmlformats.org/drawingml/2006/main">
            <a:r>
              <a:t>Completed refers to implementation. Strict-mode rehearsal with saved work remains necessary. An application allowlist is not a full operating-system sandbox.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psutil enumerates processes. Protected process IDs and essential Windows/driver service exceptions are checked before enforcement. Teacher-approved application names extend the allowlist. Exam mode applies stricter exclusions than development mode. The example is illustrative, assuming Notepad is allowed and the browser is not protected by a development exception. D:/BS_FYP Project/IntegrityFlow/candidate-app/ai-module/whitelist_enforcer.py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Exact permitted paths are canonicalized and compared against observed open files. The old-file modification-time check remains. Verified open-file ownership allows only the offending process to be terminated. Recent-file shortcuts without verified ownership trigger review rather than broad termination. Timestamp is a heuristic, not proof of authorship. Approved reference files do not bypass answer-upload timestamp guards. D:/BS_FYP Project/IntegrityFlow/candidate-app/ai-module/whitelist_enforcer.py</a:t>
            </a:r>
          </a:p>
          <a:p xmlns:a="http://schemas.openxmlformats.org/drawingml/2006/main">
            <a:r>
              <a:t>D:/BS_FYP Project/IntegrityFlow/candidate-app/renderer/examScreen.js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USB detection uses PowerShell CIM queries. Win32_DiskDrive USB interface or Storage MSFT_Disk BusType7 identifies storage, with Size&gt;0 to avoid empty reader entries. The monitor polls every three seconds, with query latency added. Electron uses display count checks and requires one display for entry. These controls detect storage/display state, not complete driver-level USB disabling. D:/BS_FYP Project/IntegrityFlow/candidate-app/ai-module/usb_monitor.py</a:t>
            </a:r>
          </a:p>
          <a:p xmlns:a="http://schemas.openxmlformats.org/drawingml/2006/main">
            <a:r>
              <a:t>D:/BS_FYP Project/IntegrityFlow/candidate-app/electron/main.js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D:/BS_FYP Project/IntegrityFlow/candidate-app/ai-module/ai_monitor.py</a:t>
            </a:r>
          </a:p>
          <a:p xmlns:a="http://schemas.openxmlformats.org/drawingml/2006/main">
            <a:r>
              <a:t>D:/BS_FYP Project/IntegrityFlow/candidate-app/ai-module/config/thresholds.json</a:t>
            </a:r>
          </a:p>
          <a:p xmlns:a="http://schemas.openxmlformats.org/drawingml/2006/main">
            <a:r>
              <a:t>The exact scope has gaps: headphones are not a target and the active model differs from the proposed YOLOv8n INT8. Accuracy remains unmeasured.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MediaPipe Tasks returns faces and landmarks. Multiple-person detection counts these faces, with OpenCV Haar as a degraded fallback. Two or more faces sustained for one second triggers severity4. No visible face for three seconds triggers a missing-face event. Multiple faces pause head-direction calibration/estimation to avoid using a bystander. Counting faces is not reliable identity recognition or detecting every body in frame. D:/BS_FYP Project/IntegrityFlow/candidate-app/ai-module/ai_monitor.py</a:t>
            </a:r>
          </a:p>
          <a:p xmlns:a="http://schemas.openxmlformats.org/drawingml/2006/main">
            <a:r>
              <a:t>Primary model reference: https://ai.google.dev/edge/mediapipe/solutions/vision/face_landmarker/python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Uniform low-detail frames can indicate a covered lens, including bright covers. Brightness and standard deviation checks characterize visibility, not intent. Camera capture errors degrade health and trigger retry handling. Backlighting and exposure can resemble obstruction, so examiner review remains important. D:/BS_FYP Project/IntegrityFlow/candidate-app/ai-module/services/lighting_occlusion_detector.py</a:t>
            </a:r>
          </a:p>
          <a:p xmlns:a="http://schemas.openxmlformats.org/drawingml/2006/main">
            <a:r>
              <a:t>D:/BS_FYP Project/IntegrityFlow/candidate-app/ai-module/ai_monitor.py</a:t>
            </a:r>
          </a:p>
          <a:p xmlns:a="http://schemas.openxmlformats.org/drawingml/2006/main">
            <a:r>
              <a:t>D:/BS_FYP Project/IntegrityFlow/candidate-app/ai-module/server.py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Modern Tasks landmarks feed six selected 2D points into cv2.solvePnP. The model/camera approximation estimates yaw and pitch. Twenty stable single-face observations establish neutral pose. Smoothing, direction-specific dwell and an absolute-yaw guard protect against biased neutral calibration. Current lateral threshold13degrees and dwell0.5s, upward1s, downward2s. These are parameters, not measured detection latency. Head pose is not measured eye gaze. D:/BS_FYP Project/IntegrityFlow/candidate-app/ai-module/ai_monitor.py</a:t>
            </a:r>
          </a:p>
          <a:p xmlns:a="http://schemas.openxmlformats.org/drawingml/2006/main">
            <a:r>
              <a:t>D:/BS_FYP Project/IntegrityFlow/candidate-app/ai-module/config/thresholds.json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two images were supplied by the user during development. The original overlay text is cropped out because it belonged to the older detector. The frontal reference was replayed with a biased baseline without a head alert after the absolute-yaw correction. The profile reference still produced a turn signal during controlled replay. These two examples do not establish a population-level false-positive rate. Images remain unaltered, with a crop applied only in slide placement.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YOLO means You Only Look Once. Object detection predicts classes, bounding boxes and confidence scores for image content. The project runs a pretrained YOLO26n ONNX model locally. Confidence is the model output, not the probability that a candidate cheated. Image is a generated conceptual phone scenario, not an actual exam event or measured detector result. D:/BS_FYP Project/IntegrityFlow/candidate-app/ai-module/ai_monitor.py</a:t>
            </a:r>
          </a:p>
          <a:p xmlns:a="http://schemas.openxmlformats.org/drawingml/2006/main">
            <a:r>
              <a:t>Primary references: https://docs.ultralytics.com/models/yolo26 and https://docs.ultralytics.com/tasks/detect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Input is letterboxed to640x640. ONNX Runtime runs YOLO26n, whose actual exported shape is[1,300,6]. Targets are COCO67cell phone and73book. Face counting does not come from this model. Temporal confirmation needs overlapIoU.2; two consecutive phone predictions &gt;=.60 confirm, weak predictions/books need3; missed detections and spatial jumps reset. Candidate phone detection triggers inference next frame, normal sampling everythirdframe. Rule detectCellPhone can disable phone alerts. No headphones target. D:/BS_FYP Project/IntegrityFlow/candidate-app/ai-module/ai_monitor.py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Voice monitoring is an addition beyond the original baseline scope. It uses WebRTC VAD and Resemblyzer for reference-based speaker verification. It does not count speakers or recognize spoken answers. Consent covers reference vectors and suspicious audio clips. Real-room similarity threshold calibration remains open. Conceptual microphone illustration. D:/BS_FYP Project/IntegrityFlow/candidate-app/ai-module/voice_monitor.py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WebRTC VAD Mode2 receives30ms16kHzmono PCM frames. Configured1.5s voiced speech gates phrases and3s verification windows bound continuous speech. Minimum energy, processed duration and clipping checks reject invalid samples before mismatch accumulation. VAD can misclassify sounds, so it is not perfect noise removal. Comparison runs on a bounded worker to avoid stopping microphone reads. D:/BS_FYP Project/IntegrityFlow/candidate-app/ai-module/voice_monitor.py</a:t>
            </a:r>
          </a:p>
          <a:p xmlns:a="http://schemas.openxmlformats.org/drawingml/2006/main">
            <a:r>
              <a:t>D:/BS_FYP Project/IntegrityFlow/candidate-app/ai-module/config/thresholds.json</a:t>
            </a:r>
          </a:p>
          <a:p xmlns:a="http://schemas.openxmlformats.org/drawingml/2006/main">
            <a:r>
              <a:t>Primary reference: https://github.com/wiseman/py-webrtcvad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Reference enrollment records8s plus a separate4s confirmation. Processed speech minima3s and2s, quality and similarity checks apply. Resemblyzer returns normalized256-dimensional embeddings. Incoming valid speech is processed by the same encoder and compared by cosine similarity. The actual code cutoff is.75. Two valid mismatches are required, with60s repeat cooldown. Voice capture uses16kHz mono,30msVADframesMode2, configured1.5s speech gating and3ssegments. D:/BS_FYP Project/IntegrityFlow/candidate-app/ai-module/voice_monitor.py</a:t>
            </a:r>
          </a:p>
          <a:p xmlns:a="http://schemas.openxmlformats.org/drawingml/2006/main">
            <a:r>
              <a:t>D:/BS_FYP Project/IntegrityFlow/candidate-app/ai-module/config/thresholds.json</a:t>
            </a:r>
          </a:p>
          <a:p xmlns:a="http://schemas.openxmlformats.org/drawingml/2006/main">
            <a:r>
              <a:t>Primary reference: https://github.com/resemble-ai/Resemblyzer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Similarity values.86and.62are illustrative, not actual recordings or measured accuracy. A valid &gt;=.75segment clears mismatch count. Two valid &lt;.75segments produce an alert if cooldown/evidence checks permit. Invalid, short or clipped segments reset mismatch accumulation. Speech can be missed in noise and similar voices can match. Explain that VAD is speech gating, not guaranteed noise removal. D:/BS_FYP Project/IntegrityFlow/candidate-app/ai-module/voice_monitor.py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D:/BS_FYP Project/IntegrityFlow/candidate-app/ai-module/services/capture</a:t>
            </a:r>
          </a:p>
          <a:p xmlns:a="http://schemas.openxmlformats.org/drawingml/2006/main">
            <a:r>
              <a:t>D:/BS_FYP Project/IntegrityFlow/candidate-app/ai-module/services/violation_delivery.py</a:t>
            </a:r>
          </a:p>
          <a:p xmlns:a="http://schemas.openxmlformats.org/drawingml/2006/main">
            <a:r>
              <a:t>D:/BS_FYP Project/IntegrityFlow/candidate-app/electron/ipc/violationBuffer.js</a:t>
            </a:r>
          </a:p>
          <a:p xmlns:a="http://schemas.openxmlformats.org/drawingml/2006/main">
            <a:r>
              <a:t>D:/BS_FYP Project/IntegrityFlow/server/src/routes/violations.js</a:t>
            </a:r>
          </a:p>
          <a:p xmlns:a="http://schemas.openxmlformats.org/drawingml/2006/main">
            <a:r>
              <a:t>Camera events use annotated webcam stills, environment events screenshots and voice events WAV clips. Completion refers to implemented pathways, not tested resilience to every possible failure.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Illustrative timeline: exam event at14:58, server exam end15:00, upload15:02. Durable Python/ Electron queues retain original event ID/time across retries. Server validates original event against session window and deduplicates. Late evidence persists but contributes to risk only after explicit examiner confirmation. An event generated after the permitted window is rejected. Controlled check_late_evidence tests cover recovery; this example is not a live measured run. D:/BS_FYP Project/IntegrityFlow/server/src/routes/violations.js</a:t>
            </a:r>
          </a:p>
          <a:p xmlns:a="http://schemas.openxmlformats.org/drawingml/2006/main">
            <a:r>
              <a:t>D:/BS_FYP Project/IntegrityFlow/server/check_late_evidence.js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D:/BS_FYP Project/IntegrityFlow/candidate-app/renderer/selfCheck.js</a:t>
            </a:r>
          </a:p>
          <a:p xmlns:a="http://schemas.openxmlformats.org/drawingml/2006/main">
            <a:r>
              <a:t>D:/BS_FYP Project/IntegrityFlow/candidate-app/ai-module/server.py</a:t>
            </a:r>
          </a:p>
          <a:p xmlns:a="http://schemas.openxmlformats.org/drawingml/2006/main">
            <a:r>
              <a:t>D:/BS_FYP Project/IntegrityFlow/candidate-app/electron/main.js</a:t>
            </a:r>
          </a:p>
          <a:p xmlns:a="http://schemas.openxmlformats.org/drawingml/2006/main">
            <a:r>
              <a:t>Actual camera/microphone matching and strict-mode safety still require rehearsal on the presentation laptop.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Example flow is illustrative. Online mode requires actual vision/voice readiness and enrollment, along with environment checks. Physical-lab mode deliberately bypasses camera/voice according to exam mode but retains environment checks. A connected second display or USB storage can block readiness until resolved. Dynamic ports and health diagnostics reduce startup assumptions but cannot guarantee every machine setup. D:/BS_FYP Project/IntegrityFlow/candidate-app/renderer/selfCheck.js</a:t>
            </a:r>
          </a:p>
          <a:p xmlns:a="http://schemas.openxmlformats.org/drawingml/2006/main">
            <a:r>
              <a:t>D:/BS_FYP Project/IntegrityFlow/candidate-app/electron/pythonBridge.js</a:t>
            </a:r>
          </a:p>
          <a:p xmlns:a="http://schemas.openxmlformats.org/drawingml/2006/main">
            <a:r>
              <a:t>D:/BS_FYP Project/IntegrityFlow/candidate-app/ai-module/server.py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D:/BS_FYP Project/IntegrityFlow/server/src/services/scoring/DecayScoringStrategy.js</a:t>
            </a:r>
          </a:p>
          <a:p xmlns:a="http://schemas.openxmlformats.org/drawingml/2006/main">
            <a:r>
              <a:t>D:/BS_FYP Project/IntegrityFlow/server/src/scoring/severityEngine.js</a:t>
            </a:r>
          </a:p>
          <a:p xmlns:a="http://schemas.openxmlformats.org/drawingml/2006/main">
            <a:r>
              <a:t>No scoring implementation was changed for this presentation. Dismissed events are excluded. Late events require explicit confirmation. Risk is not cheating probability.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Computed by calling the actual DecayScoringStrategy with fixed timestamps. Fresh severity4 and severity3 events score56. Dismissing severity3 leaves32. After30minutes, the remaining severity4 event scores21. Formula uses rate.0231/min, recency weighting.55, cumulative baseline.55severity and mix.45, floor.6baseline, rawmax10, round/cap0..100. Labels represent a constructed example with exact code calculation, not a real candidate. D:/BS_FYP Project/IntegrityFlow/server/src/services/scoring/DecayScoringStrategy.js</a:t>
            </a:r>
          </a:p>
          <a:p xmlns:a="http://schemas.openxmlformats.org/drawingml/2006/main">
            <a:r>
              <a:t>D:/BS_FYP Project/IntegrityFlow/server/src/scoring/severityEngine.js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D:/BS_FYP Project/IntegrityFlow/dashboard/src/pages/Dashboard.jsx</a:t>
            </a:r>
          </a:p>
          <a:p xmlns:a="http://schemas.openxmlformats.org/drawingml/2006/main">
            <a:r>
              <a:t>D:/BS_FYP Project/IntegrityFlow/dashboard/src/components/PriorityQueue.jsx</a:t>
            </a:r>
          </a:p>
          <a:p xmlns:a="http://schemas.openxmlformats.org/drawingml/2006/main">
            <a:r>
              <a:t>D:/BS_FYP Project/IntegrityFlow/server/src/sockets/violationSocket.js</a:t>
            </a:r>
          </a:p>
          <a:p xmlns:a="http://schemas.openxmlformats.org/drawingml/2006/main">
            <a:r>
              <a:t>Includes active exams, clear-filter exam scoping, no-active-exam empty state, live nav badge and light/dark modes. Ownership checks remain necessary on every server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Illustrative FYP-DEMO exam. Teacher opens selected active exam, examines candidate alert/evidence, confirms or dismisses, and can issue warning through messaging. Clear filters retains selected exam boundaries. Socket gateway targets teachers owning the exam; administrators can have broader access. The monitoring nav badge is an attention signal, not the total count of historical evidence. D:/BS_FYP Project/IntegrityFlow/dashboard/src/pages/Dashboard.jsx</a:t>
            </a:r>
          </a:p>
          <a:p xmlns:a="http://schemas.openxmlformats.org/drawingml/2006/main">
            <a:r>
              <a:t>D:/BS_FYP Project/IntegrityFlow/dashboard/src/components/StudentList.jsx</a:t>
            </a:r>
          </a:p>
          <a:p xmlns:a="http://schemas.openxmlformats.org/drawingml/2006/main">
            <a:r>
              <a:t>D:/BS_FYP Project/IntegrityFlow/server/src/sockets/violationSocket.js</a:t>
            </a:r>
          </a:p>
          <a:p xmlns:a="http://schemas.openxmlformats.org/drawingml/2006/main">
            <a:r>
              <a:t>D:/BS_FYP Project/IntegrityFlow/server/src/routes/messages.js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D:/BS_FYP Project/IntegrityFlow/candidate-app/renderer/examScreen.js</a:t>
            </a:r>
          </a:p>
          <a:p xmlns:a="http://schemas.openxmlformats.org/drawingml/2006/main">
            <a:r>
              <a:t>D:/BS_FYP Project/IntegrityFlow/server/src/routes/submissions.js</a:t>
            </a:r>
          </a:p>
          <a:p xmlns:a="http://schemas.openxmlformats.org/drawingml/2006/main">
            <a:r>
              <a:t>Typed draft recovery is local. File attachments require reselection after restart. File timestamp guards remain a heuristic and do not prove authorship.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Illustrative workflow. Paper formats supported include PDF/DOCX viewing. Typed answers persist as local drafts, file answers use upload endpoints and session linkage, examiner can download. The old-file answer guard remains distinct from teacher-permitted reference-file policy. A recovered typed draft does not restore an OS file picker attachment. D:/BS_FYP Project/IntegrityFlow/candidate-app/renderer/examScreen.js</a:t>
            </a:r>
          </a:p>
          <a:p xmlns:a="http://schemas.openxmlformats.org/drawingml/2006/main">
            <a:r>
              <a:t>D:/BS_FYP Project/IntegrityFlow/server/src/routes/submissions.js</a:t>
            </a:r>
          </a:p>
          <a:p xmlns:a="http://schemas.openxmlformats.org/drawingml/2006/main">
            <a:r>
              <a:t>D:/BS_FYP Project/IntegrityFlow/dashboard/src/components/StudentList.jsx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D:/BS_FYP Project/IntegrityFlow/dashboard/src/components/ExamSummary.jsx</a:t>
            </a:r>
          </a:p>
          <a:p xmlns:a="http://schemas.openxmlformats.org/drawingml/2006/main">
            <a:r>
              <a:t>D:/BS_FYP Project/IntegrityFlow/server/src/routes/exams.js</a:t>
            </a:r>
          </a:p>
          <a:p xmlns:a="http://schemas.openxmlformats.org/drawingml/2006/main">
            <a:r>
              <a:t>The summary, CSV and browser Save PDF are implemented. Individual logs/screenshots open separately and are excluded from print. One combined evidence export remains incomplete.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table is an illustrative completed-exam report, not a real test result. Actual CSV fields include candidate name, roll number, exam code, session times, violation count, risk score/category and submission status/type. Browser Save PDF uses window.print. The detailed evidence modal is marked no-print and is not part of the combined export. D:/BS_FYP Project/IntegrityFlow/dashboard/src/components/ExamSummary.jsx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Admin tools include user/role management, uploaded-asset review, analytics and audit logs. These management audit logs differ from student exam reports. Administrators have broader permissions than teachers. No new administrative capability was added during this presentation work. D:/BS_FYP Project/IntegrityFlow/dashboard/src/components/AdminDashboard/AdminDashboard.jsx</a:t>
            </a:r>
          </a:p>
          <a:p xmlns:a="http://schemas.openxmlformats.org/drawingml/2006/main">
            <a:r>
              <a:t>D:/BS_FYP Project/IntegrityFlow/dashboard/src/components/AdminDashboard/UserManagerView.jsx</a:t>
            </a:r>
          </a:p>
          <a:p xmlns:a="http://schemas.openxmlformats.org/drawingml/2006/main">
            <a:r>
              <a:t>D:/BS_FYP Project/IntegrityFlow/dashboard/src/components/AdminDashboard/AssetManagerView.jsx</a:t>
            </a:r>
          </a:p>
          <a:p xmlns:a="http://schemas.openxmlformats.org/drawingml/2006/main">
            <a:r>
              <a:t>D:/BS_FYP Project/IntegrityFlow/dashboard/src/components/AdminDashboard/AuditLogView.jsx</a:t>
            </a:r>
          </a:p>
          <a:p xmlns:a="http://schemas.openxmlformats.org/drawingml/2006/main">
            <a:r>
              <a:t>D:/BS_FYP Project/IntegrityFlow/server/src/routes/admin.js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Simplified UML sequence. Python persists event before local delivery. Electron queues before local acknowledgement and forwards when possible. Express commits event and responds, then emits authorized updates and calculates score. Examiner decision updates risk eligibility. The background setImmediate step is not a durable job. D:/BS_FYP Project/IntegrityFlow/candidate-app/ai-module/services/violation_delivery.py</a:t>
            </a:r>
          </a:p>
          <a:p xmlns:a="http://schemas.openxmlformats.org/drawingml/2006/main">
            <a:r>
              <a:t>D:/BS_FYP Project/IntegrityFlow/candidate-app/electron/ipc/violationBuffer.js</a:t>
            </a:r>
          </a:p>
          <a:p xmlns:a="http://schemas.openxmlformats.org/drawingml/2006/main">
            <a:r>
              <a:t>D:/BS_FYP Project/IntegrityFlow/server/src/routes/violations.js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User-supplied before/after report on3October2026. After command python scripts/load_test.py --students50 --duration20 --with-reads. Two dashboard reader workers use HTTP polling. Raw logs, hardware and repeated runs not supplied. Success refers to aggregate HTTP responses, not proven socket delivery or AI accuracy. No fresh benchmark was run for this deck. D:/BS_FYP Project/IntegrityFlow/scripts/load_test.py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violations route commits to MongoDB then sends HTTP201 before setImmediate broadcast/scoring. Before route awaited asynchronous database risk queries before replying. Awaiting them prolonged response latency but they were not synchronous database aggregation blocking the Node event loop. setImmediate defers work on same loop, not separate thread/durable job. No25ms guarantee. D:/BS_FYP Project/IntegrityFlow/server/src/routes/violations.js:148</a:t>
            </a:r>
          </a:p>
          <a:p xmlns:a="http://schemas.openxmlformats.org/drawingml/2006/main">
            <a:r>
              <a:t>D:/BS_FYP Project/IntegrityFlow/server/src/scoring/severityEngine.js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Statuses refer to implementation rather than production acceptance or statistical AI accuracy. Secure environment, evidence, self-check, scoring, dashboard and submission have implementations. Vision differs from exact model/class scope. Reporting summary/exports work, consolidated full evidence export remains open. No defensible overall percentage follows from equal counting; supervisor weighting and live acceptance are needed. D:/BS_FYP Project/IntegrityFlow/presentation/output/Scope_Progress_Verification.md</a:t>
            </a:r>
          </a:p>
          <a:p xmlns:a="http://schemas.openxmlformats.org/drawingml/2006/main">
            <a:r>
              <a:t>D:/BS_FYP Project/IntegrityFlow/candidate-app/RELIABILITY.md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Measure real-device false alerts, missed detections and detection-to-dashboard latency across lighting/noise/microphone changes. Repeat longer matched load tests with raw logs and environment recorded. Headphones require suitable model or approved scope alignment. Scope namesYOLOv8nINT8 whereas current preferredmodelYOLO26nstandard. Consolidated reportcontent and automatic retention remain incomplete. Voice consent currently discloses manual persistence/removal. Rehearse on actual presentation equipment.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https://ai.google.dev/edge/mediapipe/solutions/vision/face_landmarker/python</a:t>
            </a:r>
          </a:p>
          <a:p xmlns:a="http://schemas.openxmlformats.org/drawingml/2006/main">
            <a:r>
              <a:t>https://docs.opencv.org/4.x/d5/d1f/calib3d_solvePnP.html</a:t>
            </a:r>
          </a:p>
          <a:p xmlns:a="http://schemas.openxmlformats.org/drawingml/2006/main">
            <a:r>
              <a:t>https://docs.ultralytics.com/models/yolo26</a:t>
            </a:r>
          </a:p>
          <a:p xmlns:a="http://schemas.openxmlformats.org/drawingml/2006/main">
            <a:r>
              <a:t>https://onnxruntime.ai/docs/</a:t>
            </a:r>
          </a:p>
          <a:p xmlns:a="http://schemas.openxmlformats.org/drawingml/2006/main">
            <a:r>
              <a:t>https://github.com/resemble-ai/Resemblyzer</a:t>
            </a:r>
          </a:p>
          <a:p xmlns:a="http://schemas.openxmlformats.org/drawingml/2006/main">
            <a:r>
              <a:t>https://github.com/wiseman/py-webrtcvad</a:t>
            </a:r>
          </a:p>
          <a:p xmlns:a="http://schemas.openxmlformats.org/drawingml/2006/main">
            <a:r>
              <a:t>https://psutil.readthedocs.io/</a:t>
            </a:r>
          </a:p>
          <a:p xmlns:a="http://schemas.openxmlformats.org/drawingml/2006/main">
            <a:r>
              <a:t>https://www.electronjs.org/docs/latest</a:t>
            </a:r>
          </a:p>
          <a:p xmlns:a="http://schemas.openxmlformats.org/drawingml/2006/main">
            <a:r>
              <a:t>Project implementation references appear per module.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7–8 minute live demo. Show exam rules, candidate consent and self-check, two or three rehearsed monitoring events, evidence review and warning, then answer submission and completed summary. Use a separate candidate laptop from HDMI projection because candidate entry requires one display. Save all work before strict process enforcement. Use a clearly identified backup recording only if the live environment fails.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6a977216e6440f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7b3041623164035" /><Relationship Type="http://schemas.openxmlformats.org/officeDocument/2006/relationships/slideLayout" Target="/ppt/slideLayouts/slideLayout1.xml" Id="R544e4ac7623d4e6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44e4ac7623d4e6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ec309ece5c745a9" /><Relationship Type="http://schemas.openxmlformats.org/officeDocument/2006/relationships/image" Target="/ppt/media/image.png" Id="R4876aa1ffd0d446b" /><Relationship Type="http://schemas.openxmlformats.org/officeDocument/2006/relationships/notesSlide" Target="/ppt/notesSlides/notesSlide1.xml" Id="R4fa98133aa7740c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db7183679fa42af" /><Relationship Type="http://schemas.openxmlformats.org/officeDocument/2006/relationships/notesSlide" Target="/ppt/notesSlides/notesSlide2.xml" Id="R73e1149987f04ae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26960bac53f49b7" /><Relationship Type="http://schemas.openxmlformats.org/officeDocument/2006/relationships/notesSlide" Target="/ppt/notesSlides/notesSlide3.xml" Id="R425b454a25104e0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56f373a665045f7" /><Relationship Type="http://schemas.openxmlformats.org/officeDocument/2006/relationships/notesSlide" Target="/ppt/notesSlides/notesSlide4.xml" Id="Rc0d0f74a4799494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58e9508187c44ad" /><Relationship Type="http://schemas.openxmlformats.org/officeDocument/2006/relationships/notesSlide" Target="/ppt/notesSlides/notesSlide5.xml" Id="Rb2d5efba90f94f3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8298cd67cfa4113" /><Relationship Type="http://schemas.openxmlformats.org/officeDocument/2006/relationships/image" Target="/ppt/media/image2.png" Id="Rabd7e237b62d48b7" /><Relationship Type="http://schemas.openxmlformats.org/officeDocument/2006/relationships/notesSlide" Target="/ppt/notesSlides/notesSlide6.xml" Id="R213f276e150f42c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e0c57b7d8e74e7e" /><Relationship Type="http://schemas.openxmlformats.org/officeDocument/2006/relationships/notesSlide" Target="/ppt/notesSlides/notesSlide7.xml" Id="Rc3842c22d93746b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667cf41e96b43fa" /><Relationship Type="http://schemas.openxmlformats.org/officeDocument/2006/relationships/notesSlide" Target="/ppt/notesSlides/notesSlide8.xml" Id="R3500c43acef84b8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257aace9158449b6" /><Relationship Type="http://schemas.openxmlformats.org/officeDocument/2006/relationships/notesSlide" Target="/ppt/notesSlides/notesSlide9.xml" Id="R053a3aebf3c14e6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2b637e7a8001476e" /><Relationship Type="http://schemas.openxmlformats.org/officeDocument/2006/relationships/image" Target="/ppt/media/image3.png" Id="R819a6462e8614a0f" /><Relationship Type="http://schemas.openxmlformats.org/officeDocument/2006/relationships/notesSlide" Target="/ppt/notesSlides/notesSlide10.xml" Id="R1b60508c540b4f5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91f3a362ce454d30" /><Relationship Type="http://schemas.openxmlformats.org/officeDocument/2006/relationships/notesSlide" Target="/ppt/notesSlides/notesSlide11.xml" Id="R868489097a8a4b2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351a706df1eb4782" /><Relationship Type="http://schemas.openxmlformats.org/officeDocument/2006/relationships/notesSlide" Target="/ppt/notesSlides/notesSlide12.xml" Id="R39c6b2818da74ae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1516623439014ef7" /><Relationship Type="http://schemas.openxmlformats.org/officeDocument/2006/relationships/notesSlide" Target="/ppt/notesSlides/notesSlide13.xml" Id="Rbc6cfeea1a9749c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a20960f8189e4891" /><Relationship Type="http://schemas.openxmlformats.org/officeDocument/2006/relationships/image" Target="/ppt/media/image4.png" Id="Re7c53de4609d41b3" /><Relationship Type="http://schemas.openxmlformats.org/officeDocument/2006/relationships/image" Target="/ppt/media/image5.png" Id="Rb8e9dcc4d9654d6b" /><Relationship Type="http://schemas.openxmlformats.org/officeDocument/2006/relationships/notesSlide" Target="/ppt/notesSlides/notesSlide14.xml" Id="Rfb23de458751451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353b8654899f449e" /><Relationship Type="http://schemas.openxmlformats.org/officeDocument/2006/relationships/image" Target="/ppt/media/image6.png" Id="R56ce3d5f06c4485c" /><Relationship Type="http://schemas.openxmlformats.org/officeDocument/2006/relationships/notesSlide" Target="/ppt/notesSlides/notesSlide15.xml" Id="Re30cb0d89ae447e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4e717085ee3d4856" /><Relationship Type="http://schemas.openxmlformats.org/officeDocument/2006/relationships/notesSlide" Target="/ppt/notesSlides/notesSlide16.xml" Id="R17eaf2f577144761"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2f9a57a07ebd4987" /><Relationship Type="http://schemas.openxmlformats.org/officeDocument/2006/relationships/image" Target="/ppt/media/image7.png" Id="R6cd807c67a474a7f" /><Relationship Type="http://schemas.openxmlformats.org/officeDocument/2006/relationships/notesSlide" Target="/ppt/notesSlides/notesSlide17.xml" Id="Rf4b8ec1f69f84adf"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993f467d7f5440ee" /><Relationship Type="http://schemas.openxmlformats.org/officeDocument/2006/relationships/notesSlide" Target="/ppt/notesSlides/notesSlide18.xml" Id="R633e6c7a5db9411c"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eb0c76e608774f13" /><Relationship Type="http://schemas.openxmlformats.org/officeDocument/2006/relationships/notesSlide" Target="/ppt/notesSlides/notesSlide19.xml" Id="R8a167a1acb8f4c43"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df6a529fabd84a49" /><Relationship Type="http://schemas.openxmlformats.org/officeDocument/2006/relationships/notesSlide" Target="/ppt/notesSlides/notesSlide20.xml" Id="R71e8cb7169f849fe"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7efb209b47584528" /><Relationship Type="http://schemas.openxmlformats.org/officeDocument/2006/relationships/image" Target="/ppt/media/image8.png" Id="Re7653da8df564202" /><Relationship Type="http://schemas.openxmlformats.org/officeDocument/2006/relationships/notesSlide" Target="/ppt/notesSlides/notesSlide21.xml" Id="R29d1ac059f3b448a"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b7b0b1f2210f49b3" /><Relationship Type="http://schemas.openxmlformats.org/officeDocument/2006/relationships/notesSlide" Target="/ppt/notesSlides/notesSlide22.xml" Id="Rf231f09f9dff471a"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003cfaf73bbb457e" /><Relationship Type="http://schemas.openxmlformats.org/officeDocument/2006/relationships/image" Target="/ppt/media/image9.png" Id="R98d2edbcc15747f0" /><Relationship Type="http://schemas.openxmlformats.org/officeDocument/2006/relationships/notesSlide" Target="/ppt/notesSlides/notesSlide23.xml" Id="R76dc684a346046c0"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1ffa4f33a1e84b5e" /><Relationship Type="http://schemas.openxmlformats.org/officeDocument/2006/relationships/notesSlide" Target="/ppt/notesSlides/notesSlide24.xml" Id="Rbafb04421224445d"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808a8633b4994866" /><Relationship Type="http://schemas.openxmlformats.org/officeDocument/2006/relationships/image" Target="/ppt/media/image10.png" Id="R17d6d57ad8024ef3" /><Relationship Type="http://schemas.openxmlformats.org/officeDocument/2006/relationships/notesSlide" Target="/ppt/notesSlides/notesSlide25.xml" Id="Re5f2c84888724baa"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23255ececd364fe6" /><Relationship Type="http://schemas.openxmlformats.org/officeDocument/2006/relationships/chart" Target="/ppt/slides/charts/chart1.xml" Id="Ref0a72ab5bfd4bd1" /><Relationship Type="http://schemas.openxmlformats.org/officeDocument/2006/relationships/notesSlide" Target="/ppt/notesSlides/notesSlide26.xml" Id="R811387a395e84491"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d2e41a50fd3c4cc2" /><Relationship Type="http://schemas.openxmlformats.org/officeDocument/2006/relationships/image" Target="/ppt/media/image11.png" Id="R3394bb232a754450" /><Relationship Type="http://schemas.openxmlformats.org/officeDocument/2006/relationships/notesSlide" Target="/ppt/notesSlides/notesSlide27.xml" Id="R8814447de79145ed"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bfa01aeef31746f4" /><Relationship Type="http://schemas.openxmlformats.org/officeDocument/2006/relationships/notesSlide" Target="/ppt/notesSlides/notesSlide28.xml" Id="R816e8914c7794d45"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7f90387cf830458f" /><Relationship Type="http://schemas.openxmlformats.org/officeDocument/2006/relationships/image" Target="/ppt/media/image12.png" Id="R9ba5353ec1b74ce8" /><Relationship Type="http://schemas.openxmlformats.org/officeDocument/2006/relationships/notesSlide" Target="/ppt/notesSlides/notesSlide29.xml" Id="R522a602e4d284e36"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20dd10e42c004068" /><Relationship Type="http://schemas.openxmlformats.org/officeDocument/2006/relationships/notesSlide" Target="/ppt/notesSlides/notesSlide30.xml" Id="Rb01a32b18fc743b1"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6fe9868aa264459e" /><Relationship Type="http://schemas.openxmlformats.org/officeDocument/2006/relationships/image" Target="/ppt/media/image13.png" Id="R53e1721e2b0c49b8" /><Relationship Type="http://schemas.openxmlformats.org/officeDocument/2006/relationships/notesSlide" Target="/ppt/notesSlides/notesSlide31.xml" Id="R60c9dacc17f140c2"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b89bb349a9134303" /><Relationship Type="http://schemas.openxmlformats.org/officeDocument/2006/relationships/notesSlide" Target="/ppt/notesSlides/notesSlide32.xml" Id="R64f9c14975f542d2"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6f4ce80c9ff44da4" /><Relationship Type="http://schemas.openxmlformats.org/officeDocument/2006/relationships/notesSlide" Target="/ppt/notesSlides/notesSlide33.xml" Id="R43cd4fcf012b4891"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f790211d929443a9" /><Relationship Type="http://schemas.openxmlformats.org/officeDocument/2006/relationships/notesSlide" Target="/ppt/notesSlides/notesSlide34.xml" Id="R2a8ee86818e9484d"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a3f77880760f4ad5" /><Relationship Type="http://schemas.openxmlformats.org/officeDocument/2006/relationships/chart" Target="/ppt/slides/charts/chart2.xml" Id="R42290abc56e042f3" /><Relationship Type="http://schemas.openxmlformats.org/officeDocument/2006/relationships/notesSlide" Target="/ppt/notesSlides/notesSlide35.xml" Id="R495f4310e13d4c01"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d2bff28b4cde4501" /><Relationship Type="http://schemas.openxmlformats.org/officeDocument/2006/relationships/notesSlide" Target="/ppt/notesSlides/notesSlide36.xml" Id="R6f06f1957c414d16"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6d20510465c448df" /><Relationship Type="http://schemas.openxmlformats.org/officeDocument/2006/relationships/notesSlide" Target="/ppt/notesSlides/notesSlide37.xml" Id="R61bc91f647f946c0"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87e55e28a7574869" /><Relationship Type="http://schemas.openxmlformats.org/officeDocument/2006/relationships/notesSlide" Target="/ppt/notesSlides/notesSlide38.xml" Id="R7d7ad708fde24ea6"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9beaaddc4a1f4c60" /><Relationship Type="http://schemas.openxmlformats.org/officeDocument/2006/relationships/notesSlide" Target="/ppt/notesSlides/notesSlide39.xml" Id="Rdb8cf2a159174156"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db66edd20cd440a2" /><Relationship Type="http://schemas.openxmlformats.org/officeDocument/2006/relationships/image" Target="/ppt/media/image14.png" Id="R218881cf763b49b0" /><Relationship Type="http://schemas.openxmlformats.org/officeDocument/2006/relationships/notesSlide" Target="/ppt/notesSlides/notesSlide40.xml" Id="R6cf4be6e459c4845"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Review priority</c:v>
          </c:tx>
          <c:spPr>
            <a:solidFill xmlns:a="http://schemas.openxmlformats.org/drawingml/2006/main">
              <a:srgbClr val="087F8C"/>
            </a:solidFill>
          </c:spPr>
          <c:cat>
            <c:strRef>
              <c:f>'Chart Data'!$A$2:$A$4</c:f>
              <c:strCache>
                <c:ptCount val="3"/>
                <c:pt idx="0">
                  <c:v>Two fresh events</c:v>
                </c:pt>
                <c:pt idx="1">
                  <c:v>Phone dismissed</c:v>
                </c:pt>
                <c:pt idx="2">
                  <c:v>30 minutes later</c:v>
                </c:pt>
              </c:strCache>
            </c:strRef>
          </c:cat>
          <c:val>
            <c:numRef>
              <c:f>'Chart Data'!$B$2:$B$4</c:f>
              <c:numCache>
                <c:formatCode>0</c:formatCode>
                <c:ptCount val="3"/>
                <c:pt idx="0">
                  <c:v>56</c:v>
                </c:pt>
                <c:pt idx="1">
                  <c:v>32</c:v>
                </c:pt>
                <c:pt idx="2">
                  <c:v>21</c:v>
                </c:pt>
              </c:numCache>
            </c:numRef>
          </c:val>
        </c:ser>
        <c:dLbls>
          <c:txPr>
            <a:bodyPr xmlns:a="http://schemas.openxmlformats.org/drawingml/2006/main" anchorCtr="1"/>
            <a:lstStyle xmlns:a="http://schemas.openxmlformats.org/drawingml/2006/main"/>
            <a:p xmlns:a="http://schemas.openxmlformats.org/drawingml/2006/main">
              <a:pPr>
                <a:defRPr sz="2250" b="1">
                  <a:solidFill>
                    <a:srgbClr val="172F3A"/>
                  </a:solidFill>
                  <a:latin typeface="Times New Roman"/>
                  <a:ea typeface="Times New Roman"/>
                  <a:cs typeface="Times New Roman"/>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172F3A"/>
                </a:solidFill>
                <a:latin typeface="Times New Roman"/>
                <a:ea typeface="Times New Roman"/>
                <a:cs typeface="Times New Roman"/>
              </a:defRPr>
            </a:pPr>
          </a:p>
        </c:txPr>
        <c:crossAx val="48672768"/>
      </c:catAx>
      <c:valAx>
        <c:axId val="48672768"/>
        <c:scaling>
          <c:orientation val="minMax"/>
          <c:max val="100"/>
          <c:min val="0"/>
        </c:scaling>
        <c:delete val="0"/>
        <c:axPos val="l"/>
        <c:majorGridlines>
          <c:spPr>
            <a:ln xmlns:a="http://schemas.openxmlformats.org/drawingml/2006/main" w="9525">
              <a:solidFill>
                <a:srgbClr val="CEDBD5"/>
              </a:solidFill>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4C6471"/>
                </a:solidFill>
                <a:latin typeface="Times New Roman"/>
                <a:ea typeface="Times New Roman"/>
                <a:cs typeface="Times New Roman"/>
              </a:defRPr>
            </a:pPr>
          </a:p>
        </c:txPr>
        <c:crossAx val="48650112"/>
        <c:crossBetween val="between"/>
        <c:majorUnit val="20"/>
      </c:valAx>
      <c:spPr>
        <a:solidFill xmlns:a="http://schemas.openxmlformats.org/drawingml/2006/main">
          <a:srgbClr val="F6F7F4"/>
        </a:solidFill>
      </c:spPr>
    </c:plotArea>
    <c:plotVisOnly val="1"/>
  </c:chart>
  <c:spPr>
    <a:solidFill xmlns:a="http://schemas.openxmlformats.org/drawingml/2006/main">
      <a:srgbClr val="F6F7F4"/>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Mean latency (ms)</c:v>
          </c:tx>
          <c:spPr>
            <a:solidFill xmlns:a="http://schemas.openxmlformats.org/drawingml/2006/main">
              <a:srgbClr val="087F8C"/>
            </a:solidFill>
          </c:spPr>
          <c:cat>
            <c:strRef>
              <c:f>'Chart Data'!$A$2:$A$3</c:f>
              <c:strCache>
                <c:ptCount val="2"/>
                <c:pt idx="0">
                  <c:v>Before</c:v>
                </c:pt>
                <c:pt idx="1">
                  <c:v>After</c:v>
                </c:pt>
              </c:strCache>
            </c:strRef>
          </c:cat>
          <c:val>
            <c:numRef>
              <c:f>'Chart Data'!$B$2:$B$3</c:f>
              <c:numCache>
                <c:formatCode>0.00</c:formatCode>
                <c:ptCount val="2"/>
                <c:pt idx="0">
                  <c:v>4142.1</c:v>
                </c:pt>
                <c:pt idx="1">
                  <c:v>408.76</c:v>
                </c:pt>
              </c:numCache>
            </c:numRef>
          </c:val>
        </c:ser>
        <c:dLbls>
          <c:txPr>
            <a:bodyPr xmlns:a="http://schemas.openxmlformats.org/drawingml/2006/main" anchorCtr="1"/>
            <a:lstStyle xmlns:a="http://schemas.openxmlformats.org/drawingml/2006/main"/>
            <a:p xmlns:a="http://schemas.openxmlformats.org/drawingml/2006/main">
              <a:pPr>
                <a:defRPr sz="2250" b="1">
                  <a:solidFill>
                    <a:srgbClr val="172F3A"/>
                  </a:solidFill>
                  <a:latin typeface="Times New Roman"/>
                  <a:ea typeface="Times New Roman"/>
                  <a:cs typeface="Times New Roman"/>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2100">
                <a:solidFill>
                  <a:srgbClr val="172F3A"/>
                </a:solidFill>
                <a:latin typeface="Times New Roman"/>
                <a:ea typeface="Times New Roman"/>
                <a:cs typeface="Times New Roman"/>
              </a:defRPr>
            </a:pPr>
          </a:p>
        </c:txPr>
        <c:crossAx val="48672768"/>
      </c:catAx>
      <c:valAx>
        <c:axId val="48672768"/>
        <c:scaling>
          <c:orientation val="minMax"/>
          <c:max val="5000"/>
          <c:min val="0"/>
        </c:scaling>
        <c:delete val="0"/>
        <c:axPos val="l"/>
        <c:majorGridlines>
          <c:spPr>
            <a:ln xmlns:a="http://schemas.openxmlformats.org/drawingml/2006/main" w="9525">
              <a:solidFill>
                <a:srgbClr val="CEDBD5"/>
              </a:solidFill>
            </a:ln>
          </c:spPr>
        </c:majorGridlines>
        <c:numFmt formatCode="0&quot; ms&quot;"/>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4C6471"/>
                </a:solidFill>
                <a:latin typeface="Times New Roman"/>
                <a:ea typeface="Times New Roman"/>
                <a:cs typeface="Times New Roman"/>
              </a:defRPr>
            </a:pPr>
          </a:p>
        </c:txPr>
        <c:crossAx val="48650112"/>
        <c:crossBetween val="between"/>
      </c:valAx>
      <c:spPr>
        <a:solidFill xmlns:a="http://schemas.openxmlformats.org/drawingml/2006/main">
          <a:srgbClr val="F6F7F4"/>
        </a:solidFill>
      </c:spPr>
    </c:plotArea>
    <c:plotVisOnly val="1"/>
  </c:chart>
  <c:spPr>
    <a:solidFill xmlns:a="http://schemas.openxmlformats.org/drawingml/2006/main">
      <a:srgbClr val="F6F7F4"/>
    </a:solidFill>
  </c:spPr>
  <c:externalData r:id="rIdChartSnapshot1">
    <c:autoUpdate val="0"/>
  </c:externalData>
</c:chartSpace>
</file>

<file path=ppt/slides/slide1.xml><?xml version="1.0" encoding="utf-8"?>
<p:sld xmlns:a="http://schemas.openxmlformats.org/drawingml/2006/main" xmlns:ns3="http://schemas.microsoft.com/office/drawing/2014/main" xmlns:ns4="http://schemas.microsoft.com/office/powerpoint/2010/main" xmlns:p="http://schemas.openxmlformats.org/presentationml/2006/main" xmlns:r="http://schemas.openxmlformats.org/officeDocument/2006/relationships">
  <p:cSld>
    <p:bg>
      <p:bgPr>
        <a:solidFill>
          <a:srgbClr val="081321"/>
        </a:solidFill>
      </p:bgPr>
    </p:bg>
    <p:spTree>
      <p:nvGrpSpPr>
        <p:cNvPr id="1" name=""/>
        <p:cNvGrpSpPr/>
        <p:nvPr/>
      </p:nvGrpSpPr>
      <p:grpSpPr>
        <a:xfrm/>
      </p:grpSpPr>
      <p:pic>
        <p:nvPicPr>
          <p:cNvPr id="7" name=""/>
          <p:cNvPicPr>
            <a:picLocks noChangeAspect="1"/>
          </p:cNvPicPr>
          <p:nvPr/>
        </p:nvPicPr>
        <p:blipFill>
          <a:blip r:embed="R4876aa1ffd0d446b"/>
          <a:srcRect l="0" t="27" r="0" b="27"/>
          <a:stretch>
            <a:fillRect l="0" t="0" r="0" b="0"/>
          </a:stretch>
        </p:blipFill>
        <p:spPr>
          <a:xfrm>
            <a:off x="0" y="0"/>
            <a:ext cx="12192000" cy="6858000"/>
          </a:xfrm>
          <a:prstGeom prst="rect">
            <a:avLst/>
          </a:prstGeom>
        </p:spPr>
      </p:pic>
      <p:sp>
        <p:nvSpPr>
          <p:cNvPr id="2" name="fixed">
            <a:extLst>
              <a:ext uri="{FF2B5EF4-FFF2-40B4-BE49-F238E27FC236}">
                <ns3:creationId id="{67BCB346-6F48-402B-A7DF-4BF0B8D8AED3}"/>
              </a:ext>
            </a:extLst>
          </p:cNvPr>
          <p:cNvSpPr>
            <a:spLocks noGrp="1"/>
          </p:cNvSpPr>
          <p:nvPr/>
        </p:nvSpPr>
        <p:spPr>
          <a:xfrm>
            <a:off x="11029950" y="6334125"/>
            <a:ext cx="523875" cy="285750"/>
          </a:xfrm>
          <a:prstGeom prst="rect">
            <a:avLst/>
          </a:prstGeom>
          <a:noFill/>
          <a:ln w="0">
            <a:noFill/>
          </a:ln>
        </p:spPr>
        <p:txBody>
          <a:bodyPr>
            <a:noAutofit/>
          </a:bodyPr>
          <a:lstStyle/>
          <a:p>
            <a:pPr algn="r">
              <a:defRPr sz="1500" b="0">
                <a:solidFill>
                  <a:srgbClr val="B6CCD3"/>
                </a:solidFill>
                <a:latin typeface="Times New Roman"/>
                <a:ea typeface="Times New Roman"/>
                <a:cs typeface="Times New Roman"/>
              </a:defRPr>
            </a:pPr>
            <a:r>
              <a:rPr sz="1500" b="0">
                <a:solidFill>
                  <a:srgbClr val="B6CCD3"/>
                </a:solidFill>
                <a:latin typeface="Times New Roman"/>
                <a:ea typeface="Times New Roman"/>
                <a:cs typeface="Times New Roman"/>
              </a:rPr>
              <a:t>01</a:t>
            </a:r>
          </a:p>
        </p:txBody>
      </p:sp>
      <p:sp>
        <p:nvSpPr>
          <p:cNvPr id="3" name="fixed">
            <a:extLst>
              <a:ext uri="{FF2B5EF4-FFF2-40B4-BE49-F238E27FC236}">
                <ns3:creationId id="{A37FA3D0-8240-4C0B-9611-66FABB84FE57}"/>
              </a:ext>
            </a:extLst>
          </p:cNvPr>
          <p:cNvSpPr>
            <a:spLocks noGrp="1"/>
          </p:cNvSpPr>
          <p:nvPr/>
        </p:nvSpPr>
        <p:spPr>
          <a:xfrm>
            <a:off x="609600" y="1381125"/>
            <a:ext cx="8239125" cy="1114425"/>
          </a:xfrm>
          <a:prstGeom prst="rect">
            <a:avLst/>
          </a:prstGeom>
          <a:noFill/>
          <a:ln w="0">
            <a:noFill/>
          </a:ln>
        </p:spPr>
        <p:txBody>
          <a:bodyPr>
            <a:noAutofit/>
          </a:bodyPr>
          <a:lstStyle/>
          <a:p>
            <a:pPr algn="l">
              <a:defRPr sz="7050" b="1">
                <a:solidFill>
                  <a:srgbClr val="FFFFFF"/>
                </a:solidFill>
                <a:latin typeface="Times New Roman"/>
                <a:ea typeface="Times New Roman"/>
                <a:cs typeface="Times New Roman"/>
              </a:defRPr>
            </a:pPr>
            <a:r>
              <a:rPr sz="7050" b="1">
                <a:solidFill>
                  <a:srgbClr val="FFFFFF"/>
                </a:solidFill>
                <a:latin typeface="Times New Roman"/>
                <a:ea typeface="Times New Roman"/>
                <a:cs typeface="Times New Roman"/>
              </a:rPr>
              <a:t>IntegrityFlow</a:t>
            </a:r>
          </a:p>
        </p:txBody>
      </p:sp>
      <p:sp>
        <p:nvSpPr>
          <p:cNvPr id="4" name="reveal-1">
            <a:extLst>
              <a:ext uri="{FF2B5EF4-FFF2-40B4-BE49-F238E27FC236}">
                <ns3:creationId id="{B1825AAC-81A6-4300-9754-F733A47E05FC}"/>
              </a:ext>
            </a:extLst>
          </p:cNvPr>
          <p:cNvSpPr>
            <a:spLocks noGrp="1"/>
          </p:cNvSpPr>
          <p:nvPr/>
        </p:nvSpPr>
        <p:spPr>
          <a:xfrm>
            <a:off x="647700" y="2809875"/>
            <a:ext cx="7620000" cy="1285875"/>
          </a:xfrm>
          <a:prstGeom prst="rect">
            <a:avLst/>
          </a:prstGeom>
          <a:noFill/>
          <a:ln w="0">
            <a:noFill/>
          </a:ln>
        </p:spPr>
        <p:txBody>
          <a:bodyPr>
            <a:noAutofit/>
          </a:bodyPr>
          <a:lstStyle/>
          <a:p>
            <a:pPr algn="l">
              <a:defRPr sz="3225" b="0">
                <a:solidFill>
                  <a:srgbClr val="DAF1E9"/>
                </a:solidFill>
                <a:latin typeface="Times New Roman"/>
                <a:ea typeface="Times New Roman"/>
                <a:cs typeface="Times New Roman"/>
              </a:defRPr>
            </a:pPr>
            <a:r>
              <a:rPr sz="3225" b="0">
                <a:solidFill>
                  <a:srgbClr val="DAF1E9"/>
                </a:solidFill>
                <a:latin typeface="Times New Roman"/>
                <a:ea typeface="Times New Roman"/>
                <a:cs typeface="Times New Roman"/>
              </a:rPr>
              <a:t>Local AI and system controls</a:t>
            </a:r>
          </a:p>
          <a:p>
            <a:pPr algn="l">
              <a:defRPr sz="3225" b="0">
                <a:solidFill>
                  <a:srgbClr val="DAF1E9"/>
                </a:solidFill>
                <a:latin typeface="Times New Roman"/>
                <a:ea typeface="Times New Roman"/>
                <a:cs typeface="Times New Roman"/>
              </a:defRPr>
            </a:pPr>
            <a:r>
              <a:rPr sz="3225" b="0">
                <a:solidFill>
                  <a:srgbClr val="DAF1E9"/>
                </a:solidFill>
                <a:latin typeface="Times New Roman"/>
                <a:ea typeface="Times New Roman"/>
                <a:cs typeface="Times New Roman"/>
              </a:rPr>
              <a:t>for examination monitoring</a:t>
            </a:r>
          </a:p>
        </p:txBody>
      </p:sp>
      <p:sp>
        <p:nvSpPr>
          <p:cNvPr id="5" name="fixed">
            <a:extLst>
              <a:ext uri="{FF2B5EF4-FFF2-40B4-BE49-F238E27FC236}">
                <ns3:creationId id="{22C77587-B920-488A-AC50-66EC47127E80}"/>
              </a:ext>
            </a:extLst>
          </p:cNvPr>
          <p:cNvSpPr>
            <a:spLocks noGrp="1"/>
          </p:cNvSpPr>
          <p:nvPr/>
        </p:nvSpPr>
        <p:spPr>
          <a:xfrm>
            <a:off x="647700" y="4419600"/>
            <a:ext cx="7334250" cy="714375"/>
          </a:xfrm>
          <a:prstGeom prst="rect">
            <a:avLst/>
          </a:prstGeom>
          <a:noFill/>
          <a:ln w="0">
            <a:noFill/>
          </a:ln>
        </p:spPr>
        <p:txBody>
          <a:bodyPr>
            <a:noAutofit/>
          </a:bodyPr>
          <a:lstStyle/>
          <a:p>
            <a:pPr algn="l">
              <a:defRPr sz="2100" b="0">
                <a:solidFill>
                  <a:srgbClr val="C3D9DF"/>
                </a:solidFill>
                <a:latin typeface="Times New Roman"/>
                <a:ea typeface="Times New Roman"/>
                <a:cs typeface="Times New Roman"/>
              </a:defRPr>
            </a:pPr>
            <a:r>
              <a:rPr sz="2100" b="0">
                <a:solidFill>
                  <a:srgbClr val="C3D9DF"/>
                </a:solidFill>
                <a:latin typeface="Times New Roman"/>
                <a:ea typeface="Times New Roman"/>
                <a:cs typeface="Times New Roman"/>
              </a:rPr>
              <a:t>BSCS Final Year Project</a:t>
            </a:r>
          </a:p>
          <a:p>
            <a:pPr algn="l">
              <a:defRPr sz="2100" b="0">
                <a:solidFill>
                  <a:srgbClr val="C3D9DF"/>
                </a:solidFill>
                <a:latin typeface="Times New Roman"/>
                <a:ea typeface="Times New Roman"/>
                <a:cs typeface="Times New Roman"/>
              </a:defRPr>
            </a:pPr>
            <a:r>
              <a:rPr sz="2100" b="0">
                <a:solidFill>
                  <a:srgbClr val="C3D9DF"/>
                </a:solidFill>
                <a:latin typeface="Times New Roman"/>
                <a:ea typeface="Times New Roman"/>
                <a:cs typeface="Times New Roman"/>
              </a:rPr>
              <a:t>Progress presentation  /  5 October 2026</a:t>
            </a:r>
          </a:p>
        </p:txBody>
      </p:sp>
      <p:sp>
        <p:nvSpPr>
          <p:cNvPr id="6" name="fixed">
            <a:extLst>
              <a:ext uri="{FF2B5EF4-FFF2-40B4-BE49-F238E27FC236}">
                <ns3:creationId id="{BB5B272F-95F3-4A8B-AC6C-0B777D8DA806}"/>
              </a:ext>
            </a:extLst>
          </p:cNvPr>
          <p:cNvSpPr>
            <a:spLocks noGrp="1"/>
          </p:cNvSpPr>
          <p:nvPr/>
        </p:nvSpPr>
        <p:spPr>
          <a:xfrm>
            <a:off x="647700" y="5534025"/>
            <a:ext cx="7953375" cy="857250"/>
          </a:xfrm>
          <a:prstGeom prst="rect">
            <a:avLst/>
          </a:prstGeom>
          <a:noFill/>
          <a:ln w="0">
            <a:noFill/>
          </a:ln>
        </p:spPr>
        <p:txBody>
          <a:bodyPr>
            <a:noAutofit/>
          </a:bodyPr>
          <a:lstStyle/>
          <a:p>
            <a:pPr algn="l">
              <a:defRPr sz="1800" b="0">
                <a:solidFill>
                  <a:srgbClr val="C3D9DF"/>
                </a:solidFill>
                <a:latin typeface="Times New Roman"/>
                <a:ea typeface="Times New Roman"/>
                <a:cs typeface="Times New Roman"/>
              </a:defRPr>
            </a:pPr>
            <a:r>
              <a:rPr sz="1800" b="0">
                <a:solidFill>
                  <a:srgbClr val="C3D9DF"/>
                </a:solidFill>
                <a:latin typeface="Times New Roman"/>
                <a:ea typeface="Times New Roman"/>
                <a:cs typeface="Times New Roman"/>
              </a:rPr>
              <a:t>Rao Umair Ahmed   ·   Muhammad Usman</a:t>
            </a:r>
          </a:p>
          <a:p>
            <a:pPr algn="l">
              <a:defRPr sz="1800" b="0">
                <a:solidFill>
                  <a:srgbClr val="C3D9DF"/>
                </a:solidFill>
                <a:latin typeface="Times New Roman"/>
                <a:ea typeface="Times New Roman"/>
                <a:cs typeface="Times New Roman"/>
              </a:defRPr>
            </a:pPr>
            <a:r>
              <a:rPr sz="1800" b="0">
                <a:solidFill>
                  <a:srgbClr val="C3D9DF"/>
                </a:solidFill>
                <a:latin typeface="Times New Roman"/>
                <a:ea typeface="Times New Roman"/>
                <a:cs typeface="Times New Roman"/>
              </a:rPr>
              <a:t>Muhammad Abubakar Siddique</a:t>
            </a:r>
          </a:p>
          <a:p>
            <a:pPr algn="l">
              <a:defRPr sz="1800" b="0">
                <a:solidFill>
                  <a:srgbClr val="C3D9DF"/>
                </a:solidFill>
                <a:latin typeface="Times New Roman"/>
                <a:ea typeface="Times New Roman"/>
                <a:cs typeface="Times New Roman"/>
              </a:defRPr>
            </a:pPr>
            <a:r>
              <a:rPr sz="1800" b="0">
                <a:solidFill>
                  <a:srgbClr val="C3D9DF"/>
                </a:solidFill>
                <a:latin typeface="Times New Roman"/>
                <a:ea typeface="Times New Roman"/>
                <a:cs typeface="Times New Roman"/>
              </a:rPr>
              <a:t>Supervisor: Mr. Abdullah</a:t>
            </a:r>
          </a:p>
        </p:txBody>
      </p:sp>
    </p:spTree>
    <p:extLst>
      <p:ext uri="{BB962C8B-B14F-4D97-AF65-F5344CB8AC3E}">
        <ns4:creationId val="2059112220"/>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1" nodeType="clickEffect">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fade">
                                <p:cBhvr>
                                  <p:cTn id="6" dur="350"/>
                                  <p:tgtEl>
                                    <p:spTgt spid="4"/>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4" grpId="1" uiExpand="1"/>
    </p:bldLst>
  </p:timing>
</p:sld>
</file>

<file path=ppt/slides/slide2.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6F7F4"/>
        </a:solidFill>
      </p:bgPr>
    </p:bg>
    <p:spTree>
      <p:nvGrpSpPr>
        <p:cNvPr id="1" name=""/>
        <p:cNvGrpSpPr/>
        <p:nvPr/>
      </p:nvGrpSpPr>
      <p:grpSpPr>
        <a:xfrm/>
      </p:grpSpPr>
      <p:sp>
        <p:nvSpPr>
          <p:cNvPr id="8" name="fixed">
            <a:extLst>
              <a:ext uri="{FF2B5EF4-FFF2-40B4-BE49-F238E27FC236}">
                <ns2:creationId id="{9E826695-1739-4B92-A708-C59C22F4E8CB}"/>
              </a:ext>
            </a:extLst>
          </p:cNvPr>
          <p:cNvSpPr>
            <a:spLocks noGrp="1"/>
          </p:cNvSpPr>
          <p:nvPr/>
        </p:nvSpPr>
        <p:spPr>
          <a:xfrm>
            <a:off x="609600" y="523875"/>
            <a:ext cx="10906125" cy="1066800"/>
          </a:xfrm>
          <a:prstGeom prst="rect">
            <a:avLst/>
          </a:prstGeom>
          <a:noFill/>
          <a:ln w="0">
            <a:noFill/>
          </a:ln>
        </p:spPr>
        <p:txBody>
          <a:bodyPr>
            <a:noAutofit/>
          </a:bodyPr>
          <a:lstStyle/>
          <a:p>
            <a:pPr algn="l">
              <a:defRPr sz="3750" b="1">
                <a:solidFill>
                  <a:srgbClr val="172F3A"/>
                </a:solidFill>
                <a:latin typeface="Times New Roman"/>
                <a:ea typeface="Times New Roman"/>
                <a:cs typeface="Times New Roman"/>
              </a:defRPr>
            </a:pPr>
            <a:r>
              <a:rPr sz="3750" b="1">
                <a:solidFill>
                  <a:srgbClr val="172F3A"/>
                </a:solidFill>
                <a:latin typeface="Times New Roman"/>
                <a:ea typeface="Times New Roman"/>
                <a:cs typeface="Times New Roman"/>
              </a:rPr>
              <a:t>The examination monitoring problem</a:t>
            </a:r>
          </a:p>
        </p:txBody>
      </p:sp>
      <p:sp>
        <p:nvSpPr>
          <p:cNvPr id="2" name="fixed">
            <a:extLst>
              <a:ext uri="{FF2B5EF4-FFF2-40B4-BE49-F238E27FC236}">
                <ns2:creationId id="{328FD482-C945-419C-8428-C6F435AB782A}"/>
              </a:ext>
            </a:extLst>
          </p:cNvPr>
          <p:cNvSpPr>
            <a:spLocks noGrp="1"/>
          </p:cNvSpPr>
          <p:nvPr/>
        </p:nvSpPr>
        <p:spPr>
          <a:xfrm>
            <a:off x="11029950" y="6334125"/>
            <a:ext cx="523875" cy="285750"/>
          </a:xfrm>
          <a:prstGeom prst="rect">
            <a:avLst/>
          </a:prstGeom>
          <a:noFill/>
          <a:ln w="0">
            <a:noFill/>
          </a:ln>
        </p:spPr>
        <p:txBody>
          <a:bodyPr>
            <a:noAutofit/>
          </a:bodyPr>
          <a:lstStyle/>
          <a:p>
            <a:pPr algn="r">
              <a:defRPr sz="1500" b="0">
                <a:solidFill>
                  <a:srgbClr val="4C6471"/>
                </a:solidFill>
                <a:latin typeface="Times New Roman"/>
                <a:ea typeface="Times New Roman"/>
                <a:cs typeface="Times New Roman"/>
              </a:defRPr>
            </a:pPr>
            <a:r>
              <a:rPr sz="1500" b="0">
                <a:solidFill>
                  <a:srgbClr val="4C6471"/>
                </a:solidFill>
                <a:latin typeface="Times New Roman"/>
                <a:ea typeface="Times New Roman"/>
                <a:cs typeface="Times New Roman"/>
              </a:rPr>
              <a:t>02</a:t>
            </a:r>
          </a:p>
        </p:txBody>
      </p:sp>
      <p:sp>
        <p:nvSpPr>
          <p:cNvPr id="3" name="reveal-1">
            <a:extLst>
              <a:ext uri="{FF2B5EF4-FFF2-40B4-BE49-F238E27FC236}">
                <ns2:creationId id="{A1F940ED-2F58-4695-B26A-5F7307387C53}"/>
              </a:ext>
            </a:extLst>
          </p:cNvPr>
          <p:cNvSpPr>
            <a:spLocks noGrp="1"/>
          </p:cNvSpPr>
          <p:nvPr/>
        </p:nvSpPr>
        <p:spPr>
          <a:xfrm>
            <a:off x="609600" y="2000250"/>
            <a:ext cx="5095875" cy="476250"/>
          </a:xfrm>
          <a:prstGeom prst="rect">
            <a:avLst/>
          </a:prstGeom>
          <a:noFill/>
          <a:ln w="0">
            <a:noFill/>
          </a:ln>
        </p:spPr>
        <p:txBody>
          <a:bodyPr>
            <a:noAutofit/>
          </a:bodyPr>
          <a:lstStyle/>
          <a:p>
            <a:pPr algn="l">
              <a:defRPr sz="2550" b="1">
                <a:solidFill>
                  <a:srgbClr val="087F8C"/>
                </a:solidFill>
                <a:latin typeface="Times New Roman"/>
                <a:ea typeface="Times New Roman"/>
                <a:cs typeface="Times New Roman"/>
              </a:defRPr>
            </a:pPr>
            <a:r>
              <a:rPr sz="2550" b="1">
                <a:solidFill>
                  <a:srgbClr val="087F8C"/>
                </a:solidFill>
                <a:latin typeface="Times New Roman"/>
                <a:ea typeface="Times New Roman"/>
                <a:cs typeface="Times New Roman"/>
              </a:rPr>
              <a:t>Environment risks</a:t>
            </a:r>
          </a:p>
        </p:txBody>
      </p:sp>
      <p:sp>
        <p:nvSpPr>
          <p:cNvPr id="4" name="reveal-1">
            <a:extLst>
              <a:ext uri="{FF2B5EF4-FFF2-40B4-BE49-F238E27FC236}">
                <ns2:creationId id="{0ED6C035-34FC-4292-A4F9-5F70683A177D}"/>
              </a:ext>
            </a:extLst>
          </p:cNvPr>
          <p:cNvSpPr>
            <a:spLocks noGrp="1"/>
          </p:cNvSpPr>
          <p:nvPr/>
        </p:nvSpPr>
        <p:spPr>
          <a:xfrm>
            <a:off x="609600" y="2628900"/>
            <a:ext cx="5095875" cy="1619250"/>
          </a:xfrm>
          <a:prstGeom prst="rect">
            <a:avLst/>
          </a:prstGeom>
          <a:noFill/>
          <a:ln w="0">
            <a:noFill/>
          </a:ln>
        </p:spPr>
        <p:txBody>
          <a:bodyPr>
            <a:noAutofit/>
          </a:bodyPr>
          <a:lstStyle/>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Unapproved applications</a:t>
            </a:r>
          </a:p>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Pre-existing reference files</a:t>
            </a:r>
          </a:p>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Removable storage and extra displays</a:t>
            </a:r>
          </a:p>
        </p:txBody>
      </p:sp>
      <p:sp>
        <p:nvSpPr>
          <p:cNvPr id="5" name="reveal-2">
            <a:extLst>
              <a:ext uri="{FF2B5EF4-FFF2-40B4-BE49-F238E27FC236}">
                <ns2:creationId id="{9A50DFE4-2442-4F98-AF22-15EB90A2F08B}"/>
              </a:ext>
            </a:extLst>
          </p:cNvPr>
          <p:cNvSpPr>
            <a:spLocks noGrp="1"/>
          </p:cNvSpPr>
          <p:nvPr/>
        </p:nvSpPr>
        <p:spPr>
          <a:xfrm>
            <a:off x="6381750" y="2000250"/>
            <a:ext cx="5095875" cy="476250"/>
          </a:xfrm>
          <a:prstGeom prst="rect">
            <a:avLst/>
          </a:prstGeom>
          <a:noFill/>
          <a:ln w="0">
            <a:noFill/>
          </a:ln>
        </p:spPr>
        <p:txBody>
          <a:bodyPr>
            <a:noAutofit/>
          </a:bodyPr>
          <a:lstStyle/>
          <a:p>
            <a:pPr algn="l">
              <a:defRPr sz="2550" b="1">
                <a:solidFill>
                  <a:srgbClr val="087F8C"/>
                </a:solidFill>
                <a:latin typeface="Times New Roman"/>
                <a:ea typeface="Times New Roman"/>
                <a:cs typeface="Times New Roman"/>
              </a:defRPr>
            </a:pPr>
            <a:r>
              <a:rPr sz="2550" b="1">
                <a:solidFill>
                  <a:srgbClr val="087F8C"/>
                </a:solidFill>
                <a:latin typeface="Times New Roman"/>
                <a:ea typeface="Times New Roman"/>
                <a:cs typeface="Times New Roman"/>
              </a:rPr>
              <a:t>Monitoring risks</a:t>
            </a:r>
          </a:p>
        </p:txBody>
      </p:sp>
      <p:sp>
        <p:nvSpPr>
          <p:cNvPr id="6" name="reveal-2">
            <a:extLst>
              <a:ext uri="{FF2B5EF4-FFF2-40B4-BE49-F238E27FC236}">
                <ns2:creationId id="{32A47A87-C28F-4992-883C-73AB4A9CE4B2}"/>
              </a:ext>
            </a:extLst>
          </p:cNvPr>
          <p:cNvSpPr>
            <a:spLocks noGrp="1"/>
          </p:cNvSpPr>
          <p:nvPr/>
        </p:nvSpPr>
        <p:spPr>
          <a:xfrm>
            <a:off x="6381750" y="2628900"/>
            <a:ext cx="5095875" cy="1619250"/>
          </a:xfrm>
          <a:prstGeom prst="rect">
            <a:avLst/>
          </a:prstGeom>
          <a:noFill/>
          <a:ln w="0">
            <a:noFill/>
          </a:ln>
        </p:spPr>
        <p:txBody>
          <a:bodyPr>
            <a:noAutofit/>
          </a:bodyPr>
          <a:lstStyle/>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A second visible person</a:t>
            </a:r>
          </a:p>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A visible phone or sustained head turn</a:t>
            </a:r>
          </a:p>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Speech that differs from the enrolled voice</a:t>
            </a:r>
          </a:p>
        </p:txBody>
      </p:sp>
      <p:sp>
        <p:nvSpPr>
          <p:cNvPr id="7" name="reveal-3">
            <a:extLst>
              <a:ext uri="{FF2B5EF4-FFF2-40B4-BE49-F238E27FC236}">
                <ns2:creationId id="{DAA24CB7-F6FA-49BE-8636-3604242930D9}"/>
              </a:ext>
            </a:extLst>
          </p:cNvPr>
          <p:cNvSpPr>
            <a:spLocks noGrp="1"/>
          </p:cNvSpPr>
          <p:nvPr/>
        </p:nvSpPr>
        <p:spPr>
          <a:xfrm>
            <a:off x="609600" y="5257800"/>
            <a:ext cx="10668000" cy="695325"/>
          </a:xfrm>
          <a:prstGeom prst="rect">
            <a:avLst/>
          </a:prstGeom>
          <a:noFill/>
          <a:ln w="0">
            <a:noFill/>
          </a:ln>
        </p:spPr>
        <p:txBody>
          <a:bodyPr>
            <a:noAutofit/>
          </a:bodyPr>
          <a:lstStyle/>
          <a:p>
            <a:pPr algn="l">
              <a:defRPr sz="2775" b="1">
                <a:solidFill>
                  <a:srgbClr val="172F3A"/>
                </a:solidFill>
                <a:latin typeface="Times New Roman"/>
                <a:ea typeface="Times New Roman"/>
                <a:cs typeface="Times New Roman"/>
              </a:defRPr>
            </a:pPr>
            <a:r>
              <a:rPr sz="2775" b="1">
                <a:solidFill>
                  <a:srgbClr val="172F3A"/>
                </a:solidFill>
                <a:latin typeface="Times New Roman"/>
                <a:ea typeface="Times New Roman"/>
                <a:cs typeface="Times New Roman"/>
              </a:rPr>
              <a:t>Evidence gives the examiner context for a decision</a:t>
            </a:r>
          </a:p>
        </p:txBody>
      </p:sp>
    </p:spTree>
    <p:extLst>
      <p:ext uri="{BB962C8B-B14F-4D97-AF65-F5344CB8AC3E}">
        <ns3:creationId val="1544931296"/>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1" nodeType="click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350"/>
                                  <p:tgtEl>
                                    <p:spTgt spid="3"/>
                                  </p:tgtEl>
                                </p:cBhvr>
                              </p:animEffect>
                            </p:childTnLst>
                          </p:cTn>
                        </p:par>
                        <p:par>
                          <p:cTn id="7" presetID="10" presetClass="entr" presetSubtype="0" fill="hold" grpId="1" nodeType="clickEffect">
                            <p:stCondLst>
                              <p:cond delay="0"/>
                            </p:stCondLst>
                            <p:childTnLst>
                              <p:set>
                                <p:cBhvr>
                                  <p:cTn id="8" dur="1" fill="hold">
                                    <p:stCondLst>
                                      <p:cond delay="0"/>
                                    </p:stCondLst>
                                  </p:cTn>
                                  <p:tgtEl>
                                    <p:spTgt spid="4"/>
                                  </p:tgtEl>
                                  <p:attrNameLst>
                                    <p:attrName>style.visibility</p:attrName>
                                  </p:attrNameLst>
                                </p:cBhvr>
                                <p:to>
                                  <p:strVal val="visible"/>
                                </p:to>
                              </p:set>
                              <p:animEffect transition="in" filter="fade">
                                <p:cBhvr>
                                  <p:cTn id="9" dur="350"/>
                                  <p:tgtEl>
                                    <p:spTgt spid="4"/>
                                  </p:tgtEl>
                                </p:cBhvr>
                              </p:animEffect>
                            </p:childTnLst>
                          </p:cTn>
                        </p:par>
                      </p:childTnLst>
                    </p:cTn>
                  </p:par>
                  <p:par>
                    <p:cTn id="10" fill="hold">
                      <p:stCondLst>
                        <p:cond delay="indefinite"/>
                      </p:stCondLst>
                      <p:childTnLst>
                        <p:par>
                          <p:cTn id="11" presetID="10" presetClass="entr" presetSubtype="0" fill="hold" grpId="2"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350"/>
                                  <p:tgtEl>
                                    <p:spTgt spid="5"/>
                                  </p:tgtEl>
                                </p:cBhvr>
                              </p:animEffect>
                            </p:childTnLst>
                          </p:cTn>
                        </p:par>
                        <p:par>
                          <p:cTn id="14" presetID="10" presetClass="entr" presetSubtype="0" fill="hold" grpId="2" nodeType="click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350"/>
                                  <p:tgtEl>
                                    <p:spTgt spid="6"/>
                                  </p:tgtEl>
                                </p:cBhvr>
                              </p:animEffect>
                            </p:childTnLst>
                          </p:cTn>
                        </p:par>
                      </p:childTnLst>
                    </p:cTn>
                  </p:par>
                  <p:par>
                    <p:cTn id="17" fill="hold">
                      <p:stCondLst>
                        <p:cond delay="indefinite"/>
                      </p:stCondLst>
                      <p:childTnLst>
                        <p:par>
                          <p:cTn id="18" presetID="10" presetClass="entr" presetSubtype="0" fill="hold" grpId="3"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350"/>
                                  <p:tgtEl>
                                    <p:spTgt spid="7"/>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3" grpId="1" uiExpand="1"/>
      <p:bldP spid="4" grpId="1" uiExpand="1"/>
      <p:bldP spid="5" grpId="2" uiExpand="1"/>
      <p:bldP spid="6" grpId="2" uiExpand="1"/>
      <p:bldP spid="7" grpId="3" uiExpand="1"/>
    </p:bldLst>
  </p:timing>
</p:sld>
</file>

<file path=ppt/slides/slide3.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6F7F4"/>
        </a:solidFill>
      </p:bgPr>
    </p:bg>
    <p:spTree>
      <p:nvGrpSpPr>
        <p:cNvPr id="1" name=""/>
        <p:cNvGrpSpPr/>
        <p:nvPr/>
      </p:nvGrpSpPr>
      <p:grpSpPr>
        <a:xfrm/>
      </p:grpSpPr>
      <p:sp>
        <p:nvSpPr>
          <p:cNvPr id="8" name="fixed">
            <a:extLst>
              <a:ext uri="{FF2B5EF4-FFF2-40B4-BE49-F238E27FC236}">
                <ns2:creationId id="{57E42BB1-FC31-4F79-9DAF-8FC3AACC6A6C}"/>
              </a:ext>
            </a:extLst>
          </p:cNvPr>
          <p:cNvSpPr>
            <a:spLocks noGrp="1"/>
          </p:cNvSpPr>
          <p:nvPr/>
        </p:nvSpPr>
        <p:spPr>
          <a:xfrm>
            <a:off x="609600" y="523875"/>
            <a:ext cx="10906125" cy="1066800"/>
          </a:xfrm>
          <a:prstGeom prst="rect">
            <a:avLst/>
          </a:prstGeom>
          <a:noFill/>
          <a:ln w="0">
            <a:noFill/>
          </a:ln>
        </p:spPr>
        <p:txBody>
          <a:bodyPr>
            <a:noAutofit/>
          </a:bodyPr>
          <a:lstStyle/>
          <a:p>
            <a:pPr algn="l">
              <a:defRPr sz="3750" b="1">
                <a:solidFill>
                  <a:srgbClr val="172F3A"/>
                </a:solidFill>
                <a:latin typeface="Times New Roman"/>
                <a:ea typeface="Times New Roman"/>
                <a:cs typeface="Times New Roman"/>
              </a:defRPr>
            </a:pPr>
            <a:r>
              <a:rPr sz="3750" b="1">
                <a:solidFill>
                  <a:srgbClr val="172F3A"/>
                </a:solidFill>
                <a:latin typeface="Times New Roman"/>
                <a:ea typeface="Times New Roman"/>
                <a:cs typeface="Times New Roman"/>
              </a:rPr>
              <a:t>Project scope and objectives</a:t>
            </a:r>
          </a:p>
        </p:txBody>
      </p:sp>
      <p:sp>
        <p:nvSpPr>
          <p:cNvPr id="2" name="fixed">
            <a:extLst>
              <a:ext uri="{FF2B5EF4-FFF2-40B4-BE49-F238E27FC236}">
                <ns2:creationId id="{C87AE7AC-2266-4B47-B3FB-864BBAD06EBA}"/>
              </a:ext>
            </a:extLst>
          </p:cNvPr>
          <p:cNvSpPr>
            <a:spLocks noGrp="1"/>
          </p:cNvSpPr>
          <p:nvPr/>
        </p:nvSpPr>
        <p:spPr>
          <a:xfrm>
            <a:off x="11029950" y="6334125"/>
            <a:ext cx="523875" cy="285750"/>
          </a:xfrm>
          <a:prstGeom prst="rect">
            <a:avLst/>
          </a:prstGeom>
          <a:noFill/>
          <a:ln w="0">
            <a:noFill/>
          </a:ln>
        </p:spPr>
        <p:txBody>
          <a:bodyPr>
            <a:noAutofit/>
          </a:bodyPr>
          <a:lstStyle/>
          <a:p>
            <a:pPr algn="r">
              <a:defRPr sz="1500" b="0">
                <a:solidFill>
                  <a:srgbClr val="4C6471"/>
                </a:solidFill>
                <a:latin typeface="Times New Roman"/>
                <a:ea typeface="Times New Roman"/>
                <a:cs typeface="Times New Roman"/>
              </a:defRPr>
            </a:pPr>
            <a:r>
              <a:rPr sz="1500" b="0">
                <a:solidFill>
                  <a:srgbClr val="4C6471"/>
                </a:solidFill>
                <a:latin typeface="Times New Roman"/>
                <a:ea typeface="Times New Roman"/>
                <a:cs typeface="Times New Roman"/>
              </a:rPr>
              <a:t>03</a:t>
            </a:r>
          </a:p>
        </p:txBody>
      </p:sp>
      <p:sp>
        <p:nvSpPr>
          <p:cNvPr id="3" name="reveal-1">
            <a:extLst>
              <a:ext uri="{FF2B5EF4-FFF2-40B4-BE49-F238E27FC236}">
                <ns2:creationId id="{8BE465F7-AD1E-47C1-BB28-7C3296F75198}"/>
              </a:ext>
            </a:extLst>
          </p:cNvPr>
          <p:cNvSpPr>
            <a:spLocks noGrp="1"/>
          </p:cNvSpPr>
          <p:nvPr/>
        </p:nvSpPr>
        <p:spPr>
          <a:xfrm>
            <a:off x="609600" y="2000250"/>
            <a:ext cx="5095875" cy="476250"/>
          </a:xfrm>
          <a:prstGeom prst="rect">
            <a:avLst/>
          </a:prstGeom>
          <a:noFill/>
          <a:ln w="0">
            <a:noFill/>
          </a:ln>
        </p:spPr>
        <p:txBody>
          <a:bodyPr>
            <a:noAutofit/>
          </a:bodyPr>
          <a:lstStyle/>
          <a:p>
            <a:pPr algn="l">
              <a:defRPr sz="2550" b="1">
                <a:solidFill>
                  <a:srgbClr val="087F8C"/>
                </a:solidFill>
                <a:latin typeface="Times New Roman"/>
                <a:ea typeface="Times New Roman"/>
                <a:cs typeface="Times New Roman"/>
              </a:defRPr>
            </a:pPr>
            <a:r>
              <a:rPr sz="2550" b="1">
                <a:solidFill>
                  <a:srgbClr val="087F8C"/>
                </a:solidFill>
                <a:latin typeface="Times New Roman"/>
                <a:ea typeface="Times New Roman"/>
                <a:cs typeface="Times New Roman"/>
              </a:rPr>
              <a:t>Scope</a:t>
            </a:r>
          </a:p>
        </p:txBody>
      </p:sp>
      <p:sp>
        <p:nvSpPr>
          <p:cNvPr id="4" name="reveal-1">
            <a:extLst>
              <a:ext uri="{FF2B5EF4-FFF2-40B4-BE49-F238E27FC236}">
                <ns2:creationId id="{708F29AE-6879-40BF-87E5-E8C6D4AD48E9}"/>
              </a:ext>
            </a:extLst>
          </p:cNvPr>
          <p:cNvSpPr>
            <a:spLocks noGrp="1"/>
          </p:cNvSpPr>
          <p:nvPr/>
        </p:nvSpPr>
        <p:spPr>
          <a:xfrm>
            <a:off x="609600" y="2628900"/>
            <a:ext cx="5095875" cy="1619250"/>
          </a:xfrm>
          <a:prstGeom prst="rect">
            <a:avLst/>
          </a:prstGeom>
          <a:noFill/>
          <a:ln w="0">
            <a:noFill/>
          </a:ln>
        </p:spPr>
        <p:txBody>
          <a:bodyPr>
            <a:noAutofit/>
          </a:bodyPr>
          <a:lstStyle/>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Online examinations</a:t>
            </a:r>
          </a:p>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Physical-lab examinations</a:t>
            </a:r>
          </a:p>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Teacher and administrator workflows</a:t>
            </a:r>
          </a:p>
        </p:txBody>
      </p:sp>
      <p:sp>
        <p:nvSpPr>
          <p:cNvPr id="5" name="reveal-2">
            <a:extLst>
              <a:ext uri="{FF2B5EF4-FFF2-40B4-BE49-F238E27FC236}">
                <ns2:creationId id="{4A340134-061D-44DE-8515-F1C7F8C93B22}"/>
              </a:ext>
            </a:extLst>
          </p:cNvPr>
          <p:cNvSpPr>
            <a:spLocks noGrp="1"/>
          </p:cNvSpPr>
          <p:nvPr/>
        </p:nvSpPr>
        <p:spPr>
          <a:xfrm>
            <a:off x="6381750" y="2000250"/>
            <a:ext cx="5095875" cy="476250"/>
          </a:xfrm>
          <a:prstGeom prst="rect">
            <a:avLst/>
          </a:prstGeom>
          <a:noFill/>
          <a:ln w="0">
            <a:noFill/>
          </a:ln>
        </p:spPr>
        <p:txBody>
          <a:bodyPr>
            <a:noAutofit/>
          </a:bodyPr>
          <a:lstStyle/>
          <a:p>
            <a:pPr algn="l">
              <a:defRPr sz="2550" b="1">
                <a:solidFill>
                  <a:srgbClr val="087F8C"/>
                </a:solidFill>
                <a:latin typeface="Times New Roman"/>
                <a:ea typeface="Times New Roman"/>
                <a:cs typeface="Times New Roman"/>
              </a:defRPr>
            </a:pPr>
            <a:r>
              <a:rPr sz="2550" b="1">
                <a:solidFill>
                  <a:srgbClr val="087F8C"/>
                </a:solidFill>
                <a:latin typeface="Times New Roman"/>
                <a:ea typeface="Times New Roman"/>
                <a:cs typeface="Times New Roman"/>
              </a:rPr>
              <a:t>Objectives</a:t>
            </a:r>
          </a:p>
        </p:txBody>
      </p:sp>
      <p:sp>
        <p:nvSpPr>
          <p:cNvPr id="6" name="reveal-2">
            <a:extLst>
              <a:ext uri="{FF2B5EF4-FFF2-40B4-BE49-F238E27FC236}">
                <ns2:creationId id="{AE16752E-F6C5-4B52-99DC-5B7844B4A22F}"/>
              </a:ext>
            </a:extLst>
          </p:cNvPr>
          <p:cNvSpPr>
            <a:spLocks noGrp="1"/>
          </p:cNvSpPr>
          <p:nvPr/>
        </p:nvSpPr>
        <p:spPr>
          <a:xfrm>
            <a:off x="6381750" y="2628900"/>
            <a:ext cx="5095875" cy="1619250"/>
          </a:xfrm>
          <a:prstGeom prst="rect">
            <a:avLst/>
          </a:prstGeom>
          <a:noFill/>
          <a:ln w="0">
            <a:noFill/>
          </a:ln>
        </p:spPr>
        <p:txBody>
          <a:bodyPr>
            <a:noAutofit/>
          </a:bodyPr>
          <a:lstStyle/>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Restrict the exam environment</a:t>
            </a:r>
          </a:p>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Preserve evidence through interruptions</a:t>
            </a:r>
          </a:p>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Support examiner review and submission</a:t>
            </a:r>
          </a:p>
        </p:txBody>
      </p:sp>
      <p:sp>
        <p:nvSpPr>
          <p:cNvPr id="7" name="fixed">
            <a:extLst>
              <a:ext uri="{FF2B5EF4-FFF2-40B4-BE49-F238E27FC236}">
                <ns2:creationId id="{5A593D27-3755-4A94-928F-989A9A773C9B}"/>
              </a:ext>
            </a:extLst>
          </p:cNvPr>
          <p:cNvSpPr>
            <a:spLocks noGrp="1"/>
          </p:cNvSpPr>
          <p:nvPr/>
        </p:nvSpPr>
        <p:spPr>
          <a:xfrm>
            <a:off x="609600" y="5953125"/>
            <a:ext cx="10668000" cy="457200"/>
          </a:xfrm>
          <a:prstGeom prst="rect">
            <a:avLst/>
          </a:prstGeom>
          <a:noFill/>
          <a:ln w="0">
            <a:noFill/>
          </a:ln>
        </p:spPr>
        <p:txBody>
          <a:bodyPr>
            <a:noAutofit/>
          </a:bodyPr>
          <a:lstStyle/>
          <a:p>
            <a:pPr algn="l">
              <a:defRPr sz="1725" b="0">
                <a:solidFill>
                  <a:srgbClr val="4C6471"/>
                </a:solidFill>
                <a:latin typeface="Times New Roman"/>
                <a:ea typeface="Times New Roman"/>
                <a:cs typeface="Times New Roman"/>
              </a:defRPr>
            </a:pPr>
            <a:r>
              <a:rPr sz="1725" b="0">
                <a:solidFill>
                  <a:srgbClr val="4C6471"/>
                </a:solidFill>
                <a:latin typeface="Times New Roman"/>
                <a:ea typeface="Times New Roman"/>
                <a:cs typeface="Times New Roman"/>
              </a:rPr>
              <a:t>AI produces review signals. The examiner makes the final judgment.</a:t>
            </a:r>
          </a:p>
        </p:txBody>
      </p:sp>
    </p:spTree>
    <p:extLst>
      <p:ext uri="{BB962C8B-B14F-4D97-AF65-F5344CB8AC3E}">
        <ns3:creationId val="2044609213"/>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1" nodeType="click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350"/>
                                  <p:tgtEl>
                                    <p:spTgt spid="3"/>
                                  </p:tgtEl>
                                </p:cBhvr>
                              </p:animEffect>
                            </p:childTnLst>
                          </p:cTn>
                        </p:par>
                        <p:par>
                          <p:cTn id="7" presetID="10" presetClass="entr" presetSubtype="0" fill="hold" grpId="1" nodeType="clickEffect">
                            <p:stCondLst>
                              <p:cond delay="0"/>
                            </p:stCondLst>
                            <p:childTnLst>
                              <p:set>
                                <p:cBhvr>
                                  <p:cTn id="8" dur="1" fill="hold">
                                    <p:stCondLst>
                                      <p:cond delay="0"/>
                                    </p:stCondLst>
                                  </p:cTn>
                                  <p:tgtEl>
                                    <p:spTgt spid="4"/>
                                  </p:tgtEl>
                                  <p:attrNameLst>
                                    <p:attrName>style.visibility</p:attrName>
                                  </p:attrNameLst>
                                </p:cBhvr>
                                <p:to>
                                  <p:strVal val="visible"/>
                                </p:to>
                              </p:set>
                              <p:animEffect transition="in" filter="fade">
                                <p:cBhvr>
                                  <p:cTn id="9" dur="350"/>
                                  <p:tgtEl>
                                    <p:spTgt spid="4"/>
                                  </p:tgtEl>
                                </p:cBhvr>
                              </p:animEffect>
                            </p:childTnLst>
                          </p:cTn>
                        </p:par>
                      </p:childTnLst>
                    </p:cTn>
                  </p:par>
                  <p:par>
                    <p:cTn id="10" fill="hold">
                      <p:stCondLst>
                        <p:cond delay="indefinite"/>
                      </p:stCondLst>
                      <p:childTnLst>
                        <p:par>
                          <p:cTn id="11" presetID="10" presetClass="entr" presetSubtype="0" fill="hold" grpId="2"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350"/>
                                  <p:tgtEl>
                                    <p:spTgt spid="5"/>
                                  </p:tgtEl>
                                </p:cBhvr>
                              </p:animEffect>
                            </p:childTnLst>
                          </p:cTn>
                        </p:par>
                        <p:par>
                          <p:cTn id="14" presetID="10" presetClass="entr" presetSubtype="0" fill="hold" grpId="2" nodeType="click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350"/>
                                  <p:tgtEl>
                                    <p:spTgt spid="6"/>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3" grpId="1" uiExpand="1"/>
      <p:bldP spid="4" grpId="1" uiExpand="1"/>
      <p:bldP spid="5" grpId="2" uiExpand="1"/>
      <p:bldP spid="6" grpId="2" uiExpand="1"/>
    </p:bldLst>
  </p:timing>
</p:sld>
</file>

<file path=ppt/slides/slide4.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6F7F4"/>
        </a:solidFill>
      </p:bgPr>
    </p:bg>
    <p:spTree>
      <p:nvGrpSpPr>
        <p:cNvPr id="1" name=""/>
        <p:cNvGrpSpPr/>
        <p:nvPr/>
      </p:nvGrpSpPr>
      <p:grpSpPr>
        <a:xfrm/>
      </p:grpSpPr>
      <p:sp>
        <p:nvSpPr>
          <p:cNvPr id="5" name="fixed">
            <a:extLst>
              <a:ext uri="{FF2B5EF4-FFF2-40B4-BE49-F238E27FC236}">
                <ns2:creationId id="{2BC683CA-C21B-4203-8716-53E9BFCA8212}"/>
              </a:ext>
            </a:extLst>
          </p:cNvPr>
          <p:cNvSpPr>
            <a:spLocks noGrp="1"/>
          </p:cNvSpPr>
          <p:nvPr/>
        </p:nvSpPr>
        <p:spPr>
          <a:xfrm>
            <a:off x="609600" y="523875"/>
            <a:ext cx="10906125" cy="1066800"/>
          </a:xfrm>
          <a:prstGeom prst="rect">
            <a:avLst/>
          </a:prstGeom>
          <a:noFill/>
          <a:ln w="0">
            <a:noFill/>
          </a:ln>
        </p:spPr>
        <p:txBody>
          <a:bodyPr>
            <a:noAutofit/>
          </a:bodyPr>
          <a:lstStyle/>
          <a:p>
            <a:pPr algn="l">
              <a:defRPr sz="3750" b="1">
                <a:solidFill>
                  <a:srgbClr val="172F3A"/>
                </a:solidFill>
                <a:latin typeface="Times New Roman"/>
                <a:ea typeface="Times New Roman"/>
                <a:cs typeface="Times New Roman"/>
              </a:defRPr>
            </a:pPr>
            <a:r>
              <a:rPr sz="3750" b="1">
                <a:solidFill>
                  <a:srgbClr val="172F3A"/>
                </a:solidFill>
                <a:latin typeface="Times New Roman"/>
                <a:ea typeface="Times New Roman"/>
                <a:cs typeface="Times New Roman"/>
              </a:rPr>
              <a:t>Module sequence</a:t>
            </a:r>
          </a:p>
        </p:txBody>
      </p:sp>
      <p:sp>
        <p:nvSpPr>
          <p:cNvPr id="2" name="fixed">
            <a:extLst>
              <a:ext uri="{FF2B5EF4-FFF2-40B4-BE49-F238E27FC236}">
                <ns2:creationId id="{EB08F831-8087-4FAA-9CE7-83FE726E4274}"/>
              </a:ext>
            </a:extLst>
          </p:cNvPr>
          <p:cNvSpPr>
            <a:spLocks noGrp="1"/>
          </p:cNvSpPr>
          <p:nvPr/>
        </p:nvSpPr>
        <p:spPr>
          <a:xfrm>
            <a:off x="11029950" y="6334125"/>
            <a:ext cx="523875" cy="285750"/>
          </a:xfrm>
          <a:prstGeom prst="rect">
            <a:avLst/>
          </a:prstGeom>
          <a:noFill/>
          <a:ln w="0">
            <a:noFill/>
          </a:ln>
        </p:spPr>
        <p:txBody>
          <a:bodyPr>
            <a:noAutofit/>
          </a:bodyPr>
          <a:lstStyle/>
          <a:p>
            <a:pPr algn="r">
              <a:defRPr sz="1500" b="0">
                <a:solidFill>
                  <a:srgbClr val="4C6471"/>
                </a:solidFill>
                <a:latin typeface="Times New Roman"/>
                <a:ea typeface="Times New Roman"/>
                <a:cs typeface="Times New Roman"/>
              </a:defRPr>
            </a:pPr>
            <a:r>
              <a:rPr sz="1500" b="0">
                <a:solidFill>
                  <a:srgbClr val="4C6471"/>
                </a:solidFill>
                <a:latin typeface="Times New Roman"/>
                <a:ea typeface="Times New Roman"/>
                <a:cs typeface="Times New Roman"/>
              </a:rPr>
              <a:t>04</a:t>
            </a:r>
          </a:p>
        </p:txBody>
      </p:sp>
      <p:graphicFrame>
        <p:nvGraphicFramePr>
          <p:cNvPr id="7" name=""/>
          <p:cNvGraphicFramePr/>
          <p:nvPr/>
        </p:nvGraphicFramePr>
        <p:xfrm>
          <a:off x="609600" y="1657350"/>
          <a:ext cx="10953750" cy="4267200"/>
        </p:xfrm>
        <a:graphic>
          <a:graphicData uri="http://schemas.openxmlformats.org/drawingml/2006/table">
            <a:tbl>
              <a:tblPr/>
              <a:tblGrid>
                <a:gridCol w="4286250"/>
                <a:gridCol w="6667500"/>
              </a:tblGrid>
              <a:tr h="474133">
                <a:tc>
                  <a:txBody>
                    <a:bodyPr/>
                    <a:lstStyle/>
                    <a:p>
                      <a:r>
                        <a:rPr sz="1875" b="1">
                          <a:solidFill>
                            <a:srgbClr val="FFFFFF"/>
                          </a:solidFill>
                          <a:latin typeface="Times New Roman"/>
                          <a:ea typeface="Times New Roman"/>
                          <a:cs typeface="Times New Roman"/>
                        </a:rPr>
                        <a:t>SCOPE MODULE</a:t>
                      </a:r>
                    </a:p>
                  </a:txBody>
                  <a:tcPr marL="91440" marR="91440" marT="45720" marB="45720">
                    <a:solidFill>
                      <a:srgbClr val="172F3A"/>
                    </a:solidFill>
                  </a:tcPr>
                </a:tc>
                <a:tc>
                  <a:txBody>
                    <a:bodyPr/>
                    <a:lstStyle/>
                    <a:p>
                      <a:r>
                        <a:rPr sz="1875" b="1">
                          <a:solidFill>
                            <a:srgbClr val="FFFFFF"/>
                          </a:solidFill>
                          <a:latin typeface="Times New Roman"/>
                          <a:ea typeface="Times New Roman"/>
                          <a:cs typeface="Times New Roman"/>
                        </a:rPr>
                        <a:t>PRESENTATION ORDER</a:t>
                      </a:r>
                    </a:p>
                  </a:txBody>
                  <a:tcPr marL="91440" marR="91440" marT="45720" marB="45720">
                    <a:solidFill>
                      <a:srgbClr val="172F3A"/>
                    </a:solidFill>
                  </a:tcPr>
                </a:tc>
              </a:tr>
              <a:tr h="474133">
                <a:tc>
                  <a:txBody>
                    <a:bodyPr/>
                    <a:lstStyle/>
                    <a:p>
                      <a:r>
                        <a:rPr sz="1875" b="0">
                          <a:solidFill>
                            <a:srgbClr val="172F3A"/>
                          </a:solidFill>
                          <a:latin typeface="Times New Roman"/>
                          <a:ea typeface="Times New Roman"/>
                          <a:cs typeface="Times New Roman"/>
                        </a:rPr>
                        <a:t>1  Secure environment</a:t>
                      </a:r>
                    </a:p>
                  </a:txBody>
                  <a:tcPr marL="91440" marR="91440" marT="45720" marB="45720">
                    <a:solidFill>
                      <a:srgbClr val="E7EEEA"/>
                    </a:solidFill>
                  </a:tcPr>
                </a:tc>
                <a:tc>
                  <a:txBody>
                    <a:bodyPr/>
                    <a:lstStyle/>
                    <a:p>
                      <a:r>
                        <a:rPr sz="1875" b="0">
                          <a:solidFill>
                            <a:srgbClr val="172F3A"/>
                          </a:solidFill>
                          <a:latin typeface="Times New Roman"/>
                          <a:ea typeface="Times New Roman"/>
                          <a:cs typeface="Times New Roman"/>
                        </a:rPr>
                        <a:t>Whitelist, file policy, USB and displays</a:t>
                      </a:r>
                    </a:p>
                  </a:txBody>
                  <a:tcPr marL="91440" marR="91440" marT="45720" marB="45720">
                    <a:solidFill>
                      <a:srgbClr val="E7EEEA"/>
                    </a:solidFill>
                  </a:tcPr>
                </a:tc>
              </a:tr>
              <a:tr h="474133">
                <a:tc>
                  <a:txBody>
                    <a:bodyPr/>
                    <a:lstStyle/>
                    <a:p>
                      <a:r>
                        <a:rPr sz="1875" b="0">
                          <a:solidFill>
                            <a:srgbClr val="172F3A"/>
                          </a:solidFill>
                          <a:latin typeface="Times New Roman"/>
                          <a:ea typeface="Times New Roman"/>
                          <a:cs typeface="Times New Roman"/>
                        </a:rPr>
                        <a:t>2  AI monitoring</a:t>
                      </a:r>
                    </a:p>
                  </a:txBody>
                  <a:tcPr marL="91440" marR="91440" marT="45720" marB="45720">
                    <a:solidFill>
                      <a:srgbClr val="F6F7F4"/>
                    </a:solidFill>
                  </a:tcPr>
                </a:tc>
                <a:tc>
                  <a:txBody>
                    <a:bodyPr/>
                    <a:lstStyle/>
                    <a:p>
                      <a:r>
                        <a:rPr sz="1875" b="0">
                          <a:solidFill>
                            <a:srgbClr val="172F3A"/>
                          </a:solidFill>
                          <a:latin typeface="Times New Roman"/>
                          <a:ea typeface="Times New Roman"/>
                          <a:cs typeface="Times New Roman"/>
                        </a:rPr>
                        <a:t>Faces, head direction and YOLO</a:t>
                      </a:r>
                    </a:p>
                  </a:txBody>
                  <a:tcPr marL="91440" marR="91440" marT="45720" marB="45720">
                    <a:solidFill>
                      <a:srgbClr val="F6F7F4"/>
                    </a:solidFill>
                  </a:tcPr>
                </a:tc>
              </a:tr>
              <a:tr h="474133">
                <a:tc>
                  <a:txBody>
                    <a:bodyPr/>
                    <a:lstStyle/>
                    <a:p>
                      <a:r>
                        <a:rPr sz="1875" b="0">
                          <a:solidFill>
                            <a:srgbClr val="172F3A"/>
                          </a:solidFill>
                          <a:latin typeface="Times New Roman"/>
                          <a:ea typeface="Times New Roman"/>
                          <a:cs typeface="Times New Roman"/>
                        </a:rPr>
                        <a:t>3  Evidence capture</a:t>
                      </a:r>
                    </a:p>
                  </a:txBody>
                  <a:tcPr marL="91440" marR="91440" marT="45720" marB="45720">
                    <a:solidFill>
                      <a:srgbClr val="E7EEEA"/>
                    </a:solidFill>
                  </a:tcPr>
                </a:tc>
                <a:tc>
                  <a:txBody>
                    <a:bodyPr/>
                    <a:lstStyle/>
                    <a:p>
                      <a:r>
                        <a:rPr sz="1875" b="0">
                          <a:solidFill>
                            <a:srgbClr val="172F3A"/>
                          </a:solidFill>
                          <a:latin typeface="Times New Roman"/>
                          <a:ea typeface="Times New Roman"/>
                          <a:cs typeface="Times New Roman"/>
                        </a:rPr>
                        <a:t>Evidence files, retries and late recovery</a:t>
                      </a:r>
                    </a:p>
                  </a:txBody>
                  <a:tcPr marL="91440" marR="91440" marT="45720" marB="45720">
                    <a:solidFill>
                      <a:srgbClr val="E7EEEA"/>
                    </a:solidFill>
                  </a:tcPr>
                </a:tc>
              </a:tr>
              <a:tr h="474133">
                <a:tc>
                  <a:txBody>
                    <a:bodyPr/>
                    <a:lstStyle/>
                    <a:p>
                      <a:r>
                        <a:rPr sz="1875" b="0">
                          <a:solidFill>
                            <a:srgbClr val="172F3A"/>
                          </a:solidFill>
                          <a:latin typeface="Times New Roman"/>
                          <a:ea typeface="Times New Roman"/>
                          <a:cs typeface="Times New Roman"/>
                        </a:rPr>
                        <a:t>4  System self-check</a:t>
                      </a:r>
                    </a:p>
                  </a:txBody>
                  <a:tcPr marL="91440" marR="91440" marT="45720" marB="45720">
                    <a:solidFill>
                      <a:srgbClr val="F6F7F4"/>
                    </a:solidFill>
                  </a:tcPr>
                </a:tc>
                <a:tc>
                  <a:txBody>
                    <a:bodyPr/>
                    <a:lstStyle/>
                    <a:p>
                      <a:r>
                        <a:rPr sz="1875" b="0">
                          <a:solidFill>
                            <a:srgbClr val="172F3A"/>
                          </a:solidFill>
                          <a:latin typeface="Times New Roman"/>
                          <a:ea typeface="Times New Roman"/>
                          <a:cs typeface="Times New Roman"/>
                        </a:rPr>
                        <a:t>Hardware and exam readiness</a:t>
                      </a:r>
                    </a:p>
                  </a:txBody>
                  <a:tcPr marL="91440" marR="91440" marT="45720" marB="45720">
                    <a:solidFill>
                      <a:srgbClr val="F6F7F4"/>
                    </a:solidFill>
                  </a:tcPr>
                </a:tc>
              </a:tr>
              <a:tr h="474133">
                <a:tc>
                  <a:txBody>
                    <a:bodyPr/>
                    <a:lstStyle/>
                    <a:p>
                      <a:r>
                        <a:rPr sz="1875" b="0">
                          <a:solidFill>
                            <a:srgbClr val="172F3A"/>
                          </a:solidFill>
                          <a:latin typeface="Times New Roman"/>
                          <a:ea typeface="Times New Roman"/>
                          <a:cs typeface="Times New Roman"/>
                        </a:rPr>
                        <a:t>5  Severity scoring</a:t>
                      </a:r>
                    </a:p>
                  </a:txBody>
                  <a:tcPr marL="91440" marR="91440" marT="45720" marB="45720">
                    <a:solidFill>
                      <a:srgbClr val="E7EEEA"/>
                    </a:solidFill>
                  </a:tcPr>
                </a:tc>
                <a:tc>
                  <a:txBody>
                    <a:bodyPr/>
                    <a:lstStyle/>
                    <a:p>
                      <a:r>
                        <a:rPr sz="1875" b="0">
                          <a:solidFill>
                            <a:srgbClr val="172F3A"/>
                          </a:solidFill>
                          <a:latin typeface="Times New Roman"/>
                          <a:ea typeface="Times New Roman"/>
                          <a:cs typeface="Times New Roman"/>
                        </a:rPr>
                        <a:t>Weighted review priority</a:t>
                      </a:r>
                    </a:p>
                  </a:txBody>
                  <a:tcPr marL="91440" marR="91440" marT="45720" marB="45720">
                    <a:solidFill>
                      <a:srgbClr val="E7EEEA"/>
                    </a:solidFill>
                  </a:tcPr>
                </a:tc>
              </a:tr>
              <a:tr h="474133">
                <a:tc>
                  <a:txBody>
                    <a:bodyPr/>
                    <a:lstStyle/>
                    <a:p>
                      <a:r>
                        <a:rPr sz="1875" b="0">
                          <a:solidFill>
                            <a:srgbClr val="172F3A"/>
                          </a:solidFill>
                          <a:latin typeface="Times New Roman"/>
                          <a:ea typeface="Times New Roman"/>
                          <a:cs typeface="Times New Roman"/>
                        </a:rPr>
                        <a:t>6  Examiner dashboard</a:t>
                      </a:r>
                    </a:p>
                  </a:txBody>
                  <a:tcPr marL="91440" marR="91440" marT="45720" marB="45720">
                    <a:solidFill>
                      <a:srgbClr val="F6F7F4"/>
                    </a:solidFill>
                  </a:tcPr>
                </a:tc>
                <a:tc>
                  <a:txBody>
                    <a:bodyPr/>
                    <a:lstStyle/>
                    <a:p>
                      <a:r>
                        <a:rPr sz="1875" b="0">
                          <a:solidFill>
                            <a:srgbClr val="172F3A"/>
                          </a:solidFill>
                          <a:latin typeface="Times New Roman"/>
                          <a:ea typeface="Times New Roman"/>
                          <a:cs typeface="Times New Roman"/>
                        </a:rPr>
                        <a:t>Live monitoring and interventions</a:t>
                      </a:r>
                    </a:p>
                  </a:txBody>
                  <a:tcPr marL="91440" marR="91440" marT="45720" marB="45720">
                    <a:solidFill>
                      <a:srgbClr val="F6F7F4"/>
                    </a:solidFill>
                  </a:tcPr>
                </a:tc>
              </a:tr>
              <a:tr h="474133">
                <a:tc>
                  <a:txBody>
                    <a:bodyPr/>
                    <a:lstStyle/>
                    <a:p>
                      <a:r>
                        <a:rPr sz="1875" b="0">
                          <a:solidFill>
                            <a:srgbClr val="172F3A"/>
                          </a:solidFill>
                          <a:latin typeface="Times New Roman"/>
                          <a:ea typeface="Times New Roman"/>
                          <a:cs typeface="Times New Roman"/>
                        </a:rPr>
                        <a:t>7  Answer submission</a:t>
                      </a:r>
                    </a:p>
                  </a:txBody>
                  <a:tcPr marL="91440" marR="91440" marT="45720" marB="45720">
                    <a:solidFill>
                      <a:srgbClr val="E7EEEA"/>
                    </a:solidFill>
                  </a:tcPr>
                </a:tc>
                <a:tc>
                  <a:txBody>
                    <a:bodyPr/>
                    <a:lstStyle/>
                    <a:p>
                      <a:r>
                        <a:rPr sz="1875" b="0">
                          <a:solidFill>
                            <a:srgbClr val="172F3A"/>
                          </a:solidFill>
                          <a:latin typeface="Times New Roman"/>
                          <a:ea typeface="Times New Roman"/>
                          <a:cs typeface="Times New Roman"/>
                        </a:rPr>
                        <a:t>Typed answers and attached files</a:t>
                      </a:r>
                    </a:p>
                  </a:txBody>
                  <a:tcPr marL="91440" marR="91440" marT="45720" marB="45720">
                    <a:solidFill>
                      <a:srgbClr val="E7EEEA"/>
                    </a:solidFill>
                  </a:tcPr>
                </a:tc>
              </a:tr>
              <a:tr h="474133">
                <a:tc>
                  <a:txBody>
                    <a:bodyPr/>
                    <a:lstStyle/>
                    <a:p>
                      <a:r>
                        <a:rPr sz="1875" b="0">
                          <a:solidFill>
                            <a:srgbClr val="172F3A"/>
                          </a:solidFill>
                          <a:latin typeface="Times New Roman"/>
                          <a:ea typeface="Times New Roman"/>
                          <a:cs typeface="Times New Roman"/>
                        </a:rPr>
                        <a:t>8  Audit reporting</a:t>
                      </a:r>
                    </a:p>
                  </a:txBody>
                  <a:tcPr marL="91440" marR="91440" marT="45720" marB="45720">
                    <a:solidFill>
                      <a:srgbClr val="F6F7F4"/>
                    </a:solidFill>
                  </a:tcPr>
                </a:tc>
                <a:tc>
                  <a:txBody>
                    <a:bodyPr/>
                    <a:lstStyle/>
                    <a:p>
                      <a:r>
                        <a:rPr sz="1875" b="0">
                          <a:solidFill>
                            <a:srgbClr val="172F3A"/>
                          </a:solidFill>
                          <a:latin typeface="Times New Roman"/>
                          <a:ea typeface="Times New Roman"/>
                          <a:cs typeface="Times New Roman"/>
                        </a:rPr>
                        <a:t>Historical summaries and exports</a:t>
                      </a:r>
                    </a:p>
                  </a:txBody>
                  <a:tcPr marL="91440" marR="91440" marT="45720" marB="45720">
                    <a:solidFill>
                      <a:srgbClr val="F6F7F4"/>
                    </a:solidFill>
                  </a:tcPr>
                </a:tc>
              </a:tr>
            </a:tbl>
          </a:graphicData>
        </a:graphic>
      </p:graphicFrame>
      <p:sp>
        <p:nvSpPr>
          <p:cNvPr id="4" name="fixed">
            <a:extLst>
              <a:ext uri="{FF2B5EF4-FFF2-40B4-BE49-F238E27FC236}">
                <ns2:creationId id="{ADCB160E-943D-44CA-B8B2-1051FA590206}"/>
              </a:ext>
            </a:extLst>
          </p:cNvPr>
          <p:cNvSpPr>
            <a:spLocks noGrp="1"/>
          </p:cNvSpPr>
          <p:nvPr/>
        </p:nvSpPr>
        <p:spPr>
          <a:xfrm>
            <a:off x="609600" y="5953125"/>
            <a:ext cx="10668000" cy="457200"/>
          </a:xfrm>
          <a:prstGeom prst="rect">
            <a:avLst/>
          </a:prstGeom>
          <a:noFill/>
          <a:ln w="0">
            <a:noFill/>
          </a:ln>
        </p:spPr>
        <p:txBody>
          <a:bodyPr>
            <a:noAutofit/>
          </a:bodyPr>
          <a:lstStyle/>
          <a:p>
            <a:pPr algn="l">
              <a:defRPr sz="1725" b="0">
                <a:solidFill>
                  <a:srgbClr val="4C6471"/>
                </a:solidFill>
                <a:latin typeface="Times New Roman"/>
                <a:ea typeface="Times New Roman"/>
                <a:cs typeface="Times New Roman"/>
              </a:defRPr>
            </a:pPr>
            <a:r>
              <a:rPr sz="1725" b="0">
                <a:solidFill>
                  <a:srgbClr val="4C6471"/>
                </a:solidFill>
                <a:latin typeface="Times New Roman"/>
                <a:ea typeface="Times New Roman"/>
                <a:cs typeface="Times New Roman"/>
              </a:rPr>
              <a:t>Added voice verification follows vision. Admin management follows reporting.</a:t>
            </a:r>
          </a:p>
        </p:txBody>
      </p:sp>
    </p:spTree>
    <p:extLst>
      <p:ext uri="{BB962C8B-B14F-4D97-AF65-F5344CB8AC3E}">
        <ns3:creationId val="905686815"/>
      </p:ext>
    </p:extLst>
  </p:cSld>
  <p:transition spd="med" advClick="1">
    <p:fade/>
  </p:transition>
</p:sld>
</file>

<file path=ppt/slides/slide5.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6F7F4"/>
        </a:solidFill>
      </p:bgPr>
    </p:bg>
    <p:spTree>
      <p:nvGrpSpPr>
        <p:cNvPr id="1" name=""/>
        <p:cNvGrpSpPr/>
        <p:nvPr/>
      </p:nvGrpSpPr>
      <p:grpSpPr>
        <a:xfrm/>
      </p:grpSpPr>
      <p:sp>
        <p:nvSpPr>
          <p:cNvPr id="15" name="fixed">
            <a:extLst>
              <a:ext uri="{FF2B5EF4-FFF2-40B4-BE49-F238E27FC236}">
                <ns2:creationId id="{54E115FC-B891-4E87-89BF-9916CAF5551B}"/>
              </a:ext>
            </a:extLst>
          </p:cNvPr>
          <p:cNvSpPr>
            <a:spLocks noGrp="1"/>
          </p:cNvSpPr>
          <p:nvPr/>
        </p:nvSpPr>
        <p:spPr>
          <a:xfrm>
            <a:off x="609600" y="523875"/>
            <a:ext cx="10906125" cy="1066800"/>
          </a:xfrm>
          <a:prstGeom prst="rect">
            <a:avLst/>
          </a:prstGeom>
          <a:noFill/>
          <a:ln w="0">
            <a:noFill/>
          </a:ln>
        </p:spPr>
        <p:txBody>
          <a:bodyPr>
            <a:noAutofit/>
          </a:bodyPr>
          <a:lstStyle/>
          <a:p>
            <a:pPr algn="l">
              <a:defRPr sz="3750" b="1">
                <a:solidFill>
                  <a:srgbClr val="172F3A"/>
                </a:solidFill>
                <a:latin typeface="Times New Roman"/>
                <a:ea typeface="Times New Roman"/>
                <a:cs typeface="Times New Roman"/>
              </a:defRPr>
            </a:pPr>
            <a:r>
              <a:rPr sz="3750" b="1">
                <a:solidFill>
                  <a:srgbClr val="172F3A"/>
                </a:solidFill>
                <a:latin typeface="Times New Roman"/>
                <a:ea typeface="Times New Roman"/>
                <a:cs typeface="Times New Roman"/>
              </a:rPr>
              <a:t>System architecture</a:t>
            </a:r>
          </a:p>
        </p:txBody>
      </p:sp>
      <p:sp>
        <p:nvSpPr>
          <p:cNvPr id="2" name="fixed">
            <a:extLst>
              <a:ext uri="{FF2B5EF4-FFF2-40B4-BE49-F238E27FC236}">
                <ns2:creationId id="{31E4BEBC-05C5-4ADD-85E8-3C4E32D0320C}"/>
              </a:ext>
            </a:extLst>
          </p:cNvPr>
          <p:cNvSpPr>
            <a:spLocks noGrp="1"/>
          </p:cNvSpPr>
          <p:nvPr/>
        </p:nvSpPr>
        <p:spPr>
          <a:xfrm>
            <a:off x="11029950" y="6334125"/>
            <a:ext cx="523875" cy="285750"/>
          </a:xfrm>
          <a:prstGeom prst="rect">
            <a:avLst/>
          </a:prstGeom>
          <a:noFill/>
          <a:ln w="0">
            <a:noFill/>
          </a:ln>
        </p:spPr>
        <p:txBody>
          <a:bodyPr>
            <a:noAutofit/>
          </a:bodyPr>
          <a:lstStyle/>
          <a:p>
            <a:pPr algn="r">
              <a:defRPr sz="1500" b="0">
                <a:solidFill>
                  <a:srgbClr val="4C6471"/>
                </a:solidFill>
                <a:latin typeface="Times New Roman"/>
                <a:ea typeface="Times New Roman"/>
                <a:cs typeface="Times New Roman"/>
              </a:defRPr>
            </a:pPr>
            <a:r>
              <a:rPr sz="1500" b="0">
                <a:solidFill>
                  <a:srgbClr val="4C6471"/>
                </a:solidFill>
                <a:latin typeface="Times New Roman"/>
                <a:ea typeface="Times New Roman"/>
                <a:cs typeface="Times New Roman"/>
              </a:rPr>
              <a:t>05</a:t>
            </a:r>
          </a:p>
        </p:txBody>
      </p:sp>
      <p:sp>
        <p:nvSpPr>
          <p:cNvPr id="3" name="reveal-1">
            <a:extLst>
              <a:ext uri="{FF2B5EF4-FFF2-40B4-BE49-F238E27FC236}">
                <ns2:creationId id="{B1163E57-4980-4E98-A901-6EFC14429423}"/>
              </a:ext>
            </a:extLst>
          </p:cNvPr>
          <p:cNvSpPr>
            <a:spLocks noGrp="1"/>
          </p:cNvSpPr>
          <p:nvPr/>
        </p:nvSpPr>
        <p:spPr>
          <a:xfrm>
            <a:off x="609600" y="2571750"/>
            <a:ext cx="2395538"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Python monitors</a:t>
            </a:r>
          </a:p>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Vision / voice / OS</a:t>
            </a:r>
          </a:p>
        </p:txBody>
      </p:sp>
      <p:sp>
        <p:nvSpPr>
          <p:cNvPr id="4" name="reveal-2">
            <a:extLst>
              <a:ext uri="{FF2B5EF4-FFF2-40B4-BE49-F238E27FC236}">
                <ns2:creationId id="{9245A8CA-64C5-4A7C-8E27-4FB51CF6FF3F}"/>
              </a:ext>
            </a:extLst>
          </p:cNvPr>
          <p:cNvSpPr>
            <a:spLocks noGrp="1"/>
          </p:cNvSpPr>
          <p:nvPr/>
        </p:nvSpPr>
        <p:spPr>
          <a:xfrm>
            <a:off x="3462338" y="2571750"/>
            <a:ext cx="2395538"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Electron app</a:t>
            </a:r>
          </a:p>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Kiosk / IPC / queue</a:t>
            </a:r>
          </a:p>
        </p:txBody>
      </p:sp>
      <p:sp>
        <p:nvSpPr>
          <p:cNvPr id="5" name="reveal-3">
            <a:extLst>
              <a:ext uri="{FF2B5EF4-FFF2-40B4-BE49-F238E27FC236}">
                <ns2:creationId id="{269FBF19-FEC2-43C2-8805-8A606C052613}"/>
              </a:ext>
            </a:extLst>
          </p:cNvPr>
          <p:cNvSpPr>
            <a:spLocks noGrp="1"/>
          </p:cNvSpPr>
          <p:nvPr/>
        </p:nvSpPr>
        <p:spPr>
          <a:xfrm>
            <a:off x="6315075" y="2571750"/>
            <a:ext cx="2395538"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Express server</a:t>
            </a:r>
          </a:p>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Validation / scoring</a:t>
            </a:r>
          </a:p>
        </p:txBody>
      </p:sp>
      <p:sp>
        <p:nvSpPr>
          <p:cNvPr id="6" name="reveal-4">
            <a:extLst>
              <a:ext uri="{FF2B5EF4-FFF2-40B4-BE49-F238E27FC236}">
                <ns2:creationId id="{8E7B73D5-1C57-413C-B1FF-FD23BE1B5AFB}"/>
              </a:ext>
            </a:extLst>
          </p:cNvPr>
          <p:cNvSpPr>
            <a:spLocks noGrp="1"/>
          </p:cNvSpPr>
          <p:nvPr/>
        </p:nvSpPr>
        <p:spPr>
          <a:xfrm>
            <a:off x="9167813" y="2571750"/>
            <a:ext cx="2395538"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React dashboard</a:t>
            </a:r>
          </a:p>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Examiner review</a:t>
            </a:r>
          </a:p>
        </p:txBody>
      </p:sp>
      <p:cxnSp>
        <p:nvCxnSpPr>
          <p:cNvPr id="21" name="reveal-2"/>
          <p:cNvCxnSpPr>
            <a:stCxn id="3" idx="3"/>
            <a:endCxn id="4" idx="1"/>
          </p:cNvCxnSpPr>
          <p:nvPr/>
        </p:nvCxnSpPr>
        <p:spPr>
          <a:xfrm>
            <a:off x="3005138" y="3048000"/>
            <a:ext cx="457200" cy="0"/>
          </a:xfrm>
          <a:prstGeom prst="straightConnector1">
            <a:avLst/>
          </a:prstGeom>
          <a:ln w="19050">
            <a:solidFill>
              <a:srgbClr val="087F8C"/>
            </a:solidFill>
            <a:tailEnd type="arrow" w="med" len="med"/>
          </a:ln>
        </p:spPr>
      </p:cxnSp>
      <p:cxnSp>
        <p:nvCxnSpPr>
          <p:cNvPr id="22" name="reveal-3"/>
          <p:cNvCxnSpPr>
            <a:stCxn id="4" idx="3"/>
            <a:endCxn id="5" idx="1"/>
          </p:cNvCxnSpPr>
          <p:nvPr/>
        </p:nvCxnSpPr>
        <p:spPr>
          <a:xfrm>
            <a:off x="5857876" y="3048000"/>
            <a:ext cx="457199" cy="0"/>
          </a:xfrm>
          <a:prstGeom prst="straightConnector1">
            <a:avLst/>
          </a:prstGeom>
          <a:ln w="19050">
            <a:solidFill>
              <a:srgbClr val="087F8C"/>
            </a:solidFill>
            <a:tailEnd type="arrow" w="med" len="med"/>
          </a:ln>
        </p:spPr>
      </p:cxnSp>
      <p:cxnSp>
        <p:nvCxnSpPr>
          <p:cNvPr id="23" name="reveal-4"/>
          <p:cNvCxnSpPr>
            <a:stCxn id="5" idx="3"/>
            <a:endCxn id="6" idx="1"/>
          </p:cNvCxnSpPr>
          <p:nvPr/>
        </p:nvCxnSpPr>
        <p:spPr>
          <a:xfrm>
            <a:off x="8710613" y="3048000"/>
            <a:ext cx="457200" cy="0"/>
          </a:xfrm>
          <a:prstGeom prst="straightConnector1">
            <a:avLst/>
          </a:prstGeom>
          <a:ln w="19050">
            <a:solidFill>
              <a:srgbClr val="087F8C"/>
            </a:solidFill>
            <a:tailEnd type="arrow" w="med" len="med"/>
          </a:ln>
        </p:spPr>
      </p:cxnSp>
      <p:sp>
        <p:nvSpPr>
          <p:cNvPr id="10" name="reveal-1">
            <a:extLst>
              <a:ext uri="{FF2B5EF4-FFF2-40B4-BE49-F238E27FC236}">
                <ns2:creationId id="{35AA39B4-7D6C-41EC-927A-60EB943F0F2F}"/>
              </a:ext>
            </a:extLst>
          </p:cNvPr>
          <p:cNvSpPr>
            <a:spLocks noGrp="1"/>
          </p:cNvSpPr>
          <p:nvPr/>
        </p:nvSpPr>
        <p:spPr>
          <a:xfrm>
            <a:off x="609600" y="3829050"/>
            <a:ext cx="2428875" cy="838200"/>
          </a:xfrm>
          <a:prstGeom prst="rect">
            <a:avLst/>
          </a:prstGeom>
          <a:noFill/>
          <a:ln w="0">
            <a:noFill/>
          </a:ln>
        </p:spPr>
        <p:txBody>
          <a:bodyPr>
            <a:noAutofit/>
          </a:bodyPr>
          <a:lstStyle/>
          <a:p>
            <a:pPr algn="l">
              <a:defRPr sz="2025" b="0">
                <a:solidFill>
                  <a:srgbClr val="4C6471"/>
                </a:solidFill>
                <a:latin typeface="Times New Roman"/>
                <a:ea typeface="Times New Roman"/>
                <a:cs typeface="Times New Roman"/>
              </a:defRPr>
            </a:pPr>
            <a:r>
              <a:rPr sz="2025" b="0">
                <a:solidFill>
                  <a:srgbClr val="4C6471"/>
                </a:solidFill>
                <a:latin typeface="Times New Roman"/>
                <a:ea typeface="Times New Roman"/>
                <a:cs typeface="Times New Roman"/>
              </a:rPr>
              <a:t>SQLite spool</a:t>
            </a:r>
          </a:p>
        </p:txBody>
      </p:sp>
      <p:sp>
        <p:nvSpPr>
          <p:cNvPr id="11" name="reveal-2">
            <a:extLst>
              <a:ext uri="{FF2B5EF4-FFF2-40B4-BE49-F238E27FC236}">
                <ns2:creationId id="{EB416E32-7E4F-4C49-BF54-59915C81D10D}"/>
              </a:ext>
            </a:extLst>
          </p:cNvPr>
          <p:cNvSpPr>
            <a:spLocks noGrp="1"/>
          </p:cNvSpPr>
          <p:nvPr/>
        </p:nvSpPr>
        <p:spPr>
          <a:xfrm>
            <a:off x="3467100" y="3829050"/>
            <a:ext cx="2428875" cy="838200"/>
          </a:xfrm>
          <a:prstGeom prst="rect">
            <a:avLst/>
          </a:prstGeom>
          <a:noFill/>
          <a:ln w="0">
            <a:noFill/>
          </a:ln>
        </p:spPr>
        <p:txBody>
          <a:bodyPr>
            <a:noAutofit/>
          </a:bodyPr>
          <a:lstStyle/>
          <a:p>
            <a:pPr algn="l">
              <a:defRPr sz="2025" b="0">
                <a:solidFill>
                  <a:srgbClr val="4C6471"/>
                </a:solidFill>
                <a:latin typeface="Times New Roman"/>
                <a:ea typeface="Times New Roman"/>
                <a:cs typeface="Times New Roman"/>
              </a:defRPr>
            </a:pPr>
            <a:r>
              <a:rPr sz="2025" b="0">
                <a:solidFill>
                  <a:srgbClr val="4C6471"/>
                </a:solidFill>
                <a:latin typeface="Times New Roman"/>
                <a:ea typeface="Times New Roman"/>
                <a:cs typeface="Times New Roman"/>
              </a:rPr>
              <a:t>Disk-backed retry queue</a:t>
            </a:r>
          </a:p>
        </p:txBody>
      </p:sp>
      <p:sp>
        <p:nvSpPr>
          <p:cNvPr id="12" name="reveal-3">
            <a:extLst>
              <a:ext uri="{FF2B5EF4-FFF2-40B4-BE49-F238E27FC236}">
                <ns2:creationId id="{183CB8C4-5602-4D05-84AB-9043C0E0B75A}"/>
              </a:ext>
            </a:extLst>
          </p:cNvPr>
          <p:cNvSpPr>
            <a:spLocks noGrp="1"/>
          </p:cNvSpPr>
          <p:nvPr/>
        </p:nvSpPr>
        <p:spPr>
          <a:xfrm>
            <a:off x="6324600" y="3829050"/>
            <a:ext cx="2428875" cy="838200"/>
          </a:xfrm>
          <a:prstGeom prst="rect">
            <a:avLst/>
          </a:prstGeom>
          <a:noFill/>
          <a:ln w="0">
            <a:noFill/>
          </a:ln>
        </p:spPr>
        <p:txBody>
          <a:bodyPr>
            <a:noAutofit/>
          </a:bodyPr>
          <a:lstStyle/>
          <a:p>
            <a:pPr algn="l">
              <a:defRPr sz="2025" b="0">
                <a:solidFill>
                  <a:srgbClr val="4C6471"/>
                </a:solidFill>
                <a:latin typeface="Times New Roman"/>
                <a:ea typeface="Times New Roman"/>
                <a:cs typeface="Times New Roman"/>
              </a:defRPr>
            </a:pPr>
            <a:r>
              <a:rPr sz="2025" b="0">
                <a:solidFill>
                  <a:srgbClr val="4C6471"/>
                </a:solidFill>
                <a:latin typeface="Times New Roman"/>
                <a:ea typeface="Times New Roman"/>
                <a:cs typeface="Times New Roman"/>
              </a:rPr>
              <a:t>MongoDB + media files</a:t>
            </a:r>
          </a:p>
        </p:txBody>
      </p:sp>
      <p:sp>
        <p:nvSpPr>
          <p:cNvPr id="13" name="reveal-4">
            <a:extLst>
              <a:ext uri="{FF2B5EF4-FFF2-40B4-BE49-F238E27FC236}">
                <ns2:creationId id="{00BCAF2F-4C6D-4E61-BCF5-D69C6F31E701}"/>
              </a:ext>
            </a:extLst>
          </p:cNvPr>
          <p:cNvSpPr>
            <a:spLocks noGrp="1"/>
          </p:cNvSpPr>
          <p:nvPr/>
        </p:nvSpPr>
        <p:spPr>
          <a:xfrm>
            <a:off x="9182100" y="3829050"/>
            <a:ext cx="2428875" cy="838200"/>
          </a:xfrm>
          <a:prstGeom prst="rect">
            <a:avLst/>
          </a:prstGeom>
          <a:noFill/>
          <a:ln w="0">
            <a:noFill/>
          </a:ln>
        </p:spPr>
        <p:txBody>
          <a:bodyPr>
            <a:noAutofit/>
          </a:bodyPr>
          <a:lstStyle/>
          <a:p>
            <a:pPr algn="l">
              <a:defRPr sz="2025" b="0">
                <a:solidFill>
                  <a:srgbClr val="4C6471"/>
                </a:solidFill>
                <a:latin typeface="Times New Roman"/>
                <a:ea typeface="Times New Roman"/>
                <a:cs typeface="Times New Roman"/>
              </a:defRPr>
            </a:pPr>
            <a:r>
              <a:rPr sz="2025" b="0">
                <a:solidFill>
                  <a:srgbClr val="4C6471"/>
                </a:solidFill>
                <a:latin typeface="Times New Roman"/>
                <a:ea typeface="Times New Roman"/>
                <a:cs typeface="Times New Roman"/>
              </a:rPr>
              <a:t>Owned-exam socket events</a:t>
            </a:r>
          </a:p>
        </p:txBody>
      </p:sp>
      <p:sp>
        <p:nvSpPr>
          <p:cNvPr id="14" name="fixed">
            <a:extLst>
              <a:ext uri="{FF2B5EF4-FFF2-40B4-BE49-F238E27FC236}">
                <ns2:creationId id="{CE52C390-73A6-4EC7-818F-0314AC5E7E4C}"/>
              </a:ext>
            </a:extLst>
          </p:cNvPr>
          <p:cNvSpPr>
            <a:spLocks noGrp="1"/>
          </p:cNvSpPr>
          <p:nvPr/>
        </p:nvSpPr>
        <p:spPr>
          <a:xfrm>
            <a:off x="609600" y="5276850"/>
            <a:ext cx="10953750" cy="781050"/>
          </a:xfrm>
          <a:prstGeom prst="rect">
            <a:avLst/>
          </a:prstGeom>
          <a:noFill/>
          <a:ln w="0">
            <a:noFill/>
          </a:ln>
        </p:spPr>
        <p:txBody>
          <a:bodyPr>
            <a:noAutofit/>
          </a:bodyPr>
          <a:lstStyle/>
          <a:p>
            <a:pPr algn="l">
              <a:defRPr sz="2550" b="1">
                <a:solidFill>
                  <a:srgbClr val="172F3A"/>
                </a:solidFill>
                <a:latin typeface="Times New Roman"/>
                <a:ea typeface="Times New Roman"/>
                <a:cs typeface="Times New Roman"/>
              </a:defRPr>
            </a:pPr>
            <a:r>
              <a:rPr sz="2550" b="1">
                <a:solidFill>
                  <a:srgbClr val="172F3A"/>
                </a:solidFill>
                <a:latin typeface="Times New Roman"/>
                <a:ea typeface="Times New Roman"/>
                <a:cs typeface="Times New Roman"/>
              </a:rPr>
              <a:t>The device detects events. The server preserves them. The examiner reviews them.</a:t>
            </a:r>
          </a:p>
        </p:txBody>
      </p:sp>
    </p:spTree>
    <p:extLst>
      <p:ext uri="{BB962C8B-B14F-4D97-AF65-F5344CB8AC3E}">
        <ns3:creationId val="518471589"/>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1" nodeType="click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350"/>
                                  <p:tgtEl>
                                    <p:spTgt spid="3"/>
                                  </p:tgtEl>
                                </p:cBhvr>
                              </p:animEffect>
                            </p:childTnLst>
                          </p:cTn>
                        </p:par>
                        <p:par>
                          <p:cTn id="7" presetID="10" presetClass="entr" presetSubtype="0" fill="hold" grpId="1" nodeType="clickEffect">
                            <p:stCondLst>
                              <p:cond delay="0"/>
                            </p:stCondLst>
                            <p:childTnLst>
                              <p:set>
                                <p:cBhvr>
                                  <p:cTn id="8" dur="1" fill="hold">
                                    <p:stCondLst>
                                      <p:cond delay="0"/>
                                    </p:stCondLst>
                                  </p:cTn>
                                  <p:tgtEl>
                                    <p:spTgt spid="10"/>
                                  </p:tgtEl>
                                  <p:attrNameLst>
                                    <p:attrName>style.visibility</p:attrName>
                                  </p:attrNameLst>
                                </p:cBhvr>
                                <p:to>
                                  <p:strVal val="visible"/>
                                </p:to>
                              </p:set>
                              <p:animEffect transition="in" filter="fade">
                                <p:cBhvr>
                                  <p:cTn id="9" dur="350"/>
                                  <p:tgtEl>
                                    <p:spTgt spid="10"/>
                                  </p:tgtEl>
                                </p:cBhvr>
                              </p:animEffect>
                            </p:childTnLst>
                          </p:cTn>
                        </p:par>
                      </p:childTnLst>
                    </p:cTn>
                  </p:par>
                  <p:par>
                    <p:cTn id="10" fill="hold">
                      <p:stCondLst>
                        <p:cond delay="indefinite"/>
                      </p:stCondLst>
                      <p:childTnLst>
                        <p:par>
                          <p:cTn id="11" presetID="10" presetClass="entr" presetSubtype="0" fill="hold" grpId="2" nodeType="click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350"/>
                                  <p:tgtEl>
                                    <p:spTgt spid="4"/>
                                  </p:tgtEl>
                                </p:cBhvr>
                              </p:animEffect>
                            </p:childTnLst>
                          </p:cTn>
                        </p:par>
                        <p:par>
                          <p:cTn id="14" presetID="10" presetClass="entr" presetSubtype="0" fill="hold" grpId="2" nodeType="clickEffect">
                            <p:stCondLst>
                              <p:cond delay="0"/>
                            </p:stCondLst>
                            <p:childTnLst>
                              <p:set>
                                <p:cBhvr>
                                  <p:cTn id="15" dur="1" fill="hold">
                                    <p:stCondLst>
                                      <p:cond delay="0"/>
                                    </p:stCondLst>
                                  </p:cTn>
                                  <p:tgtEl>
                                    <p:spTgt spid="21"/>
                                  </p:tgtEl>
                                  <p:attrNameLst>
                                    <p:attrName>style.visibility</p:attrName>
                                  </p:attrNameLst>
                                </p:cBhvr>
                                <p:to>
                                  <p:strVal val="visible"/>
                                </p:to>
                              </p:set>
                              <p:animEffect transition="in" filter="fade">
                                <p:cBhvr>
                                  <p:cTn id="16" dur="350"/>
                                  <p:tgtEl>
                                    <p:spTgt spid="21"/>
                                  </p:tgtEl>
                                </p:cBhvr>
                              </p:animEffect>
                            </p:childTnLst>
                          </p:cTn>
                        </p:par>
                        <p:par>
                          <p:cTn id="17" presetID="10" presetClass="entr" presetSubtype="0" fill="hold" grpId="2" nodeType="click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350"/>
                                  <p:tgtEl>
                                    <p:spTgt spid="11"/>
                                  </p:tgtEl>
                                </p:cBhvr>
                              </p:animEffect>
                            </p:childTnLst>
                          </p:cTn>
                        </p:par>
                      </p:childTnLst>
                    </p:cTn>
                  </p:par>
                  <p:par>
                    <p:cTn id="20" fill="hold">
                      <p:stCondLst>
                        <p:cond delay="indefinite"/>
                      </p:stCondLst>
                      <p:childTnLst>
                        <p:par>
                          <p:cTn id="21" presetID="10" presetClass="entr" presetSubtype="0" fill="hold" grpId="3" nodeType="click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fade">
                                <p:cBhvr>
                                  <p:cTn id="23" dur="350"/>
                                  <p:tgtEl>
                                    <p:spTgt spid="5"/>
                                  </p:tgtEl>
                                </p:cBhvr>
                              </p:animEffect>
                            </p:childTnLst>
                          </p:cTn>
                        </p:par>
                        <p:par>
                          <p:cTn id="24" presetID="10" presetClass="entr" presetSubtype="0" fill="hold" grpId="3" nodeType="clickEffect">
                            <p:stCondLst>
                              <p:cond delay="0"/>
                            </p:stCondLst>
                            <p:childTnLst>
                              <p:set>
                                <p:cBhvr>
                                  <p:cTn id="25" dur="1" fill="hold">
                                    <p:stCondLst>
                                      <p:cond delay="0"/>
                                    </p:stCondLst>
                                  </p:cTn>
                                  <p:tgtEl>
                                    <p:spTgt spid="22"/>
                                  </p:tgtEl>
                                  <p:attrNameLst>
                                    <p:attrName>style.visibility</p:attrName>
                                  </p:attrNameLst>
                                </p:cBhvr>
                                <p:to>
                                  <p:strVal val="visible"/>
                                </p:to>
                              </p:set>
                              <p:animEffect transition="in" filter="fade">
                                <p:cBhvr>
                                  <p:cTn id="26" dur="350"/>
                                  <p:tgtEl>
                                    <p:spTgt spid="22"/>
                                  </p:tgtEl>
                                </p:cBhvr>
                              </p:animEffect>
                            </p:childTnLst>
                          </p:cTn>
                        </p:par>
                        <p:par>
                          <p:cTn id="27" presetID="10" presetClass="entr" presetSubtype="0" fill="hold" grpId="3" nodeType="click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350"/>
                                  <p:tgtEl>
                                    <p:spTgt spid="12"/>
                                  </p:tgtEl>
                                </p:cBhvr>
                              </p:animEffect>
                            </p:childTnLst>
                          </p:cTn>
                        </p:par>
                      </p:childTnLst>
                    </p:cTn>
                  </p:par>
                  <p:par>
                    <p:cTn id="30" fill="hold">
                      <p:stCondLst>
                        <p:cond delay="indefinite"/>
                      </p:stCondLst>
                      <p:childTnLst>
                        <p:par>
                          <p:cTn id="31" presetID="10" presetClass="entr" presetSubtype="0" fill="hold" grpId="4" nodeType="clickEffect">
                            <p:stCondLst>
                              <p:cond delay="0"/>
                            </p:stCondLst>
                            <p:childTnLst>
                              <p:set>
                                <p:cBhvr>
                                  <p:cTn id="32" dur="1" fill="hold">
                                    <p:stCondLst>
                                      <p:cond delay="0"/>
                                    </p:stCondLst>
                                  </p:cTn>
                                  <p:tgtEl>
                                    <p:spTgt spid="6"/>
                                  </p:tgtEl>
                                  <p:attrNameLst>
                                    <p:attrName>style.visibility</p:attrName>
                                  </p:attrNameLst>
                                </p:cBhvr>
                                <p:to>
                                  <p:strVal val="visible"/>
                                </p:to>
                              </p:set>
                              <p:animEffect transition="in" filter="fade">
                                <p:cBhvr>
                                  <p:cTn id="33" dur="350"/>
                                  <p:tgtEl>
                                    <p:spTgt spid="6"/>
                                  </p:tgtEl>
                                </p:cBhvr>
                              </p:animEffect>
                            </p:childTnLst>
                          </p:cTn>
                        </p:par>
                        <p:par>
                          <p:cTn id="34" presetID="10" presetClass="entr" presetSubtype="0" fill="hold" grpId="4" nodeType="clickEffect">
                            <p:stCondLst>
                              <p:cond delay="0"/>
                            </p:stCondLst>
                            <p:childTnLst>
                              <p:set>
                                <p:cBhvr>
                                  <p:cTn id="35" dur="1" fill="hold">
                                    <p:stCondLst>
                                      <p:cond delay="0"/>
                                    </p:stCondLst>
                                  </p:cTn>
                                  <p:tgtEl>
                                    <p:spTgt spid="23"/>
                                  </p:tgtEl>
                                  <p:attrNameLst>
                                    <p:attrName>style.visibility</p:attrName>
                                  </p:attrNameLst>
                                </p:cBhvr>
                                <p:to>
                                  <p:strVal val="visible"/>
                                </p:to>
                              </p:set>
                              <p:animEffect transition="in" filter="fade">
                                <p:cBhvr>
                                  <p:cTn id="36" dur="350"/>
                                  <p:tgtEl>
                                    <p:spTgt spid="23"/>
                                  </p:tgtEl>
                                </p:cBhvr>
                              </p:animEffect>
                            </p:childTnLst>
                          </p:cTn>
                        </p:par>
                        <p:par>
                          <p:cTn id="37" presetID="10" presetClass="entr" presetSubtype="0" fill="hold" grpId="4" nodeType="clickEffect">
                            <p:stCondLst>
                              <p:cond delay="0"/>
                            </p:stCondLst>
                            <p:childTnLst>
                              <p:set>
                                <p:cBhvr>
                                  <p:cTn id="38" dur="1" fill="hold">
                                    <p:stCondLst>
                                      <p:cond delay="0"/>
                                    </p:stCondLst>
                                  </p:cTn>
                                  <p:tgtEl>
                                    <p:spTgt spid="13"/>
                                  </p:tgtEl>
                                  <p:attrNameLst>
                                    <p:attrName>style.visibility</p:attrName>
                                  </p:attrNameLst>
                                </p:cBhvr>
                                <p:to>
                                  <p:strVal val="visible"/>
                                </p:to>
                              </p:set>
                              <p:animEffect transition="in" filter="fade">
                                <p:cBhvr>
                                  <p:cTn id="39" dur="350"/>
                                  <p:tgtEl>
                                    <p:spTgt spid="13"/>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3" grpId="1" uiExpand="1"/>
      <p:bldP spid="10" grpId="1" uiExpand="1"/>
      <p:bldP spid="4" grpId="2" uiExpand="1"/>
      <p:bldP spid="21" grpId="2" uiExpand="1"/>
      <p:bldP spid="11" grpId="2" uiExpand="1"/>
      <p:bldP spid="5" grpId="3" uiExpand="1"/>
      <p:bldP spid="22" grpId="3" uiExpand="1"/>
      <p:bldP spid="12" grpId="3" uiExpand="1"/>
      <p:bldP spid="6" grpId="4" uiExpand="1"/>
      <p:bldP spid="23" grpId="4" uiExpand="1"/>
      <p:bldP spid="13" grpId="4" uiExpand="1"/>
    </p:bldLst>
  </p:timing>
</p:sld>
</file>

<file path=ppt/slides/slide6.xml><?xml version="1.0" encoding="utf-8"?>
<p:sld xmlns:a="http://schemas.openxmlformats.org/drawingml/2006/main" xmlns:ns3="http://schemas.microsoft.com/office/drawing/2014/main" xmlns:ns4="http://schemas.microsoft.com/office/powerpoint/2010/main" xmlns:p="http://schemas.openxmlformats.org/presentationml/2006/main" xmlns:r="http://schemas.openxmlformats.org/officeDocument/2006/relationships">
  <p:cSld>
    <p:bg>
      <p:bgPr>
        <a:solidFill>
          <a:srgbClr val="081321"/>
        </a:solidFill>
      </p:bgPr>
    </p:bg>
    <p:spTree>
      <p:nvGrpSpPr>
        <p:cNvPr id="1" name=""/>
        <p:cNvGrpSpPr/>
        <p:nvPr/>
      </p:nvGrpSpPr>
      <p:grpSpPr>
        <a:xfrm/>
      </p:grpSpPr>
      <p:pic>
        <p:nvPicPr>
          <p:cNvPr id="15" name=""/>
          <p:cNvPicPr>
            <a:picLocks noChangeAspect="1"/>
          </p:cNvPicPr>
          <p:nvPr/>
        </p:nvPicPr>
        <p:blipFill>
          <a:blip r:embed="Rabd7e237b62d48b7"/>
          <a:srcRect l="0" t="27" r="0" b="27"/>
          <a:stretch>
            <a:fillRect l="0" t="0" r="0" b="0"/>
          </a:stretch>
        </p:blipFill>
        <p:spPr>
          <a:xfrm>
            <a:off x="0" y="0"/>
            <a:ext cx="12192000" cy="6858000"/>
          </a:xfrm>
          <a:prstGeom prst="rect">
            <a:avLst/>
          </a:prstGeom>
        </p:spPr>
      </p:pic>
      <p:sp>
        <p:nvSpPr>
          <p:cNvPr id="2" name="fixed">
            <a:extLst>
              <a:ext uri="{FF2B5EF4-FFF2-40B4-BE49-F238E27FC236}">
                <ns3:creationId id="{5828DD12-49CD-4D1A-B1E4-D408D9216195}"/>
              </a:ext>
            </a:extLst>
          </p:cNvPr>
          <p:cNvSpPr>
            <a:spLocks noGrp="1"/>
          </p:cNvSpPr>
          <p:nvPr/>
        </p:nvSpPr>
        <p:spPr>
          <a:xfrm>
            <a:off x="609600" y="400050"/>
            <a:ext cx="7620000" cy="381000"/>
          </a:xfrm>
          <a:prstGeom prst="rect">
            <a:avLst/>
          </a:prstGeom>
          <a:noFill/>
          <a:ln w="0">
            <a:noFill/>
          </a:ln>
        </p:spPr>
        <p:txBody>
          <a:bodyPr>
            <a:noAutofit/>
          </a:bodyPr>
          <a:lstStyle/>
          <a:p>
            <a:pPr algn="l">
              <a:defRPr sz="1875" b="1">
                <a:solidFill>
                  <a:srgbClr val="E9BF78"/>
                </a:solidFill>
                <a:latin typeface="Times New Roman"/>
                <a:ea typeface="Times New Roman"/>
                <a:cs typeface="Times New Roman"/>
              </a:defRPr>
            </a:pPr>
            <a:r>
              <a:rPr sz="1875" b="1">
                <a:solidFill>
                  <a:srgbClr val="E9BF78"/>
                </a:solidFill>
                <a:latin typeface="Times New Roman"/>
                <a:ea typeface="Times New Roman"/>
                <a:cs typeface="Times New Roman"/>
              </a:rPr>
              <a:t>MODULE 01</a:t>
            </a:r>
          </a:p>
        </p:txBody>
      </p:sp>
      <p:sp>
        <p:nvSpPr>
          <p:cNvPr id="3" name="fixed">
            <a:extLst>
              <a:ext uri="{FF2B5EF4-FFF2-40B4-BE49-F238E27FC236}">
                <ns3:creationId id="{22EC143E-B788-4C77-B725-657303C65C17}"/>
              </a:ext>
            </a:extLst>
          </p:cNvPr>
          <p:cNvSpPr>
            <a:spLocks noGrp="1"/>
          </p:cNvSpPr>
          <p:nvPr/>
        </p:nvSpPr>
        <p:spPr>
          <a:xfrm>
            <a:off x="609600" y="971550"/>
            <a:ext cx="8191500" cy="1171575"/>
          </a:xfrm>
          <a:prstGeom prst="rect">
            <a:avLst/>
          </a:prstGeom>
          <a:noFill/>
          <a:ln w="0">
            <a:noFill/>
          </a:ln>
        </p:spPr>
        <p:txBody>
          <a:bodyPr>
            <a:noAutofit/>
          </a:bodyPr>
          <a:lstStyle/>
          <a:p>
            <a:pPr algn="l">
              <a:defRPr sz="3750" b="1">
                <a:solidFill>
                  <a:srgbClr val="FFFFFF"/>
                </a:solidFill>
                <a:latin typeface="Times New Roman"/>
                <a:ea typeface="Times New Roman"/>
                <a:cs typeface="Times New Roman"/>
              </a:defRPr>
            </a:pPr>
            <a:r>
              <a:rPr sz="3750" b="1">
                <a:solidFill>
                  <a:srgbClr val="FFFFFF"/>
                </a:solidFill>
                <a:latin typeface="Times New Roman"/>
                <a:ea typeface="Times New Roman"/>
                <a:cs typeface="Times New Roman"/>
              </a:rPr>
              <a:t>Secure examination environment</a:t>
            </a:r>
          </a:p>
        </p:txBody>
      </p:sp>
      <p:sp>
        <p:nvSpPr>
          <p:cNvPr id="4" name="fixed">
            <a:extLst>
              <a:ext uri="{FF2B5EF4-FFF2-40B4-BE49-F238E27FC236}">
                <ns3:creationId id="{4C7498FD-7F20-4A5D-8F76-F7BEA764B0B8}"/>
              </a:ext>
            </a:extLst>
          </p:cNvPr>
          <p:cNvSpPr>
            <a:spLocks noGrp="1"/>
          </p:cNvSpPr>
          <p:nvPr/>
        </p:nvSpPr>
        <p:spPr>
          <a:xfrm>
            <a:off x="9029700" y="457200"/>
            <a:ext cx="2571750" cy="381000"/>
          </a:xfrm>
          <a:prstGeom prst="rect">
            <a:avLst/>
          </a:prstGeom>
          <a:noFill/>
          <a:ln w="0">
            <a:noFill/>
          </a:ln>
        </p:spPr>
        <p:txBody>
          <a:bodyPr>
            <a:noAutofit/>
          </a:bodyPr>
          <a:lstStyle/>
          <a:p>
            <a:pPr algn="r">
              <a:defRPr sz="1800" b="1">
                <a:solidFill>
                  <a:srgbClr val="74E6CF"/>
                </a:solidFill>
                <a:latin typeface="Times New Roman"/>
                <a:ea typeface="Times New Roman"/>
                <a:cs typeface="Times New Roman"/>
              </a:defRPr>
            </a:pPr>
            <a:r>
              <a:rPr sz="1800" b="1">
                <a:solidFill>
                  <a:srgbClr val="74E6CF"/>
                </a:solidFill>
                <a:latin typeface="Times New Roman"/>
                <a:ea typeface="Times New Roman"/>
                <a:cs typeface="Times New Roman"/>
              </a:rPr>
              <a:t>COMPLETED</a:t>
            </a:r>
          </a:p>
        </p:txBody>
      </p:sp>
      <p:sp>
        <p:nvSpPr>
          <p:cNvPr id="5" name="fixed">
            <a:extLst>
              <a:ext uri="{FF2B5EF4-FFF2-40B4-BE49-F238E27FC236}">
                <ns3:creationId id="{2D82D5B6-AE23-4F84-A067-38EDA9675BCC}"/>
              </a:ext>
            </a:extLst>
          </p:cNvPr>
          <p:cNvSpPr>
            <a:spLocks noGrp="1"/>
          </p:cNvSpPr>
          <p:nvPr/>
        </p:nvSpPr>
        <p:spPr>
          <a:xfrm>
            <a:off x="9029700" y="828675"/>
            <a:ext cx="2571750" cy="304800"/>
          </a:xfrm>
          <a:prstGeom prst="rect">
            <a:avLst/>
          </a:prstGeom>
          <a:noFill/>
          <a:ln w="0">
            <a:noFill/>
          </a:ln>
        </p:spPr>
        <p:txBody>
          <a:bodyPr>
            <a:noAutofit/>
          </a:bodyPr>
          <a:lstStyle/>
          <a:p>
            <a:pPr algn="r">
              <a:defRPr sz="1425" b="0">
                <a:solidFill>
                  <a:srgbClr val="C5D9DE"/>
                </a:solidFill>
                <a:latin typeface="Times New Roman"/>
                <a:ea typeface="Times New Roman"/>
                <a:cs typeface="Times New Roman"/>
              </a:defRPr>
            </a:pPr>
            <a:r>
              <a:rPr sz="1425" b="0">
                <a:solidFill>
                  <a:srgbClr val="C5D9DE"/>
                </a:solidFill>
                <a:latin typeface="Times New Roman"/>
                <a:ea typeface="Times New Roman"/>
                <a:cs typeface="Times New Roman"/>
              </a:rPr>
              <a:t>Implementation status</a:t>
            </a:r>
          </a:p>
        </p:txBody>
      </p:sp>
      <p:sp>
        <p:nvSpPr>
          <p:cNvPr id="6" name="fixed">
            <a:extLst>
              <a:ext uri="{FF2B5EF4-FFF2-40B4-BE49-F238E27FC236}">
                <ns3:creationId id="{C2CF55E1-5BE1-4BCE-B5BB-7EBE81717EDA}"/>
              </a:ext>
            </a:extLst>
          </p:cNvPr>
          <p:cNvSpPr>
            <a:spLocks noGrp="1"/>
          </p:cNvSpPr>
          <p:nvPr/>
        </p:nvSpPr>
        <p:spPr>
          <a:xfrm>
            <a:off x="11029950" y="6334125"/>
            <a:ext cx="523875" cy="285750"/>
          </a:xfrm>
          <a:prstGeom prst="rect">
            <a:avLst/>
          </a:prstGeom>
          <a:noFill/>
          <a:ln w="0">
            <a:noFill/>
          </a:ln>
        </p:spPr>
        <p:txBody>
          <a:bodyPr>
            <a:noAutofit/>
          </a:bodyPr>
          <a:lstStyle/>
          <a:p>
            <a:pPr algn="r">
              <a:defRPr sz="1500" b="0">
                <a:solidFill>
                  <a:srgbClr val="B6CCD3"/>
                </a:solidFill>
                <a:latin typeface="Times New Roman"/>
                <a:ea typeface="Times New Roman"/>
                <a:cs typeface="Times New Roman"/>
              </a:defRPr>
            </a:pPr>
            <a:r>
              <a:rPr sz="1500" b="0">
                <a:solidFill>
                  <a:srgbClr val="B6CCD3"/>
                </a:solidFill>
                <a:latin typeface="Times New Roman"/>
                <a:ea typeface="Times New Roman"/>
                <a:cs typeface="Times New Roman"/>
              </a:rPr>
              <a:t>06</a:t>
            </a:r>
          </a:p>
        </p:txBody>
      </p:sp>
      <p:sp>
        <p:nvSpPr>
          <p:cNvPr id="7" name="reveal-1">
            <a:extLst>
              <a:ext uri="{FF2B5EF4-FFF2-40B4-BE49-F238E27FC236}">
                <ns3:creationId id="{999DED13-887C-4EE5-A9CD-554D050C5CDB}"/>
              </a:ext>
            </a:extLst>
          </p:cNvPr>
          <p:cNvSpPr>
            <a:spLocks noGrp="1"/>
          </p:cNvSpPr>
          <p:nvPr/>
        </p:nvSpPr>
        <p:spPr>
          <a:xfrm>
            <a:off x="609600" y="2533650"/>
            <a:ext cx="7620000" cy="1181100"/>
          </a:xfrm>
          <a:prstGeom prst="rect">
            <a:avLst/>
          </a:prstGeom>
          <a:noFill/>
          <a:ln w="0">
            <a:noFill/>
          </a:ln>
        </p:spPr>
        <p:txBody>
          <a:bodyPr>
            <a:noAutofit/>
          </a:bodyPr>
          <a:lstStyle/>
          <a:p>
            <a:pPr algn="l">
              <a:defRPr sz="2700" b="0">
                <a:solidFill>
                  <a:srgbClr val="FFFFFF"/>
                </a:solidFill>
                <a:latin typeface="Times New Roman"/>
                <a:ea typeface="Times New Roman"/>
                <a:cs typeface="Times New Roman"/>
              </a:defRPr>
            </a:pPr>
            <a:r>
              <a:rPr sz="2700" b="0">
                <a:solidFill>
                  <a:srgbClr val="FFFFFF"/>
                </a:solidFill>
                <a:latin typeface="Times New Roman"/>
                <a:ea typeface="Times New Roman"/>
                <a:cs typeface="Times New Roman"/>
              </a:rPr>
              <a:t>Keep the candidate inside the teacher-approved examination environment.</a:t>
            </a:r>
          </a:p>
        </p:txBody>
      </p:sp>
      <p:sp>
        <p:nvSpPr>
          <p:cNvPr id="8" name="reveal-2">
            <a:extLst>
              <a:ext uri="{FF2B5EF4-FFF2-40B4-BE49-F238E27FC236}">
                <ns3:creationId id="{EC987484-26AF-4246-8C63-C999528851EA}"/>
              </a:ext>
            </a:extLst>
          </p:cNvPr>
          <p:cNvSpPr>
            <a:spLocks noGrp="1"/>
          </p:cNvSpPr>
          <p:nvPr/>
        </p:nvSpPr>
        <p:spPr>
          <a:xfrm>
            <a:off x="609600" y="3867150"/>
            <a:ext cx="7334250" cy="323850"/>
          </a:xfrm>
          <a:prstGeom prst="rect">
            <a:avLst/>
          </a:prstGeom>
          <a:noFill/>
          <a:ln w="0">
            <a:noFill/>
          </a:ln>
        </p:spPr>
        <p:txBody>
          <a:bodyPr>
            <a:noAutofit/>
          </a:bodyPr>
          <a:lstStyle/>
          <a:p>
            <a:pPr algn="l">
              <a:defRPr sz="1725" b="1">
                <a:solidFill>
                  <a:srgbClr val="E9BF78"/>
                </a:solidFill>
                <a:latin typeface="Times New Roman"/>
                <a:ea typeface="Times New Roman"/>
                <a:cs typeface="Times New Roman"/>
              </a:defRPr>
            </a:pPr>
            <a:r>
              <a:rPr sz="1725" b="1">
                <a:solidFill>
                  <a:srgbClr val="E9BF78"/>
                </a:solidFill>
                <a:latin typeface="Times New Roman"/>
                <a:ea typeface="Times New Roman"/>
                <a:cs typeface="Times New Roman"/>
              </a:rPr>
              <a:t>MAIN COMPONENTS</a:t>
            </a:r>
          </a:p>
        </p:txBody>
      </p:sp>
      <p:sp>
        <p:nvSpPr>
          <p:cNvPr id="9" name="reveal-2">
            <a:extLst>
              <a:ext uri="{FF2B5EF4-FFF2-40B4-BE49-F238E27FC236}">
                <ns3:creationId id="{51B31AB9-DEF4-492F-9016-42900A299E48}"/>
              </a:ext>
            </a:extLst>
          </p:cNvPr>
          <p:cNvSpPr>
            <a:spLocks noGrp="1"/>
          </p:cNvSpPr>
          <p:nvPr/>
        </p:nvSpPr>
        <p:spPr>
          <a:xfrm>
            <a:off x="609600" y="4267200"/>
            <a:ext cx="7905750" cy="600075"/>
          </a:xfrm>
          <a:prstGeom prst="rect">
            <a:avLst/>
          </a:prstGeom>
          <a:noFill/>
          <a:ln w="0">
            <a:noFill/>
          </a:ln>
        </p:spPr>
        <p:txBody>
          <a:bodyPr>
            <a:noAutofit/>
          </a:bodyPr>
          <a:lstStyle/>
          <a:p>
            <a:pPr algn="l">
              <a:defRPr sz="2175" b="0">
                <a:solidFill>
                  <a:srgbClr val="D8E6E9"/>
                </a:solidFill>
                <a:latin typeface="Times New Roman"/>
                <a:ea typeface="Times New Roman"/>
                <a:cs typeface="Times New Roman"/>
              </a:defRPr>
            </a:pPr>
            <a:r>
              <a:rPr sz="2175" b="0">
                <a:solidFill>
                  <a:srgbClr val="D8E6E9"/>
                </a:solidFill>
                <a:latin typeface="Times New Roman"/>
                <a:ea typeface="Times New Roman"/>
                <a:cs typeface="Times New Roman"/>
              </a:rPr>
              <a:t>Electron kiosk  /  Python psutil  /  Windows CIM</a:t>
            </a:r>
          </a:p>
        </p:txBody>
      </p:sp>
      <p:sp>
        <p:nvSpPr>
          <p:cNvPr id="10" name="reveal-3">
            <a:extLst>
              <a:ext uri="{FF2B5EF4-FFF2-40B4-BE49-F238E27FC236}">
                <ns3:creationId id="{AB4B64D4-4166-4CE3-8683-15493FA91CFA}"/>
              </a:ext>
            </a:extLst>
          </p:cNvPr>
          <p:cNvSpPr>
            <a:spLocks noGrp="1"/>
          </p:cNvSpPr>
          <p:nvPr/>
        </p:nvSpPr>
        <p:spPr>
          <a:xfrm>
            <a:off x="609600" y="5219700"/>
            <a:ext cx="3346450" cy="952500"/>
          </a:xfrm>
          <a:prstGeom prst="rect">
            <a:avLst/>
          </a:prstGeom>
          <a:solidFill>
            <a:srgbClr val="123342"/>
          </a:solidFill>
          <a:ln w="9525">
            <a:solidFill>
              <a:srgbClr val="466D77"/>
            </a:solidFill>
          </a:ln>
        </p:spPr>
        <p:txBody>
          <a:bodyPr anchor="ctr"/>
          <a:lstStyle/>
          <a:p>
            <a:pPr algn="ctr">
              <a:defRPr sz="2025" b="1">
                <a:solidFill>
                  <a:srgbClr val="FFFFFF"/>
                </a:solidFill>
                <a:latin typeface="Times New Roman"/>
                <a:ea typeface="Times New Roman"/>
                <a:cs typeface="Times New Roman"/>
              </a:defRPr>
            </a:pPr>
            <a:r>
              <a:rPr sz="2025" b="1">
                <a:solidFill>
                  <a:srgbClr val="FFFFFF"/>
                </a:solidFill>
                <a:latin typeface="Times New Roman"/>
                <a:ea typeface="Times New Roman"/>
                <a:cs typeface="Times New Roman"/>
              </a:rPr>
              <a:t>Exam rules</a:t>
            </a:r>
          </a:p>
        </p:txBody>
      </p:sp>
      <p:sp>
        <p:nvSpPr>
          <p:cNvPr id="11" name="reveal-4">
            <a:extLst>
              <a:ext uri="{FF2B5EF4-FFF2-40B4-BE49-F238E27FC236}">
                <ns3:creationId id="{0A5106BA-2883-4EE4-883E-C1DAFA443D7A}"/>
              </a:ext>
            </a:extLst>
          </p:cNvPr>
          <p:cNvSpPr>
            <a:spLocks noGrp="1"/>
          </p:cNvSpPr>
          <p:nvPr/>
        </p:nvSpPr>
        <p:spPr>
          <a:xfrm>
            <a:off x="4413250" y="5219700"/>
            <a:ext cx="3346450" cy="952500"/>
          </a:xfrm>
          <a:prstGeom prst="rect">
            <a:avLst/>
          </a:prstGeom>
          <a:solidFill>
            <a:srgbClr val="123342"/>
          </a:solidFill>
          <a:ln w="9525">
            <a:solidFill>
              <a:srgbClr val="466D77"/>
            </a:solidFill>
          </a:ln>
        </p:spPr>
        <p:txBody>
          <a:bodyPr anchor="ctr"/>
          <a:lstStyle/>
          <a:p>
            <a:pPr algn="ctr">
              <a:defRPr sz="2025" b="1">
                <a:solidFill>
                  <a:srgbClr val="FFFFFF"/>
                </a:solidFill>
                <a:latin typeface="Times New Roman"/>
                <a:ea typeface="Times New Roman"/>
                <a:cs typeface="Times New Roman"/>
              </a:defRPr>
            </a:pPr>
            <a:r>
              <a:rPr sz="2025" b="1">
                <a:solidFill>
                  <a:srgbClr val="FFFFFF"/>
                </a:solidFill>
                <a:latin typeface="Times New Roman"/>
                <a:ea typeface="Times New Roman"/>
                <a:cs typeface="Times New Roman"/>
              </a:rPr>
              <a:t>Local checks</a:t>
            </a:r>
          </a:p>
        </p:txBody>
      </p:sp>
      <p:sp>
        <p:nvSpPr>
          <p:cNvPr id="12" name="reveal-5">
            <a:extLst>
              <a:ext uri="{FF2B5EF4-FFF2-40B4-BE49-F238E27FC236}">
                <ns3:creationId id="{DD124971-7253-463A-BFE6-0984D8EE69B0}"/>
              </a:ext>
            </a:extLst>
          </p:cNvPr>
          <p:cNvSpPr>
            <a:spLocks noGrp="1"/>
          </p:cNvSpPr>
          <p:nvPr/>
        </p:nvSpPr>
        <p:spPr>
          <a:xfrm>
            <a:off x="8216900" y="5219700"/>
            <a:ext cx="3346450" cy="952500"/>
          </a:xfrm>
          <a:prstGeom prst="rect">
            <a:avLst/>
          </a:prstGeom>
          <a:solidFill>
            <a:srgbClr val="123342"/>
          </a:solidFill>
          <a:ln w="9525">
            <a:solidFill>
              <a:srgbClr val="466D77"/>
            </a:solidFill>
          </a:ln>
        </p:spPr>
        <p:txBody>
          <a:bodyPr anchor="ctr"/>
          <a:lstStyle/>
          <a:p>
            <a:pPr algn="ctr">
              <a:defRPr sz="2025" b="1">
                <a:solidFill>
                  <a:srgbClr val="FFFFFF"/>
                </a:solidFill>
                <a:latin typeface="Times New Roman"/>
                <a:ea typeface="Times New Roman"/>
                <a:cs typeface="Times New Roman"/>
              </a:defRPr>
            </a:pPr>
            <a:r>
              <a:rPr sz="2025" b="1">
                <a:solidFill>
                  <a:srgbClr val="FFFFFF"/>
                </a:solidFill>
                <a:latin typeface="Times New Roman"/>
                <a:ea typeface="Times New Roman"/>
                <a:cs typeface="Times New Roman"/>
              </a:rPr>
              <a:t>Control and alert</a:t>
            </a:r>
          </a:p>
        </p:txBody>
      </p:sp>
      <p:cxnSp>
        <p:nvCxnSpPr>
          <p:cNvPr id="27" name="reveal-4"/>
          <p:cNvCxnSpPr>
            <a:stCxn id="10" idx="3"/>
            <a:endCxn id="11" idx="1"/>
          </p:cNvCxnSpPr>
          <p:nvPr/>
        </p:nvCxnSpPr>
        <p:spPr>
          <a:xfrm>
            <a:off x="3956050" y="5695950"/>
            <a:ext cx="457200" cy="0"/>
          </a:xfrm>
          <a:prstGeom prst="straightConnector1">
            <a:avLst/>
          </a:prstGeom>
          <a:ln w="19050">
            <a:solidFill>
              <a:srgbClr val="74E6CF"/>
            </a:solidFill>
            <a:tailEnd type="arrow" w="med" len="med"/>
          </a:ln>
        </p:spPr>
      </p:cxnSp>
      <p:cxnSp>
        <p:nvCxnSpPr>
          <p:cNvPr id="28" name="reveal-5"/>
          <p:cNvCxnSpPr>
            <a:stCxn id="11" idx="3"/>
            <a:endCxn id="12" idx="1"/>
          </p:cNvCxnSpPr>
          <p:nvPr/>
        </p:nvCxnSpPr>
        <p:spPr>
          <a:xfrm>
            <a:off x="7759700" y="5695950"/>
            <a:ext cx="457200" cy="0"/>
          </a:xfrm>
          <a:prstGeom prst="straightConnector1">
            <a:avLst/>
          </a:prstGeom>
          <a:ln w="19050">
            <a:solidFill>
              <a:srgbClr val="74E6CF"/>
            </a:solidFill>
            <a:tailEnd type="arrow" w="med" len="med"/>
          </a:ln>
        </p:spPr>
      </p:cxnSp>
    </p:spTree>
    <p:extLst>
      <p:ext uri="{BB962C8B-B14F-4D97-AF65-F5344CB8AC3E}">
        <ns4:creationId val="71134558"/>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1" nodeType="clickEffect">
                            <p:stCondLst>
                              <p:cond delay="0"/>
                            </p:stCondLst>
                            <p:childTnLst>
                              <p:set>
                                <p:cBhvr>
                                  <p:cTn id="5" dur="1" fill="hold">
                                    <p:stCondLst>
                                      <p:cond delay="0"/>
                                    </p:stCondLst>
                                  </p:cTn>
                                  <p:tgtEl>
                                    <p:spTgt spid="7"/>
                                  </p:tgtEl>
                                  <p:attrNameLst>
                                    <p:attrName>style.visibility</p:attrName>
                                  </p:attrNameLst>
                                </p:cBhvr>
                                <p:to>
                                  <p:strVal val="visible"/>
                                </p:to>
                              </p:set>
                              <p:animEffect transition="in" filter="fade">
                                <p:cBhvr>
                                  <p:cTn id="6" dur="350"/>
                                  <p:tgtEl>
                                    <p:spTgt spid="7"/>
                                  </p:tgtEl>
                                </p:cBhvr>
                              </p:animEffect>
                            </p:childTnLst>
                          </p:cTn>
                        </p:par>
                      </p:childTnLst>
                    </p:cTn>
                  </p:par>
                  <p:par>
                    <p:cTn id="7" fill="hold">
                      <p:stCondLst>
                        <p:cond delay="indefinite"/>
                      </p:stCondLst>
                      <p:childTnLst>
                        <p:par>
                          <p:cTn id="8" presetID="10" presetClass="entr" presetSubtype="0" fill="hold" grpId="2" nodeType="click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350"/>
                                  <p:tgtEl>
                                    <p:spTgt spid="8"/>
                                  </p:tgtEl>
                                </p:cBhvr>
                              </p:animEffect>
                            </p:childTnLst>
                          </p:cTn>
                        </p:par>
                        <p:par>
                          <p:cTn id="11" presetID="10" presetClass="entr" presetSubtype="0" fill="hold" grpId="2" nodeType="click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350"/>
                                  <p:tgtEl>
                                    <p:spTgt spid="9"/>
                                  </p:tgtEl>
                                </p:cBhvr>
                              </p:animEffect>
                            </p:childTnLst>
                          </p:cTn>
                        </p:par>
                      </p:childTnLst>
                    </p:cTn>
                  </p:par>
                  <p:par>
                    <p:cTn id="14" fill="hold">
                      <p:stCondLst>
                        <p:cond delay="indefinite"/>
                      </p:stCondLst>
                      <p:childTnLst>
                        <p:par>
                          <p:cTn id="15" presetID="10" presetClass="entr" presetSubtype="0" fill="hold" grpId="3"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350"/>
                                  <p:tgtEl>
                                    <p:spTgt spid="10"/>
                                  </p:tgtEl>
                                </p:cBhvr>
                              </p:animEffect>
                            </p:childTnLst>
                          </p:cTn>
                        </p:par>
                      </p:childTnLst>
                    </p:cTn>
                  </p:par>
                  <p:par>
                    <p:cTn id="18" fill="hold">
                      <p:stCondLst>
                        <p:cond delay="indefinite"/>
                      </p:stCondLst>
                      <p:childTnLst>
                        <p:par>
                          <p:cTn id="19" presetID="10" presetClass="entr" presetSubtype="0" fill="hold" grpId="4" nodeType="click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350"/>
                                  <p:tgtEl>
                                    <p:spTgt spid="11"/>
                                  </p:tgtEl>
                                </p:cBhvr>
                              </p:animEffect>
                            </p:childTnLst>
                          </p:cTn>
                        </p:par>
                        <p:par>
                          <p:cTn id="22" presetID="10" presetClass="entr" presetSubtype="0" fill="hold" grpId="4" nodeType="clickEffect">
                            <p:stCondLst>
                              <p:cond delay="0"/>
                            </p:stCondLst>
                            <p:childTnLst>
                              <p:set>
                                <p:cBhvr>
                                  <p:cTn id="23" dur="1" fill="hold">
                                    <p:stCondLst>
                                      <p:cond delay="0"/>
                                    </p:stCondLst>
                                  </p:cTn>
                                  <p:tgtEl>
                                    <p:spTgt spid="27"/>
                                  </p:tgtEl>
                                  <p:attrNameLst>
                                    <p:attrName>style.visibility</p:attrName>
                                  </p:attrNameLst>
                                </p:cBhvr>
                                <p:to>
                                  <p:strVal val="visible"/>
                                </p:to>
                              </p:set>
                              <p:animEffect transition="in" filter="fade">
                                <p:cBhvr>
                                  <p:cTn id="24" dur="350"/>
                                  <p:tgtEl>
                                    <p:spTgt spid="27"/>
                                  </p:tgtEl>
                                </p:cBhvr>
                              </p:animEffect>
                            </p:childTnLst>
                          </p:cTn>
                        </p:par>
                      </p:childTnLst>
                    </p:cTn>
                  </p:par>
                  <p:par>
                    <p:cTn id="25" fill="hold">
                      <p:stCondLst>
                        <p:cond delay="indefinite"/>
                      </p:stCondLst>
                      <p:childTnLst>
                        <p:par>
                          <p:cTn id="26" presetID="10" presetClass="entr" presetSubtype="0" fill="hold" grpId="5" nodeType="click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350"/>
                                  <p:tgtEl>
                                    <p:spTgt spid="12"/>
                                  </p:tgtEl>
                                </p:cBhvr>
                              </p:animEffect>
                            </p:childTnLst>
                          </p:cTn>
                        </p:par>
                        <p:par>
                          <p:cTn id="29" presetID="10" presetClass="entr" presetSubtype="0" fill="hold" grpId="5" nodeType="clickEffect">
                            <p:stCondLst>
                              <p:cond delay="0"/>
                            </p:stCondLst>
                            <p:childTnLst>
                              <p:set>
                                <p:cBhvr>
                                  <p:cTn id="30" dur="1" fill="hold">
                                    <p:stCondLst>
                                      <p:cond delay="0"/>
                                    </p:stCondLst>
                                  </p:cTn>
                                  <p:tgtEl>
                                    <p:spTgt spid="28"/>
                                  </p:tgtEl>
                                  <p:attrNameLst>
                                    <p:attrName>style.visibility</p:attrName>
                                  </p:attrNameLst>
                                </p:cBhvr>
                                <p:to>
                                  <p:strVal val="visible"/>
                                </p:to>
                              </p:set>
                              <p:animEffect transition="in" filter="fade">
                                <p:cBhvr>
                                  <p:cTn id="31" dur="350"/>
                                  <p:tgtEl>
                                    <p:spTgt spid="28"/>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7" grpId="1" uiExpand="1"/>
      <p:bldP spid="8" grpId="2" uiExpand="1"/>
      <p:bldP spid="9" grpId="2" uiExpand="1"/>
      <p:bldP spid="10" grpId="3" uiExpand="1"/>
      <p:bldP spid="11" grpId="4" uiExpand="1"/>
      <p:bldP spid="27" grpId="4" uiExpand="1"/>
      <p:bldP spid="12" grpId="5" uiExpand="1"/>
      <p:bldP spid="28" grpId="5" uiExpand="1"/>
    </p:bldLst>
  </p:timing>
</p:sld>
</file>

<file path=ppt/slides/slide7.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6F7F4"/>
        </a:solidFill>
      </p:bgPr>
    </p:bg>
    <p:spTree>
      <p:nvGrpSpPr>
        <p:cNvPr id="1" name=""/>
        <p:cNvGrpSpPr/>
        <p:nvPr/>
      </p:nvGrpSpPr>
      <p:grpSpPr>
        <a:xfrm/>
      </p:grpSpPr>
      <p:sp>
        <p:nvSpPr>
          <p:cNvPr id="18" name="fixed">
            <a:extLst>
              <a:ext uri="{FF2B5EF4-FFF2-40B4-BE49-F238E27FC236}">
                <ns2:creationId id="{0B0B238A-7BBD-460F-B21A-391773020B13}"/>
              </a:ext>
            </a:extLst>
          </p:cNvPr>
          <p:cNvSpPr>
            <a:spLocks noGrp="1"/>
          </p:cNvSpPr>
          <p:nvPr/>
        </p:nvSpPr>
        <p:spPr>
          <a:xfrm>
            <a:off x="609600" y="400050"/>
            <a:ext cx="7620000" cy="381000"/>
          </a:xfrm>
          <a:prstGeom prst="rect">
            <a:avLst/>
          </a:prstGeom>
          <a:noFill/>
          <a:ln w="0">
            <a:noFill/>
          </a:ln>
        </p:spPr>
        <p:txBody>
          <a:bodyPr>
            <a:noAutofit/>
          </a:bodyPr>
          <a:lstStyle/>
          <a:p>
            <a:pPr algn="l">
              <a:defRPr sz="1875" b="1">
                <a:solidFill>
                  <a:srgbClr val="087F8C"/>
                </a:solidFill>
                <a:latin typeface="Times New Roman"/>
                <a:ea typeface="Times New Roman"/>
                <a:cs typeface="Times New Roman"/>
              </a:defRPr>
            </a:pPr>
            <a:r>
              <a:rPr sz="1875" b="1">
                <a:solidFill>
                  <a:srgbClr val="087F8C"/>
                </a:solidFill>
                <a:latin typeface="Times New Roman"/>
                <a:ea typeface="Times New Roman"/>
                <a:cs typeface="Times New Roman"/>
              </a:rPr>
              <a:t>MODULE 01 / WORKING AND EXAMPLE</a:t>
            </a:r>
          </a:p>
        </p:txBody>
      </p:sp>
      <p:sp>
        <p:nvSpPr>
          <p:cNvPr id="2" name="fixed">
            <a:extLst>
              <a:ext uri="{FF2B5EF4-FFF2-40B4-BE49-F238E27FC236}">
                <ns2:creationId id="{5207C707-A086-4442-A1F9-0B30E5EDAEC9}"/>
              </a:ext>
            </a:extLst>
          </p:cNvPr>
          <p:cNvSpPr>
            <a:spLocks noGrp="1"/>
          </p:cNvSpPr>
          <p:nvPr/>
        </p:nvSpPr>
        <p:spPr>
          <a:xfrm>
            <a:off x="609600" y="971550"/>
            <a:ext cx="8191500" cy="1171575"/>
          </a:xfrm>
          <a:prstGeom prst="rect">
            <a:avLst/>
          </a:prstGeom>
          <a:noFill/>
          <a:ln w="0">
            <a:noFill/>
          </a:ln>
        </p:spPr>
        <p:txBody>
          <a:bodyPr>
            <a:noAutofit/>
          </a:bodyPr>
          <a:lstStyle/>
          <a:p>
            <a:pPr algn="l">
              <a:defRPr sz="3750" b="1">
                <a:solidFill>
                  <a:srgbClr val="172F3A"/>
                </a:solidFill>
                <a:latin typeface="Times New Roman"/>
                <a:ea typeface="Times New Roman"/>
                <a:cs typeface="Times New Roman"/>
              </a:defRPr>
            </a:pPr>
            <a:r>
              <a:rPr sz="3750" b="1">
                <a:solidFill>
                  <a:srgbClr val="172F3A"/>
                </a:solidFill>
                <a:latin typeface="Times New Roman"/>
                <a:ea typeface="Times New Roman"/>
                <a:cs typeface="Times New Roman"/>
              </a:rPr>
              <a:t>Whitelist enforcement</a:t>
            </a:r>
          </a:p>
        </p:txBody>
      </p:sp>
      <p:sp>
        <p:nvSpPr>
          <p:cNvPr id="3" name="fixed">
            <a:extLst>
              <a:ext uri="{FF2B5EF4-FFF2-40B4-BE49-F238E27FC236}">
                <ns2:creationId id="{213B314E-AF37-4049-B7F1-67E205514838}"/>
              </a:ext>
            </a:extLst>
          </p:cNvPr>
          <p:cNvSpPr>
            <a:spLocks noGrp="1"/>
          </p:cNvSpPr>
          <p:nvPr/>
        </p:nvSpPr>
        <p:spPr>
          <a:xfrm>
            <a:off x="9029700" y="457200"/>
            <a:ext cx="2571750" cy="381000"/>
          </a:xfrm>
          <a:prstGeom prst="rect">
            <a:avLst/>
          </a:prstGeom>
          <a:noFill/>
          <a:ln w="0">
            <a:noFill/>
          </a:ln>
        </p:spPr>
        <p:txBody>
          <a:bodyPr>
            <a:noAutofit/>
          </a:bodyPr>
          <a:lstStyle/>
          <a:p>
            <a:pPr algn="r">
              <a:defRPr sz="1800" b="1">
                <a:solidFill>
                  <a:srgbClr val="087F8C"/>
                </a:solidFill>
                <a:latin typeface="Times New Roman"/>
                <a:ea typeface="Times New Roman"/>
                <a:cs typeface="Times New Roman"/>
              </a:defRPr>
            </a:pPr>
            <a:r>
              <a:rPr sz="1800" b="1">
                <a:solidFill>
                  <a:srgbClr val="087F8C"/>
                </a:solidFill>
                <a:latin typeface="Times New Roman"/>
                <a:ea typeface="Times New Roman"/>
                <a:cs typeface="Times New Roman"/>
              </a:rPr>
              <a:t>COMPLETED</a:t>
            </a:r>
          </a:p>
        </p:txBody>
      </p:sp>
      <p:sp>
        <p:nvSpPr>
          <p:cNvPr id="4" name="fixed">
            <a:extLst>
              <a:ext uri="{FF2B5EF4-FFF2-40B4-BE49-F238E27FC236}">
                <ns2:creationId id="{D5B3B0F7-A979-456B-AB8C-DC729A603375}"/>
              </a:ext>
            </a:extLst>
          </p:cNvPr>
          <p:cNvSpPr>
            <a:spLocks noGrp="1"/>
          </p:cNvSpPr>
          <p:nvPr/>
        </p:nvSpPr>
        <p:spPr>
          <a:xfrm>
            <a:off x="9029700" y="828675"/>
            <a:ext cx="2571750" cy="304800"/>
          </a:xfrm>
          <a:prstGeom prst="rect">
            <a:avLst/>
          </a:prstGeom>
          <a:noFill/>
          <a:ln w="0">
            <a:noFill/>
          </a:ln>
        </p:spPr>
        <p:txBody>
          <a:bodyPr>
            <a:noAutofit/>
          </a:bodyPr>
          <a:lstStyle/>
          <a:p>
            <a:pPr algn="r">
              <a:defRPr sz="1425" b="0">
                <a:solidFill>
                  <a:srgbClr val="4C6471"/>
                </a:solidFill>
                <a:latin typeface="Times New Roman"/>
                <a:ea typeface="Times New Roman"/>
                <a:cs typeface="Times New Roman"/>
              </a:defRPr>
            </a:pPr>
            <a:r>
              <a:rPr sz="1425" b="0">
                <a:solidFill>
                  <a:srgbClr val="4C6471"/>
                </a:solidFill>
                <a:latin typeface="Times New Roman"/>
                <a:ea typeface="Times New Roman"/>
                <a:cs typeface="Times New Roman"/>
              </a:rPr>
              <a:t>Implementation status</a:t>
            </a:r>
          </a:p>
        </p:txBody>
      </p:sp>
      <p:sp>
        <p:nvSpPr>
          <p:cNvPr id="5" name="fixed">
            <a:extLst>
              <a:ext uri="{FF2B5EF4-FFF2-40B4-BE49-F238E27FC236}">
                <ns2:creationId id="{CB35E519-F8DB-4EDE-B1CC-2DA73542530A}"/>
              </a:ext>
            </a:extLst>
          </p:cNvPr>
          <p:cNvSpPr>
            <a:spLocks noGrp="1"/>
          </p:cNvSpPr>
          <p:nvPr/>
        </p:nvSpPr>
        <p:spPr>
          <a:xfrm>
            <a:off x="11029950" y="6334125"/>
            <a:ext cx="523875" cy="285750"/>
          </a:xfrm>
          <a:prstGeom prst="rect">
            <a:avLst/>
          </a:prstGeom>
          <a:noFill/>
          <a:ln w="0">
            <a:noFill/>
          </a:ln>
        </p:spPr>
        <p:txBody>
          <a:bodyPr>
            <a:noAutofit/>
          </a:bodyPr>
          <a:lstStyle/>
          <a:p>
            <a:pPr algn="r">
              <a:defRPr sz="1500" b="0">
                <a:solidFill>
                  <a:srgbClr val="4C6471"/>
                </a:solidFill>
                <a:latin typeface="Times New Roman"/>
                <a:ea typeface="Times New Roman"/>
                <a:cs typeface="Times New Roman"/>
              </a:defRPr>
            </a:pPr>
            <a:r>
              <a:rPr sz="1500" b="0">
                <a:solidFill>
                  <a:srgbClr val="4C6471"/>
                </a:solidFill>
                <a:latin typeface="Times New Roman"/>
                <a:ea typeface="Times New Roman"/>
                <a:cs typeface="Times New Roman"/>
              </a:rPr>
              <a:t>07</a:t>
            </a:r>
          </a:p>
        </p:txBody>
      </p:sp>
      <p:sp>
        <p:nvSpPr>
          <p:cNvPr id="6" name="reveal-1">
            <a:extLst>
              <a:ext uri="{FF2B5EF4-FFF2-40B4-BE49-F238E27FC236}">
                <ns2:creationId id="{AD7293F2-6430-4856-B8F1-6F2FFB0E0328}"/>
              </a:ext>
            </a:extLst>
          </p:cNvPr>
          <p:cNvSpPr>
            <a:spLocks noGrp="1"/>
          </p:cNvSpPr>
          <p:nvPr/>
        </p:nvSpPr>
        <p:spPr>
          <a:xfrm>
            <a:off x="609600" y="2466975"/>
            <a:ext cx="2395538"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Teacher allowlist</a:t>
            </a:r>
          </a:p>
        </p:txBody>
      </p:sp>
      <p:sp>
        <p:nvSpPr>
          <p:cNvPr id="7" name="reveal-2">
            <a:extLst>
              <a:ext uri="{FF2B5EF4-FFF2-40B4-BE49-F238E27FC236}">
                <ns2:creationId id="{EDC687E9-0763-46EF-8331-DC6FDF56462C}"/>
              </a:ext>
            </a:extLst>
          </p:cNvPr>
          <p:cNvSpPr>
            <a:spLocks noGrp="1"/>
          </p:cNvSpPr>
          <p:nvPr/>
        </p:nvSpPr>
        <p:spPr>
          <a:xfrm>
            <a:off x="3462338" y="2466975"/>
            <a:ext cx="2395538"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psutil process scan</a:t>
            </a:r>
          </a:p>
        </p:txBody>
      </p:sp>
      <p:sp>
        <p:nvSpPr>
          <p:cNvPr id="8" name="reveal-3">
            <a:extLst>
              <a:ext uri="{FF2B5EF4-FFF2-40B4-BE49-F238E27FC236}">
                <ns2:creationId id="{AEF06D30-1B7C-4642-B311-7B8B07DFF841}"/>
              </a:ext>
            </a:extLst>
          </p:cNvPr>
          <p:cNvSpPr>
            <a:spLocks noGrp="1"/>
          </p:cNvSpPr>
          <p:nvPr/>
        </p:nvSpPr>
        <p:spPr>
          <a:xfrm>
            <a:off x="6315075" y="2466975"/>
            <a:ext cx="2395538"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Protected / allowed?</a:t>
            </a:r>
          </a:p>
        </p:txBody>
      </p:sp>
      <p:sp>
        <p:nvSpPr>
          <p:cNvPr id="9" name="reveal-4">
            <a:extLst>
              <a:ext uri="{FF2B5EF4-FFF2-40B4-BE49-F238E27FC236}">
                <ns2:creationId id="{0994F619-D701-434C-99AF-DA72EDCC605B}"/>
              </a:ext>
            </a:extLst>
          </p:cNvPr>
          <p:cNvSpPr>
            <a:spLocks noGrp="1"/>
          </p:cNvSpPr>
          <p:nvPr/>
        </p:nvSpPr>
        <p:spPr>
          <a:xfrm>
            <a:off x="9167813" y="2466975"/>
            <a:ext cx="2395538"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Continue or enforce</a:t>
            </a:r>
          </a:p>
        </p:txBody>
      </p:sp>
      <p:cxnSp>
        <p:nvCxnSpPr>
          <p:cNvPr id="27" name="reveal-2"/>
          <p:cNvCxnSpPr>
            <a:stCxn id="6" idx="3"/>
            <a:endCxn id="7" idx="1"/>
          </p:cNvCxnSpPr>
          <p:nvPr/>
        </p:nvCxnSpPr>
        <p:spPr>
          <a:xfrm>
            <a:off x="3005138" y="2943225"/>
            <a:ext cx="457200" cy="0"/>
          </a:xfrm>
          <a:prstGeom prst="straightConnector1">
            <a:avLst/>
          </a:prstGeom>
          <a:ln w="19050">
            <a:solidFill>
              <a:srgbClr val="087F8C"/>
            </a:solidFill>
            <a:tailEnd type="arrow" w="med" len="med"/>
          </a:ln>
        </p:spPr>
      </p:cxnSp>
      <p:cxnSp>
        <p:nvCxnSpPr>
          <p:cNvPr id="28" name="reveal-3"/>
          <p:cNvCxnSpPr>
            <a:stCxn id="7" idx="3"/>
            <a:endCxn id="8" idx="1"/>
          </p:cNvCxnSpPr>
          <p:nvPr/>
        </p:nvCxnSpPr>
        <p:spPr>
          <a:xfrm>
            <a:off x="5857876" y="2943225"/>
            <a:ext cx="457199" cy="0"/>
          </a:xfrm>
          <a:prstGeom prst="straightConnector1">
            <a:avLst/>
          </a:prstGeom>
          <a:ln w="19050">
            <a:solidFill>
              <a:srgbClr val="087F8C"/>
            </a:solidFill>
            <a:tailEnd type="arrow" w="med" len="med"/>
          </a:ln>
        </p:spPr>
      </p:cxnSp>
      <p:cxnSp>
        <p:nvCxnSpPr>
          <p:cNvPr id="29" name="reveal-4"/>
          <p:cNvCxnSpPr>
            <a:stCxn id="8" idx="3"/>
            <a:endCxn id="9" idx="1"/>
          </p:cNvCxnSpPr>
          <p:nvPr/>
        </p:nvCxnSpPr>
        <p:spPr>
          <a:xfrm>
            <a:off x="8710613" y="2943225"/>
            <a:ext cx="457200" cy="0"/>
          </a:xfrm>
          <a:prstGeom prst="straightConnector1">
            <a:avLst/>
          </a:prstGeom>
          <a:ln w="19050">
            <a:solidFill>
              <a:srgbClr val="087F8C"/>
            </a:solidFill>
            <a:tailEnd type="arrow" w="med" len="med"/>
          </a:ln>
        </p:spPr>
      </p:cxnSp>
      <p:sp>
        <p:nvSpPr>
          <p:cNvPr id="13" name="reveal-5">
            <a:extLst>
              <a:ext uri="{FF2B5EF4-FFF2-40B4-BE49-F238E27FC236}">
                <ns2:creationId id="{6B4DBC05-9F36-4918-8A52-CA71FC319E26}"/>
              </a:ext>
            </a:extLst>
          </p:cNvPr>
          <p:cNvSpPr>
            <a:spLocks noGrp="1"/>
          </p:cNvSpPr>
          <p:nvPr/>
        </p:nvSpPr>
        <p:spPr>
          <a:xfrm>
            <a:off x="609600" y="3952875"/>
            <a:ext cx="5095875" cy="476250"/>
          </a:xfrm>
          <a:prstGeom prst="rect">
            <a:avLst/>
          </a:prstGeom>
          <a:noFill/>
          <a:ln w="0">
            <a:noFill/>
          </a:ln>
        </p:spPr>
        <p:txBody>
          <a:bodyPr>
            <a:noAutofit/>
          </a:bodyPr>
          <a:lstStyle/>
          <a:p>
            <a:pPr algn="l">
              <a:defRPr sz="2550" b="1">
                <a:solidFill>
                  <a:srgbClr val="087F8C"/>
                </a:solidFill>
                <a:latin typeface="Times New Roman"/>
                <a:ea typeface="Times New Roman"/>
                <a:cs typeface="Times New Roman"/>
              </a:defRPr>
            </a:pPr>
            <a:r>
              <a:rPr sz="2550" b="1">
                <a:solidFill>
                  <a:srgbClr val="087F8C"/>
                </a:solidFill>
                <a:latin typeface="Times New Roman"/>
                <a:ea typeface="Times New Roman"/>
                <a:cs typeface="Times New Roman"/>
              </a:rPr>
              <a:t>Example: permitted tool</a:t>
            </a:r>
          </a:p>
        </p:txBody>
      </p:sp>
      <p:sp>
        <p:nvSpPr>
          <p:cNvPr id="14" name="reveal-5">
            <a:extLst>
              <a:ext uri="{FF2B5EF4-FFF2-40B4-BE49-F238E27FC236}">
                <ns2:creationId id="{65574B96-991D-4DA6-82B9-26452AF01CE1}"/>
              </a:ext>
            </a:extLst>
          </p:cNvPr>
          <p:cNvSpPr>
            <a:spLocks noGrp="1"/>
          </p:cNvSpPr>
          <p:nvPr/>
        </p:nvSpPr>
        <p:spPr>
          <a:xfrm>
            <a:off x="609600" y="4581525"/>
            <a:ext cx="5095875" cy="1619250"/>
          </a:xfrm>
          <a:prstGeom prst="rect">
            <a:avLst/>
          </a:prstGeom>
          <a:noFill/>
          <a:ln w="0">
            <a:noFill/>
          </a:ln>
        </p:spPr>
        <p:txBody>
          <a:bodyPr>
            <a:noAutofit/>
          </a:bodyPr>
          <a:lstStyle/>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Notepad is permitted for this exam.</a:t>
            </a:r>
          </a:p>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Its process remains available.</a:t>
            </a:r>
          </a:p>
        </p:txBody>
      </p:sp>
      <p:sp>
        <p:nvSpPr>
          <p:cNvPr id="15" name="reveal-6">
            <a:extLst>
              <a:ext uri="{FF2B5EF4-FFF2-40B4-BE49-F238E27FC236}">
                <ns2:creationId id="{49C8ECAD-B5FC-47CA-88EC-13FB8A1ECE2A}"/>
              </a:ext>
            </a:extLst>
          </p:cNvPr>
          <p:cNvSpPr>
            <a:spLocks noGrp="1"/>
          </p:cNvSpPr>
          <p:nvPr/>
        </p:nvSpPr>
        <p:spPr>
          <a:xfrm>
            <a:off x="6381750" y="3952875"/>
            <a:ext cx="5095875" cy="476250"/>
          </a:xfrm>
          <a:prstGeom prst="rect">
            <a:avLst/>
          </a:prstGeom>
          <a:noFill/>
          <a:ln w="0">
            <a:noFill/>
          </a:ln>
        </p:spPr>
        <p:txBody>
          <a:bodyPr>
            <a:noAutofit/>
          </a:bodyPr>
          <a:lstStyle/>
          <a:p>
            <a:pPr algn="l">
              <a:defRPr sz="2550" b="1">
                <a:solidFill>
                  <a:srgbClr val="087F8C"/>
                </a:solidFill>
                <a:latin typeface="Times New Roman"/>
                <a:ea typeface="Times New Roman"/>
                <a:cs typeface="Times New Roman"/>
              </a:defRPr>
            </a:pPr>
            <a:r>
              <a:rPr sz="2550" b="1">
                <a:solidFill>
                  <a:srgbClr val="087F8C"/>
                </a:solidFill>
                <a:latin typeface="Times New Roman"/>
                <a:ea typeface="Times New Roman"/>
                <a:cs typeface="Times New Roman"/>
              </a:rPr>
              <a:t>Example: unapproved tool</a:t>
            </a:r>
          </a:p>
        </p:txBody>
      </p:sp>
      <p:sp>
        <p:nvSpPr>
          <p:cNvPr id="16" name="reveal-6">
            <a:extLst>
              <a:ext uri="{FF2B5EF4-FFF2-40B4-BE49-F238E27FC236}">
                <ns2:creationId id="{8C8EADEC-4FEC-440D-ADC3-60E69878A8EB}"/>
              </a:ext>
            </a:extLst>
          </p:cNvPr>
          <p:cNvSpPr>
            <a:spLocks noGrp="1"/>
          </p:cNvSpPr>
          <p:nvPr/>
        </p:nvSpPr>
        <p:spPr>
          <a:xfrm>
            <a:off x="6381750" y="4581525"/>
            <a:ext cx="5095875" cy="1619250"/>
          </a:xfrm>
          <a:prstGeom prst="rect">
            <a:avLst/>
          </a:prstGeom>
          <a:noFill/>
          <a:ln w="0">
            <a:noFill/>
          </a:ln>
        </p:spPr>
        <p:txBody>
          <a:bodyPr>
            <a:noAutofit/>
          </a:bodyPr>
          <a:lstStyle/>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A browser is not on the exam allowlist.</a:t>
            </a:r>
          </a:p>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Strict mode enforces the rule</a:t>
            </a:r>
          </a:p>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and records an event.</a:t>
            </a:r>
          </a:p>
        </p:txBody>
      </p:sp>
      <p:sp>
        <p:nvSpPr>
          <p:cNvPr id="17" name="fixed">
            <a:extLst>
              <a:ext uri="{FF2B5EF4-FFF2-40B4-BE49-F238E27FC236}">
                <ns2:creationId id="{173F4F0C-6FA4-432C-9D58-13C3FF4B3550}"/>
              </a:ext>
            </a:extLst>
          </p:cNvPr>
          <p:cNvSpPr>
            <a:spLocks noGrp="1"/>
          </p:cNvSpPr>
          <p:nvPr/>
        </p:nvSpPr>
        <p:spPr>
          <a:xfrm>
            <a:off x="609600" y="5953125"/>
            <a:ext cx="10668000" cy="457200"/>
          </a:xfrm>
          <a:prstGeom prst="rect">
            <a:avLst/>
          </a:prstGeom>
          <a:noFill/>
          <a:ln w="0">
            <a:noFill/>
          </a:ln>
        </p:spPr>
        <p:txBody>
          <a:bodyPr>
            <a:noAutofit/>
          </a:bodyPr>
          <a:lstStyle/>
          <a:p>
            <a:pPr algn="l">
              <a:defRPr sz="1725" b="0">
                <a:solidFill>
                  <a:srgbClr val="4C6471"/>
                </a:solidFill>
                <a:latin typeface="Times New Roman"/>
                <a:ea typeface="Times New Roman"/>
                <a:cs typeface="Times New Roman"/>
              </a:defRPr>
            </a:pPr>
            <a:r>
              <a:rPr sz="1725" b="0">
                <a:solidFill>
                  <a:srgbClr val="4C6471"/>
                </a:solidFill>
                <a:latin typeface="Times New Roman"/>
                <a:ea typeface="Times New Roman"/>
                <a:cs typeface="Times New Roman"/>
              </a:rPr>
              <a:t>Essential system services and the monitoring process remain protected.</a:t>
            </a:r>
          </a:p>
        </p:txBody>
      </p:sp>
    </p:spTree>
    <p:extLst>
      <p:ext uri="{BB962C8B-B14F-4D97-AF65-F5344CB8AC3E}">
        <ns3:creationId val="1132063666"/>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1" nodeType="click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350"/>
                                  <p:tgtEl>
                                    <p:spTgt spid="6"/>
                                  </p:tgtEl>
                                </p:cBhvr>
                              </p:animEffect>
                            </p:childTnLst>
                          </p:cTn>
                        </p:par>
                      </p:childTnLst>
                    </p:cTn>
                  </p:par>
                  <p:par>
                    <p:cTn id="7" fill="hold">
                      <p:stCondLst>
                        <p:cond delay="indefinite"/>
                      </p:stCondLst>
                      <p:childTnLst>
                        <p:par>
                          <p:cTn id="8" presetID="10" presetClass="entr" presetSubtype="0" fill="hold" grpId="2" nodeType="click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350"/>
                                  <p:tgtEl>
                                    <p:spTgt spid="7"/>
                                  </p:tgtEl>
                                </p:cBhvr>
                              </p:animEffect>
                            </p:childTnLst>
                          </p:cTn>
                        </p:par>
                        <p:par>
                          <p:cTn id="11" presetID="10" presetClass="entr" presetSubtype="0" fill="hold" grpId="2" nodeType="clickEffect">
                            <p:stCondLst>
                              <p:cond delay="0"/>
                            </p:stCondLst>
                            <p:childTnLst>
                              <p:set>
                                <p:cBhvr>
                                  <p:cTn id="12" dur="1" fill="hold">
                                    <p:stCondLst>
                                      <p:cond delay="0"/>
                                    </p:stCondLst>
                                  </p:cTn>
                                  <p:tgtEl>
                                    <p:spTgt spid="27"/>
                                  </p:tgtEl>
                                  <p:attrNameLst>
                                    <p:attrName>style.visibility</p:attrName>
                                  </p:attrNameLst>
                                </p:cBhvr>
                                <p:to>
                                  <p:strVal val="visible"/>
                                </p:to>
                              </p:set>
                              <p:animEffect transition="in" filter="fade">
                                <p:cBhvr>
                                  <p:cTn id="13" dur="350"/>
                                  <p:tgtEl>
                                    <p:spTgt spid="27"/>
                                  </p:tgtEl>
                                </p:cBhvr>
                              </p:animEffect>
                            </p:childTnLst>
                          </p:cTn>
                        </p:par>
                      </p:childTnLst>
                    </p:cTn>
                  </p:par>
                  <p:par>
                    <p:cTn id="14" fill="hold">
                      <p:stCondLst>
                        <p:cond delay="indefinite"/>
                      </p:stCondLst>
                      <p:childTnLst>
                        <p:par>
                          <p:cTn id="15" presetID="10" presetClass="entr" presetSubtype="0" fill="hold" grpId="3"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350"/>
                                  <p:tgtEl>
                                    <p:spTgt spid="8"/>
                                  </p:tgtEl>
                                </p:cBhvr>
                              </p:animEffect>
                            </p:childTnLst>
                          </p:cTn>
                        </p:par>
                        <p:par>
                          <p:cTn id="18" presetID="10" presetClass="entr" presetSubtype="0" fill="hold" grpId="3" nodeType="clickEffect">
                            <p:stCondLst>
                              <p:cond delay="0"/>
                            </p:stCondLst>
                            <p:childTnLst>
                              <p:set>
                                <p:cBhvr>
                                  <p:cTn id="19" dur="1" fill="hold">
                                    <p:stCondLst>
                                      <p:cond delay="0"/>
                                    </p:stCondLst>
                                  </p:cTn>
                                  <p:tgtEl>
                                    <p:spTgt spid="28"/>
                                  </p:tgtEl>
                                  <p:attrNameLst>
                                    <p:attrName>style.visibility</p:attrName>
                                  </p:attrNameLst>
                                </p:cBhvr>
                                <p:to>
                                  <p:strVal val="visible"/>
                                </p:to>
                              </p:set>
                              <p:animEffect transition="in" filter="fade">
                                <p:cBhvr>
                                  <p:cTn id="20" dur="350"/>
                                  <p:tgtEl>
                                    <p:spTgt spid="28"/>
                                  </p:tgtEl>
                                </p:cBhvr>
                              </p:animEffect>
                            </p:childTnLst>
                          </p:cTn>
                        </p:par>
                      </p:childTnLst>
                    </p:cTn>
                  </p:par>
                  <p:par>
                    <p:cTn id="21" fill="hold">
                      <p:stCondLst>
                        <p:cond delay="indefinite"/>
                      </p:stCondLst>
                      <p:childTnLst>
                        <p:par>
                          <p:cTn id="22" presetID="10" presetClass="entr" presetSubtype="0" fill="hold" grpId="4" nodeType="click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350"/>
                                  <p:tgtEl>
                                    <p:spTgt spid="9"/>
                                  </p:tgtEl>
                                </p:cBhvr>
                              </p:animEffect>
                            </p:childTnLst>
                          </p:cTn>
                        </p:par>
                        <p:par>
                          <p:cTn id="25" presetID="10" presetClass="entr" presetSubtype="0" fill="hold" grpId="4" nodeType="clickEffect">
                            <p:stCondLst>
                              <p:cond delay="0"/>
                            </p:stCondLst>
                            <p:childTnLst>
                              <p:set>
                                <p:cBhvr>
                                  <p:cTn id="26" dur="1" fill="hold">
                                    <p:stCondLst>
                                      <p:cond delay="0"/>
                                    </p:stCondLst>
                                  </p:cTn>
                                  <p:tgtEl>
                                    <p:spTgt spid="29"/>
                                  </p:tgtEl>
                                  <p:attrNameLst>
                                    <p:attrName>style.visibility</p:attrName>
                                  </p:attrNameLst>
                                </p:cBhvr>
                                <p:to>
                                  <p:strVal val="visible"/>
                                </p:to>
                              </p:set>
                              <p:animEffect transition="in" filter="fade">
                                <p:cBhvr>
                                  <p:cTn id="27" dur="350"/>
                                  <p:tgtEl>
                                    <p:spTgt spid="29"/>
                                  </p:tgtEl>
                                </p:cBhvr>
                              </p:animEffect>
                            </p:childTnLst>
                          </p:cTn>
                        </p:par>
                      </p:childTnLst>
                    </p:cTn>
                  </p:par>
                  <p:par>
                    <p:cTn id="28" fill="hold">
                      <p:stCondLst>
                        <p:cond delay="indefinite"/>
                      </p:stCondLst>
                      <p:childTnLst>
                        <p:par>
                          <p:cTn id="29" presetID="10" presetClass="entr" presetSubtype="0" fill="hold" grpId="5" nodeType="click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350"/>
                                  <p:tgtEl>
                                    <p:spTgt spid="13"/>
                                  </p:tgtEl>
                                </p:cBhvr>
                              </p:animEffect>
                            </p:childTnLst>
                          </p:cTn>
                        </p:par>
                        <p:par>
                          <p:cTn id="32" presetID="10" presetClass="entr" presetSubtype="0" fill="hold" grpId="5" nodeType="click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350"/>
                                  <p:tgtEl>
                                    <p:spTgt spid="14"/>
                                  </p:tgtEl>
                                </p:cBhvr>
                              </p:animEffect>
                            </p:childTnLst>
                          </p:cTn>
                        </p:par>
                      </p:childTnLst>
                    </p:cTn>
                  </p:par>
                  <p:par>
                    <p:cTn id="35" fill="hold">
                      <p:stCondLst>
                        <p:cond delay="indefinite"/>
                      </p:stCondLst>
                      <p:childTnLst>
                        <p:par>
                          <p:cTn id="36" presetID="10" presetClass="entr" presetSubtype="0" fill="hold" grpId="6" nodeType="clickEffect">
                            <p:stCondLst>
                              <p:cond delay="0"/>
                            </p:stCondLst>
                            <p:childTnLst>
                              <p:set>
                                <p:cBhvr>
                                  <p:cTn id="37" dur="1" fill="hold">
                                    <p:stCondLst>
                                      <p:cond delay="0"/>
                                    </p:stCondLst>
                                  </p:cTn>
                                  <p:tgtEl>
                                    <p:spTgt spid="15"/>
                                  </p:tgtEl>
                                  <p:attrNameLst>
                                    <p:attrName>style.visibility</p:attrName>
                                  </p:attrNameLst>
                                </p:cBhvr>
                                <p:to>
                                  <p:strVal val="visible"/>
                                </p:to>
                              </p:set>
                              <p:animEffect transition="in" filter="fade">
                                <p:cBhvr>
                                  <p:cTn id="38" dur="350"/>
                                  <p:tgtEl>
                                    <p:spTgt spid="15"/>
                                  </p:tgtEl>
                                </p:cBhvr>
                              </p:animEffect>
                            </p:childTnLst>
                          </p:cTn>
                        </p:par>
                        <p:par>
                          <p:cTn id="39" presetID="10" presetClass="entr" presetSubtype="0" fill="hold" grpId="6"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fade">
                                <p:cBhvr>
                                  <p:cTn id="41" dur="350"/>
                                  <p:tgtEl>
                                    <p:spTgt spid="16"/>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6" grpId="1" uiExpand="1"/>
      <p:bldP spid="7" grpId="2" uiExpand="1"/>
      <p:bldP spid="27" grpId="2" uiExpand="1"/>
      <p:bldP spid="8" grpId="3" uiExpand="1"/>
      <p:bldP spid="28" grpId="3" uiExpand="1"/>
      <p:bldP spid="9" grpId="4" uiExpand="1"/>
      <p:bldP spid="29" grpId="4" uiExpand="1"/>
      <p:bldP spid="13" grpId="5" uiExpand="1"/>
      <p:bldP spid="14" grpId="5" uiExpand="1"/>
      <p:bldP spid="15" grpId="6" uiExpand="1"/>
      <p:bldP spid="16" grpId="6" uiExpand="1"/>
    </p:bldLst>
  </p:timing>
</p:sld>
</file>

<file path=ppt/slides/slide8.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6F7F4"/>
        </a:solidFill>
      </p:bgPr>
    </p:bg>
    <p:spTree>
      <p:nvGrpSpPr>
        <p:cNvPr id="1" name=""/>
        <p:cNvGrpSpPr/>
        <p:nvPr/>
      </p:nvGrpSpPr>
      <p:grpSpPr>
        <a:xfrm/>
      </p:grpSpPr>
      <p:sp>
        <p:nvSpPr>
          <p:cNvPr id="18" name="fixed">
            <a:extLst>
              <a:ext uri="{FF2B5EF4-FFF2-40B4-BE49-F238E27FC236}">
                <ns2:creationId id="{1E07F6C7-F4B4-4BE8-BE4E-889DAD0B1AF6}"/>
              </a:ext>
            </a:extLst>
          </p:cNvPr>
          <p:cNvSpPr>
            <a:spLocks noGrp="1"/>
          </p:cNvSpPr>
          <p:nvPr/>
        </p:nvSpPr>
        <p:spPr>
          <a:xfrm>
            <a:off x="609600" y="400050"/>
            <a:ext cx="7620000" cy="381000"/>
          </a:xfrm>
          <a:prstGeom prst="rect">
            <a:avLst/>
          </a:prstGeom>
          <a:noFill/>
          <a:ln w="0">
            <a:noFill/>
          </a:ln>
        </p:spPr>
        <p:txBody>
          <a:bodyPr>
            <a:noAutofit/>
          </a:bodyPr>
          <a:lstStyle/>
          <a:p>
            <a:pPr algn="l">
              <a:defRPr sz="1875" b="1">
                <a:solidFill>
                  <a:srgbClr val="087F8C"/>
                </a:solidFill>
                <a:latin typeface="Times New Roman"/>
                <a:ea typeface="Times New Roman"/>
                <a:cs typeface="Times New Roman"/>
              </a:defRPr>
            </a:pPr>
            <a:r>
              <a:rPr sz="1875" b="1">
                <a:solidFill>
                  <a:srgbClr val="087F8C"/>
                </a:solidFill>
                <a:latin typeface="Times New Roman"/>
                <a:ea typeface="Times New Roman"/>
                <a:cs typeface="Times New Roman"/>
              </a:rPr>
              <a:t>MODULE 01 / WORKING AND EXAMPLE</a:t>
            </a:r>
          </a:p>
        </p:txBody>
      </p:sp>
      <p:sp>
        <p:nvSpPr>
          <p:cNvPr id="2" name="fixed">
            <a:extLst>
              <a:ext uri="{FF2B5EF4-FFF2-40B4-BE49-F238E27FC236}">
                <ns2:creationId id="{F377C685-658B-433F-ACE6-4170918F8989}"/>
              </a:ext>
            </a:extLst>
          </p:cNvPr>
          <p:cNvSpPr>
            <a:spLocks noGrp="1"/>
          </p:cNvSpPr>
          <p:nvPr/>
        </p:nvSpPr>
        <p:spPr>
          <a:xfrm>
            <a:off x="609600" y="971550"/>
            <a:ext cx="8191500" cy="1171575"/>
          </a:xfrm>
          <a:prstGeom prst="rect">
            <a:avLst/>
          </a:prstGeom>
          <a:noFill/>
          <a:ln w="0">
            <a:noFill/>
          </a:ln>
        </p:spPr>
        <p:txBody>
          <a:bodyPr>
            <a:noAutofit/>
          </a:bodyPr>
          <a:lstStyle/>
          <a:p>
            <a:pPr algn="l">
              <a:defRPr sz="3750" b="1">
                <a:solidFill>
                  <a:srgbClr val="172F3A"/>
                </a:solidFill>
                <a:latin typeface="Times New Roman"/>
                <a:ea typeface="Times New Roman"/>
                <a:cs typeface="Times New Roman"/>
              </a:defRPr>
            </a:pPr>
            <a:r>
              <a:rPr sz="3750" b="1">
                <a:solidFill>
                  <a:srgbClr val="172F3A"/>
                </a:solidFill>
                <a:latin typeface="Times New Roman"/>
                <a:ea typeface="Times New Roman"/>
                <a:cs typeface="Times New Roman"/>
              </a:rPr>
              <a:t>Pre-existing file policy</a:t>
            </a:r>
          </a:p>
        </p:txBody>
      </p:sp>
      <p:sp>
        <p:nvSpPr>
          <p:cNvPr id="3" name="fixed">
            <a:extLst>
              <a:ext uri="{FF2B5EF4-FFF2-40B4-BE49-F238E27FC236}">
                <ns2:creationId id="{5D64B61C-085E-4BF6-90C5-3AEBE313D9BF}"/>
              </a:ext>
            </a:extLst>
          </p:cNvPr>
          <p:cNvSpPr>
            <a:spLocks noGrp="1"/>
          </p:cNvSpPr>
          <p:nvPr/>
        </p:nvSpPr>
        <p:spPr>
          <a:xfrm>
            <a:off x="9029700" y="457200"/>
            <a:ext cx="2571750" cy="381000"/>
          </a:xfrm>
          <a:prstGeom prst="rect">
            <a:avLst/>
          </a:prstGeom>
          <a:noFill/>
          <a:ln w="0">
            <a:noFill/>
          </a:ln>
        </p:spPr>
        <p:txBody>
          <a:bodyPr>
            <a:noAutofit/>
          </a:bodyPr>
          <a:lstStyle/>
          <a:p>
            <a:pPr algn="r">
              <a:defRPr sz="1800" b="1">
                <a:solidFill>
                  <a:srgbClr val="087F8C"/>
                </a:solidFill>
                <a:latin typeface="Times New Roman"/>
                <a:ea typeface="Times New Roman"/>
                <a:cs typeface="Times New Roman"/>
              </a:defRPr>
            </a:pPr>
            <a:r>
              <a:rPr sz="1800" b="1">
                <a:solidFill>
                  <a:srgbClr val="087F8C"/>
                </a:solidFill>
                <a:latin typeface="Times New Roman"/>
                <a:ea typeface="Times New Roman"/>
                <a:cs typeface="Times New Roman"/>
              </a:rPr>
              <a:t>COMPLETED</a:t>
            </a:r>
          </a:p>
        </p:txBody>
      </p:sp>
      <p:sp>
        <p:nvSpPr>
          <p:cNvPr id="4" name="fixed">
            <a:extLst>
              <a:ext uri="{FF2B5EF4-FFF2-40B4-BE49-F238E27FC236}">
                <ns2:creationId id="{03EFF7FA-ABEA-4D17-B3D9-B7D74351CF00}"/>
              </a:ext>
            </a:extLst>
          </p:cNvPr>
          <p:cNvSpPr>
            <a:spLocks noGrp="1"/>
          </p:cNvSpPr>
          <p:nvPr/>
        </p:nvSpPr>
        <p:spPr>
          <a:xfrm>
            <a:off x="9029700" y="828675"/>
            <a:ext cx="2571750" cy="304800"/>
          </a:xfrm>
          <a:prstGeom prst="rect">
            <a:avLst/>
          </a:prstGeom>
          <a:noFill/>
          <a:ln w="0">
            <a:noFill/>
          </a:ln>
        </p:spPr>
        <p:txBody>
          <a:bodyPr>
            <a:noAutofit/>
          </a:bodyPr>
          <a:lstStyle/>
          <a:p>
            <a:pPr algn="r">
              <a:defRPr sz="1425" b="0">
                <a:solidFill>
                  <a:srgbClr val="4C6471"/>
                </a:solidFill>
                <a:latin typeface="Times New Roman"/>
                <a:ea typeface="Times New Roman"/>
                <a:cs typeface="Times New Roman"/>
              </a:defRPr>
            </a:pPr>
            <a:r>
              <a:rPr sz="1425" b="0">
                <a:solidFill>
                  <a:srgbClr val="4C6471"/>
                </a:solidFill>
                <a:latin typeface="Times New Roman"/>
                <a:ea typeface="Times New Roman"/>
                <a:cs typeface="Times New Roman"/>
              </a:rPr>
              <a:t>Implementation status</a:t>
            </a:r>
          </a:p>
        </p:txBody>
      </p:sp>
      <p:sp>
        <p:nvSpPr>
          <p:cNvPr id="5" name="fixed">
            <a:extLst>
              <a:ext uri="{FF2B5EF4-FFF2-40B4-BE49-F238E27FC236}">
                <ns2:creationId id="{1871B05B-BC4B-48C8-B81C-A69A08FEEA9F}"/>
              </a:ext>
            </a:extLst>
          </p:cNvPr>
          <p:cNvSpPr>
            <a:spLocks noGrp="1"/>
          </p:cNvSpPr>
          <p:nvPr/>
        </p:nvSpPr>
        <p:spPr>
          <a:xfrm>
            <a:off x="11029950" y="6334125"/>
            <a:ext cx="523875" cy="285750"/>
          </a:xfrm>
          <a:prstGeom prst="rect">
            <a:avLst/>
          </a:prstGeom>
          <a:noFill/>
          <a:ln w="0">
            <a:noFill/>
          </a:ln>
        </p:spPr>
        <p:txBody>
          <a:bodyPr>
            <a:noAutofit/>
          </a:bodyPr>
          <a:lstStyle/>
          <a:p>
            <a:pPr algn="r">
              <a:defRPr sz="1500" b="0">
                <a:solidFill>
                  <a:srgbClr val="4C6471"/>
                </a:solidFill>
                <a:latin typeface="Times New Roman"/>
                <a:ea typeface="Times New Roman"/>
                <a:cs typeface="Times New Roman"/>
              </a:defRPr>
            </a:pPr>
            <a:r>
              <a:rPr sz="1500" b="0">
                <a:solidFill>
                  <a:srgbClr val="4C6471"/>
                </a:solidFill>
                <a:latin typeface="Times New Roman"/>
                <a:ea typeface="Times New Roman"/>
                <a:cs typeface="Times New Roman"/>
              </a:rPr>
              <a:t>08</a:t>
            </a:r>
          </a:p>
        </p:txBody>
      </p:sp>
      <p:sp>
        <p:nvSpPr>
          <p:cNvPr id="6" name="reveal-1">
            <a:extLst>
              <a:ext uri="{FF2B5EF4-FFF2-40B4-BE49-F238E27FC236}">
                <ns2:creationId id="{BC41D7DF-CBFA-4F43-A674-E100011B7811}"/>
              </a:ext>
            </a:extLst>
          </p:cNvPr>
          <p:cNvSpPr>
            <a:spLocks noGrp="1"/>
          </p:cNvSpPr>
          <p:nvPr/>
        </p:nvSpPr>
        <p:spPr>
          <a:xfrm>
            <a:off x="609600" y="2466975"/>
            <a:ext cx="2395538"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Observe open file</a:t>
            </a:r>
          </a:p>
        </p:txBody>
      </p:sp>
      <p:sp>
        <p:nvSpPr>
          <p:cNvPr id="7" name="reveal-2">
            <a:extLst>
              <a:ext uri="{FF2B5EF4-FFF2-40B4-BE49-F238E27FC236}">
                <ns2:creationId id="{440FEA66-4D8D-4DA9-8A43-511200184F8D}"/>
              </a:ext>
            </a:extLst>
          </p:cNvPr>
          <p:cNvSpPr>
            <a:spLocks noGrp="1"/>
          </p:cNvSpPr>
          <p:nvPr/>
        </p:nvSpPr>
        <p:spPr>
          <a:xfrm>
            <a:off x="3462338" y="2466975"/>
            <a:ext cx="2395538"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Exact permitted path?</a:t>
            </a:r>
          </a:p>
        </p:txBody>
      </p:sp>
      <p:sp>
        <p:nvSpPr>
          <p:cNvPr id="8" name="reveal-3">
            <a:extLst>
              <a:ext uri="{FF2B5EF4-FFF2-40B4-BE49-F238E27FC236}">
                <ns2:creationId id="{883D622F-A7E4-41F9-9BD3-84B53B8AA977}"/>
              </a:ext>
            </a:extLst>
          </p:cNvPr>
          <p:cNvSpPr>
            <a:spLocks noGrp="1"/>
          </p:cNvSpPr>
          <p:nvPr/>
        </p:nvSpPr>
        <p:spPr>
          <a:xfrm>
            <a:off x="6315075" y="2466975"/>
            <a:ext cx="2395538"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Pre-exam timestamp?</a:t>
            </a:r>
          </a:p>
        </p:txBody>
      </p:sp>
      <p:sp>
        <p:nvSpPr>
          <p:cNvPr id="9" name="reveal-4">
            <a:extLst>
              <a:ext uri="{FF2B5EF4-FFF2-40B4-BE49-F238E27FC236}">
                <ns2:creationId id="{8394150A-1D06-4791-9F94-013EFD32E31F}"/>
              </a:ext>
            </a:extLst>
          </p:cNvPr>
          <p:cNvSpPr>
            <a:spLocks noGrp="1"/>
          </p:cNvSpPr>
          <p:nvPr/>
        </p:nvSpPr>
        <p:spPr>
          <a:xfrm>
            <a:off x="9167813" y="2466975"/>
            <a:ext cx="2395538"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Verified owner action</a:t>
            </a:r>
          </a:p>
        </p:txBody>
      </p:sp>
      <p:cxnSp>
        <p:nvCxnSpPr>
          <p:cNvPr id="27" name="reveal-2"/>
          <p:cNvCxnSpPr>
            <a:stCxn id="6" idx="3"/>
            <a:endCxn id="7" idx="1"/>
          </p:cNvCxnSpPr>
          <p:nvPr/>
        </p:nvCxnSpPr>
        <p:spPr>
          <a:xfrm>
            <a:off x="3005138" y="2943225"/>
            <a:ext cx="457200" cy="0"/>
          </a:xfrm>
          <a:prstGeom prst="straightConnector1">
            <a:avLst/>
          </a:prstGeom>
          <a:ln w="19050">
            <a:solidFill>
              <a:srgbClr val="087F8C"/>
            </a:solidFill>
            <a:tailEnd type="arrow" w="med" len="med"/>
          </a:ln>
        </p:spPr>
      </p:cxnSp>
      <p:cxnSp>
        <p:nvCxnSpPr>
          <p:cNvPr id="28" name="reveal-3"/>
          <p:cNvCxnSpPr>
            <a:stCxn id="7" idx="3"/>
            <a:endCxn id="8" idx="1"/>
          </p:cNvCxnSpPr>
          <p:nvPr/>
        </p:nvCxnSpPr>
        <p:spPr>
          <a:xfrm>
            <a:off x="5857876" y="2943225"/>
            <a:ext cx="457199" cy="0"/>
          </a:xfrm>
          <a:prstGeom prst="straightConnector1">
            <a:avLst/>
          </a:prstGeom>
          <a:ln w="19050">
            <a:solidFill>
              <a:srgbClr val="087F8C"/>
            </a:solidFill>
            <a:tailEnd type="arrow" w="med" len="med"/>
          </a:ln>
        </p:spPr>
      </p:cxnSp>
      <p:cxnSp>
        <p:nvCxnSpPr>
          <p:cNvPr id="29" name="reveal-4"/>
          <p:cNvCxnSpPr>
            <a:stCxn id="8" idx="3"/>
            <a:endCxn id="9" idx="1"/>
          </p:cNvCxnSpPr>
          <p:nvPr/>
        </p:nvCxnSpPr>
        <p:spPr>
          <a:xfrm>
            <a:off x="8710613" y="2943225"/>
            <a:ext cx="457200" cy="0"/>
          </a:xfrm>
          <a:prstGeom prst="straightConnector1">
            <a:avLst/>
          </a:prstGeom>
          <a:ln w="19050">
            <a:solidFill>
              <a:srgbClr val="087F8C"/>
            </a:solidFill>
            <a:tailEnd type="arrow" w="med" len="med"/>
          </a:ln>
        </p:spPr>
      </p:cxnSp>
      <p:sp>
        <p:nvSpPr>
          <p:cNvPr id="13" name="reveal-5">
            <a:extLst>
              <a:ext uri="{FF2B5EF4-FFF2-40B4-BE49-F238E27FC236}">
                <ns2:creationId id="{9335E1F1-81AA-495F-A956-6D7583AC59D7}"/>
              </a:ext>
            </a:extLst>
          </p:cNvPr>
          <p:cNvSpPr>
            <a:spLocks noGrp="1"/>
          </p:cNvSpPr>
          <p:nvPr/>
        </p:nvSpPr>
        <p:spPr>
          <a:xfrm>
            <a:off x="609600" y="3952875"/>
            <a:ext cx="5095875" cy="476250"/>
          </a:xfrm>
          <a:prstGeom prst="rect">
            <a:avLst/>
          </a:prstGeom>
          <a:noFill/>
          <a:ln w="0">
            <a:noFill/>
          </a:ln>
        </p:spPr>
        <p:txBody>
          <a:bodyPr>
            <a:noAutofit/>
          </a:bodyPr>
          <a:lstStyle/>
          <a:p>
            <a:pPr algn="l">
              <a:defRPr sz="2550" b="1">
                <a:solidFill>
                  <a:srgbClr val="087F8C"/>
                </a:solidFill>
                <a:latin typeface="Times New Roman"/>
                <a:ea typeface="Times New Roman"/>
                <a:cs typeface="Times New Roman"/>
              </a:defRPr>
            </a:pPr>
            <a:r>
              <a:rPr sz="2550" b="1">
                <a:solidFill>
                  <a:srgbClr val="087F8C"/>
                </a:solidFill>
                <a:latin typeface="Times New Roman"/>
                <a:ea typeface="Times New Roman"/>
                <a:cs typeface="Times New Roman"/>
              </a:rPr>
              <a:t>Permitted reference</a:t>
            </a:r>
          </a:p>
        </p:txBody>
      </p:sp>
      <p:sp>
        <p:nvSpPr>
          <p:cNvPr id="14" name="reveal-5">
            <a:extLst>
              <a:ext uri="{FF2B5EF4-FFF2-40B4-BE49-F238E27FC236}">
                <ns2:creationId id="{4A6BC241-4A6E-4443-9FA5-526E6CC67397}"/>
              </a:ext>
            </a:extLst>
          </p:cNvPr>
          <p:cNvSpPr>
            <a:spLocks noGrp="1"/>
          </p:cNvSpPr>
          <p:nvPr/>
        </p:nvSpPr>
        <p:spPr>
          <a:xfrm>
            <a:off x="609600" y="4581525"/>
            <a:ext cx="5095875" cy="1619250"/>
          </a:xfrm>
          <a:prstGeom prst="rect">
            <a:avLst/>
          </a:prstGeom>
          <a:noFill/>
          <a:ln w="0">
            <a:noFill/>
          </a:ln>
        </p:spPr>
        <p:txBody>
          <a:bodyPr>
            <a:noAutofit/>
          </a:bodyPr>
          <a:lstStyle/>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An exact handbook path is permitted.</a:t>
            </a:r>
          </a:p>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That file can have an old timestamp.</a:t>
            </a:r>
          </a:p>
        </p:txBody>
      </p:sp>
      <p:sp>
        <p:nvSpPr>
          <p:cNvPr id="15" name="reveal-6">
            <a:extLst>
              <a:ext uri="{FF2B5EF4-FFF2-40B4-BE49-F238E27FC236}">
                <ns2:creationId id="{8A18C242-9C06-4961-98F4-CD70330B5DA7}"/>
              </a:ext>
            </a:extLst>
          </p:cNvPr>
          <p:cNvSpPr>
            <a:spLocks noGrp="1"/>
          </p:cNvSpPr>
          <p:nvPr/>
        </p:nvSpPr>
        <p:spPr>
          <a:xfrm>
            <a:off x="6381750" y="3952875"/>
            <a:ext cx="5095875" cy="476250"/>
          </a:xfrm>
          <a:prstGeom prst="rect">
            <a:avLst/>
          </a:prstGeom>
          <a:noFill/>
          <a:ln w="0">
            <a:noFill/>
          </a:ln>
        </p:spPr>
        <p:txBody>
          <a:bodyPr>
            <a:noAutofit/>
          </a:bodyPr>
          <a:lstStyle/>
          <a:p>
            <a:pPr algn="l">
              <a:defRPr sz="2550" b="1">
                <a:solidFill>
                  <a:srgbClr val="087F8C"/>
                </a:solidFill>
                <a:latin typeface="Times New Roman"/>
                <a:ea typeface="Times New Roman"/>
                <a:cs typeface="Times New Roman"/>
              </a:defRPr>
            </a:pPr>
            <a:r>
              <a:rPr sz="2550" b="1">
                <a:solidFill>
                  <a:srgbClr val="087F8C"/>
                </a:solidFill>
                <a:latin typeface="Times New Roman"/>
                <a:ea typeface="Times New Roman"/>
                <a:cs typeface="Times New Roman"/>
              </a:rPr>
              <a:t>Unapproved old notes</a:t>
            </a:r>
          </a:p>
        </p:txBody>
      </p:sp>
      <p:sp>
        <p:nvSpPr>
          <p:cNvPr id="16" name="reveal-6">
            <a:extLst>
              <a:ext uri="{FF2B5EF4-FFF2-40B4-BE49-F238E27FC236}">
                <ns2:creationId id="{7382A921-198C-4C5F-B3DA-D3CA859B11AE}"/>
              </a:ext>
            </a:extLst>
          </p:cNvPr>
          <p:cNvSpPr>
            <a:spLocks noGrp="1"/>
          </p:cNvSpPr>
          <p:nvPr/>
        </p:nvSpPr>
        <p:spPr>
          <a:xfrm>
            <a:off x="6381750" y="4581525"/>
            <a:ext cx="5095875" cy="1619250"/>
          </a:xfrm>
          <a:prstGeom prst="rect">
            <a:avLst/>
          </a:prstGeom>
          <a:noFill/>
          <a:ln w="0">
            <a:noFill/>
          </a:ln>
        </p:spPr>
        <p:txBody>
          <a:bodyPr>
            <a:noAutofit/>
          </a:bodyPr>
          <a:lstStyle/>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Old notes are open in an allowed editor.</a:t>
            </a:r>
          </a:p>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Only the verified owner is targeted.</a:t>
            </a:r>
          </a:p>
        </p:txBody>
      </p:sp>
      <p:sp>
        <p:nvSpPr>
          <p:cNvPr id="17" name="fixed">
            <a:extLst>
              <a:ext uri="{FF2B5EF4-FFF2-40B4-BE49-F238E27FC236}">
                <ns2:creationId id="{E292CC78-F567-42B6-9E5B-3016E0CBEC55}"/>
              </a:ext>
            </a:extLst>
          </p:cNvPr>
          <p:cNvSpPr>
            <a:spLocks noGrp="1"/>
          </p:cNvSpPr>
          <p:nvPr/>
        </p:nvSpPr>
        <p:spPr>
          <a:xfrm>
            <a:off x="609600" y="5953125"/>
            <a:ext cx="10668000" cy="457200"/>
          </a:xfrm>
          <a:prstGeom prst="rect">
            <a:avLst/>
          </a:prstGeom>
          <a:noFill/>
          <a:ln w="0">
            <a:noFill/>
          </a:ln>
        </p:spPr>
        <p:txBody>
          <a:bodyPr>
            <a:noAutofit/>
          </a:bodyPr>
          <a:lstStyle/>
          <a:p>
            <a:pPr algn="l">
              <a:defRPr sz="1725" b="0">
                <a:solidFill>
                  <a:srgbClr val="4C6471"/>
                </a:solidFill>
                <a:latin typeface="Times New Roman"/>
                <a:ea typeface="Times New Roman"/>
                <a:cs typeface="Times New Roman"/>
              </a:defRPr>
            </a:pPr>
            <a:r>
              <a:rPr sz="1725" b="0">
                <a:solidFill>
                  <a:srgbClr val="4C6471"/>
                </a:solidFill>
                <a:latin typeface="Times New Roman"/>
                <a:ea typeface="Times New Roman"/>
                <a:cs typeface="Times New Roman"/>
              </a:rPr>
              <a:t>An uncertain Recent-file entry creates a review signal without closing unrelated applications.</a:t>
            </a:r>
          </a:p>
        </p:txBody>
      </p:sp>
    </p:spTree>
    <p:extLst>
      <p:ext uri="{BB962C8B-B14F-4D97-AF65-F5344CB8AC3E}">
        <ns3:creationId val="432485308"/>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1" nodeType="click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350"/>
                                  <p:tgtEl>
                                    <p:spTgt spid="6"/>
                                  </p:tgtEl>
                                </p:cBhvr>
                              </p:animEffect>
                            </p:childTnLst>
                          </p:cTn>
                        </p:par>
                      </p:childTnLst>
                    </p:cTn>
                  </p:par>
                  <p:par>
                    <p:cTn id="7" fill="hold">
                      <p:stCondLst>
                        <p:cond delay="indefinite"/>
                      </p:stCondLst>
                      <p:childTnLst>
                        <p:par>
                          <p:cTn id="8" presetID="10" presetClass="entr" presetSubtype="0" fill="hold" grpId="2" nodeType="click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350"/>
                                  <p:tgtEl>
                                    <p:spTgt spid="7"/>
                                  </p:tgtEl>
                                </p:cBhvr>
                              </p:animEffect>
                            </p:childTnLst>
                          </p:cTn>
                        </p:par>
                        <p:par>
                          <p:cTn id="11" presetID="10" presetClass="entr" presetSubtype="0" fill="hold" grpId="2" nodeType="clickEffect">
                            <p:stCondLst>
                              <p:cond delay="0"/>
                            </p:stCondLst>
                            <p:childTnLst>
                              <p:set>
                                <p:cBhvr>
                                  <p:cTn id="12" dur="1" fill="hold">
                                    <p:stCondLst>
                                      <p:cond delay="0"/>
                                    </p:stCondLst>
                                  </p:cTn>
                                  <p:tgtEl>
                                    <p:spTgt spid="27"/>
                                  </p:tgtEl>
                                  <p:attrNameLst>
                                    <p:attrName>style.visibility</p:attrName>
                                  </p:attrNameLst>
                                </p:cBhvr>
                                <p:to>
                                  <p:strVal val="visible"/>
                                </p:to>
                              </p:set>
                              <p:animEffect transition="in" filter="fade">
                                <p:cBhvr>
                                  <p:cTn id="13" dur="350"/>
                                  <p:tgtEl>
                                    <p:spTgt spid="27"/>
                                  </p:tgtEl>
                                </p:cBhvr>
                              </p:animEffect>
                            </p:childTnLst>
                          </p:cTn>
                        </p:par>
                      </p:childTnLst>
                    </p:cTn>
                  </p:par>
                  <p:par>
                    <p:cTn id="14" fill="hold">
                      <p:stCondLst>
                        <p:cond delay="indefinite"/>
                      </p:stCondLst>
                      <p:childTnLst>
                        <p:par>
                          <p:cTn id="15" presetID="10" presetClass="entr" presetSubtype="0" fill="hold" grpId="3"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350"/>
                                  <p:tgtEl>
                                    <p:spTgt spid="8"/>
                                  </p:tgtEl>
                                </p:cBhvr>
                              </p:animEffect>
                            </p:childTnLst>
                          </p:cTn>
                        </p:par>
                        <p:par>
                          <p:cTn id="18" presetID="10" presetClass="entr" presetSubtype="0" fill="hold" grpId="3" nodeType="clickEffect">
                            <p:stCondLst>
                              <p:cond delay="0"/>
                            </p:stCondLst>
                            <p:childTnLst>
                              <p:set>
                                <p:cBhvr>
                                  <p:cTn id="19" dur="1" fill="hold">
                                    <p:stCondLst>
                                      <p:cond delay="0"/>
                                    </p:stCondLst>
                                  </p:cTn>
                                  <p:tgtEl>
                                    <p:spTgt spid="28"/>
                                  </p:tgtEl>
                                  <p:attrNameLst>
                                    <p:attrName>style.visibility</p:attrName>
                                  </p:attrNameLst>
                                </p:cBhvr>
                                <p:to>
                                  <p:strVal val="visible"/>
                                </p:to>
                              </p:set>
                              <p:animEffect transition="in" filter="fade">
                                <p:cBhvr>
                                  <p:cTn id="20" dur="350"/>
                                  <p:tgtEl>
                                    <p:spTgt spid="28"/>
                                  </p:tgtEl>
                                </p:cBhvr>
                              </p:animEffect>
                            </p:childTnLst>
                          </p:cTn>
                        </p:par>
                      </p:childTnLst>
                    </p:cTn>
                  </p:par>
                  <p:par>
                    <p:cTn id="21" fill="hold">
                      <p:stCondLst>
                        <p:cond delay="indefinite"/>
                      </p:stCondLst>
                      <p:childTnLst>
                        <p:par>
                          <p:cTn id="22" presetID="10" presetClass="entr" presetSubtype="0" fill="hold" grpId="4" nodeType="click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350"/>
                                  <p:tgtEl>
                                    <p:spTgt spid="9"/>
                                  </p:tgtEl>
                                </p:cBhvr>
                              </p:animEffect>
                            </p:childTnLst>
                          </p:cTn>
                        </p:par>
                        <p:par>
                          <p:cTn id="25" presetID="10" presetClass="entr" presetSubtype="0" fill="hold" grpId="4" nodeType="clickEffect">
                            <p:stCondLst>
                              <p:cond delay="0"/>
                            </p:stCondLst>
                            <p:childTnLst>
                              <p:set>
                                <p:cBhvr>
                                  <p:cTn id="26" dur="1" fill="hold">
                                    <p:stCondLst>
                                      <p:cond delay="0"/>
                                    </p:stCondLst>
                                  </p:cTn>
                                  <p:tgtEl>
                                    <p:spTgt spid="29"/>
                                  </p:tgtEl>
                                  <p:attrNameLst>
                                    <p:attrName>style.visibility</p:attrName>
                                  </p:attrNameLst>
                                </p:cBhvr>
                                <p:to>
                                  <p:strVal val="visible"/>
                                </p:to>
                              </p:set>
                              <p:animEffect transition="in" filter="fade">
                                <p:cBhvr>
                                  <p:cTn id="27" dur="350"/>
                                  <p:tgtEl>
                                    <p:spTgt spid="29"/>
                                  </p:tgtEl>
                                </p:cBhvr>
                              </p:animEffect>
                            </p:childTnLst>
                          </p:cTn>
                        </p:par>
                      </p:childTnLst>
                    </p:cTn>
                  </p:par>
                  <p:par>
                    <p:cTn id="28" fill="hold">
                      <p:stCondLst>
                        <p:cond delay="indefinite"/>
                      </p:stCondLst>
                      <p:childTnLst>
                        <p:par>
                          <p:cTn id="29" presetID="10" presetClass="entr" presetSubtype="0" fill="hold" grpId="5" nodeType="click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350"/>
                                  <p:tgtEl>
                                    <p:spTgt spid="13"/>
                                  </p:tgtEl>
                                </p:cBhvr>
                              </p:animEffect>
                            </p:childTnLst>
                          </p:cTn>
                        </p:par>
                        <p:par>
                          <p:cTn id="32" presetID="10" presetClass="entr" presetSubtype="0" fill="hold" grpId="5" nodeType="click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350"/>
                                  <p:tgtEl>
                                    <p:spTgt spid="14"/>
                                  </p:tgtEl>
                                </p:cBhvr>
                              </p:animEffect>
                            </p:childTnLst>
                          </p:cTn>
                        </p:par>
                      </p:childTnLst>
                    </p:cTn>
                  </p:par>
                  <p:par>
                    <p:cTn id="35" fill="hold">
                      <p:stCondLst>
                        <p:cond delay="indefinite"/>
                      </p:stCondLst>
                      <p:childTnLst>
                        <p:par>
                          <p:cTn id="36" presetID="10" presetClass="entr" presetSubtype="0" fill="hold" grpId="6" nodeType="clickEffect">
                            <p:stCondLst>
                              <p:cond delay="0"/>
                            </p:stCondLst>
                            <p:childTnLst>
                              <p:set>
                                <p:cBhvr>
                                  <p:cTn id="37" dur="1" fill="hold">
                                    <p:stCondLst>
                                      <p:cond delay="0"/>
                                    </p:stCondLst>
                                  </p:cTn>
                                  <p:tgtEl>
                                    <p:spTgt spid="15"/>
                                  </p:tgtEl>
                                  <p:attrNameLst>
                                    <p:attrName>style.visibility</p:attrName>
                                  </p:attrNameLst>
                                </p:cBhvr>
                                <p:to>
                                  <p:strVal val="visible"/>
                                </p:to>
                              </p:set>
                              <p:animEffect transition="in" filter="fade">
                                <p:cBhvr>
                                  <p:cTn id="38" dur="350"/>
                                  <p:tgtEl>
                                    <p:spTgt spid="15"/>
                                  </p:tgtEl>
                                </p:cBhvr>
                              </p:animEffect>
                            </p:childTnLst>
                          </p:cTn>
                        </p:par>
                        <p:par>
                          <p:cTn id="39" presetID="10" presetClass="entr" presetSubtype="0" fill="hold" grpId="6"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fade">
                                <p:cBhvr>
                                  <p:cTn id="41" dur="350"/>
                                  <p:tgtEl>
                                    <p:spTgt spid="16"/>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6" grpId="1" uiExpand="1"/>
      <p:bldP spid="7" grpId="2" uiExpand="1"/>
      <p:bldP spid="27" grpId="2" uiExpand="1"/>
      <p:bldP spid="8" grpId="3" uiExpand="1"/>
      <p:bldP spid="28" grpId="3" uiExpand="1"/>
      <p:bldP spid="9" grpId="4" uiExpand="1"/>
      <p:bldP spid="29" grpId="4" uiExpand="1"/>
      <p:bldP spid="13" grpId="5" uiExpand="1"/>
      <p:bldP spid="14" grpId="5" uiExpand="1"/>
      <p:bldP spid="15" grpId="6" uiExpand="1"/>
      <p:bldP spid="16" grpId="6" uiExpand="1"/>
    </p:bldLst>
  </p:timing>
</p:sld>
</file>

<file path=ppt/slides/slide9.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6F7F4"/>
        </a:solidFill>
      </p:bgPr>
    </p:bg>
    <p:spTree>
      <p:nvGrpSpPr>
        <p:cNvPr id="1" name=""/>
        <p:cNvGrpSpPr/>
        <p:nvPr/>
      </p:nvGrpSpPr>
      <p:grpSpPr>
        <a:xfrm/>
      </p:grpSpPr>
      <p:sp>
        <p:nvSpPr>
          <p:cNvPr id="16" name="fixed">
            <a:extLst>
              <a:ext uri="{FF2B5EF4-FFF2-40B4-BE49-F238E27FC236}">
                <ns2:creationId id="{6950DAD7-0468-46E9-841F-7B033C6E817F}"/>
              </a:ext>
            </a:extLst>
          </p:cNvPr>
          <p:cNvSpPr>
            <a:spLocks noGrp="1"/>
          </p:cNvSpPr>
          <p:nvPr/>
        </p:nvSpPr>
        <p:spPr>
          <a:xfrm>
            <a:off x="609600" y="400050"/>
            <a:ext cx="7620000" cy="381000"/>
          </a:xfrm>
          <a:prstGeom prst="rect">
            <a:avLst/>
          </a:prstGeom>
          <a:noFill/>
          <a:ln w="0">
            <a:noFill/>
          </a:ln>
        </p:spPr>
        <p:txBody>
          <a:bodyPr>
            <a:noAutofit/>
          </a:bodyPr>
          <a:lstStyle/>
          <a:p>
            <a:pPr algn="l">
              <a:defRPr sz="1875" b="1">
                <a:solidFill>
                  <a:srgbClr val="087F8C"/>
                </a:solidFill>
                <a:latin typeface="Times New Roman"/>
                <a:ea typeface="Times New Roman"/>
                <a:cs typeface="Times New Roman"/>
              </a:defRPr>
            </a:pPr>
            <a:r>
              <a:rPr sz="1875" b="1">
                <a:solidFill>
                  <a:srgbClr val="087F8C"/>
                </a:solidFill>
                <a:latin typeface="Times New Roman"/>
                <a:ea typeface="Times New Roman"/>
                <a:cs typeface="Times New Roman"/>
              </a:rPr>
              <a:t>MODULE 01 / ADDITIONAL CONTROLS</a:t>
            </a:r>
          </a:p>
        </p:txBody>
      </p:sp>
      <p:sp>
        <p:nvSpPr>
          <p:cNvPr id="2" name="fixed">
            <a:extLst>
              <a:ext uri="{FF2B5EF4-FFF2-40B4-BE49-F238E27FC236}">
                <ns2:creationId id="{1BC66F37-2A89-4540-B09A-660DD49DBF47}"/>
              </a:ext>
            </a:extLst>
          </p:cNvPr>
          <p:cNvSpPr>
            <a:spLocks noGrp="1"/>
          </p:cNvSpPr>
          <p:nvPr/>
        </p:nvSpPr>
        <p:spPr>
          <a:xfrm>
            <a:off x="609600" y="971550"/>
            <a:ext cx="8191500" cy="1171575"/>
          </a:xfrm>
          <a:prstGeom prst="rect">
            <a:avLst/>
          </a:prstGeom>
          <a:noFill/>
          <a:ln w="0">
            <a:noFill/>
          </a:ln>
        </p:spPr>
        <p:txBody>
          <a:bodyPr>
            <a:noAutofit/>
          </a:bodyPr>
          <a:lstStyle/>
          <a:p>
            <a:pPr algn="l">
              <a:defRPr sz="3750" b="1">
                <a:solidFill>
                  <a:srgbClr val="172F3A"/>
                </a:solidFill>
                <a:latin typeface="Times New Roman"/>
                <a:ea typeface="Times New Roman"/>
                <a:cs typeface="Times New Roman"/>
              </a:defRPr>
            </a:pPr>
            <a:r>
              <a:rPr sz="3750" b="1">
                <a:solidFill>
                  <a:srgbClr val="172F3A"/>
                </a:solidFill>
                <a:latin typeface="Times New Roman"/>
                <a:ea typeface="Times New Roman"/>
                <a:cs typeface="Times New Roman"/>
              </a:rPr>
              <a:t>USB storage and display checks</a:t>
            </a:r>
          </a:p>
        </p:txBody>
      </p:sp>
      <p:sp>
        <p:nvSpPr>
          <p:cNvPr id="3" name="fixed">
            <a:extLst>
              <a:ext uri="{FF2B5EF4-FFF2-40B4-BE49-F238E27FC236}">
                <ns2:creationId id="{09741979-F1AE-47F5-B894-75BA08756698}"/>
              </a:ext>
            </a:extLst>
          </p:cNvPr>
          <p:cNvSpPr>
            <a:spLocks noGrp="1"/>
          </p:cNvSpPr>
          <p:nvPr/>
        </p:nvSpPr>
        <p:spPr>
          <a:xfrm>
            <a:off x="9029700" y="457200"/>
            <a:ext cx="2571750" cy="381000"/>
          </a:xfrm>
          <a:prstGeom prst="rect">
            <a:avLst/>
          </a:prstGeom>
          <a:noFill/>
          <a:ln w="0">
            <a:noFill/>
          </a:ln>
        </p:spPr>
        <p:txBody>
          <a:bodyPr>
            <a:noAutofit/>
          </a:bodyPr>
          <a:lstStyle/>
          <a:p>
            <a:pPr algn="r">
              <a:defRPr sz="1800" b="1">
                <a:solidFill>
                  <a:srgbClr val="087F8C"/>
                </a:solidFill>
                <a:latin typeface="Times New Roman"/>
                <a:ea typeface="Times New Roman"/>
                <a:cs typeface="Times New Roman"/>
              </a:defRPr>
            </a:pPr>
            <a:r>
              <a:rPr sz="1800" b="1">
                <a:solidFill>
                  <a:srgbClr val="087F8C"/>
                </a:solidFill>
                <a:latin typeface="Times New Roman"/>
                <a:ea typeface="Times New Roman"/>
                <a:cs typeface="Times New Roman"/>
              </a:rPr>
              <a:t>COMPLETED</a:t>
            </a:r>
          </a:p>
        </p:txBody>
      </p:sp>
      <p:sp>
        <p:nvSpPr>
          <p:cNvPr id="4" name="fixed">
            <a:extLst>
              <a:ext uri="{FF2B5EF4-FFF2-40B4-BE49-F238E27FC236}">
                <ns2:creationId id="{CEB00344-9F5C-414E-9C75-1BBF79A0E9D6}"/>
              </a:ext>
            </a:extLst>
          </p:cNvPr>
          <p:cNvSpPr>
            <a:spLocks noGrp="1"/>
          </p:cNvSpPr>
          <p:nvPr/>
        </p:nvSpPr>
        <p:spPr>
          <a:xfrm>
            <a:off x="9029700" y="828675"/>
            <a:ext cx="2571750" cy="304800"/>
          </a:xfrm>
          <a:prstGeom prst="rect">
            <a:avLst/>
          </a:prstGeom>
          <a:noFill/>
          <a:ln w="0">
            <a:noFill/>
          </a:ln>
        </p:spPr>
        <p:txBody>
          <a:bodyPr>
            <a:noAutofit/>
          </a:bodyPr>
          <a:lstStyle/>
          <a:p>
            <a:pPr algn="r">
              <a:defRPr sz="1425" b="0">
                <a:solidFill>
                  <a:srgbClr val="4C6471"/>
                </a:solidFill>
                <a:latin typeface="Times New Roman"/>
                <a:ea typeface="Times New Roman"/>
                <a:cs typeface="Times New Roman"/>
              </a:defRPr>
            </a:pPr>
            <a:r>
              <a:rPr sz="1425" b="0">
                <a:solidFill>
                  <a:srgbClr val="4C6471"/>
                </a:solidFill>
                <a:latin typeface="Times New Roman"/>
                <a:ea typeface="Times New Roman"/>
                <a:cs typeface="Times New Roman"/>
              </a:rPr>
              <a:t>Implementation status</a:t>
            </a:r>
          </a:p>
        </p:txBody>
      </p:sp>
      <p:sp>
        <p:nvSpPr>
          <p:cNvPr id="5" name="fixed">
            <a:extLst>
              <a:ext uri="{FF2B5EF4-FFF2-40B4-BE49-F238E27FC236}">
                <ns2:creationId id="{846644F0-87EC-4C20-82BC-87A2F1E71498}"/>
              </a:ext>
            </a:extLst>
          </p:cNvPr>
          <p:cNvSpPr>
            <a:spLocks noGrp="1"/>
          </p:cNvSpPr>
          <p:nvPr/>
        </p:nvSpPr>
        <p:spPr>
          <a:xfrm>
            <a:off x="11029950" y="6334125"/>
            <a:ext cx="523875" cy="285750"/>
          </a:xfrm>
          <a:prstGeom prst="rect">
            <a:avLst/>
          </a:prstGeom>
          <a:noFill/>
          <a:ln w="0">
            <a:noFill/>
          </a:ln>
        </p:spPr>
        <p:txBody>
          <a:bodyPr>
            <a:noAutofit/>
          </a:bodyPr>
          <a:lstStyle/>
          <a:p>
            <a:pPr algn="r">
              <a:defRPr sz="1500" b="0">
                <a:solidFill>
                  <a:srgbClr val="4C6471"/>
                </a:solidFill>
                <a:latin typeface="Times New Roman"/>
                <a:ea typeface="Times New Roman"/>
                <a:cs typeface="Times New Roman"/>
              </a:defRPr>
            </a:pPr>
            <a:r>
              <a:rPr sz="1500" b="0">
                <a:solidFill>
                  <a:srgbClr val="4C6471"/>
                </a:solidFill>
                <a:latin typeface="Times New Roman"/>
                <a:ea typeface="Times New Roman"/>
                <a:cs typeface="Times New Roman"/>
              </a:rPr>
              <a:t>09</a:t>
            </a:r>
          </a:p>
        </p:txBody>
      </p:sp>
      <p:sp>
        <p:nvSpPr>
          <p:cNvPr id="6" name="reveal-1">
            <a:extLst>
              <a:ext uri="{FF2B5EF4-FFF2-40B4-BE49-F238E27FC236}">
                <ns2:creationId id="{14C0C172-B1FE-4709-8958-1066D9D53FFD}"/>
              </a:ext>
            </a:extLst>
          </p:cNvPr>
          <p:cNvSpPr>
            <a:spLocks noGrp="1"/>
          </p:cNvSpPr>
          <p:nvPr/>
        </p:nvSpPr>
        <p:spPr>
          <a:xfrm>
            <a:off x="609600" y="2219325"/>
            <a:ext cx="5095875" cy="476250"/>
          </a:xfrm>
          <a:prstGeom prst="rect">
            <a:avLst/>
          </a:prstGeom>
          <a:noFill/>
          <a:ln w="0">
            <a:noFill/>
          </a:ln>
        </p:spPr>
        <p:txBody>
          <a:bodyPr>
            <a:noAutofit/>
          </a:bodyPr>
          <a:lstStyle/>
          <a:p>
            <a:pPr algn="l">
              <a:defRPr sz="2550" b="1">
                <a:solidFill>
                  <a:srgbClr val="087F8C"/>
                </a:solidFill>
                <a:latin typeface="Times New Roman"/>
                <a:ea typeface="Times New Roman"/>
                <a:cs typeface="Times New Roman"/>
              </a:defRPr>
            </a:pPr>
            <a:r>
              <a:rPr sz="2550" b="1">
                <a:solidFill>
                  <a:srgbClr val="087F8C"/>
                </a:solidFill>
                <a:latin typeface="Times New Roman"/>
                <a:ea typeface="Times New Roman"/>
                <a:cs typeface="Times New Roman"/>
              </a:rPr>
              <a:t>Removable storage</a:t>
            </a:r>
          </a:p>
        </p:txBody>
      </p:sp>
      <p:sp>
        <p:nvSpPr>
          <p:cNvPr id="7" name="reveal-1">
            <a:extLst>
              <a:ext uri="{FF2B5EF4-FFF2-40B4-BE49-F238E27FC236}">
                <ns2:creationId id="{778E9DCB-C468-4C77-9A96-54468C41F4EC}"/>
              </a:ext>
            </a:extLst>
          </p:cNvPr>
          <p:cNvSpPr>
            <a:spLocks noGrp="1"/>
          </p:cNvSpPr>
          <p:nvPr/>
        </p:nvSpPr>
        <p:spPr>
          <a:xfrm>
            <a:off x="609600" y="2847975"/>
            <a:ext cx="5095875" cy="1619250"/>
          </a:xfrm>
          <a:prstGeom prst="rect">
            <a:avLst/>
          </a:prstGeom>
          <a:noFill/>
          <a:ln w="0">
            <a:noFill/>
          </a:ln>
        </p:spPr>
        <p:txBody>
          <a:bodyPr>
            <a:noAutofit/>
          </a:bodyPr>
          <a:lstStyle/>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Windows CIM detects USB mass storage.</a:t>
            </a:r>
          </a:p>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A newly connected drive raises an event.</a:t>
            </a:r>
          </a:p>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Keyboards and mice are not storage.</a:t>
            </a:r>
          </a:p>
        </p:txBody>
      </p:sp>
      <p:sp>
        <p:nvSpPr>
          <p:cNvPr id="8" name="reveal-2">
            <a:extLst>
              <a:ext uri="{FF2B5EF4-FFF2-40B4-BE49-F238E27FC236}">
                <ns2:creationId id="{B4EEE99C-1BDF-4E18-B982-57A74C0F0F3F}"/>
              </a:ext>
            </a:extLst>
          </p:cNvPr>
          <p:cNvSpPr>
            <a:spLocks noGrp="1"/>
          </p:cNvSpPr>
          <p:nvPr/>
        </p:nvSpPr>
        <p:spPr>
          <a:xfrm>
            <a:off x="6381750" y="2219325"/>
            <a:ext cx="5095875" cy="476250"/>
          </a:xfrm>
          <a:prstGeom prst="rect">
            <a:avLst/>
          </a:prstGeom>
          <a:noFill/>
          <a:ln w="0">
            <a:noFill/>
          </a:ln>
        </p:spPr>
        <p:txBody>
          <a:bodyPr>
            <a:noAutofit/>
          </a:bodyPr>
          <a:lstStyle/>
          <a:p>
            <a:pPr algn="l">
              <a:defRPr sz="2550" b="1">
                <a:solidFill>
                  <a:srgbClr val="087F8C"/>
                </a:solidFill>
                <a:latin typeface="Times New Roman"/>
                <a:ea typeface="Times New Roman"/>
                <a:cs typeface="Times New Roman"/>
              </a:defRPr>
            </a:pPr>
            <a:r>
              <a:rPr sz="2550" b="1">
                <a:solidFill>
                  <a:srgbClr val="087F8C"/>
                </a:solidFill>
                <a:latin typeface="Times New Roman"/>
                <a:ea typeface="Times New Roman"/>
                <a:cs typeface="Times New Roman"/>
              </a:rPr>
              <a:t>Additional displays</a:t>
            </a:r>
          </a:p>
        </p:txBody>
      </p:sp>
      <p:sp>
        <p:nvSpPr>
          <p:cNvPr id="9" name="reveal-2">
            <a:extLst>
              <a:ext uri="{FF2B5EF4-FFF2-40B4-BE49-F238E27FC236}">
                <ns2:creationId id="{1325C145-953E-463A-84CB-D2F6CF55EE5A}"/>
              </a:ext>
            </a:extLst>
          </p:cNvPr>
          <p:cNvSpPr>
            <a:spLocks noGrp="1"/>
          </p:cNvSpPr>
          <p:nvPr/>
        </p:nvSpPr>
        <p:spPr>
          <a:xfrm>
            <a:off x="6381750" y="2847975"/>
            <a:ext cx="5095875" cy="1619250"/>
          </a:xfrm>
          <a:prstGeom prst="rect">
            <a:avLst/>
          </a:prstGeom>
          <a:noFill/>
          <a:ln w="0">
            <a:noFill/>
          </a:ln>
        </p:spPr>
        <p:txBody>
          <a:bodyPr>
            <a:noAutofit/>
          </a:bodyPr>
          <a:lstStyle/>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Electron inspects connected displays.</a:t>
            </a:r>
          </a:p>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A second display prevents readiness.</a:t>
            </a:r>
          </a:p>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HDMI projection can therefore block entry.</a:t>
            </a:r>
          </a:p>
        </p:txBody>
      </p:sp>
      <p:sp>
        <p:nvSpPr>
          <p:cNvPr id="10" name="reveal-1">
            <a:extLst>
              <a:ext uri="{FF2B5EF4-FFF2-40B4-BE49-F238E27FC236}">
                <ns2:creationId id="{189FBBD0-2EA1-4160-AF69-221F30BA5206}"/>
              </a:ext>
            </a:extLst>
          </p:cNvPr>
          <p:cNvSpPr>
            <a:spLocks noGrp="1"/>
          </p:cNvSpPr>
          <p:nvPr/>
        </p:nvSpPr>
        <p:spPr>
          <a:xfrm>
            <a:off x="609600" y="4905375"/>
            <a:ext cx="3346450"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USB drive / extra display</a:t>
            </a:r>
          </a:p>
        </p:txBody>
      </p:sp>
      <p:sp>
        <p:nvSpPr>
          <p:cNvPr id="11" name="reveal-2">
            <a:extLst>
              <a:ext uri="{FF2B5EF4-FFF2-40B4-BE49-F238E27FC236}">
                <ns2:creationId id="{5812ACA5-2E58-4B91-9F0D-F6087BEBEB4F}"/>
              </a:ext>
            </a:extLst>
          </p:cNvPr>
          <p:cNvSpPr>
            <a:spLocks noGrp="1"/>
          </p:cNvSpPr>
          <p:nvPr/>
        </p:nvSpPr>
        <p:spPr>
          <a:xfrm>
            <a:off x="4413250" y="4905375"/>
            <a:ext cx="3346450"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Device-state check</a:t>
            </a:r>
          </a:p>
        </p:txBody>
      </p:sp>
      <p:sp>
        <p:nvSpPr>
          <p:cNvPr id="12" name="reveal-3">
            <a:extLst>
              <a:ext uri="{FF2B5EF4-FFF2-40B4-BE49-F238E27FC236}">
                <ns2:creationId id="{472CB1F6-A6CC-4B9F-BBA1-3820058FB801}"/>
              </a:ext>
            </a:extLst>
          </p:cNvPr>
          <p:cNvSpPr>
            <a:spLocks noGrp="1"/>
          </p:cNvSpPr>
          <p:nvPr/>
        </p:nvSpPr>
        <p:spPr>
          <a:xfrm>
            <a:off x="8216900" y="4905375"/>
            <a:ext cx="3346450"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Candidate notice / event</a:t>
            </a:r>
          </a:p>
        </p:txBody>
      </p:sp>
      <p:cxnSp>
        <p:nvCxnSpPr>
          <p:cNvPr id="28" name="reveal-2"/>
          <p:cNvCxnSpPr>
            <a:stCxn id="10" idx="3"/>
            <a:endCxn id="11" idx="1"/>
          </p:cNvCxnSpPr>
          <p:nvPr/>
        </p:nvCxnSpPr>
        <p:spPr>
          <a:xfrm>
            <a:off x="3956050" y="5381625"/>
            <a:ext cx="457200" cy="0"/>
          </a:xfrm>
          <a:prstGeom prst="straightConnector1">
            <a:avLst/>
          </a:prstGeom>
          <a:ln w="19050">
            <a:solidFill>
              <a:srgbClr val="087F8C"/>
            </a:solidFill>
            <a:tailEnd type="arrow" w="med" len="med"/>
          </a:ln>
        </p:spPr>
      </p:cxnSp>
      <p:cxnSp>
        <p:nvCxnSpPr>
          <p:cNvPr id="29" name="reveal-3"/>
          <p:cNvCxnSpPr>
            <a:stCxn id="11" idx="3"/>
            <a:endCxn id="12" idx="1"/>
          </p:cNvCxnSpPr>
          <p:nvPr/>
        </p:nvCxnSpPr>
        <p:spPr>
          <a:xfrm>
            <a:off x="7759700" y="5381625"/>
            <a:ext cx="457200" cy="0"/>
          </a:xfrm>
          <a:prstGeom prst="straightConnector1">
            <a:avLst/>
          </a:prstGeom>
          <a:ln w="19050">
            <a:solidFill>
              <a:srgbClr val="087F8C"/>
            </a:solidFill>
            <a:tailEnd type="arrow" w="med" len="med"/>
          </a:ln>
        </p:spPr>
      </p:cxnSp>
      <p:sp>
        <p:nvSpPr>
          <p:cNvPr id="15" name="fixed">
            <a:extLst>
              <a:ext uri="{FF2B5EF4-FFF2-40B4-BE49-F238E27FC236}">
                <ns2:creationId id="{5FE11F78-3EC9-4A20-939F-9E1822D6354F}"/>
              </a:ext>
            </a:extLst>
          </p:cNvPr>
          <p:cNvSpPr>
            <a:spLocks noGrp="1"/>
          </p:cNvSpPr>
          <p:nvPr/>
        </p:nvSpPr>
        <p:spPr>
          <a:xfrm>
            <a:off x="609600" y="5953125"/>
            <a:ext cx="10668000" cy="457200"/>
          </a:xfrm>
          <a:prstGeom prst="rect">
            <a:avLst/>
          </a:prstGeom>
          <a:noFill/>
          <a:ln w="0">
            <a:noFill/>
          </a:ln>
        </p:spPr>
        <p:txBody>
          <a:bodyPr>
            <a:noAutofit/>
          </a:bodyPr>
          <a:lstStyle/>
          <a:p>
            <a:pPr algn="l">
              <a:defRPr sz="1725" b="0">
                <a:solidFill>
                  <a:srgbClr val="4C6471"/>
                </a:solidFill>
                <a:latin typeface="Times New Roman"/>
                <a:ea typeface="Times New Roman"/>
                <a:cs typeface="Times New Roman"/>
              </a:defRPr>
            </a:pPr>
            <a:r>
              <a:rPr sz="1725" b="0">
                <a:solidFill>
                  <a:srgbClr val="4C6471"/>
                </a:solidFill>
                <a:latin typeface="Times New Roman"/>
                <a:ea typeface="Times New Roman"/>
                <a:cs typeface="Times New Roman"/>
              </a:rPr>
              <a:t>Example: disconnect the USB drive or extra display, then repeat the readiness check.</a:t>
            </a:r>
          </a:p>
        </p:txBody>
      </p:sp>
    </p:spTree>
    <p:extLst>
      <p:ext uri="{BB962C8B-B14F-4D97-AF65-F5344CB8AC3E}">
        <ns3:creationId val="1085801523"/>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1" nodeType="click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350"/>
                                  <p:tgtEl>
                                    <p:spTgt spid="6"/>
                                  </p:tgtEl>
                                </p:cBhvr>
                              </p:animEffect>
                            </p:childTnLst>
                          </p:cTn>
                        </p:par>
                        <p:par>
                          <p:cTn id="7" presetID="10" presetClass="entr" presetSubtype="0" fill="hold" grpId="1" nodeType="clickEffect">
                            <p:stCondLst>
                              <p:cond delay="0"/>
                            </p:stCondLst>
                            <p:childTnLst>
                              <p:set>
                                <p:cBhvr>
                                  <p:cTn id="8" dur="1" fill="hold">
                                    <p:stCondLst>
                                      <p:cond delay="0"/>
                                    </p:stCondLst>
                                  </p:cTn>
                                  <p:tgtEl>
                                    <p:spTgt spid="7"/>
                                  </p:tgtEl>
                                  <p:attrNameLst>
                                    <p:attrName>style.visibility</p:attrName>
                                  </p:attrNameLst>
                                </p:cBhvr>
                                <p:to>
                                  <p:strVal val="visible"/>
                                </p:to>
                              </p:set>
                              <p:animEffect transition="in" filter="fade">
                                <p:cBhvr>
                                  <p:cTn id="9" dur="350"/>
                                  <p:tgtEl>
                                    <p:spTgt spid="7"/>
                                  </p:tgtEl>
                                </p:cBhvr>
                              </p:animEffect>
                            </p:childTnLst>
                          </p:cTn>
                        </p:par>
                        <p:par>
                          <p:cTn id="10" presetID="10" presetClass="entr" presetSubtype="0" fill="hold" grpId="1"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350"/>
                                  <p:tgtEl>
                                    <p:spTgt spid="10"/>
                                  </p:tgtEl>
                                </p:cBhvr>
                              </p:animEffect>
                            </p:childTnLst>
                          </p:cTn>
                        </p:par>
                      </p:childTnLst>
                    </p:cTn>
                  </p:par>
                  <p:par>
                    <p:cTn id="13" fill="hold">
                      <p:stCondLst>
                        <p:cond delay="indefinite"/>
                      </p:stCondLst>
                      <p:childTnLst>
                        <p:par>
                          <p:cTn id="14" presetID="10" presetClass="entr" presetSubtype="0" fill="hold" grpId="2" nodeType="click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350"/>
                                  <p:tgtEl>
                                    <p:spTgt spid="8"/>
                                  </p:tgtEl>
                                </p:cBhvr>
                              </p:animEffect>
                            </p:childTnLst>
                          </p:cTn>
                        </p:par>
                        <p:par>
                          <p:cTn id="17" presetID="10" presetClass="entr" presetSubtype="0" fill="hold" grpId="2" nodeType="click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350"/>
                                  <p:tgtEl>
                                    <p:spTgt spid="9"/>
                                  </p:tgtEl>
                                </p:cBhvr>
                              </p:animEffect>
                            </p:childTnLst>
                          </p:cTn>
                        </p:par>
                        <p:par>
                          <p:cTn id="20" presetID="10" presetClass="entr" presetSubtype="0" fill="hold" grpId="2"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350"/>
                                  <p:tgtEl>
                                    <p:spTgt spid="11"/>
                                  </p:tgtEl>
                                </p:cBhvr>
                              </p:animEffect>
                            </p:childTnLst>
                          </p:cTn>
                        </p:par>
                        <p:par>
                          <p:cTn id="23" presetID="10" presetClass="entr" presetSubtype="0" fill="hold" grpId="2" nodeType="clickEffect">
                            <p:stCondLst>
                              <p:cond delay="0"/>
                            </p:stCondLst>
                            <p:childTnLst>
                              <p:set>
                                <p:cBhvr>
                                  <p:cTn id="24" dur="1" fill="hold">
                                    <p:stCondLst>
                                      <p:cond delay="0"/>
                                    </p:stCondLst>
                                  </p:cTn>
                                  <p:tgtEl>
                                    <p:spTgt spid="28"/>
                                  </p:tgtEl>
                                  <p:attrNameLst>
                                    <p:attrName>style.visibility</p:attrName>
                                  </p:attrNameLst>
                                </p:cBhvr>
                                <p:to>
                                  <p:strVal val="visible"/>
                                </p:to>
                              </p:set>
                              <p:animEffect transition="in" filter="fade">
                                <p:cBhvr>
                                  <p:cTn id="25" dur="350"/>
                                  <p:tgtEl>
                                    <p:spTgt spid="28"/>
                                  </p:tgtEl>
                                </p:cBhvr>
                              </p:animEffect>
                            </p:childTnLst>
                          </p:cTn>
                        </p:par>
                      </p:childTnLst>
                    </p:cTn>
                  </p:par>
                  <p:par>
                    <p:cTn id="26" fill="hold">
                      <p:stCondLst>
                        <p:cond delay="indefinite"/>
                      </p:stCondLst>
                      <p:childTnLst>
                        <p:par>
                          <p:cTn id="27" presetID="10" presetClass="entr" presetSubtype="0" fill="hold" grpId="3" nodeType="click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350"/>
                                  <p:tgtEl>
                                    <p:spTgt spid="12"/>
                                  </p:tgtEl>
                                </p:cBhvr>
                              </p:animEffect>
                            </p:childTnLst>
                          </p:cTn>
                        </p:par>
                        <p:par>
                          <p:cTn id="30" presetID="10" presetClass="entr" presetSubtype="0" fill="hold" grpId="3" nodeType="clickEffect">
                            <p:stCondLst>
                              <p:cond delay="0"/>
                            </p:stCondLst>
                            <p:childTnLst>
                              <p:set>
                                <p:cBhvr>
                                  <p:cTn id="31" dur="1" fill="hold">
                                    <p:stCondLst>
                                      <p:cond delay="0"/>
                                    </p:stCondLst>
                                  </p:cTn>
                                  <p:tgtEl>
                                    <p:spTgt spid="29"/>
                                  </p:tgtEl>
                                  <p:attrNameLst>
                                    <p:attrName>style.visibility</p:attrName>
                                  </p:attrNameLst>
                                </p:cBhvr>
                                <p:to>
                                  <p:strVal val="visible"/>
                                </p:to>
                              </p:set>
                              <p:animEffect transition="in" filter="fade">
                                <p:cBhvr>
                                  <p:cTn id="32" dur="350"/>
                                  <p:tgtEl>
                                    <p:spTgt spid="29"/>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6" grpId="1" uiExpand="1"/>
      <p:bldP spid="7" grpId="1" uiExpand="1"/>
      <p:bldP spid="10" grpId="1" uiExpand="1"/>
      <p:bldP spid="8" grpId="2" uiExpand="1"/>
      <p:bldP spid="9" grpId="2" uiExpand="1"/>
      <p:bldP spid="11" grpId="2" uiExpand="1"/>
      <p:bldP spid="28" grpId="2" uiExpand="1"/>
      <p:bldP spid="12" grpId="3" uiExpand="1"/>
      <p:bldP spid="29" grpId="3" uiExpand="1"/>
    </p:bldLst>
  </p:timing>
</p:sld>
</file>

<file path=ppt/slides/slide10.xml><?xml version="1.0" encoding="utf-8"?>
<p:sld xmlns:a="http://schemas.openxmlformats.org/drawingml/2006/main" xmlns:ns3="http://schemas.microsoft.com/office/drawing/2014/main" xmlns:ns4="http://schemas.microsoft.com/office/powerpoint/2010/main" xmlns:p="http://schemas.openxmlformats.org/presentationml/2006/main" xmlns:r="http://schemas.openxmlformats.org/officeDocument/2006/relationships">
  <p:cSld>
    <p:bg>
      <p:bgPr>
        <a:solidFill>
          <a:srgbClr val="081321"/>
        </a:solidFill>
      </p:bgPr>
    </p:bg>
    <p:spTree>
      <p:nvGrpSpPr>
        <p:cNvPr id="1" name=""/>
        <p:cNvGrpSpPr/>
        <p:nvPr/>
      </p:nvGrpSpPr>
      <p:grpSpPr>
        <a:xfrm/>
      </p:grpSpPr>
      <p:pic>
        <p:nvPicPr>
          <p:cNvPr id="15" name=""/>
          <p:cNvPicPr>
            <a:picLocks noChangeAspect="1"/>
          </p:cNvPicPr>
          <p:nvPr/>
        </p:nvPicPr>
        <p:blipFill>
          <a:blip r:embed="R819a6462e8614a0f"/>
          <a:srcRect l="0" t="27" r="0" b="27"/>
          <a:stretch>
            <a:fillRect l="0" t="0" r="0" b="0"/>
          </a:stretch>
        </p:blipFill>
        <p:spPr>
          <a:xfrm>
            <a:off x="0" y="0"/>
            <a:ext cx="12192000" cy="6858000"/>
          </a:xfrm>
          <a:prstGeom prst="rect">
            <a:avLst/>
          </a:prstGeom>
        </p:spPr>
      </p:pic>
      <p:sp>
        <p:nvSpPr>
          <p:cNvPr id="2" name="fixed">
            <a:extLst>
              <a:ext uri="{FF2B5EF4-FFF2-40B4-BE49-F238E27FC236}">
                <ns3:creationId id="{13F81DA5-8A17-4C98-8894-EC733FF0816A}"/>
              </a:ext>
            </a:extLst>
          </p:cNvPr>
          <p:cNvSpPr>
            <a:spLocks noGrp="1"/>
          </p:cNvSpPr>
          <p:nvPr/>
        </p:nvSpPr>
        <p:spPr>
          <a:xfrm>
            <a:off x="609600" y="400050"/>
            <a:ext cx="7620000" cy="381000"/>
          </a:xfrm>
          <a:prstGeom prst="rect">
            <a:avLst/>
          </a:prstGeom>
          <a:noFill/>
          <a:ln w="0">
            <a:noFill/>
          </a:ln>
        </p:spPr>
        <p:txBody>
          <a:bodyPr>
            <a:noAutofit/>
          </a:bodyPr>
          <a:lstStyle/>
          <a:p>
            <a:pPr algn="l">
              <a:defRPr sz="1875" b="1">
                <a:solidFill>
                  <a:srgbClr val="E9BF78"/>
                </a:solidFill>
                <a:latin typeface="Times New Roman"/>
                <a:ea typeface="Times New Roman"/>
                <a:cs typeface="Times New Roman"/>
              </a:defRPr>
            </a:pPr>
            <a:r>
              <a:rPr sz="1875" b="1">
                <a:solidFill>
                  <a:srgbClr val="E9BF78"/>
                </a:solidFill>
                <a:latin typeface="Times New Roman"/>
                <a:ea typeface="Times New Roman"/>
                <a:cs typeface="Times New Roman"/>
              </a:rPr>
              <a:t>MODULE 02</a:t>
            </a:r>
          </a:p>
        </p:txBody>
      </p:sp>
      <p:sp>
        <p:nvSpPr>
          <p:cNvPr id="3" name="fixed">
            <a:extLst>
              <a:ext uri="{FF2B5EF4-FFF2-40B4-BE49-F238E27FC236}">
                <ns3:creationId id="{74FA681D-C2E3-449A-BDC2-E3C2F45AC569}"/>
              </a:ext>
            </a:extLst>
          </p:cNvPr>
          <p:cNvSpPr>
            <a:spLocks noGrp="1"/>
          </p:cNvSpPr>
          <p:nvPr/>
        </p:nvSpPr>
        <p:spPr>
          <a:xfrm>
            <a:off x="609600" y="971550"/>
            <a:ext cx="8191500" cy="1171575"/>
          </a:xfrm>
          <a:prstGeom prst="rect">
            <a:avLst/>
          </a:prstGeom>
          <a:noFill/>
          <a:ln w="0">
            <a:noFill/>
          </a:ln>
        </p:spPr>
        <p:txBody>
          <a:bodyPr>
            <a:noAutofit/>
          </a:bodyPr>
          <a:lstStyle/>
          <a:p>
            <a:pPr algn="l">
              <a:defRPr sz="3750" b="1">
                <a:solidFill>
                  <a:srgbClr val="FFFFFF"/>
                </a:solidFill>
                <a:latin typeface="Times New Roman"/>
                <a:ea typeface="Times New Roman"/>
                <a:cs typeface="Times New Roman"/>
              </a:defRPr>
            </a:pPr>
            <a:r>
              <a:rPr sz="3750" b="1">
                <a:solidFill>
                  <a:srgbClr val="FFFFFF"/>
                </a:solidFill>
                <a:latin typeface="Times New Roman"/>
                <a:ea typeface="Times New Roman"/>
                <a:cs typeface="Times New Roman"/>
              </a:rPr>
              <a:t>Vision monitoring</a:t>
            </a:r>
          </a:p>
        </p:txBody>
      </p:sp>
      <p:sp>
        <p:nvSpPr>
          <p:cNvPr id="4" name="fixed">
            <a:extLst>
              <a:ext uri="{FF2B5EF4-FFF2-40B4-BE49-F238E27FC236}">
                <ns3:creationId id="{C483DA59-B40F-4649-9FF1-9118B34B0699}"/>
              </a:ext>
            </a:extLst>
          </p:cNvPr>
          <p:cNvSpPr>
            <a:spLocks noGrp="1"/>
          </p:cNvSpPr>
          <p:nvPr/>
        </p:nvSpPr>
        <p:spPr>
          <a:xfrm>
            <a:off x="9029700" y="457200"/>
            <a:ext cx="2571750" cy="381000"/>
          </a:xfrm>
          <a:prstGeom prst="rect">
            <a:avLst/>
          </a:prstGeom>
          <a:noFill/>
          <a:ln w="0">
            <a:noFill/>
          </a:ln>
        </p:spPr>
        <p:txBody>
          <a:bodyPr>
            <a:noAutofit/>
          </a:bodyPr>
          <a:lstStyle/>
          <a:p>
            <a:pPr algn="r">
              <a:defRPr sz="1800" b="1">
                <a:solidFill>
                  <a:srgbClr val="74E6CF"/>
                </a:solidFill>
                <a:latin typeface="Times New Roman"/>
                <a:ea typeface="Times New Roman"/>
                <a:cs typeface="Times New Roman"/>
              </a:defRPr>
            </a:pPr>
            <a:r>
              <a:rPr sz="1800" b="1">
                <a:solidFill>
                  <a:srgbClr val="74E6CF"/>
                </a:solidFill>
                <a:latin typeface="Times New Roman"/>
                <a:ea typeface="Times New Roman"/>
                <a:cs typeface="Times New Roman"/>
              </a:rPr>
              <a:t>IMPLEMENTED</a:t>
            </a:r>
          </a:p>
        </p:txBody>
      </p:sp>
      <p:sp>
        <p:nvSpPr>
          <p:cNvPr id="5" name="fixed">
            <a:extLst>
              <a:ext uri="{FF2B5EF4-FFF2-40B4-BE49-F238E27FC236}">
                <ns3:creationId id="{217508FA-53CD-4CD3-A6A2-B12B76007D77}"/>
              </a:ext>
            </a:extLst>
          </p:cNvPr>
          <p:cNvSpPr>
            <a:spLocks noGrp="1"/>
          </p:cNvSpPr>
          <p:nvPr/>
        </p:nvSpPr>
        <p:spPr>
          <a:xfrm>
            <a:off x="9029700" y="828675"/>
            <a:ext cx="2571750" cy="304800"/>
          </a:xfrm>
          <a:prstGeom prst="rect">
            <a:avLst/>
          </a:prstGeom>
          <a:noFill/>
          <a:ln w="0">
            <a:noFill/>
          </a:ln>
        </p:spPr>
        <p:txBody>
          <a:bodyPr>
            <a:noAutofit/>
          </a:bodyPr>
          <a:lstStyle/>
          <a:p>
            <a:pPr algn="r">
              <a:defRPr sz="1425" b="0">
                <a:solidFill>
                  <a:srgbClr val="C5D9DE"/>
                </a:solidFill>
                <a:latin typeface="Times New Roman"/>
                <a:ea typeface="Times New Roman"/>
                <a:cs typeface="Times New Roman"/>
              </a:defRPr>
            </a:pPr>
            <a:r>
              <a:rPr sz="1425" b="0">
                <a:solidFill>
                  <a:srgbClr val="C5D9DE"/>
                </a:solidFill>
                <a:latin typeface="Times New Roman"/>
                <a:ea typeface="Times New Roman"/>
                <a:cs typeface="Times New Roman"/>
              </a:rPr>
              <a:t>Implementation status</a:t>
            </a:r>
          </a:p>
        </p:txBody>
      </p:sp>
      <p:sp>
        <p:nvSpPr>
          <p:cNvPr id="6" name="fixed">
            <a:extLst>
              <a:ext uri="{FF2B5EF4-FFF2-40B4-BE49-F238E27FC236}">
                <ns3:creationId id="{61279FBD-050B-4465-AD48-A3184633B6AF}"/>
              </a:ext>
            </a:extLst>
          </p:cNvPr>
          <p:cNvSpPr>
            <a:spLocks noGrp="1"/>
          </p:cNvSpPr>
          <p:nvPr/>
        </p:nvSpPr>
        <p:spPr>
          <a:xfrm>
            <a:off x="11029950" y="6334125"/>
            <a:ext cx="523875" cy="285750"/>
          </a:xfrm>
          <a:prstGeom prst="rect">
            <a:avLst/>
          </a:prstGeom>
          <a:noFill/>
          <a:ln w="0">
            <a:noFill/>
          </a:ln>
        </p:spPr>
        <p:txBody>
          <a:bodyPr>
            <a:noAutofit/>
          </a:bodyPr>
          <a:lstStyle/>
          <a:p>
            <a:pPr algn="r">
              <a:defRPr sz="1500" b="0">
                <a:solidFill>
                  <a:srgbClr val="B6CCD3"/>
                </a:solidFill>
                <a:latin typeface="Times New Roman"/>
                <a:ea typeface="Times New Roman"/>
                <a:cs typeface="Times New Roman"/>
              </a:defRPr>
            </a:pPr>
            <a:r>
              <a:rPr sz="1500" b="0">
                <a:solidFill>
                  <a:srgbClr val="B6CCD3"/>
                </a:solidFill>
                <a:latin typeface="Times New Roman"/>
                <a:ea typeface="Times New Roman"/>
                <a:cs typeface="Times New Roman"/>
              </a:rPr>
              <a:t>10</a:t>
            </a:r>
          </a:p>
        </p:txBody>
      </p:sp>
      <p:sp>
        <p:nvSpPr>
          <p:cNvPr id="7" name="reveal-1">
            <a:extLst>
              <a:ext uri="{FF2B5EF4-FFF2-40B4-BE49-F238E27FC236}">
                <ns3:creationId id="{8CA283B2-86A4-4D4F-A655-DBF0E0D692DC}"/>
              </a:ext>
            </a:extLst>
          </p:cNvPr>
          <p:cNvSpPr>
            <a:spLocks noGrp="1"/>
          </p:cNvSpPr>
          <p:nvPr/>
        </p:nvSpPr>
        <p:spPr>
          <a:xfrm>
            <a:off x="609600" y="2533650"/>
            <a:ext cx="7620000" cy="1181100"/>
          </a:xfrm>
          <a:prstGeom prst="rect">
            <a:avLst/>
          </a:prstGeom>
          <a:noFill/>
          <a:ln w="0">
            <a:noFill/>
          </a:ln>
        </p:spPr>
        <p:txBody>
          <a:bodyPr>
            <a:noAutofit/>
          </a:bodyPr>
          <a:lstStyle/>
          <a:p>
            <a:pPr algn="l">
              <a:defRPr sz="2700" b="0">
                <a:solidFill>
                  <a:srgbClr val="FFFFFF"/>
                </a:solidFill>
                <a:latin typeface="Times New Roman"/>
                <a:ea typeface="Times New Roman"/>
                <a:cs typeface="Times New Roman"/>
              </a:defRPr>
            </a:pPr>
            <a:r>
              <a:rPr sz="2700" b="0">
                <a:solidFill>
                  <a:srgbClr val="FFFFFF"/>
                </a:solidFill>
                <a:latin typeface="Times New Roman"/>
                <a:ea typeface="Times New Roman"/>
                <a:cs typeface="Times New Roman"/>
              </a:rPr>
              <a:t>Detect visible exam signals using local facial landmarks and object inference.</a:t>
            </a:r>
          </a:p>
        </p:txBody>
      </p:sp>
      <p:sp>
        <p:nvSpPr>
          <p:cNvPr id="8" name="reveal-2">
            <a:extLst>
              <a:ext uri="{FF2B5EF4-FFF2-40B4-BE49-F238E27FC236}">
                <ns3:creationId id="{D7B2A0F7-4004-49B4-B4CB-3B325DE5DA6C}"/>
              </a:ext>
            </a:extLst>
          </p:cNvPr>
          <p:cNvSpPr>
            <a:spLocks noGrp="1"/>
          </p:cNvSpPr>
          <p:nvPr/>
        </p:nvSpPr>
        <p:spPr>
          <a:xfrm>
            <a:off x="609600" y="3867150"/>
            <a:ext cx="7334250" cy="323850"/>
          </a:xfrm>
          <a:prstGeom prst="rect">
            <a:avLst/>
          </a:prstGeom>
          <a:noFill/>
          <a:ln w="0">
            <a:noFill/>
          </a:ln>
        </p:spPr>
        <p:txBody>
          <a:bodyPr>
            <a:noAutofit/>
          </a:bodyPr>
          <a:lstStyle/>
          <a:p>
            <a:pPr algn="l">
              <a:defRPr sz="1725" b="1">
                <a:solidFill>
                  <a:srgbClr val="E9BF78"/>
                </a:solidFill>
                <a:latin typeface="Times New Roman"/>
                <a:ea typeface="Times New Roman"/>
                <a:cs typeface="Times New Roman"/>
              </a:defRPr>
            </a:pPr>
            <a:r>
              <a:rPr sz="1725" b="1">
                <a:solidFill>
                  <a:srgbClr val="E9BF78"/>
                </a:solidFill>
                <a:latin typeface="Times New Roman"/>
                <a:ea typeface="Times New Roman"/>
                <a:cs typeface="Times New Roman"/>
              </a:rPr>
              <a:t>MAIN COMPONENTS</a:t>
            </a:r>
          </a:p>
        </p:txBody>
      </p:sp>
      <p:sp>
        <p:nvSpPr>
          <p:cNvPr id="9" name="reveal-2">
            <a:extLst>
              <a:ext uri="{FF2B5EF4-FFF2-40B4-BE49-F238E27FC236}">
                <ns3:creationId id="{FF0F1CB6-DED2-467E-8035-8D588103C380}"/>
              </a:ext>
            </a:extLst>
          </p:cNvPr>
          <p:cNvSpPr>
            <a:spLocks noGrp="1"/>
          </p:cNvSpPr>
          <p:nvPr/>
        </p:nvSpPr>
        <p:spPr>
          <a:xfrm>
            <a:off x="609600" y="4267200"/>
            <a:ext cx="7905750" cy="600075"/>
          </a:xfrm>
          <a:prstGeom prst="rect">
            <a:avLst/>
          </a:prstGeom>
          <a:noFill/>
          <a:ln w="0">
            <a:noFill/>
          </a:ln>
        </p:spPr>
        <p:txBody>
          <a:bodyPr>
            <a:noAutofit/>
          </a:bodyPr>
          <a:lstStyle/>
          <a:p>
            <a:pPr algn="l">
              <a:defRPr sz="2175" b="0">
                <a:solidFill>
                  <a:srgbClr val="D8E6E9"/>
                </a:solidFill>
                <a:latin typeface="Times New Roman"/>
                <a:ea typeface="Times New Roman"/>
                <a:cs typeface="Times New Roman"/>
              </a:defRPr>
            </a:pPr>
            <a:r>
              <a:rPr sz="2175" b="0">
                <a:solidFill>
                  <a:srgbClr val="D8E6E9"/>
                </a:solidFill>
                <a:latin typeface="Times New Roman"/>
                <a:ea typeface="Times New Roman"/>
                <a:cs typeface="Times New Roman"/>
              </a:rPr>
              <a:t>MediaPipe Tasks  /  OpenCV  /  YOLO26n  /  ONNX Runtime</a:t>
            </a:r>
          </a:p>
        </p:txBody>
      </p:sp>
      <p:sp>
        <p:nvSpPr>
          <p:cNvPr id="10" name="reveal-3">
            <a:extLst>
              <a:ext uri="{FF2B5EF4-FFF2-40B4-BE49-F238E27FC236}">
                <ns3:creationId id="{1148274B-B644-49DE-A32A-2D63C6CF0C68}"/>
              </a:ext>
            </a:extLst>
          </p:cNvPr>
          <p:cNvSpPr>
            <a:spLocks noGrp="1"/>
          </p:cNvSpPr>
          <p:nvPr/>
        </p:nvSpPr>
        <p:spPr>
          <a:xfrm>
            <a:off x="609600" y="5219700"/>
            <a:ext cx="3346450" cy="952500"/>
          </a:xfrm>
          <a:prstGeom prst="rect">
            <a:avLst/>
          </a:prstGeom>
          <a:solidFill>
            <a:srgbClr val="123342"/>
          </a:solidFill>
          <a:ln w="9525">
            <a:solidFill>
              <a:srgbClr val="466D77"/>
            </a:solidFill>
          </a:ln>
        </p:spPr>
        <p:txBody>
          <a:bodyPr anchor="ctr"/>
          <a:lstStyle/>
          <a:p>
            <a:pPr algn="ctr">
              <a:defRPr sz="2025" b="1">
                <a:solidFill>
                  <a:srgbClr val="FFFFFF"/>
                </a:solidFill>
                <a:latin typeface="Times New Roman"/>
                <a:ea typeface="Times New Roman"/>
                <a:cs typeface="Times New Roman"/>
              </a:defRPr>
            </a:pPr>
            <a:r>
              <a:rPr sz="2025" b="1">
                <a:solidFill>
                  <a:srgbClr val="FFFFFF"/>
                </a:solidFill>
                <a:latin typeface="Times New Roman"/>
                <a:ea typeface="Times New Roman"/>
                <a:cs typeface="Times New Roman"/>
              </a:rPr>
              <a:t>Webcam frame</a:t>
            </a:r>
          </a:p>
        </p:txBody>
      </p:sp>
      <p:sp>
        <p:nvSpPr>
          <p:cNvPr id="11" name="reveal-4">
            <a:extLst>
              <a:ext uri="{FF2B5EF4-FFF2-40B4-BE49-F238E27FC236}">
                <ns3:creationId id="{6DD34375-E15E-4A9F-9D84-A174279E8902}"/>
              </a:ext>
            </a:extLst>
          </p:cNvPr>
          <p:cNvSpPr>
            <a:spLocks noGrp="1"/>
          </p:cNvSpPr>
          <p:nvPr/>
        </p:nvSpPr>
        <p:spPr>
          <a:xfrm>
            <a:off x="4413250" y="5219700"/>
            <a:ext cx="3346450" cy="952500"/>
          </a:xfrm>
          <a:prstGeom prst="rect">
            <a:avLst/>
          </a:prstGeom>
          <a:solidFill>
            <a:srgbClr val="123342"/>
          </a:solidFill>
          <a:ln w="9525">
            <a:solidFill>
              <a:srgbClr val="466D77"/>
            </a:solidFill>
          </a:ln>
        </p:spPr>
        <p:txBody>
          <a:bodyPr anchor="ctr"/>
          <a:lstStyle/>
          <a:p>
            <a:pPr algn="ctr">
              <a:defRPr sz="2025" b="1">
                <a:solidFill>
                  <a:srgbClr val="FFFFFF"/>
                </a:solidFill>
                <a:latin typeface="Times New Roman"/>
                <a:ea typeface="Times New Roman"/>
                <a:cs typeface="Times New Roman"/>
              </a:defRPr>
            </a:pPr>
            <a:r>
              <a:rPr sz="2025" b="1">
                <a:solidFill>
                  <a:srgbClr val="FFFFFF"/>
                </a:solidFill>
                <a:latin typeface="Times New Roman"/>
                <a:ea typeface="Times New Roman"/>
                <a:cs typeface="Times New Roman"/>
              </a:rPr>
              <a:t>Local analysis</a:t>
            </a:r>
          </a:p>
        </p:txBody>
      </p:sp>
      <p:sp>
        <p:nvSpPr>
          <p:cNvPr id="12" name="reveal-5">
            <a:extLst>
              <a:ext uri="{FF2B5EF4-FFF2-40B4-BE49-F238E27FC236}">
                <ns3:creationId id="{5F8F519B-32D8-4D6C-AB54-BB2F63BE343B}"/>
              </a:ext>
            </a:extLst>
          </p:cNvPr>
          <p:cNvSpPr>
            <a:spLocks noGrp="1"/>
          </p:cNvSpPr>
          <p:nvPr/>
        </p:nvSpPr>
        <p:spPr>
          <a:xfrm>
            <a:off x="8216900" y="5219700"/>
            <a:ext cx="3346450" cy="952500"/>
          </a:xfrm>
          <a:prstGeom prst="rect">
            <a:avLst/>
          </a:prstGeom>
          <a:solidFill>
            <a:srgbClr val="123342"/>
          </a:solidFill>
          <a:ln w="9525">
            <a:solidFill>
              <a:srgbClr val="466D77"/>
            </a:solidFill>
          </a:ln>
        </p:spPr>
        <p:txBody>
          <a:bodyPr anchor="ctr"/>
          <a:lstStyle/>
          <a:p>
            <a:pPr algn="ctr">
              <a:defRPr sz="2025" b="1">
                <a:solidFill>
                  <a:srgbClr val="FFFFFF"/>
                </a:solidFill>
                <a:latin typeface="Times New Roman"/>
                <a:ea typeface="Times New Roman"/>
                <a:cs typeface="Times New Roman"/>
              </a:defRPr>
            </a:pPr>
            <a:r>
              <a:rPr sz="2025" b="1">
                <a:solidFill>
                  <a:srgbClr val="FFFFFF"/>
                </a:solidFill>
                <a:latin typeface="Times New Roman"/>
                <a:ea typeface="Times New Roman"/>
                <a:cs typeface="Times New Roman"/>
              </a:rPr>
              <a:t>Temporal alert</a:t>
            </a:r>
          </a:p>
        </p:txBody>
      </p:sp>
      <p:cxnSp>
        <p:nvCxnSpPr>
          <p:cNvPr id="27" name="reveal-4"/>
          <p:cNvCxnSpPr>
            <a:stCxn id="10" idx="3"/>
            <a:endCxn id="11" idx="1"/>
          </p:cNvCxnSpPr>
          <p:nvPr/>
        </p:nvCxnSpPr>
        <p:spPr>
          <a:xfrm>
            <a:off x="3956050" y="5695950"/>
            <a:ext cx="457200" cy="0"/>
          </a:xfrm>
          <a:prstGeom prst="straightConnector1">
            <a:avLst/>
          </a:prstGeom>
          <a:ln w="19050">
            <a:solidFill>
              <a:srgbClr val="74E6CF"/>
            </a:solidFill>
            <a:tailEnd type="arrow" w="med" len="med"/>
          </a:ln>
        </p:spPr>
      </p:cxnSp>
      <p:cxnSp>
        <p:nvCxnSpPr>
          <p:cNvPr id="28" name="reveal-5"/>
          <p:cNvCxnSpPr>
            <a:stCxn id="11" idx="3"/>
            <a:endCxn id="12" idx="1"/>
          </p:cNvCxnSpPr>
          <p:nvPr/>
        </p:nvCxnSpPr>
        <p:spPr>
          <a:xfrm>
            <a:off x="7759700" y="5695950"/>
            <a:ext cx="457200" cy="0"/>
          </a:xfrm>
          <a:prstGeom prst="straightConnector1">
            <a:avLst/>
          </a:prstGeom>
          <a:ln w="19050">
            <a:solidFill>
              <a:srgbClr val="74E6CF"/>
            </a:solidFill>
            <a:tailEnd type="arrow" w="med" len="med"/>
          </a:ln>
        </p:spPr>
      </p:cxnSp>
    </p:spTree>
    <p:extLst>
      <p:ext uri="{BB962C8B-B14F-4D97-AF65-F5344CB8AC3E}">
        <ns4:creationId val="480515467"/>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1" nodeType="clickEffect">
                            <p:stCondLst>
                              <p:cond delay="0"/>
                            </p:stCondLst>
                            <p:childTnLst>
                              <p:set>
                                <p:cBhvr>
                                  <p:cTn id="5" dur="1" fill="hold">
                                    <p:stCondLst>
                                      <p:cond delay="0"/>
                                    </p:stCondLst>
                                  </p:cTn>
                                  <p:tgtEl>
                                    <p:spTgt spid="7"/>
                                  </p:tgtEl>
                                  <p:attrNameLst>
                                    <p:attrName>style.visibility</p:attrName>
                                  </p:attrNameLst>
                                </p:cBhvr>
                                <p:to>
                                  <p:strVal val="visible"/>
                                </p:to>
                              </p:set>
                              <p:animEffect transition="in" filter="fade">
                                <p:cBhvr>
                                  <p:cTn id="6" dur="350"/>
                                  <p:tgtEl>
                                    <p:spTgt spid="7"/>
                                  </p:tgtEl>
                                </p:cBhvr>
                              </p:animEffect>
                            </p:childTnLst>
                          </p:cTn>
                        </p:par>
                      </p:childTnLst>
                    </p:cTn>
                  </p:par>
                  <p:par>
                    <p:cTn id="7" fill="hold">
                      <p:stCondLst>
                        <p:cond delay="indefinite"/>
                      </p:stCondLst>
                      <p:childTnLst>
                        <p:par>
                          <p:cTn id="8" presetID="10" presetClass="entr" presetSubtype="0" fill="hold" grpId="2" nodeType="click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350"/>
                                  <p:tgtEl>
                                    <p:spTgt spid="8"/>
                                  </p:tgtEl>
                                </p:cBhvr>
                              </p:animEffect>
                            </p:childTnLst>
                          </p:cTn>
                        </p:par>
                        <p:par>
                          <p:cTn id="11" presetID="10" presetClass="entr" presetSubtype="0" fill="hold" grpId="2" nodeType="click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350"/>
                                  <p:tgtEl>
                                    <p:spTgt spid="9"/>
                                  </p:tgtEl>
                                </p:cBhvr>
                              </p:animEffect>
                            </p:childTnLst>
                          </p:cTn>
                        </p:par>
                      </p:childTnLst>
                    </p:cTn>
                  </p:par>
                  <p:par>
                    <p:cTn id="14" fill="hold">
                      <p:stCondLst>
                        <p:cond delay="indefinite"/>
                      </p:stCondLst>
                      <p:childTnLst>
                        <p:par>
                          <p:cTn id="15" presetID="10" presetClass="entr" presetSubtype="0" fill="hold" grpId="3"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350"/>
                                  <p:tgtEl>
                                    <p:spTgt spid="10"/>
                                  </p:tgtEl>
                                </p:cBhvr>
                              </p:animEffect>
                            </p:childTnLst>
                          </p:cTn>
                        </p:par>
                      </p:childTnLst>
                    </p:cTn>
                  </p:par>
                  <p:par>
                    <p:cTn id="18" fill="hold">
                      <p:stCondLst>
                        <p:cond delay="indefinite"/>
                      </p:stCondLst>
                      <p:childTnLst>
                        <p:par>
                          <p:cTn id="19" presetID="10" presetClass="entr" presetSubtype="0" fill="hold" grpId="4" nodeType="click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350"/>
                                  <p:tgtEl>
                                    <p:spTgt spid="11"/>
                                  </p:tgtEl>
                                </p:cBhvr>
                              </p:animEffect>
                            </p:childTnLst>
                          </p:cTn>
                        </p:par>
                        <p:par>
                          <p:cTn id="22" presetID="10" presetClass="entr" presetSubtype="0" fill="hold" grpId="4" nodeType="clickEffect">
                            <p:stCondLst>
                              <p:cond delay="0"/>
                            </p:stCondLst>
                            <p:childTnLst>
                              <p:set>
                                <p:cBhvr>
                                  <p:cTn id="23" dur="1" fill="hold">
                                    <p:stCondLst>
                                      <p:cond delay="0"/>
                                    </p:stCondLst>
                                  </p:cTn>
                                  <p:tgtEl>
                                    <p:spTgt spid="27"/>
                                  </p:tgtEl>
                                  <p:attrNameLst>
                                    <p:attrName>style.visibility</p:attrName>
                                  </p:attrNameLst>
                                </p:cBhvr>
                                <p:to>
                                  <p:strVal val="visible"/>
                                </p:to>
                              </p:set>
                              <p:animEffect transition="in" filter="fade">
                                <p:cBhvr>
                                  <p:cTn id="24" dur="350"/>
                                  <p:tgtEl>
                                    <p:spTgt spid="27"/>
                                  </p:tgtEl>
                                </p:cBhvr>
                              </p:animEffect>
                            </p:childTnLst>
                          </p:cTn>
                        </p:par>
                      </p:childTnLst>
                    </p:cTn>
                  </p:par>
                  <p:par>
                    <p:cTn id="25" fill="hold">
                      <p:stCondLst>
                        <p:cond delay="indefinite"/>
                      </p:stCondLst>
                      <p:childTnLst>
                        <p:par>
                          <p:cTn id="26" presetID="10" presetClass="entr" presetSubtype="0" fill="hold" grpId="5" nodeType="click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350"/>
                                  <p:tgtEl>
                                    <p:spTgt spid="12"/>
                                  </p:tgtEl>
                                </p:cBhvr>
                              </p:animEffect>
                            </p:childTnLst>
                          </p:cTn>
                        </p:par>
                        <p:par>
                          <p:cTn id="29" presetID="10" presetClass="entr" presetSubtype="0" fill="hold" grpId="5" nodeType="clickEffect">
                            <p:stCondLst>
                              <p:cond delay="0"/>
                            </p:stCondLst>
                            <p:childTnLst>
                              <p:set>
                                <p:cBhvr>
                                  <p:cTn id="30" dur="1" fill="hold">
                                    <p:stCondLst>
                                      <p:cond delay="0"/>
                                    </p:stCondLst>
                                  </p:cTn>
                                  <p:tgtEl>
                                    <p:spTgt spid="28"/>
                                  </p:tgtEl>
                                  <p:attrNameLst>
                                    <p:attrName>style.visibility</p:attrName>
                                  </p:attrNameLst>
                                </p:cBhvr>
                                <p:to>
                                  <p:strVal val="visible"/>
                                </p:to>
                              </p:set>
                              <p:animEffect transition="in" filter="fade">
                                <p:cBhvr>
                                  <p:cTn id="31" dur="350"/>
                                  <p:tgtEl>
                                    <p:spTgt spid="28"/>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7" grpId="1" uiExpand="1"/>
      <p:bldP spid="8" grpId="2" uiExpand="1"/>
      <p:bldP spid="9" grpId="2" uiExpand="1"/>
      <p:bldP spid="10" grpId="3" uiExpand="1"/>
      <p:bldP spid="11" grpId="4" uiExpand="1"/>
      <p:bldP spid="27" grpId="4" uiExpand="1"/>
      <p:bldP spid="12" grpId="5" uiExpand="1"/>
      <p:bldP spid="28" grpId="5" uiExpand="1"/>
    </p:bldLst>
  </p:timing>
</p:sld>
</file>

<file path=ppt/slides/slide11.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6F7F4"/>
        </a:solidFill>
      </p:bgPr>
    </p:bg>
    <p:spTree>
      <p:nvGrpSpPr>
        <p:cNvPr id="1" name=""/>
        <p:cNvGrpSpPr/>
        <p:nvPr/>
      </p:nvGrpSpPr>
      <p:grpSpPr>
        <a:xfrm/>
      </p:grpSpPr>
      <p:sp>
        <p:nvSpPr>
          <p:cNvPr id="18" name="fixed">
            <a:extLst>
              <a:ext uri="{FF2B5EF4-FFF2-40B4-BE49-F238E27FC236}">
                <ns2:creationId id="{EA986825-0405-4BBE-84A4-CFE4635A6BE5}"/>
              </a:ext>
            </a:extLst>
          </p:cNvPr>
          <p:cNvSpPr>
            <a:spLocks noGrp="1"/>
          </p:cNvSpPr>
          <p:nvPr/>
        </p:nvSpPr>
        <p:spPr>
          <a:xfrm>
            <a:off x="609600" y="400050"/>
            <a:ext cx="7620000" cy="381000"/>
          </a:xfrm>
          <a:prstGeom prst="rect">
            <a:avLst/>
          </a:prstGeom>
          <a:noFill/>
          <a:ln w="0">
            <a:noFill/>
          </a:ln>
        </p:spPr>
        <p:txBody>
          <a:bodyPr>
            <a:noAutofit/>
          </a:bodyPr>
          <a:lstStyle/>
          <a:p>
            <a:pPr algn="l">
              <a:defRPr sz="1875" b="1">
                <a:solidFill>
                  <a:srgbClr val="087F8C"/>
                </a:solidFill>
                <a:latin typeface="Times New Roman"/>
                <a:ea typeface="Times New Roman"/>
                <a:cs typeface="Times New Roman"/>
              </a:defRPr>
            </a:pPr>
            <a:r>
              <a:rPr sz="1875" b="1">
                <a:solidFill>
                  <a:srgbClr val="087F8C"/>
                </a:solidFill>
                <a:latin typeface="Times New Roman"/>
                <a:ea typeface="Times New Roman"/>
                <a:cs typeface="Times New Roman"/>
              </a:rPr>
              <a:t>MODULE 02 / WORKING AND EXAMPLE</a:t>
            </a:r>
          </a:p>
        </p:txBody>
      </p:sp>
      <p:sp>
        <p:nvSpPr>
          <p:cNvPr id="2" name="fixed">
            <a:extLst>
              <a:ext uri="{FF2B5EF4-FFF2-40B4-BE49-F238E27FC236}">
                <ns2:creationId id="{BBF8E448-1035-4380-A402-747704AC311A}"/>
              </a:ext>
            </a:extLst>
          </p:cNvPr>
          <p:cNvSpPr>
            <a:spLocks noGrp="1"/>
          </p:cNvSpPr>
          <p:nvPr/>
        </p:nvSpPr>
        <p:spPr>
          <a:xfrm>
            <a:off x="609600" y="971550"/>
            <a:ext cx="8191500" cy="1171575"/>
          </a:xfrm>
          <a:prstGeom prst="rect">
            <a:avLst/>
          </a:prstGeom>
          <a:noFill/>
          <a:ln w="0">
            <a:noFill/>
          </a:ln>
        </p:spPr>
        <p:txBody>
          <a:bodyPr>
            <a:noAutofit/>
          </a:bodyPr>
          <a:lstStyle/>
          <a:p>
            <a:pPr algn="l">
              <a:defRPr sz="3750" b="1">
                <a:solidFill>
                  <a:srgbClr val="172F3A"/>
                </a:solidFill>
                <a:latin typeface="Times New Roman"/>
                <a:ea typeface="Times New Roman"/>
                <a:cs typeface="Times New Roman"/>
              </a:defRPr>
            </a:pPr>
            <a:r>
              <a:rPr sz="3750" b="1">
                <a:solidFill>
                  <a:srgbClr val="172F3A"/>
                </a:solidFill>
                <a:latin typeface="Times New Roman"/>
                <a:ea typeface="Times New Roman"/>
                <a:cs typeface="Times New Roman"/>
              </a:rPr>
              <a:t>Face visibility and multiple-person detection</a:t>
            </a:r>
          </a:p>
        </p:txBody>
      </p:sp>
      <p:sp>
        <p:nvSpPr>
          <p:cNvPr id="3" name="fixed">
            <a:extLst>
              <a:ext uri="{FF2B5EF4-FFF2-40B4-BE49-F238E27FC236}">
                <ns2:creationId id="{CDD7964A-9160-40F0-8509-449231DEE1D5}"/>
              </a:ext>
            </a:extLst>
          </p:cNvPr>
          <p:cNvSpPr>
            <a:spLocks noGrp="1"/>
          </p:cNvSpPr>
          <p:nvPr/>
        </p:nvSpPr>
        <p:spPr>
          <a:xfrm>
            <a:off x="9029700" y="457200"/>
            <a:ext cx="2571750" cy="381000"/>
          </a:xfrm>
          <a:prstGeom prst="rect">
            <a:avLst/>
          </a:prstGeom>
          <a:noFill/>
          <a:ln w="0">
            <a:noFill/>
          </a:ln>
        </p:spPr>
        <p:txBody>
          <a:bodyPr>
            <a:noAutofit/>
          </a:bodyPr>
          <a:lstStyle/>
          <a:p>
            <a:pPr algn="r">
              <a:defRPr sz="1800" b="1">
                <a:solidFill>
                  <a:srgbClr val="087F8C"/>
                </a:solidFill>
                <a:latin typeface="Times New Roman"/>
                <a:ea typeface="Times New Roman"/>
                <a:cs typeface="Times New Roman"/>
              </a:defRPr>
            </a:pPr>
            <a:r>
              <a:rPr sz="1800" b="1">
                <a:solidFill>
                  <a:srgbClr val="087F8C"/>
                </a:solidFill>
                <a:latin typeface="Times New Roman"/>
                <a:ea typeface="Times New Roman"/>
                <a:cs typeface="Times New Roman"/>
              </a:rPr>
              <a:t>IMPLEMENTED</a:t>
            </a:r>
          </a:p>
        </p:txBody>
      </p:sp>
      <p:sp>
        <p:nvSpPr>
          <p:cNvPr id="4" name="fixed">
            <a:extLst>
              <a:ext uri="{FF2B5EF4-FFF2-40B4-BE49-F238E27FC236}">
                <ns2:creationId id="{9C5257BC-555A-4CE3-B327-2C2542CF0E76}"/>
              </a:ext>
            </a:extLst>
          </p:cNvPr>
          <p:cNvSpPr>
            <a:spLocks noGrp="1"/>
          </p:cNvSpPr>
          <p:nvPr/>
        </p:nvSpPr>
        <p:spPr>
          <a:xfrm>
            <a:off x="9029700" y="828675"/>
            <a:ext cx="2571750" cy="304800"/>
          </a:xfrm>
          <a:prstGeom prst="rect">
            <a:avLst/>
          </a:prstGeom>
          <a:noFill/>
          <a:ln w="0">
            <a:noFill/>
          </a:ln>
        </p:spPr>
        <p:txBody>
          <a:bodyPr>
            <a:noAutofit/>
          </a:bodyPr>
          <a:lstStyle/>
          <a:p>
            <a:pPr algn="r">
              <a:defRPr sz="1425" b="0">
                <a:solidFill>
                  <a:srgbClr val="4C6471"/>
                </a:solidFill>
                <a:latin typeface="Times New Roman"/>
                <a:ea typeface="Times New Roman"/>
                <a:cs typeface="Times New Roman"/>
              </a:defRPr>
            </a:pPr>
            <a:r>
              <a:rPr sz="1425" b="0">
                <a:solidFill>
                  <a:srgbClr val="4C6471"/>
                </a:solidFill>
                <a:latin typeface="Times New Roman"/>
                <a:ea typeface="Times New Roman"/>
                <a:cs typeface="Times New Roman"/>
              </a:rPr>
              <a:t>Implementation status</a:t>
            </a:r>
          </a:p>
        </p:txBody>
      </p:sp>
      <p:sp>
        <p:nvSpPr>
          <p:cNvPr id="5" name="fixed">
            <a:extLst>
              <a:ext uri="{FF2B5EF4-FFF2-40B4-BE49-F238E27FC236}">
                <ns2:creationId id="{09690E7B-CB2A-4225-8212-60748BCCEC18}"/>
              </a:ext>
            </a:extLst>
          </p:cNvPr>
          <p:cNvSpPr>
            <a:spLocks noGrp="1"/>
          </p:cNvSpPr>
          <p:nvPr/>
        </p:nvSpPr>
        <p:spPr>
          <a:xfrm>
            <a:off x="11029950" y="6334125"/>
            <a:ext cx="523875" cy="285750"/>
          </a:xfrm>
          <a:prstGeom prst="rect">
            <a:avLst/>
          </a:prstGeom>
          <a:noFill/>
          <a:ln w="0">
            <a:noFill/>
          </a:ln>
        </p:spPr>
        <p:txBody>
          <a:bodyPr>
            <a:noAutofit/>
          </a:bodyPr>
          <a:lstStyle/>
          <a:p>
            <a:pPr algn="r">
              <a:defRPr sz="1500" b="0">
                <a:solidFill>
                  <a:srgbClr val="4C6471"/>
                </a:solidFill>
                <a:latin typeface="Times New Roman"/>
                <a:ea typeface="Times New Roman"/>
                <a:cs typeface="Times New Roman"/>
              </a:defRPr>
            </a:pPr>
            <a:r>
              <a:rPr sz="1500" b="0">
                <a:solidFill>
                  <a:srgbClr val="4C6471"/>
                </a:solidFill>
                <a:latin typeface="Times New Roman"/>
                <a:ea typeface="Times New Roman"/>
                <a:cs typeface="Times New Roman"/>
              </a:rPr>
              <a:t>11</a:t>
            </a:r>
          </a:p>
        </p:txBody>
      </p:sp>
      <p:sp>
        <p:nvSpPr>
          <p:cNvPr id="6" name="reveal-1">
            <a:extLst>
              <a:ext uri="{FF2B5EF4-FFF2-40B4-BE49-F238E27FC236}">
                <ns2:creationId id="{5846E0E7-EA5B-43D2-A454-24EE4771FC39}"/>
              </a:ext>
            </a:extLst>
          </p:cNvPr>
          <p:cNvSpPr>
            <a:spLocks noGrp="1"/>
          </p:cNvSpPr>
          <p:nvPr/>
        </p:nvSpPr>
        <p:spPr>
          <a:xfrm>
            <a:off x="609600" y="2466975"/>
            <a:ext cx="2395538"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Camera frame</a:t>
            </a:r>
          </a:p>
        </p:txBody>
      </p:sp>
      <p:sp>
        <p:nvSpPr>
          <p:cNvPr id="7" name="reveal-2">
            <a:extLst>
              <a:ext uri="{FF2B5EF4-FFF2-40B4-BE49-F238E27FC236}">
                <ns2:creationId id="{70E3DE9E-70D8-4CB0-AF98-092DB700633D}"/>
              </a:ext>
            </a:extLst>
          </p:cNvPr>
          <p:cNvSpPr>
            <a:spLocks noGrp="1"/>
          </p:cNvSpPr>
          <p:nvPr/>
        </p:nvSpPr>
        <p:spPr>
          <a:xfrm>
            <a:off x="3462338" y="2466975"/>
            <a:ext cx="2395538"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Face landmarker</a:t>
            </a:r>
          </a:p>
        </p:txBody>
      </p:sp>
      <p:sp>
        <p:nvSpPr>
          <p:cNvPr id="8" name="reveal-3">
            <a:extLst>
              <a:ext uri="{FF2B5EF4-FFF2-40B4-BE49-F238E27FC236}">
                <ns2:creationId id="{5A8EFD4F-8A6F-4DC6-96AC-1A502998AD12}"/>
              </a:ext>
            </a:extLst>
          </p:cNvPr>
          <p:cNvSpPr>
            <a:spLocks noGrp="1"/>
          </p:cNvSpPr>
          <p:nvPr/>
        </p:nvSpPr>
        <p:spPr>
          <a:xfrm>
            <a:off x="6315075" y="2466975"/>
            <a:ext cx="2395538"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Count visible faces</a:t>
            </a:r>
          </a:p>
        </p:txBody>
      </p:sp>
      <p:sp>
        <p:nvSpPr>
          <p:cNvPr id="9" name="reveal-4">
            <a:extLst>
              <a:ext uri="{FF2B5EF4-FFF2-40B4-BE49-F238E27FC236}">
                <ns2:creationId id="{B19F4D1F-63ED-4F56-8394-8C4F6D4A1B36}"/>
              </a:ext>
            </a:extLst>
          </p:cNvPr>
          <p:cNvSpPr>
            <a:spLocks noGrp="1"/>
          </p:cNvSpPr>
          <p:nvPr/>
        </p:nvSpPr>
        <p:spPr>
          <a:xfrm>
            <a:off x="9167813" y="2466975"/>
            <a:ext cx="2395538"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Sustained condition</a:t>
            </a:r>
          </a:p>
        </p:txBody>
      </p:sp>
      <p:cxnSp>
        <p:nvCxnSpPr>
          <p:cNvPr id="27" name="reveal-2"/>
          <p:cNvCxnSpPr>
            <a:stCxn id="6" idx="3"/>
            <a:endCxn id="7" idx="1"/>
          </p:cNvCxnSpPr>
          <p:nvPr/>
        </p:nvCxnSpPr>
        <p:spPr>
          <a:xfrm>
            <a:off x="3005138" y="2943225"/>
            <a:ext cx="457200" cy="0"/>
          </a:xfrm>
          <a:prstGeom prst="straightConnector1">
            <a:avLst/>
          </a:prstGeom>
          <a:ln w="19050">
            <a:solidFill>
              <a:srgbClr val="087F8C"/>
            </a:solidFill>
            <a:tailEnd type="arrow" w="med" len="med"/>
          </a:ln>
        </p:spPr>
      </p:cxnSp>
      <p:cxnSp>
        <p:nvCxnSpPr>
          <p:cNvPr id="28" name="reveal-3"/>
          <p:cNvCxnSpPr>
            <a:stCxn id="7" idx="3"/>
            <a:endCxn id="8" idx="1"/>
          </p:cNvCxnSpPr>
          <p:nvPr/>
        </p:nvCxnSpPr>
        <p:spPr>
          <a:xfrm>
            <a:off x="5857876" y="2943225"/>
            <a:ext cx="457199" cy="0"/>
          </a:xfrm>
          <a:prstGeom prst="straightConnector1">
            <a:avLst/>
          </a:prstGeom>
          <a:ln w="19050">
            <a:solidFill>
              <a:srgbClr val="087F8C"/>
            </a:solidFill>
            <a:tailEnd type="arrow" w="med" len="med"/>
          </a:ln>
        </p:spPr>
      </p:cxnSp>
      <p:cxnSp>
        <p:nvCxnSpPr>
          <p:cNvPr id="29" name="reveal-4"/>
          <p:cNvCxnSpPr>
            <a:stCxn id="8" idx="3"/>
            <a:endCxn id="9" idx="1"/>
          </p:cNvCxnSpPr>
          <p:nvPr/>
        </p:nvCxnSpPr>
        <p:spPr>
          <a:xfrm>
            <a:off x="8710613" y="2943225"/>
            <a:ext cx="457200" cy="0"/>
          </a:xfrm>
          <a:prstGeom prst="straightConnector1">
            <a:avLst/>
          </a:prstGeom>
          <a:ln w="19050">
            <a:solidFill>
              <a:srgbClr val="087F8C"/>
            </a:solidFill>
            <a:tailEnd type="arrow" w="med" len="med"/>
          </a:ln>
        </p:spPr>
      </p:cxnSp>
      <p:sp>
        <p:nvSpPr>
          <p:cNvPr id="13" name="reveal-5">
            <a:extLst>
              <a:ext uri="{FF2B5EF4-FFF2-40B4-BE49-F238E27FC236}">
                <ns2:creationId id="{E25AC92E-8CB6-4837-A486-0D8FE0B21366}"/>
              </a:ext>
            </a:extLst>
          </p:cNvPr>
          <p:cNvSpPr>
            <a:spLocks noGrp="1"/>
          </p:cNvSpPr>
          <p:nvPr/>
        </p:nvSpPr>
        <p:spPr>
          <a:xfrm>
            <a:off x="609600" y="3971925"/>
            <a:ext cx="5095875" cy="476250"/>
          </a:xfrm>
          <a:prstGeom prst="rect">
            <a:avLst/>
          </a:prstGeom>
          <a:noFill/>
          <a:ln w="0">
            <a:noFill/>
          </a:ln>
        </p:spPr>
        <p:txBody>
          <a:bodyPr>
            <a:noAutofit/>
          </a:bodyPr>
          <a:lstStyle/>
          <a:p>
            <a:pPr algn="l">
              <a:defRPr sz="2550" b="1">
                <a:solidFill>
                  <a:srgbClr val="087F8C"/>
                </a:solidFill>
                <a:latin typeface="Times New Roman"/>
                <a:ea typeface="Times New Roman"/>
                <a:cs typeface="Times New Roman"/>
              </a:defRPr>
            </a:pPr>
            <a:r>
              <a:rPr sz="2550" b="1">
                <a:solidFill>
                  <a:srgbClr val="087F8C"/>
                </a:solidFill>
                <a:latin typeface="Times New Roman"/>
                <a:ea typeface="Times New Roman"/>
                <a:cs typeface="Times New Roman"/>
              </a:rPr>
              <a:t>Normal example</a:t>
            </a:r>
          </a:p>
        </p:txBody>
      </p:sp>
      <p:sp>
        <p:nvSpPr>
          <p:cNvPr id="14" name="reveal-5">
            <a:extLst>
              <a:ext uri="{FF2B5EF4-FFF2-40B4-BE49-F238E27FC236}">
                <ns2:creationId id="{F72A6706-3536-4124-8F0C-27D536BC456C}"/>
              </a:ext>
            </a:extLst>
          </p:cNvPr>
          <p:cNvSpPr>
            <a:spLocks noGrp="1"/>
          </p:cNvSpPr>
          <p:nvPr/>
        </p:nvSpPr>
        <p:spPr>
          <a:xfrm>
            <a:off x="609600" y="4600575"/>
            <a:ext cx="5095875" cy="1619250"/>
          </a:xfrm>
          <a:prstGeom prst="rect">
            <a:avLst/>
          </a:prstGeom>
          <a:noFill/>
          <a:ln w="0">
            <a:noFill/>
          </a:ln>
        </p:spPr>
        <p:txBody>
          <a:bodyPr>
            <a:noAutofit/>
          </a:bodyPr>
          <a:lstStyle/>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One face keeps presence checks active</a:t>
            </a:r>
          </a:p>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and allows neutral-pose calibration.</a:t>
            </a:r>
          </a:p>
        </p:txBody>
      </p:sp>
      <p:sp>
        <p:nvSpPr>
          <p:cNvPr id="15" name="reveal-6">
            <a:extLst>
              <a:ext uri="{FF2B5EF4-FFF2-40B4-BE49-F238E27FC236}">
                <ns2:creationId id="{B64AB70C-8896-43A9-A273-47CFB541A9DD}"/>
              </a:ext>
            </a:extLst>
          </p:cNvPr>
          <p:cNvSpPr>
            <a:spLocks noGrp="1"/>
          </p:cNvSpPr>
          <p:nvPr/>
        </p:nvSpPr>
        <p:spPr>
          <a:xfrm>
            <a:off x="6381750" y="3971925"/>
            <a:ext cx="5095875" cy="476250"/>
          </a:xfrm>
          <a:prstGeom prst="rect">
            <a:avLst/>
          </a:prstGeom>
          <a:noFill/>
          <a:ln w="0">
            <a:noFill/>
          </a:ln>
        </p:spPr>
        <p:txBody>
          <a:bodyPr>
            <a:noAutofit/>
          </a:bodyPr>
          <a:lstStyle/>
          <a:p>
            <a:pPr algn="l">
              <a:defRPr sz="2550" b="1">
                <a:solidFill>
                  <a:srgbClr val="087F8C"/>
                </a:solidFill>
                <a:latin typeface="Times New Roman"/>
                <a:ea typeface="Times New Roman"/>
                <a:cs typeface="Times New Roman"/>
              </a:defRPr>
            </a:pPr>
            <a:r>
              <a:rPr sz="2550" b="1">
                <a:solidFill>
                  <a:srgbClr val="087F8C"/>
                </a:solidFill>
                <a:latin typeface="Times New Roman"/>
                <a:ea typeface="Times New Roman"/>
                <a:cs typeface="Times New Roman"/>
              </a:rPr>
              <a:t>Alert examples</a:t>
            </a:r>
          </a:p>
        </p:txBody>
      </p:sp>
      <p:sp>
        <p:nvSpPr>
          <p:cNvPr id="16" name="reveal-6">
            <a:extLst>
              <a:ext uri="{FF2B5EF4-FFF2-40B4-BE49-F238E27FC236}">
                <ns2:creationId id="{25001A09-D652-4B1B-AA30-C5A44BF01D82}"/>
              </a:ext>
            </a:extLst>
          </p:cNvPr>
          <p:cNvSpPr>
            <a:spLocks noGrp="1"/>
          </p:cNvSpPr>
          <p:nvPr/>
        </p:nvSpPr>
        <p:spPr>
          <a:xfrm>
            <a:off x="6381750" y="4600575"/>
            <a:ext cx="5095875" cy="1619250"/>
          </a:xfrm>
          <a:prstGeom prst="rect">
            <a:avLst/>
          </a:prstGeom>
          <a:noFill/>
          <a:ln w="0">
            <a:noFill/>
          </a:ln>
        </p:spPr>
        <p:txBody>
          <a:bodyPr>
            <a:noAutofit/>
          </a:bodyPr>
          <a:lstStyle/>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Two faces persist: multiple-person signal.</a:t>
            </a:r>
          </a:p>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No face persists: candidate-visibility signal.</a:t>
            </a:r>
          </a:p>
        </p:txBody>
      </p:sp>
      <p:sp>
        <p:nvSpPr>
          <p:cNvPr id="17" name="fixed">
            <a:extLst>
              <a:ext uri="{FF2B5EF4-FFF2-40B4-BE49-F238E27FC236}">
                <ns2:creationId id="{CD00AEF6-0EF5-4FEC-B665-10ED47DB1131}"/>
              </a:ext>
            </a:extLst>
          </p:cNvPr>
          <p:cNvSpPr>
            <a:spLocks noGrp="1"/>
          </p:cNvSpPr>
          <p:nvPr/>
        </p:nvSpPr>
        <p:spPr>
          <a:xfrm>
            <a:off x="609600" y="5953125"/>
            <a:ext cx="10668000" cy="457200"/>
          </a:xfrm>
          <a:prstGeom prst="rect">
            <a:avLst/>
          </a:prstGeom>
          <a:noFill/>
          <a:ln w="0">
            <a:noFill/>
          </a:ln>
        </p:spPr>
        <p:txBody>
          <a:bodyPr>
            <a:noAutofit/>
          </a:bodyPr>
          <a:lstStyle/>
          <a:p>
            <a:pPr algn="l">
              <a:defRPr sz="1725" b="0">
                <a:solidFill>
                  <a:srgbClr val="4C6471"/>
                </a:solidFill>
                <a:latin typeface="Times New Roman"/>
                <a:ea typeface="Times New Roman"/>
                <a:cs typeface="Times New Roman"/>
              </a:defRPr>
            </a:pPr>
            <a:r>
              <a:rPr sz="1725" b="0">
                <a:solidFill>
                  <a:srgbClr val="4C6471"/>
                </a:solidFill>
                <a:latin typeface="Times New Roman"/>
                <a:ea typeface="Times New Roman"/>
                <a:cs typeface="Times New Roman"/>
              </a:rPr>
              <a:t>YOLO handles phone/book objects. MediaPipe or OpenCV handles face counting.</a:t>
            </a:r>
          </a:p>
        </p:txBody>
      </p:sp>
    </p:spTree>
    <p:extLst>
      <p:ext uri="{BB962C8B-B14F-4D97-AF65-F5344CB8AC3E}">
        <ns3:creationId val="1768501098"/>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1" nodeType="click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350"/>
                                  <p:tgtEl>
                                    <p:spTgt spid="6"/>
                                  </p:tgtEl>
                                </p:cBhvr>
                              </p:animEffect>
                            </p:childTnLst>
                          </p:cTn>
                        </p:par>
                      </p:childTnLst>
                    </p:cTn>
                  </p:par>
                  <p:par>
                    <p:cTn id="7" fill="hold">
                      <p:stCondLst>
                        <p:cond delay="indefinite"/>
                      </p:stCondLst>
                      <p:childTnLst>
                        <p:par>
                          <p:cTn id="8" presetID="10" presetClass="entr" presetSubtype="0" fill="hold" grpId="2" nodeType="click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350"/>
                                  <p:tgtEl>
                                    <p:spTgt spid="7"/>
                                  </p:tgtEl>
                                </p:cBhvr>
                              </p:animEffect>
                            </p:childTnLst>
                          </p:cTn>
                        </p:par>
                        <p:par>
                          <p:cTn id="11" presetID="10" presetClass="entr" presetSubtype="0" fill="hold" grpId="2" nodeType="clickEffect">
                            <p:stCondLst>
                              <p:cond delay="0"/>
                            </p:stCondLst>
                            <p:childTnLst>
                              <p:set>
                                <p:cBhvr>
                                  <p:cTn id="12" dur="1" fill="hold">
                                    <p:stCondLst>
                                      <p:cond delay="0"/>
                                    </p:stCondLst>
                                  </p:cTn>
                                  <p:tgtEl>
                                    <p:spTgt spid="27"/>
                                  </p:tgtEl>
                                  <p:attrNameLst>
                                    <p:attrName>style.visibility</p:attrName>
                                  </p:attrNameLst>
                                </p:cBhvr>
                                <p:to>
                                  <p:strVal val="visible"/>
                                </p:to>
                              </p:set>
                              <p:animEffect transition="in" filter="fade">
                                <p:cBhvr>
                                  <p:cTn id="13" dur="350"/>
                                  <p:tgtEl>
                                    <p:spTgt spid="27"/>
                                  </p:tgtEl>
                                </p:cBhvr>
                              </p:animEffect>
                            </p:childTnLst>
                          </p:cTn>
                        </p:par>
                      </p:childTnLst>
                    </p:cTn>
                  </p:par>
                  <p:par>
                    <p:cTn id="14" fill="hold">
                      <p:stCondLst>
                        <p:cond delay="indefinite"/>
                      </p:stCondLst>
                      <p:childTnLst>
                        <p:par>
                          <p:cTn id="15" presetID="10" presetClass="entr" presetSubtype="0" fill="hold" grpId="3"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350"/>
                                  <p:tgtEl>
                                    <p:spTgt spid="8"/>
                                  </p:tgtEl>
                                </p:cBhvr>
                              </p:animEffect>
                            </p:childTnLst>
                          </p:cTn>
                        </p:par>
                        <p:par>
                          <p:cTn id="18" presetID="10" presetClass="entr" presetSubtype="0" fill="hold" grpId="3" nodeType="clickEffect">
                            <p:stCondLst>
                              <p:cond delay="0"/>
                            </p:stCondLst>
                            <p:childTnLst>
                              <p:set>
                                <p:cBhvr>
                                  <p:cTn id="19" dur="1" fill="hold">
                                    <p:stCondLst>
                                      <p:cond delay="0"/>
                                    </p:stCondLst>
                                  </p:cTn>
                                  <p:tgtEl>
                                    <p:spTgt spid="28"/>
                                  </p:tgtEl>
                                  <p:attrNameLst>
                                    <p:attrName>style.visibility</p:attrName>
                                  </p:attrNameLst>
                                </p:cBhvr>
                                <p:to>
                                  <p:strVal val="visible"/>
                                </p:to>
                              </p:set>
                              <p:animEffect transition="in" filter="fade">
                                <p:cBhvr>
                                  <p:cTn id="20" dur="350"/>
                                  <p:tgtEl>
                                    <p:spTgt spid="28"/>
                                  </p:tgtEl>
                                </p:cBhvr>
                              </p:animEffect>
                            </p:childTnLst>
                          </p:cTn>
                        </p:par>
                      </p:childTnLst>
                    </p:cTn>
                  </p:par>
                  <p:par>
                    <p:cTn id="21" fill="hold">
                      <p:stCondLst>
                        <p:cond delay="indefinite"/>
                      </p:stCondLst>
                      <p:childTnLst>
                        <p:par>
                          <p:cTn id="22" presetID="10" presetClass="entr" presetSubtype="0" fill="hold" grpId="4" nodeType="click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350"/>
                                  <p:tgtEl>
                                    <p:spTgt spid="9"/>
                                  </p:tgtEl>
                                </p:cBhvr>
                              </p:animEffect>
                            </p:childTnLst>
                          </p:cTn>
                        </p:par>
                        <p:par>
                          <p:cTn id="25" presetID="10" presetClass="entr" presetSubtype="0" fill="hold" grpId="4" nodeType="clickEffect">
                            <p:stCondLst>
                              <p:cond delay="0"/>
                            </p:stCondLst>
                            <p:childTnLst>
                              <p:set>
                                <p:cBhvr>
                                  <p:cTn id="26" dur="1" fill="hold">
                                    <p:stCondLst>
                                      <p:cond delay="0"/>
                                    </p:stCondLst>
                                  </p:cTn>
                                  <p:tgtEl>
                                    <p:spTgt spid="29"/>
                                  </p:tgtEl>
                                  <p:attrNameLst>
                                    <p:attrName>style.visibility</p:attrName>
                                  </p:attrNameLst>
                                </p:cBhvr>
                                <p:to>
                                  <p:strVal val="visible"/>
                                </p:to>
                              </p:set>
                              <p:animEffect transition="in" filter="fade">
                                <p:cBhvr>
                                  <p:cTn id="27" dur="350"/>
                                  <p:tgtEl>
                                    <p:spTgt spid="29"/>
                                  </p:tgtEl>
                                </p:cBhvr>
                              </p:animEffect>
                            </p:childTnLst>
                          </p:cTn>
                        </p:par>
                      </p:childTnLst>
                    </p:cTn>
                  </p:par>
                  <p:par>
                    <p:cTn id="28" fill="hold">
                      <p:stCondLst>
                        <p:cond delay="indefinite"/>
                      </p:stCondLst>
                      <p:childTnLst>
                        <p:par>
                          <p:cTn id="29" presetID="10" presetClass="entr" presetSubtype="0" fill="hold" grpId="5" nodeType="click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350"/>
                                  <p:tgtEl>
                                    <p:spTgt spid="13"/>
                                  </p:tgtEl>
                                </p:cBhvr>
                              </p:animEffect>
                            </p:childTnLst>
                          </p:cTn>
                        </p:par>
                        <p:par>
                          <p:cTn id="32" presetID="10" presetClass="entr" presetSubtype="0" fill="hold" grpId="5" nodeType="click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350"/>
                                  <p:tgtEl>
                                    <p:spTgt spid="14"/>
                                  </p:tgtEl>
                                </p:cBhvr>
                              </p:animEffect>
                            </p:childTnLst>
                          </p:cTn>
                        </p:par>
                      </p:childTnLst>
                    </p:cTn>
                  </p:par>
                  <p:par>
                    <p:cTn id="35" fill="hold">
                      <p:stCondLst>
                        <p:cond delay="indefinite"/>
                      </p:stCondLst>
                      <p:childTnLst>
                        <p:par>
                          <p:cTn id="36" presetID="10" presetClass="entr" presetSubtype="0" fill="hold" grpId="6" nodeType="clickEffect">
                            <p:stCondLst>
                              <p:cond delay="0"/>
                            </p:stCondLst>
                            <p:childTnLst>
                              <p:set>
                                <p:cBhvr>
                                  <p:cTn id="37" dur="1" fill="hold">
                                    <p:stCondLst>
                                      <p:cond delay="0"/>
                                    </p:stCondLst>
                                  </p:cTn>
                                  <p:tgtEl>
                                    <p:spTgt spid="15"/>
                                  </p:tgtEl>
                                  <p:attrNameLst>
                                    <p:attrName>style.visibility</p:attrName>
                                  </p:attrNameLst>
                                </p:cBhvr>
                                <p:to>
                                  <p:strVal val="visible"/>
                                </p:to>
                              </p:set>
                              <p:animEffect transition="in" filter="fade">
                                <p:cBhvr>
                                  <p:cTn id="38" dur="350"/>
                                  <p:tgtEl>
                                    <p:spTgt spid="15"/>
                                  </p:tgtEl>
                                </p:cBhvr>
                              </p:animEffect>
                            </p:childTnLst>
                          </p:cTn>
                        </p:par>
                        <p:par>
                          <p:cTn id="39" presetID="10" presetClass="entr" presetSubtype="0" fill="hold" grpId="6"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fade">
                                <p:cBhvr>
                                  <p:cTn id="41" dur="350"/>
                                  <p:tgtEl>
                                    <p:spTgt spid="16"/>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6" grpId="1" uiExpand="1"/>
      <p:bldP spid="7" grpId="2" uiExpand="1"/>
      <p:bldP spid="27" grpId="2" uiExpand="1"/>
      <p:bldP spid="8" grpId="3" uiExpand="1"/>
      <p:bldP spid="28" grpId="3" uiExpand="1"/>
      <p:bldP spid="9" grpId="4" uiExpand="1"/>
      <p:bldP spid="29" grpId="4" uiExpand="1"/>
      <p:bldP spid="13" grpId="5" uiExpand="1"/>
      <p:bldP spid="14" grpId="5" uiExpand="1"/>
      <p:bldP spid="15" grpId="6" uiExpand="1"/>
      <p:bldP spid="16" grpId="6" uiExpand="1"/>
    </p:bldLst>
  </p:timing>
</p:sld>
</file>

<file path=ppt/slides/slide12.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6F7F4"/>
        </a:solidFill>
      </p:bgPr>
    </p:bg>
    <p:spTree>
      <p:nvGrpSpPr>
        <p:cNvPr id="1" name=""/>
        <p:cNvGrpSpPr/>
        <p:nvPr/>
      </p:nvGrpSpPr>
      <p:grpSpPr>
        <a:xfrm/>
      </p:grpSpPr>
      <p:sp>
        <p:nvSpPr>
          <p:cNvPr id="18" name="fixed">
            <a:extLst>
              <a:ext uri="{FF2B5EF4-FFF2-40B4-BE49-F238E27FC236}">
                <ns2:creationId id="{8EDE2006-A6CC-4B4C-B76A-6BC2B9223180}"/>
              </a:ext>
            </a:extLst>
          </p:cNvPr>
          <p:cNvSpPr>
            <a:spLocks noGrp="1"/>
          </p:cNvSpPr>
          <p:nvPr/>
        </p:nvSpPr>
        <p:spPr>
          <a:xfrm>
            <a:off x="609600" y="400050"/>
            <a:ext cx="7620000" cy="381000"/>
          </a:xfrm>
          <a:prstGeom prst="rect">
            <a:avLst/>
          </a:prstGeom>
          <a:noFill/>
          <a:ln w="0">
            <a:noFill/>
          </a:ln>
        </p:spPr>
        <p:txBody>
          <a:bodyPr>
            <a:noAutofit/>
          </a:bodyPr>
          <a:lstStyle/>
          <a:p>
            <a:pPr algn="l">
              <a:defRPr sz="1875" b="1">
                <a:solidFill>
                  <a:srgbClr val="087F8C"/>
                </a:solidFill>
                <a:latin typeface="Times New Roman"/>
                <a:ea typeface="Times New Roman"/>
                <a:cs typeface="Times New Roman"/>
              </a:defRPr>
            </a:pPr>
            <a:r>
              <a:rPr sz="1875" b="1">
                <a:solidFill>
                  <a:srgbClr val="087F8C"/>
                </a:solidFill>
                <a:latin typeface="Times New Roman"/>
                <a:ea typeface="Times New Roman"/>
                <a:cs typeface="Times New Roman"/>
              </a:rPr>
              <a:t>MODULE 02 / WORKING AND EXAMPLE</a:t>
            </a:r>
          </a:p>
        </p:txBody>
      </p:sp>
      <p:sp>
        <p:nvSpPr>
          <p:cNvPr id="2" name="fixed">
            <a:extLst>
              <a:ext uri="{FF2B5EF4-FFF2-40B4-BE49-F238E27FC236}">
                <ns2:creationId id="{8E86BA8A-2470-4B08-8D08-DBA715369639}"/>
              </a:ext>
            </a:extLst>
          </p:cNvPr>
          <p:cNvSpPr>
            <a:spLocks noGrp="1"/>
          </p:cNvSpPr>
          <p:nvPr/>
        </p:nvSpPr>
        <p:spPr>
          <a:xfrm>
            <a:off x="609600" y="971550"/>
            <a:ext cx="8191500" cy="1171575"/>
          </a:xfrm>
          <a:prstGeom prst="rect">
            <a:avLst/>
          </a:prstGeom>
          <a:noFill/>
          <a:ln w="0">
            <a:noFill/>
          </a:ln>
        </p:spPr>
        <p:txBody>
          <a:bodyPr>
            <a:noAutofit/>
          </a:bodyPr>
          <a:lstStyle/>
          <a:p>
            <a:pPr algn="l">
              <a:defRPr sz="3750" b="1">
                <a:solidFill>
                  <a:srgbClr val="172F3A"/>
                </a:solidFill>
                <a:latin typeface="Times New Roman"/>
                <a:ea typeface="Times New Roman"/>
                <a:cs typeface="Times New Roman"/>
              </a:defRPr>
            </a:pPr>
            <a:r>
              <a:rPr sz="3750" b="1">
                <a:solidFill>
                  <a:srgbClr val="172F3A"/>
                </a:solidFill>
                <a:latin typeface="Times New Roman"/>
                <a:ea typeface="Times New Roman"/>
                <a:cs typeface="Times New Roman"/>
              </a:rPr>
              <a:t>Camera visibility and feed quality</a:t>
            </a:r>
          </a:p>
        </p:txBody>
      </p:sp>
      <p:sp>
        <p:nvSpPr>
          <p:cNvPr id="3" name="fixed">
            <a:extLst>
              <a:ext uri="{FF2B5EF4-FFF2-40B4-BE49-F238E27FC236}">
                <ns2:creationId id="{9A35B8E4-FAE1-4C61-B498-9844D939B69F}"/>
              </a:ext>
            </a:extLst>
          </p:cNvPr>
          <p:cNvSpPr>
            <a:spLocks noGrp="1"/>
          </p:cNvSpPr>
          <p:nvPr/>
        </p:nvSpPr>
        <p:spPr>
          <a:xfrm>
            <a:off x="9029700" y="457200"/>
            <a:ext cx="2571750" cy="381000"/>
          </a:xfrm>
          <a:prstGeom prst="rect">
            <a:avLst/>
          </a:prstGeom>
          <a:noFill/>
          <a:ln w="0">
            <a:noFill/>
          </a:ln>
        </p:spPr>
        <p:txBody>
          <a:bodyPr>
            <a:noAutofit/>
          </a:bodyPr>
          <a:lstStyle/>
          <a:p>
            <a:pPr algn="r">
              <a:defRPr sz="1800" b="1">
                <a:solidFill>
                  <a:srgbClr val="087F8C"/>
                </a:solidFill>
                <a:latin typeface="Times New Roman"/>
                <a:ea typeface="Times New Roman"/>
                <a:cs typeface="Times New Roman"/>
              </a:defRPr>
            </a:pPr>
            <a:r>
              <a:rPr sz="1800" b="1">
                <a:solidFill>
                  <a:srgbClr val="087F8C"/>
                </a:solidFill>
                <a:latin typeface="Times New Roman"/>
                <a:ea typeface="Times New Roman"/>
                <a:cs typeface="Times New Roman"/>
              </a:rPr>
              <a:t>IMPLEMENTED</a:t>
            </a:r>
          </a:p>
        </p:txBody>
      </p:sp>
      <p:sp>
        <p:nvSpPr>
          <p:cNvPr id="4" name="fixed">
            <a:extLst>
              <a:ext uri="{FF2B5EF4-FFF2-40B4-BE49-F238E27FC236}">
                <ns2:creationId id="{93C171BC-FFB8-4A56-82BD-3C38E7919B17}"/>
              </a:ext>
            </a:extLst>
          </p:cNvPr>
          <p:cNvSpPr>
            <a:spLocks noGrp="1"/>
          </p:cNvSpPr>
          <p:nvPr/>
        </p:nvSpPr>
        <p:spPr>
          <a:xfrm>
            <a:off x="9029700" y="828675"/>
            <a:ext cx="2571750" cy="304800"/>
          </a:xfrm>
          <a:prstGeom prst="rect">
            <a:avLst/>
          </a:prstGeom>
          <a:noFill/>
          <a:ln w="0">
            <a:noFill/>
          </a:ln>
        </p:spPr>
        <p:txBody>
          <a:bodyPr>
            <a:noAutofit/>
          </a:bodyPr>
          <a:lstStyle/>
          <a:p>
            <a:pPr algn="r">
              <a:defRPr sz="1425" b="0">
                <a:solidFill>
                  <a:srgbClr val="4C6471"/>
                </a:solidFill>
                <a:latin typeface="Times New Roman"/>
                <a:ea typeface="Times New Roman"/>
                <a:cs typeface="Times New Roman"/>
              </a:defRPr>
            </a:pPr>
            <a:r>
              <a:rPr sz="1425" b="0">
                <a:solidFill>
                  <a:srgbClr val="4C6471"/>
                </a:solidFill>
                <a:latin typeface="Times New Roman"/>
                <a:ea typeface="Times New Roman"/>
                <a:cs typeface="Times New Roman"/>
              </a:rPr>
              <a:t>Implementation status</a:t>
            </a:r>
          </a:p>
        </p:txBody>
      </p:sp>
      <p:sp>
        <p:nvSpPr>
          <p:cNvPr id="5" name="fixed">
            <a:extLst>
              <a:ext uri="{FF2B5EF4-FFF2-40B4-BE49-F238E27FC236}">
                <ns2:creationId id="{4C7BA37F-6CA8-4BEE-8B73-4DBAAA60117F}"/>
              </a:ext>
            </a:extLst>
          </p:cNvPr>
          <p:cNvSpPr>
            <a:spLocks noGrp="1"/>
          </p:cNvSpPr>
          <p:nvPr/>
        </p:nvSpPr>
        <p:spPr>
          <a:xfrm>
            <a:off x="11029950" y="6334125"/>
            <a:ext cx="523875" cy="285750"/>
          </a:xfrm>
          <a:prstGeom prst="rect">
            <a:avLst/>
          </a:prstGeom>
          <a:noFill/>
          <a:ln w="0">
            <a:noFill/>
          </a:ln>
        </p:spPr>
        <p:txBody>
          <a:bodyPr>
            <a:noAutofit/>
          </a:bodyPr>
          <a:lstStyle/>
          <a:p>
            <a:pPr algn="r">
              <a:defRPr sz="1500" b="0">
                <a:solidFill>
                  <a:srgbClr val="4C6471"/>
                </a:solidFill>
                <a:latin typeface="Times New Roman"/>
                <a:ea typeface="Times New Roman"/>
                <a:cs typeface="Times New Roman"/>
              </a:defRPr>
            </a:pPr>
            <a:r>
              <a:rPr sz="1500" b="0">
                <a:solidFill>
                  <a:srgbClr val="4C6471"/>
                </a:solidFill>
                <a:latin typeface="Times New Roman"/>
                <a:ea typeface="Times New Roman"/>
                <a:cs typeface="Times New Roman"/>
              </a:rPr>
              <a:t>12</a:t>
            </a:r>
          </a:p>
        </p:txBody>
      </p:sp>
      <p:sp>
        <p:nvSpPr>
          <p:cNvPr id="6" name="reveal-1">
            <a:extLst>
              <a:ext uri="{FF2B5EF4-FFF2-40B4-BE49-F238E27FC236}">
                <ns2:creationId id="{EE29D8A4-697A-42FF-8C95-4092BBF57BDA}"/>
              </a:ext>
            </a:extLst>
          </p:cNvPr>
          <p:cNvSpPr>
            <a:spLocks noGrp="1"/>
          </p:cNvSpPr>
          <p:nvPr/>
        </p:nvSpPr>
        <p:spPr>
          <a:xfrm>
            <a:off x="609600" y="2466975"/>
            <a:ext cx="2395538"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Camera feed</a:t>
            </a:r>
          </a:p>
        </p:txBody>
      </p:sp>
      <p:sp>
        <p:nvSpPr>
          <p:cNvPr id="7" name="reveal-2">
            <a:extLst>
              <a:ext uri="{FF2B5EF4-FFF2-40B4-BE49-F238E27FC236}">
                <ns2:creationId id="{592562A5-405D-4EA4-B5DB-4CAB703DD4D6}"/>
              </a:ext>
            </a:extLst>
          </p:cNvPr>
          <p:cNvSpPr>
            <a:spLocks noGrp="1"/>
          </p:cNvSpPr>
          <p:nvPr/>
        </p:nvSpPr>
        <p:spPr>
          <a:xfrm>
            <a:off x="3462338" y="2466975"/>
            <a:ext cx="2395538"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Brightness and detail</a:t>
            </a:r>
          </a:p>
        </p:txBody>
      </p:sp>
      <p:sp>
        <p:nvSpPr>
          <p:cNvPr id="8" name="reveal-3">
            <a:extLst>
              <a:ext uri="{FF2B5EF4-FFF2-40B4-BE49-F238E27FC236}">
                <ns2:creationId id="{A6B0445A-71E8-4FCF-B267-FCFC731FC360}"/>
              </a:ext>
            </a:extLst>
          </p:cNvPr>
          <p:cNvSpPr>
            <a:spLocks noGrp="1"/>
          </p:cNvSpPr>
          <p:nvPr/>
        </p:nvSpPr>
        <p:spPr>
          <a:xfrm>
            <a:off x="6315075" y="2466975"/>
            <a:ext cx="2395538"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Sustained visibility issue</a:t>
            </a:r>
          </a:p>
        </p:txBody>
      </p:sp>
      <p:sp>
        <p:nvSpPr>
          <p:cNvPr id="9" name="reveal-4">
            <a:extLst>
              <a:ext uri="{FF2B5EF4-FFF2-40B4-BE49-F238E27FC236}">
                <ns2:creationId id="{5E80C87D-95F4-43E5-AC7C-96D0A2C6F92E}"/>
              </a:ext>
            </a:extLst>
          </p:cNvPr>
          <p:cNvSpPr>
            <a:spLocks noGrp="1"/>
          </p:cNvSpPr>
          <p:nvPr/>
        </p:nvSpPr>
        <p:spPr>
          <a:xfrm>
            <a:off x="9167813" y="2466975"/>
            <a:ext cx="2395538"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Alert or health failure</a:t>
            </a:r>
          </a:p>
        </p:txBody>
      </p:sp>
      <p:cxnSp>
        <p:nvCxnSpPr>
          <p:cNvPr id="27" name="reveal-2"/>
          <p:cNvCxnSpPr>
            <a:stCxn id="6" idx="3"/>
            <a:endCxn id="7" idx="1"/>
          </p:cNvCxnSpPr>
          <p:nvPr/>
        </p:nvCxnSpPr>
        <p:spPr>
          <a:xfrm>
            <a:off x="3005138" y="2943225"/>
            <a:ext cx="457200" cy="0"/>
          </a:xfrm>
          <a:prstGeom prst="straightConnector1">
            <a:avLst/>
          </a:prstGeom>
          <a:ln w="19050">
            <a:solidFill>
              <a:srgbClr val="087F8C"/>
            </a:solidFill>
            <a:tailEnd type="arrow" w="med" len="med"/>
          </a:ln>
        </p:spPr>
      </p:cxnSp>
      <p:cxnSp>
        <p:nvCxnSpPr>
          <p:cNvPr id="28" name="reveal-3"/>
          <p:cNvCxnSpPr>
            <a:stCxn id="7" idx="3"/>
            <a:endCxn id="8" idx="1"/>
          </p:cNvCxnSpPr>
          <p:nvPr/>
        </p:nvCxnSpPr>
        <p:spPr>
          <a:xfrm>
            <a:off x="5857876" y="2943225"/>
            <a:ext cx="457199" cy="0"/>
          </a:xfrm>
          <a:prstGeom prst="straightConnector1">
            <a:avLst/>
          </a:prstGeom>
          <a:ln w="19050">
            <a:solidFill>
              <a:srgbClr val="087F8C"/>
            </a:solidFill>
            <a:tailEnd type="arrow" w="med" len="med"/>
          </a:ln>
        </p:spPr>
      </p:cxnSp>
      <p:cxnSp>
        <p:nvCxnSpPr>
          <p:cNvPr id="29" name="reveal-4"/>
          <p:cNvCxnSpPr>
            <a:stCxn id="8" idx="3"/>
            <a:endCxn id="9" idx="1"/>
          </p:cNvCxnSpPr>
          <p:nvPr/>
        </p:nvCxnSpPr>
        <p:spPr>
          <a:xfrm>
            <a:off x="8710613" y="2943225"/>
            <a:ext cx="457200" cy="0"/>
          </a:xfrm>
          <a:prstGeom prst="straightConnector1">
            <a:avLst/>
          </a:prstGeom>
          <a:ln w="19050">
            <a:solidFill>
              <a:srgbClr val="087F8C"/>
            </a:solidFill>
            <a:tailEnd type="arrow" w="med" len="med"/>
          </a:ln>
        </p:spPr>
      </p:cxnSp>
      <p:sp>
        <p:nvSpPr>
          <p:cNvPr id="13" name="reveal-5">
            <a:extLst>
              <a:ext uri="{FF2B5EF4-FFF2-40B4-BE49-F238E27FC236}">
                <ns2:creationId id="{6F92E2B5-FA5D-4ECA-B699-BD309143459E}"/>
              </a:ext>
            </a:extLst>
          </p:cNvPr>
          <p:cNvSpPr>
            <a:spLocks noGrp="1"/>
          </p:cNvSpPr>
          <p:nvPr/>
        </p:nvSpPr>
        <p:spPr>
          <a:xfrm>
            <a:off x="609600" y="3971925"/>
            <a:ext cx="5095875" cy="476250"/>
          </a:xfrm>
          <a:prstGeom prst="rect">
            <a:avLst/>
          </a:prstGeom>
          <a:noFill/>
          <a:ln w="0">
            <a:noFill/>
          </a:ln>
        </p:spPr>
        <p:txBody>
          <a:bodyPr>
            <a:noAutofit/>
          </a:bodyPr>
          <a:lstStyle/>
          <a:p>
            <a:pPr algn="l">
              <a:defRPr sz="2550" b="1">
                <a:solidFill>
                  <a:srgbClr val="087F8C"/>
                </a:solidFill>
                <a:latin typeface="Times New Roman"/>
                <a:ea typeface="Times New Roman"/>
                <a:cs typeface="Times New Roman"/>
              </a:defRPr>
            </a:pPr>
            <a:r>
              <a:rPr sz="2550" b="1">
                <a:solidFill>
                  <a:srgbClr val="087F8C"/>
                </a:solidFill>
                <a:latin typeface="Times New Roman"/>
                <a:ea typeface="Times New Roman"/>
                <a:cs typeface="Times New Roman"/>
              </a:rPr>
              <a:t>Covered-lens example</a:t>
            </a:r>
          </a:p>
        </p:txBody>
      </p:sp>
      <p:sp>
        <p:nvSpPr>
          <p:cNvPr id="14" name="reveal-5">
            <a:extLst>
              <a:ext uri="{FF2B5EF4-FFF2-40B4-BE49-F238E27FC236}">
                <ns2:creationId id="{4D1293F2-CCE7-47BD-9F88-A7909A60C56E}"/>
              </a:ext>
            </a:extLst>
          </p:cNvPr>
          <p:cNvSpPr>
            <a:spLocks noGrp="1"/>
          </p:cNvSpPr>
          <p:nvPr/>
        </p:nvSpPr>
        <p:spPr>
          <a:xfrm>
            <a:off x="609600" y="4600575"/>
            <a:ext cx="5095875" cy="1619250"/>
          </a:xfrm>
          <a:prstGeom prst="rect">
            <a:avLst/>
          </a:prstGeom>
          <a:noFill/>
          <a:ln w="0">
            <a:noFill/>
          </a:ln>
        </p:spPr>
        <p:txBody>
          <a:bodyPr>
            <a:noAutofit/>
          </a:bodyPr>
          <a:lstStyle/>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A uniform frame has little visible detail.</a:t>
            </a:r>
          </a:p>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The monitor records a visibility signal.</a:t>
            </a:r>
          </a:p>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The examiner reviews the scene.</a:t>
            </a:r>
          </a:p>
        </p:txBody>
      </p:sp>
      <p:sp>
        <p:nvSpPr>
          <p:cNvPr id="15" name="reveal-6">
            <a:extLst>
              <a:ext uri="{FF2B5EF4-FFF2-40B4-BE49-F238E27FC236}">
                <ns2:creationId id="{78CE9C0C-8F88-4BFF-BEE6-219AB23CED40}"/>
              </a:ext>
            </a:extLst>
          </p:cNvPr>
          <p:cNvSpPr>
            <a:spLocks noGrp="1"/>
          </p:cNvSpPr>
          <p:nvPr/>
        </p:nvSpPr>
        <p:spPr>
          <a:xfrm>
            <a:off x="6381750" y="3971925"/>
            <a:ext cx="5095875" cy="476250"/>
          </a:xfrm>
          <a:prstGeom prst="rect">
            <a:avLst/>
          </a:prstGeom>
          <a:noFill/>
          <a:ln w="0">
            <a:noFill/>
          </a:ln>
        </p:spPr>
        <p:txBody>
          <a:bodyPr>
            <a:noAutofit/>
          </a:bodyPr>
          <a:lstStyle/>
          <a:p>
            <a:pPr algn="l">
              <a:defRPr sz="2550" b="1">
                <a:solidFill>
                  <a:srgbClr val="087F8C"/>
                </a:solidFill>
                <a:latin typeface="Times New Roman"/>
                <a:ea typeface="Times New Roman"/>
                <a:cs typeface="Times New Roman"/>
              </a:defRPr>
            </a:pPr>
            <a:r>
              <a:rPr sz="2550" b="1">
                <a:solidFill>
                  <a:srgbClr val="087F8C"/>
                </a:solidFill>
                <a:latin typeface="Times New Roman"/>
                <a:ea typeface="Times New Roman"/>
                <a:cs typeface="Times New Roman"/>
              </a:rPr>
              <a:t>Unavailable-camera example</a:t>
            </a:r>
          </a:p>
        </p:txBody>
      </p:sp>
      <p:sp>
        <p:nvSpPr>
          <p:cNvPr id="16" name="reveal-6">
            <a:extLst>
              <a:ext uri="{FF2B5EF4-FFF2-40B4-BE49-F238E27FC236}">
                <ns2:creationId id="{0EC7D84C-BE4A-4CD1-88CB-0B960FEA2E55}"/>
              </a:ext>
            </a:extLst>
          </p:cNvPr>
          <p:cNvSpPr>
            <a:spLocks noGrp="1"/>
          </p:cNvSpPr>
          <p:nvPr/>
        </p:nvSpPr>
        <p:spPr>
          <a:xfrm>
            <a:off x="6381750" y="4600575"/>
            <a:ext cx="5095875" cy="1619250"/>
          </a:xfrm>
          <a:prstGeom prst="rect">
            <a:avLst/>
          </a:prstGeom>
          <a:noFill/>
          <a:ln w="0">
            <a:noFill/>
          </a:ln>
        </p:spPr>
        <p:txBody>
          <a:bodyPr>
            <a:noAutofit/>
          </a:bodyPr>
          <a:lstStyle/>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A failed capture cannot support inference.</a:t>
            </a:r>
          </a:p>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Health diagnostics surface the failure</a:t>
            </a:r>
          </a:p>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and the capture path attempts recovery.</a:t>
            </a:r>
          </a:p>
        </p:txBody>
      </p:sp>
      <p:sp>
        <p:nvSpPr>
          <p:cNvPr id="17" name="fixed">
            <a:extLst>
              <a:ext uri="{FF2B5EF4-FFF2-40B4-BE49-F238E27FC236}">
                <ns2:creationId id="{536BB733-F361-4519-841E-09AF99CC887E}"/>
              </a:ext>
            </a:extLst>
          </p:cNvPr>
          <p:cNvSpPr>
            <a:spLocks noGrp="1"/>
          </p:cNvSpPr>
          <p:nvPr/>
        </p:nvSpPr>
        <p:spPr>
          <a:xfrm>
            <a:off x="609600" y="5953125"/>
            <a:ext cx="10668000" cy="457200"/>
          </a:xfrm>
          <a:prstGeom prst="rect">
            <a:avLst/>
          </a:prstGeom>
          <a:noFill/>
          <a:ln w="0">
            <a:noFill/>
          </a:ln>
        </p:spPr>
        <p:txBody>
          <a:bodyPr>
            <a:noAutofit/>
          </a:bodyPr>
          <a:lstStyle/>
          <a:p>
            <a:pPr algn="l">
              <a:defRPr sz="1725" b="0">
                <a:solidFill>
                  <a:srgbClr val="4C6471"/>
                </a:solidFill>
                <a:latin typeface="Times New Roman"/>
                <a:ea typeface="Times New Roman"/>
                <a:cs typeface="Times New Roman"/>
              </a:defRPr>
            </a:pPr>
            <a:r>
              <a:rPr sz="1725" b="0">
                <a:solidFill>
                  <a:srgbClr val="4C6471"/>
                </a:solidFill>
                <a:latin typeface="Times New Roman"/>
                <a:ea typeface="Times New Roman"/>
                <a:cs typeface="Times New Roman"/>
              </a:rPr>
              <a:t>A visibility failure can come from obstruction, poor lighting or exposure.</a:t>
            </a:r>
          </a:p>
        </p:txBody>
      </p:sp>
    </p:spTree>
    <p:extLst>
      <p:ext uri="{BB962C8B-B14F-4D97-AF65-F5344CB8AC3E}">
        <ns3:creationId val="97754336"/>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1" nodeType="click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350"/>
                                  <p:tgtEl>
                                    <p:spTgt spid="6"/>
                                  </p:tgtEl>
                                </p:cBhvr>
                              </p:animEffect>
                            </p:childTnLst>
                          </p:cTn>
                        </p:par>
                      </p:childTnLst>
                    </p:cTn>
                  </p:par>
                  <p:par>
                    <p:cTn id="7" fill="hold">
                      <p:stCondLst>
                        <p:cond delay="indefinite"/>
                      </p:stCondLst>
                      <p:childTnLst>
                        <p:par>
                          <p:cTn id="8" presetID="10" presetClass="entr" presetSubtype="0" fill="hold" grpId="2" nodeType="click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350"/>
                                  <p:tgtEl>
                                    <p:spTgt spid="7"/>
                                  </p:tgtEl>
                                </p:cBhvr>
                              </p:animEffect>
                            </p:childTnLst>
                          </p:cTn>
                        </p:par>
                        <p:par>
                          <p:cTn id="11" presetID="10" presetClass="entr" presetSubtype="0" fill="hold" grpId="2" nodeType="clickEffect">
                            <p:stCondLst>
                              <p:cond delay="0"/>
                            </p:stCondLst>
                            <p:childTnLst>
                              <p:set>
                                <p:cBhvr>
                                  <p:cTn id="12" dur="1" fill="hold">
                                    <p:stCondLst>
                                      <p:cond delay="0"/>
                                    </p:stCondLst>
                                  </p:cTn>
                                  <p:tgtEl>
                                    <p:spTgt spid="27"/>
                                  </p:tgtEl>
                                  <p:attrNameLst>
                                    <p:attrName>style.visibility</p:attrName>
                                  </p:attrNameLst>
                                </p:cBhvr>
                                <p:to>
                                  <p:strVal val="visible"/>
                                </p:to>
                              </p:set>
                              <p:animEffect transition="in" filter="fade">
                                <p:cBhvr>
                                  <p:cTn id="13" dur="350"/>
                                  <p:tgtEl>
                                    <p:spTgt spid="27"/>
                                  </p:tgtEl>
                                </p:cBhvr>
                              </p:animEffect>
                            </p:childTnLst>
                          </p:cTn>
                        </p:par>
                      </p:childTnLst>
                    </p:cTn>
                  </p:par>
                  <p:par>
                    <p:cTn id="14" fill="hold">
                      <p:stCondLst>
                        <p:cond delay="indefinite"/>
                      </p:stCondLst>
                      <p:childTnLst>
                        <p:par>
                          <p:cTn id="15" presetID="10" presetClass="entr" presetSubtype="0" fill="hold" grpId="3"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350"/>
                                  <p:tgtEl>
                                    <p:spTgt spid="8"/>
                                  </p:tgtEl>
                                </p:cBhvr>
                              </p:animEffect>
                            </p:childTnLst>
                          </p:cTn>
                        </p:par>
                        <p:par>
                          <p:cTn id="18" presetID="10" presetClass="entr" presetSubtype="0" fill="hold" grpId="3" nodeType="clickEffect">
                            <p:stCondLst>
                              <p:cond delay="0"/>
                            </p:stCondLst>
                            <p:childTnLst>
                              <p:set>
                                <p:cBhvr>
                                  <p:cTn id="19" dur="1" fill="hold">
                                    <p:stCondLst>
                                      <p:cond delay="0"/>
                                    </p:stCondLst>
                                  </p:cTn>
                                  <p:tgtEl>
                                    <p:spTgt spid="28"/>
                                  </p:tgtEl>
                                  <p:attrNameLst>
                                    <p:attrName>style.visibility</p:attrName>
                                  </p:attrNameLst>
                                </p:cBhvr>
                                <p:to>
                                  <p:strVal val="visible"/>
                                </p:to>
                              </p:set>
                              <p:animEffect transition="in" filter="fade">
                                <p:cBhvr>
                                  <p:cTn id="20" dur="350"/>
                                  <p:tgtEl>
                                    <p:spTgt spid="28"/>
                                  </p:tgtEl>
                                </p:cBhvr>
                              </p:animEffect>
                            </p:childTnLst>
                          </p:cTn>
                        </p:par>
                      </p:childTnLst>
                    </p:cTn>
                  </p:par>
                  <p:par>
                    <p:cTn id="21" fill="hold">
                      <p:stCondLst>
                        <p:cond delay="indefinite"/>
                      </p:stCondLst>
                      <p:childTnLst>
                        <p:par>
                          <p:cTn id="22" presetID="10" presetClass="entr" presetSubtype="0" fill="hold" grpId="4" nodeType="click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350"/>
                                  <p:tgtEl>
                                    <p:spTgt spid="9"/>
                                  </p:tgtEl>
                                </p:cBhvr>
                              </p:animEffect>
                            </p:childTnLst>
                          </p:cTn>
                        </p:par>
                        <p:par>
                          <p:cTn id="25" presetID="10" presetClass="entr" presetSubtype="0" fill="hold" grpId="4" nodeType="clickEffect">
                            <p:stCondLst>
                              <p:cond delay="0"/>
                            </p:stCondLst>
                            <p:childTnLst>
                              <p:set>
                                <p:cBhvr>
                                  <p:cTn id="26" dur="1" fill="hold">
                                    <p:stCondLst>
                                      <p:cond delay="0"/>
                                    </p:stCondLst>
                                  </p:cTn>
                                  <p:tgtEl>
                                    <p:spTgt spid="29"/>
                                  </p:tgtEl>
                                  <p:attrNameLst>
                                    <p:attrName>style.visibility</p:attrName>
                                  </p:attrNameLst>
                                </p:cBhvr>
                                <p:to>
                                  <p:strVal val="visible"/>
                                </p:to>
                              </p:set>
                              <p:animEffect transition="in" filter="fade">
                                <p:cBhvr>
                                  <p:cTn id="27" dur="350"/>
                                  <p:tgtEl>
                                    <p:spTgt spid="29"/>
                                  </p:tgtEl>
                                </p:cBhvr>
                              </p:animEffect>
                            </p:childTnLst>
                          </p:cTn>
                        </p:par>
                      </p:childTnLst>
                    </p:cTn>
                  </p:par>
                  <p:par>
                    <p:cTn id="28" fill="hold">
                      <p:stCondLst>
                        <p:cond delay="indefinite"/>
                      </p:stCondLst>
                      <p:childTnLst>
                        <p:par>
                          <p:cTn id="29" presetID="10" presetClass="entr" presetSubtype="0" fill="hold" grpId="5" nodeType="click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350"/>
                                  <p:tgtEl>
                                    <p:spTgt spid="13"/>
                                  </p:tgtEl>
                                </p:cBhvr>
                              </p:animEffect>
                            </p:childTnLst>
                          </p:cTn>
                        </p:par>
                        <p:par>
                          <p:cTn id="32" presetID="10" presetClass="entr" presetSubtype="0" fill="hold" grpId="5" nodeType="click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350"/>
                                  <p:tgtEl>
                                    <p:spTgt spid="14"/>
                                  </p:tgtEl>
                                </p:cBhvr>
                              </p:animEffect>
                            </p:childTnLst>
                          </p:cTn>
                        </p:par>
                      </p:childTnLst>
                    </p:cTn>
                  </p:par>
                  <p:par>
                    <p:cTn id="35" fill="hold">
                      <p:stCondLst>
                        <p:cond delay="indefinite"/>
                      </p:stCondLst>
                      <p:childTnLst>
                        <p:par>
                          <p:cTn id="36" presetID="10" presetClass="entr" presetSubtype="0" fill="hold" grpId="6" nodeType="clickEffect">
                            <p:stCondLst>
                              <p:cond delay="0"/>
                            </p:stCondLst>
                            <p:childTnLst>
                              <p:set>
                                <p:cBhvr>
                                  <p:cTn id="37" dur="1" fill="hold">
                                    <p:stCondLst>
                                      <p:cond delay="0"/>
                                    </p:stCondLst>
                                  </p:cTn>
                                  <p:tgtEl>
                                    <p:spTgt spid="15"/>
                                  </p:tgtEl>
                                  <p:attrNameLst>
                                    <p:attrName>style.visibility</p:attrName>
                                  </p:attrNameLst>
                                </p:cBhvr>
                                <p:to>
                                  <p:strVal val="visible"/>
                                </p:to>
                              </p:set>
                              <p:animEffect transition="in" filter="fade">
                                <p:cBhvr>
                                  <p:cTn id="38" dur="350"/>
                                  <p:tgtEl>
                                    <p:spTgt spid="15"/>
                                  </p:tgtEl>
                                </p:cBhvr>
                              </p:animEffect>
                            </p:childTnLst>
                          </p:cTn>
                        </p:par>
                        <p:par>
                          <p:cTn id="39" presetID="10" presetClass="entr" presetSubtype="0" fill="hold" grpId="6"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fade">
                                <p:cBhvr>
                                  <p:cTn id="41" dur="350"/>
                                  <p:tgtEl>
                                    <p:spTgt spid="16"/>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6" grpId="1" uiExpand="1"/>
      <p:bldP spid="7" grpId="2" uiExpand="1"/>
      <p:bldP spid="27" grpId="2" uiExpand="1"/>
      <p:bldP spid="8" grpId="3" uiExpand="1"/>
      <p:bldP spid="28" grpId="3" uiExpand="1"/>
      <p:bldP spid="9" grpId="4" uiExpand="1"/>
      <p:bldP spid="29" grpId="4" uiExpand="1"/>
      <p:bldP spid="13" grpId="5" uiExpand="1"/>
      <p:bldP spid="14" grpId="5" uiExpand="1"/>
      <p:bldP spid="15" grpId="6" uiExpand="1"/>
      <p:bldP spid="16" grpId="6" uiExpand="1"/>
    </p:bldLst>
  </p:timing>
</p:sld>
</file>

<file path=ppt/slides/slide13.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6F7F4"/>
        </a:solidFill>
      </p:bgPr>
    </p:bg>
    <p:spTree>
      <p:nvGrpSpPr>
        <p:cNvPr id="1" name=""/>
        <p:cNvGrpSpPr/>
        <p:nvPr/>
      </p:nvGrpSpPr>
      <p:grpSpPr>
        <a:xfrm/>
      </p:grpSpPr>
      <p:sp>
        <p:nvSpPr>
          <p:cNvPr id="18" name="fixed">
            <a:extLst>
              <a:ext uri="{FF2B5EF4-FFF2-40B4-BE49-F238E27FC236}">
                <ns2:creationId id="{2D973D5B-8ACE-410C-B4B7-4A8BE5DDDB65}"/>
              </a:ext>
            </a:extLst>
          </p:cNvPr>
          <p:cNvSpPr>
            <a:spLocks noGrp="1"/>
          </p:cNvSpPr>
          <p:nvPr/>
        </p:nvSpPr>
        <p:spPr>
          <a:xfrm>
            <a:off x="609600" y="400050"/>
            <a:ext cx="7620000" cy="381000"/>
          </a:xfrm>
          <a:prstGeom prst="rect">
            <a:avLst/>
          </a:prstGeom>
          <a:noFill/>
          <a:ln w="0">
            <a:noFill/>
          </a:ln>
        </p:spPr>
        <p:txBody>
          <a:bodyPr>
            <a:noAutofit/>
          </a:bodyPr>
          <a:lstStyle/>
          <a:p>
            <a:pPr algn="l">
              <a:defRPr sz="1875" b="1">
                <a:solidFill>
                  <a:srgbClr val="087F8C"/>
                </a:solidFill>
                <a:latin typeface="Times New Roman"/>
                <a:ea typeface="Times New Roman"/>
                <a:cs typeface="Times New Roman"/>
              </a:defRPr>
            </a:pPr>
            <a:r>
              <a:rPr sz="1875" b="1">
                <a:solidFill>
                  <a:srgbClr val="087F8C"/>
                </a:solidFill>
                <a:latin typeface="Times New Roman"/>
                <a:ea typeface="Times New Roman"/>
                <a:cs typeface="Times New Roman"/>
              </a:rPr>
              <a:t>MODULE 02 / WORKING</a:t>
            </a:r>
          </a:p>
        </p:txBody>
      </p:sp>
      <p:sp>
        <p:nvSpPr>
          <p:cNvPr id="2" name="fixed">
            <a:extLst>
              <a:ext uri="{FF2B5EF4-FFF2-40B4-BE49-F238E27FC236}">
                <ns2:creationId id="{C7F955F0-F8CA-4DB6-9539-38C9256AF379}"/>
              </a:ext>
            </a:extLst>
          </p:cNvPr>
          <p:cNvSpPr>
            <a:spLocks noGrp="1"/>
          </p:cNvSpPr>
          <p:nvPr/>
        </p:nvSpPr>
        <p:spPr>
          <a:xfrm>
            <a:off x="609600" y="971550"/>
            <a:ext cx="8191500" cy="1171575"/>
          </a:xfrm>
          <a:prstGeom prst="rect">
            <a:avLst/>
          </a:prstGeom>
          <a:noFill/>
          <a:ln w="0">
            <a:noFill/>
          </a:ln>
        </p:spPr>
        <p:txBody>
          <a:bodyPr>
            <a:noAutofit/>
          </a:bodyPr>
          <a:lstStyle/>
          <a:p>
            <a:pPr algn="l">
              <a:defRPr sz="3750" b="1">
                <a:solidFill>
                  <a:srgbClr val="172F3A"/>
                </a:solidFill>
                <a:latin typeface="Times New Roman"/>
                <a:ea typeface="Times New Roman"/>
                <a:cs typeface="Times New Roman"/>
              </a:defRPr>
            </a:pPr>
            <a:r>
              <a:rPr sz="3750" b="1">
                <a:solidFill>
                  <a:srgbClr val="172F3A"/>
                </a:solidFill>
                <a:latin typeface="Times New Roman"/>
                <a:ea typeface="Times New Roman"/>
                <a:cs typeface="Times New Roman"/>
              </a:rPr>
              <a:t>Head-direction estimation</a:t>
            </a:r>
          </a:p>
        </p:txBody>
      </p:sp>
      <p:sp>
        <p:nvSpPr>
          <p:cNvPr id="3" name="fixed">
            <a:extLst>
              <a:ext uri="{FF2B5EF4-FFF2-40B4-BE49-F238E27FC236}">
                <ns2:creationId id="{09C0A897-4DFD-432B-8791-DBC361619A72}"/>
              </a:ext>
            </a:extLst>
          </p:cNvPr>
          <p:cNvSpPr>
            <a:spLocks noGrp="1"/>
          </p:cNvSpPr>
          <p:nvPr/>
        </p:nvSpPr>
        <p:spPr>
          <a:xfrm>
            <a:off x="9029700" y="457200"/>
            <a:ext cx="2571750" cy="381000"/>
          </a:xfrm>
          <a:prstGeom prst="rect">
            <a:avLst/>
          </a:prstGeom>
          <a:noFill/>
          <a:ln w="0">
            <a:noFill/>
          </a:ln>
        </p:spPr>
        <p:txBody>
          <a:bodyPr>
            <a:noAutofit/>
          </a:bodyPr>
          <a:lstStyle/>
          <a:p>
            <a:pPr algn="r">
              <a:defRPr sz="1800" b="1">
                <a:solidFill>
                  <a:srgbClr val="087F8C"/>
                </a:solidFill>
                <a:latin typeface="Times New Roman"/>
                <a:ea typeface="Times New Roman"/>
                <a:cs typeface="Times New Roman"/>
              </a:defRPr>
            </a:pPr>
            <a:r>
              <a:rPr sz="1800" b="1">
                <a:solidFill>
                  <a:srgbClr val="087F8C"/>
                </a:solidFill>
                <a:latin typeface="Times New Roman"/>
                <a:ea typeface="Times New Roman"/>
                <a:cs typeface="Times New Roman"/>
              </a:rPr>
              <a:t>IMPLEMENTED</a:t>
            </a:r>
          </a:p>
        </p:txBody>
      </p:sp>
      <p:sp>
        <p:nvSpPr>
          <p:cNvPr id="4" name="fixed">
            <a:extLst>
              <a:ext uri="{FF2B5EF4-FFF2-40B4-BE49-F238E27FC236}">
                <ns2:creationId id="{A7BE3127-2D72-44B0-85A2-356D7FDD8A68}"/>
              </a:ext>
            </a:extLst>
          </p:cNvPr>
          <p:cNvSpPr>
            <a:spLocks noGrp="1"/>
          </p:cNvSpPr>
          <p:nvPr/>
        </p:nvSpPr>
        <p:spPr>
          <a:xfrm>
            <a:off x="9029700" y="828675"/>
            <a:ext cx="2571750" cy="304800"/>
          </a:xfrm>
          <a:prstGeom prst="rect">
            <a:avLst/>
          </a:prstGeom>
          <a:noFill/>
          <a:ln w="0">
            <a:noFill/>
          </a:ln>
        </p:spPr>
        <p:txBody>
          <a:bodyPr>
            <a:noAutofit/>
          </a:bodyPr>
          <a:lstStyle/>
          <a:p>
            <a:pPr algn="r">
              <a:defRPr sz="1425" b="0">
                <a:solidFill>
                  <a:srgbClr val="4C6471"/>
                </a:solidFill>
                <a:latin typeface="Times New Roman"/>
                <a:ea typeface="Times New Roman"/>
                <a:cs typeface="Times New Roman"/>
              </a:defRPr>
            </a:pPr>
            <a:r>
              <a:rPr sz="1425" b="0">
                <a:solidFill>
                  <a:srgbClr val="4C6471"/>
                </a:solidFill>
                <a:latin typeface="Times New Roman"/>
                <a:ea typeface="Times New Roman"/>
                <a:cs typeface="Times New Roman"/>
              </a:rPr>
              <a:t>Implementation status</a:t>
            </a:r>
          </a:p>
        </p:txBody>
      </p:sp>
      <p:sp>
        <p:nvSpPr>
          <p:cNvPr id="5" name="fixed">
            <a:extLst>
              <a:ext uri="{FF2B5EF4-FFF2-40B4-BE49-F238E27FC236}">
                <ns2:creationId id="{4DDC9C4C-8EF2-4CFB-B912-AF79475026DE}"/>
              </a:ext>
            </a:extLst>
          </p:cNvPr>
          <p:cNvSpPr>
            <a:spLocks noGrp="1"/>
          </p:cNvSpPr>
          <p:nvPr/>
        </p:nvSpPr>
        <p:spPr>
          <a:xfrm>
            <a:off x="11029950" y="6334125"/>
            <a:ext cx="523875" cy="285750"/>
          </a:xfrm>
          <a:prstGeom prst="rect">
            <a:avLst/>
          </a:prstGeom>
          <a:noFill/>
          <a:ln w="0">
            <a:noFill/>
          </a:ln>
        </p:spPr>
        <p:txBody>
          <a:bodyPr>
            <a:noAutofit/>
          </a:bodyPr>
          <a:lstStyle/>
          <a:p>
            <a:pPr algn="r">
              <a:defRPr sz="1500" b="0">
                <a:solidFill>
                  <a:srgbClr val="4C6471"/>
                </a:solidFill>
                <a:latin typeface="Times New Roman"/>
                <a:ea typeface="Times New Roman"/>
                <a:cs typeface="Times New Roman"/>
              </a:defRPr>
            </a:pPr>
            <a:r>
              <a:rPr sz="1500" b="0">
                <a:solidFill>
                  <a:srgbClr val="4C6471"/>
                </a:solidFill>
                <a:latin typeface="Times New Roman"/>
                <a:ea typeface="Times New Roman"/>
                <a:cs typeface="Times New Roman"/>
              </a:rPr>
              <a:t>13</a:t>
            </a:r>
          </a:p>
        </p:txBody>
      </p:sp>
      <p:sp>
        <p:nvSpPr>
          <p:cNvPr id="6" name="reveal-1">
            <a:extLst>
              <a:ext uri="{FF2B5EF4-FFF2-40B4-BE49-F238E27FC236}">
                <ns2:creationId id="{9D418AAF-AC10-4414-88DB-298A11F29849}"/>
              </a:ext>
            </a:extLst>
          </p:cNvPr>
          <p:cNvSpPr>
            <a:spLocks noGrp="1"/>
          </p:cNvSpPr>
          <p:nvPr/>
        </p:nvSpPr>
        <p:spPr>
          <a:xfrm>
            <a:off x="609600" y="2466975"/>
            <a:ext cx="2395538"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Facial landmarks</a:t>
            </a:r>
          </a:p>
        </p:txBody>
      </p:sp>
      <p:sp>
        <p:nvSpPr>
          <p:cNvPr id="7" name="reveal-2">
            <a:extLst>
              <a:ext uri="{FF2B5EF4-FFF2-40B4-BE49-F238E27FC236}">
                <ns2:creationId id="{72ACAFF0-8C5E-4FF1-8140-A4701A7816B4}"/>
              </a:ext>
            </a:extLst>
          </p:cNvPr>
          <p:cNvSpPr>
            <a:spLocks noGrp="1"/>
          </p:cNvSpPr>
          <p:nvPr/>
        </p:nvSpPr>
        <p:spPr>
          <a:xfrm>
            <a:off x="3462338" y="2466975"/>
            <a:ext cx="2395538"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OpenCV solvePnP</a:t>
            </a:r>
          </a:p>
        </p:txBody>
      </p:sp>
      <p:sp>
        <p:nvSpPr>
          <p:cNvPr id="8" name="reveal-3">
            <a:extLst>
              <a:ext uri="{FF2B5EF4-FFF2-40B4-BE49-F238E27FC236}">
                <ns2:creationId id="{CE8239FF-9578-42D9-8B94-007CC8121DE6}"/>
              </a:ext>
            </a:extLst>
          </p:cNvPr>
          <p:cNvSpPr>
            <a:spLocks noGrp="1"/>
          </p:cNvSpPr>
          <p:nvPr/>
        </p:nvSpPr>
        <p:spPr>
          <a:xfrm>
            <a:off x="6315075" y="2466975"/>
            <a:ext cx="2395538"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Neutral-pose offset</a:t>
            </a:r>
          </a:p>
        </p:txBody>
      </p:sp>
      <p:sp>
        <p:nvSpPr>
          <p:cNvPr id="9" name="reveal-4">
            <a:extLst>
              <a:ext uri="{FF2B5EF4-FFF2-40B4-BE49-F238E27FC236}">
                <ns2:creationId id="{18261275-EEE8-48D0-B001-D1347A0327ED}"/>
              </a:ext>
            </a:extLst>
          </p:cNvPr>
          <p:cNvSpPr>
            <a:spLocks noGrp="1"/>
          </p:cNvSpPr>
          <p:nvPr/>
        </p:nvSpPr>
        <p:spPr>
          <a:xfrm>
            <a:off x="9167813" y="2466975"/>
            <a:ext cx="2395538"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Direction and duration</a:t>
            </a:r>
          </a:p>
        </p:txBody>
      </p:sp>
      <p:cxnSp>
        <p:nvCxnSpPr>
          <p:cNvPr id="27" name="reveal-2"/>
          <p:cNvCxnSpPr>
            <a:stCxn id="6" idx="3"/>
            <a:endCxn id="7" idx="1"/>
          </p:cNvCxnSpPr>
          <p:nvPr/>
        </p:nvCxnSpPr>
        <p:spPr>
          <a:xfrm>
            <a:off x="3005138" y="2943225"/>
            <a:ext cx="457200" cy="0"/>
          </a:xfrm>
          <a:prstGeom prst="straightConnector1">
            <a:avLst/>
          </a:prstGeom>
          <a:ln w="19050">
            <a:solidFill>
              <a:srgbClr val="087F8C"/>
            </a:solidFill>
            <a:tailEnd type="arrow" w="med" len="med"/>
          </a:ln>
        </p:spPr>
      </p:cxnSp>
      <p:cxnSp>
        <p:nvCxnSpPr>
          <p:cNvPr id="28" name="reveal-3"/>
          <p:cNvCxnSpPr>
            <a:stCxn id="7" idx="3"/>
            <a:endCxn id="8" idx="1"/>
          </p:cNvCxnSpPr>
          <p:nvPr/>
        </p:nvCxnSpPr>
        <p:spPr>
          <a:xfrm>
            <a:off x="5857876" y="2943225"/>
            <a:ext cx="457199" cy="0"/>
          </a:xfrm>
          <a:prstGeom prst="straightConnector1">
            <a:avLst/>
          </a:prstGeom>
          <a:ln w="19050">
            <a:solidFill>
              <a:srgbClr val="087F8C"/>
            </a:solidFill>
            <a:tailEnd type="arrow" w="med" len="med"/>
          </a:ln>
        </p:spPr>
      </p:cxnSp>
      <p:cxnSp>
        <p:nvCxnSpPr>
          <p:cNvPr id="29" name="reveal-4"/>
          <p:cNvCxnSpPr>
            <a:stCxn id="8" idx="3"/>
            <a:endCxn id="9" idx="1"/>
          </p:cNvCxnSpPr>
          <p:nvPr/>
        </p:nvCxnSpPr>
        <p:spPr>
          <a:xfrm>
            <a:off x="8710613" y="2943225"/>
            <a:ext cx="457200" cy="0"/>
          </a:xfrm>
          <a:prstGeom prst="straightConnector1">
            <a:avLst/>
          </a:prstGeom>
          <a:ln w="19050">
            <a:solidFill>
              <a:srgbClr val="087F8C"/>
            </a:solidFill>
            <a:tailEnd type="arrow" w="med" len="med"/>
          </a:ln>
        </p:spPr>
      </p:cxnSp>
      <p:sp>
        <p:nvSpPr>
          <p:cNvPr id="13" name="reveal-5">
            <a:extLst>
              <a:ext uri="{FF2B5EF4-FFF2-40B4-BE49-F238E27FC236}">
                <ns2:creationId id="{25F727B4-21D6-4726-A9E7-0F1CA910E303}"/>
              </a:ext>
            </a:extLst>
          </p:cNvPr>
          <p:cNvSpPr>
            <a:spLocks noGrp="1"/>
          </p:cNvSpPr>
          <p:nvPr/>
        </p:nvSpPr>
        <p:spPr>
          <a:xfrm>
            <a:off x="609600" y="3971925"/>
            <a:ext cx="5095875" cy="476250"/>
          </a:xfrm>
          <a:prstGeom prst="rect">
            <a:avLst/>
          </a:prstGeom>
          <a:noFill/>
          <a:ln w="0">
            <a:noFill/>
          </a:ln>
        </p:spPr>
        <p:txBody>
          <a:bodyPr>
            <a:noAutofit/>
          </a:bodyPr>
          <a:lstStyle/>
          <a:p>
            <a:pPr algn="l">
              <a:defRPr sz="2550" b="1">
                <a:solidFill>
                  <a:srgbClr val="087F8C"/>
                </a:solidFill>
                <a:latin typeface="Times New Roman"/>
                <a:ea typeface="Times New Roman"/>
                <a:cs typeface="Times New Roman"/>
              </a:defRPr>
            </a:pPr>
            <a:r>
              <a:rPr sz="2550" b="1">
                <a:solidFill>
                  <a:srgbClr val="087F8C"/>
                </a:solidFill>
                <a:latin typeface="Times New Roman"/>
                <a:ea typeface="Times New Roman"/>
                <a:cs typeface="Times New Roman"/>
              </a:rPr>
              <a:t>Why calibration matters</a:t>
            </a:r>
          </a:p>
        </p:txBody>
      </p:sp>
      <p:sp>
        <p:nvSpPr>
          <p:cNvPr id="14" name="reveal-5">
            <a:extLst>
              <a:ext uri="{FF2B5EF4-FFF2-40B4-BE49-F238E27FC236}">
                <ns2:creationId id="{BFDEBD6F-F14F-44B9-AC29-C1116A34B051}"/>
              </a:ext>
            </a:extLst>
          </p:cNvPr>
          <p:cNvSpPr>
            <a:spLocks noGrp="1"/>
          </p:cNvSpPr>
          <p:nvPr/>
        </p:nvSpPr>
        <p:spPr>
          <a:xfrm>
            <a:off x="609600" y="4600575"/>
            <a:ext cx="5095875" cy="1619250"/>
          </a:xfrm>
          <a:prstGeom prst="rect">
            <a:avLst/>
          </a:prstGeom>
          <a:noFill/>
          <a:ln w="0">
            <a:noFill/>
          </a:ln>
        </p:spPr>
        <p:txBody>
          <a:bodyPr>
            <a:noAutofit/>
          </a:bodyPr>
          <a:lstStyle/>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A camera can sit above or beside the screen.</a:t>
            </a:r>
          </a:p>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Neutral calibration accounts for normal posture.</a:t>
            </a:r>
          </a:p>
        </p:txBody>
      </p:sp>
      <p:sp>
        <p:nvSpPr>
          <p:cNvPr id="15" name="reveal-6">
            <a:extLst>
              <a:ext uri="{FF2B5EF4-FFF2-40B4-BE49-F238E27FC236}">
                <ns2:creationId id="{711496E6-98FF-48E1-976E-D7117A94074C}"/>
              </a:ext>
            </a:extLst>
          </p:cNvPr>
          <p:cNvSpPr>
            <a:spLocks noGrp="1"/>
          </p:cNvSpPr>
          <p:nvPr/>
        </p:nvSpPr>
        <p:spPr>
          <a:xfrm>
            <a:off x="6381750" y="3971925"/>
            <a:ext cx="5095875" cy="476250"/>
          </a:xfrm>
          <a:prstGeom prst="rect">
            <a:avLst/>
          </a:prstGeom>
          <a:noFill/>
          <a:ln w="0">
            <a:noFill/>
          </a:ln>
        </p:spPr>
        <p:txBody>
          <a:bodyPr>
            <a:noAutofit/>
          </a:bodyPr>
          <a:lstStyle/>
          <a:p>
            <a:pPr algn="l">
              <a:defRPr sz="2550" b="1">
                <a:solidFill>
                  <a:srgbClr val="087F8C"/>
                </a:solidFill>
                <a:latin typeface="Times New Roman"/>
                <a:ea typeface="Times New Roman"/>
                <a:cs typeface="Times New Roman"/>
              </a:defRPr>
            </a:pPr>
            <a:r>
              <a:rPr sz="2550" b="1">
                <a:solidFill>
                  <a:srgbClr val="087F8C"/>
                </a:solidFill>
                <a:latin typeface="Times New Roman"/>
                <a:ea typeface="Times New Roman"/>
                <a:cs typeface="Times New Roman"/>
              </a:rPr>
              <a:t>False-alert protection</a:t>
            </a:r>
          </a:p>
        </p:txBody>
      </p:sp>
      <p:sp>
        <p:nvSpPr>
          <p:cNvPr id="16" name="reveal-6">
            <a:extLst>
              <a:ext uri="{FF2B5EF4-FFF2-40B4-BE49-F238E27FC236}">
                <ns2:creationId id="{BB118D02-E5F3-4B1C-97D4-910D0A6563C8}"/>
              </a:ext>
            </a:extLst>
          </p:cNvPr>
          <p:cNvSpPr>
            <a:spLocks noGrp="1"/>
          </p:cNvSpPr>
          <p:nvPr/>
        </p:nvSpPr>
        <p:spPr>
          <a:xfrm>
            <a:off x="6381750" y="4600575"/>
            <a:ext cx="5095875" cy="1619250"/>
          </a:xfrm>
          <a:prstGeom prst="rect">
            <a:avLst/>
          </a:prstGeom>
          <a:noFill/>
          <a:ln w="0">
            <a:noFill/>
          </a:ln>
        </p:spPr>
        <p:txBody>
          <a:bodyPr>
            <a:noAutofit/>
          </a:bodyPr>
          <a:lstStyle/>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A brief movement does not immediately alert.</a:t>
            </a:r>
          </a:p>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Absolute yaw guards against a biased baseline.</a:t>
            </a:r>
          </a:p>
        </p:txBody>
      </p:sp>
      <p:sp>
        <p:nvSpPr>
          <p:cNvPr id="17" name="fixed">
            <a:extLst>
              <a:ext uri="{FF2B5EF4-FFF2-40B4-BE49-F238E27FC236}">
                <ns2:creationId id="{D62D7442-597D-4824-8919-0F1228C245E4}"/>
              </a:ext>
            </a:extLst>
          </p:cNvPr>
          <p:cNvSpPr>
            <a:spLocks noGrp="1"/>
          </p:cNvSpPr>
          <p:nvPr/>
        </p:nvSpPr>
        <p:spPr>
          <a:xfrm>
            <a:off x="609600" y="5953125"/>
            <a:ext cx="10668000" cy="457200"/>
          </a:xfrm>
          <a:prstGeom prst="rect">
            <a:avLst/>
          </a:prstGeom>
          <a:noFill/>
          <a:ln w="0">
            <a:noFill/>
          </a:ln>
        </p:spPr>
        <p:txBody>
          <a:bodyPr>
            <a:noAutofit/>
          </a:bodyPr>
          <a:lstStyle/>
          <a:p>
            <a:pPr algn="l">
              <a:defRPr sz="1725" b="0">
                <a:solidFill>
                  <a:srgbClr val="4C6471"/>
                </a:solidFill>
                <a:latin typeface="Times New Roman"/>
                <a:ea typeface="Times New Roman"/>
                <a:cs typeface="Times New Roman"/>
              </a:defRPr>
            </a:pPr>
            <a:r>
              <a:rPr sz="1725" b="0">
                <a:solidFill>
                  <a:srgbClr val="4C6471"/>
                </a:solidFill>
                <a:latin typeface="Times New Roman"/>
                <a:ea typeface="Times New Roman"/>
                <a:cs typeface="Times New Roman"/>
              </a:rPr>
              <a:t>The system estimates head direction. It does not measure what the eyes are looking at.</a:t>
            </a:r>
          </a:p>
        </p:txBody>
      </p:sp>
    </p:spTree>
    <p:extLst>
      <p:ext uri="{BB962C8B-B14F-4D97-AF65-F5344CB8AC3E}">
        <ns3:creationId val="84242387"/>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1" nodeType="click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350"/>
                                  <p:tgtEl>
                                    <p:spTgt spid="6"/>
                                  </p:tgtEl>
                                </p:cBhvr>
                              </p:animEffect>
                            </p:childTnLst>
                          </p:cTn>
                        </p:par>
                      </p:childTnLst>
                    </p:cTn>
                  </p:par>
                  <p:par>
                    <p:cTn id="7" fill="hold">
                      <p:stCondLst>
                        <p:cond delay="indefinite"/>
                      </p:stCondLst>
                      <p:childTnLst>
                        <p:par>
                          <p:cTn id="8" presetID="10" presetClass="entr" presetSubtype="0" fill="hold" grpId="2" nodeType="click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350"/>
                                  <p:tgtEl>
                                    <p:spTgt spid="7"/>
                                  </p:tgtEl>
                                </p:cBhvr>
                              </p:animEffect>
                            </p:childTnLst>
                          </p:cTn>
                        </p:par>
                        <p:par>
                          <p:cTn id="11" presetID="10" presetClass="entr" presetSubtype="0" fill="hold" grpId="2" nodeType="clickEffect">
                            <p:stCondLst>
                              <p:cond delay="0"/>
                            </p:stCondLst>
                            <p:childTnLst>
                              <p:set>
                                <p:cBhvr>
                                  <p:cTn id="12" dur="1" fill="hold">
                                    <p:stCondLst>
                                      <p:cond delay="0"/>
                                    </p:stCondLst>
                                  </p:cTn>
                                  <p:tgtEl>
                                    <p:spTgt spid="27"/>
                                  </p:tgtEl>
                                  <p:attrNameLst>
                                    <p:attrName>style.visibility</p:attrName>
                                  </p:attrNameLst>
                                </p:cBhvr>
                                <p:to>
                                  <p:strVal val="visible"/>
                                </p:to>
                              </p:set>
                              <p:animEffect transition="in" filter="fade">
                                <p:cBhvr>
                                  <p:cTn id="13" dur="350"/>
                                  <p:tgtEl>
                                    <p:spTgt spid="27"/>
                                  </p:tgtEl>
                                </p:cBhvr>
                              </p:animEffect>
                            </p:childTnLst>
                          </p:cTn>
                        </p:par>
                      </p:childTnLst>
                    </p:cTn>
                  </p:par>
                  <p:par>
                    <p:cTn id="14" fill="hold">
                      <p:stCondLst>
                        <p:cond delay="indefinite"/>
                      </p:stCondLst>
                      <p:childTnLst>
                        <p:par>
                          <p:cTn id="15" presetID="10" presetClass="entr" presetSubtype="0" fill="hold" grpId="3"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350"/>
                                  <p:tgtEl>
                                    <p:spTgt spid="8"/>
                                  </p:tgtEl>
                                </p:cBhvr>
                              </p:animEffect>
                            </p:childTnLst>
                          </p:cTn>
                        </p:par>
                        <p:par>
                          <p:cTn id="18" presetID="10" presetClass="entr" presetSubtype="0" fill="hold" grpId="3" nodeType="clickEffect">
                            <p:stCondLst>
                              <p:cond delay="0"/>
                            </p:stCondLst>
                            <p:childTnLst>
                              <p:set>
                                <p:cBhvr>
                                  <p:cTn id="19" dur="1" fill="hold">
                                    <p:stCondLst>
                                      <p:cond delay="0"/>
                                    </p:stCondLst>
                                  </p:cTn>
                                  <p:tgtEl>
                                    <p:spTgt spid="28"/>
                                  </p:tgtEl>
                                  <p:attrNameLst>
                                    <p:attrName>style.visibility</p:attrName>
                                  </p:attrNameLst>
                                </p:cBhvr>
                                <p:to>
                                  <p:strVal val="visible"/>
                                </p:to>
                              </p:set>
                              <p:animEffect transition="in" filter="fade">
                                <p:cBhvr>
                                  <p:cTn id="20" dur="350"/>
                                  <p:tgtEl>
                                    <p:spTgt spid="28"/>
                                  </p:tgtEl>
                                </p:cBhvr>
                              </p:animEffect>
                            </p:childTnLst>
                          </p:cTn>
                        </p:par>
                      </p:childTnLst>
                    </p:cTn>
                  </p:par>
                  <p:par>
                    <p:cTn id="21" fill="hold">
                      <p:stCondLst>
                        <p:cond delay="indefinite"/>
                      </p:stCondLst>
                      <p:childTnLst>
                        <p:par>
                          <p:cTn id="22" presetID="10" presetClass="entr" presetSubtype="0" fill="hold" grpId="4" nodeType="click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350"/>
                                  <p:tgtEl>
                                    <p:spTgt spid="9"/>
                                  </p:tgtEl>
                                </p:cBhvr>
                              </p:animEffect>
                            </p:childTnLst>
                          </p:cTn>
                        </p:par>
                        <p:par>
                          <p:cTn id="25" presetID="10" presetClass="entr" presetSubtype="0" fill="hold" grpId="4" nodeType="clickEffect">
                            <p:stCondLst>
                              <p:cond delay="0"/>
                            </p:stCondLst>
                            <p:childTnLst>
                              <p:set>
                                <p:cBhvr>
                                  <p:cTn id="26" dur="1" fill="hold">
                                    <p:stCondLst>
                                      <p:cond delay="0"/>
                                    </p:stCondLst>
                                  </p:cTn>
                                  <p:tgtEl>
                                    <p:spTgt spid="29"/>
                                  </p:tgtEl>
                                  <p:attrNameLst>
                                    <p:attrName>style.visibility</p:attrName>
                                  </p:attrNameLst>
                                </p:cBhvr>
                                <p:to>
                                  <p:strVal val="visible"/>
                                </p:to>
                              </p:set>
                              <p:animEffect transition="in" filter="fade">
                                <p:cBhvr>
                                  <p:cTn id="27" dur="350"/>
                                  <p:tgtEl>
                                    <p:spTgt spid="29"/>
                                  </p:tgtEl>
                                </p:cBhvr>
                              </p:animEffect>
                            </p:childTnLst>
                          </p:cTn>
                        </p:par>
                      </p:childTnLst>
                    </p:cTn>
                  </p:par>
                  <p:par>
                    <p:cTn id="28" fill="hold">
                      <p:stCondLst>
                        <p:cond delay="indefinite"/>
                      </p:stCondLst>
                      <p:childTnLst>
                        <p:par>
                          <p:cTn id="29" presetID="10" presetClass="entr" presetSubtype="0" fill="hold" grpId="5" nodeType="click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350"/>
                                  <p:tgtEl>
                                    <p:spTgt spid="13"/>
                                  </p:tgtEl>
                                </p:cBhvr>
                              </p:animEffect>
                            </p:childTnLst>
                          </p:cTn>
                        </p:par>
                        <p:par>
                          <p:cTn id="32" presetID="10" presetClass="entr" presetSubtype="0" fill="hold" grpId="5" nodeType="click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350"/>
                                  <p:tgtEl>
                                    <p:spTgt spid="14"/>
                                  </p:tgtEl>
                                </p:cBhvr>
                              </p:animEffect>
                            </p:childTnLst>
                          </p:cTn>
                        </p:par>
                      </p:childTnLst>
                    </p:cTn>
                  </p:par>
                  <p:par>
                    <p:cTn id="35" fill="hold">
                      <p:stCondLst>
                        <p:cond delay="indefinite"/>
                      </p:stCondLst>
                      <p:childTnLst>
                        <p:par>
                          <p:cTn id="36" presetID="10" presetClass="entr" presetSubtype="0" fill="hold" grpId="6" nodeType="clickEffect">
                            <p:stCondLst>
                              <p:cond delay="0"/>
                            </p:stCondLst>
                            <p:childTnLst>
                              <p:set>
                                <p:cBhvr>
                                  <p:cTn id="37" dur="1" fill="hold">
                                    <p:stCondLst>
                                      <p:cond delay="0"/>
                                    </p:stCondLst>
                                  </p:cTn>
                                  <p:tgtEl>
                                    <p:spTgt spid="15"/>
                                  </p:tgtEl>
                                  <p:attrNameLst>
                                    <p:attrName>style.visibility</p:attrName>
                                  </p:attrNameLst>
                                </p:cBhvr>
                                <p:to>
                                  <p:strVal val="visible"/>
                                </p:to>
                              </p:set>
                              <p:animEffect transition="in" filter="fade">
                                <p:cBhvr>
                                  <p:cTn id="38" dur="350"/>
                                  <p:tgtEl>
                                    <p:spTgt spid="15"/>
                                  </p:tgtEl>
                                </p:cBhvr>
                              </p:animEffect>
                            </p:childTnLst>
                          </p:cTn>
                        </p:par>
                        <p:par>
                          <p:cTn id="39" presetID="10" presetClass="entr" presetSubtype="0" fill="hold" grpId="6"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fade">
                                <p:cBhvr>
                                  <p:cTn id="41" dur="350"/>
                                  <p:tgtEl>
                                    <p:spTgt spid="16"/>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6" grpId="1" uiExpand="1"/>
      <p:bldP spid="7" grpId="2" uiExpand="1"/>
      <p:bldP spid="27" grpId="2" uiExpand="1"/>
      <p:bldP spid="8" grpId="3" uiExpand="1"/>
      <p:bldP spid="28" grpId="3" uiExpand="1"/>
      <p:bldP spid="9" grpId="4" uiExpand="1"/>
      <p:bldP spid="29" grpId="4" uiExpand="1"/>
      <p:bldP spid="13" grpId="5" uiExpand="1"/>
      <p:bldP spid="14" grpId="5" uiExpand="1"/>
      <p:bldP spid="15" grpId="6" uiExpand="1"/>
      <p:bldP spid="16" grpId="6" uiExpand="1"/>
    </p:bldLst>
  </p:timing>
</p:sld>
</file>

<file path=ppt/slides/slide14.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6F7F4"/>
        </a:solidFill>
      </p:bgPr>
    </p:bg>
    <p:spTree>
      <p:nvGrpSpPr>
        <p:cNvPr id="1" name=""/>
        <p:cNvGrpSpPr/>
        <p:nvPr/>
      </p:nvGrpSpPr>
      <p:grpSpPr>
        <a:xfrm/>
      </p:grpSpPr>
      <p:sp>
        <p:nvSpPr>
          <p:cNvPr id="12" name="fixed">
            <a:extLst>
              <a:ext uri="{FF2B5EF4-FFF2-40B4-BE49-F238E27FC236}">
                <ns2:creationId id="{7BE56D8A-491B-41C0-876C-ABDD46E36EE0}"/>
              </a:ext>
            </a:extLst>
          </p:cNvPr>
          <p:cNvSpPr>
            <a:spLocks noGrp="1"/>
          </p:cNvSpPr>
          <p:nvPr/>
        </p:nvSpPr>
        <p:spPr>
          <a:xfrm>
            <a:off x="609600" y="400050"/>
            <a:ext cx="7620000" cy="381000"/>
          </a:xfrm>
          <a:prstGeom prst="rect">
            <a:avLst/>
          </a:prstGeom>
          <a:noFill/>
          <a:ln w="0">
            <a:noFill/>
          </a:ln>
        </p:spPr>
        <p:txBody>
          <a:bodyPr>
            <a:noAutofit/>
          </a:bodyPr>
          <a:lstStyle/>
          <a:p>
            <a:pPr algn="l">
              <a:defRPr sz="1875" b="1">
                <a:solidFill>
                  <a:srgbClr val="087F8C"/>
                </a:solidFill>
                <a:latin typeface="Times New Roman"/>
                <a:ea typeface="Times New Roman"/>
                <a:cs typeface="Times New Roman"/>
              </a:defRPr>
            </a:pPr>
            <a:r>
              <a:rPr sz="1875" b="1">
                <a:solidFill>
                  <a:srgbClr val="087F8C"/>
                </a:solidFill>
                <a:latin typeface="Times New Roman"/>
                <a:ea typeface="Times New Roman"/>
                <a:cs typeface="Times New Roman"/>
              </a:rPr>
              <a:t>MODULE 02 / DEVELOPMENT REFERENCE</a:t>
            </a:r>
          </a:p>
        </p:txBody>
      </p:sp>
      <p:sp>
        <p:nvSpPr>
          <p:cNvPr id="2" name="fixed">
            <a:extLst>
              <a:ext uri="{FF2B5EF4-FFF2-40B4-BE49-F238E27FC236}">
                <ns2:creationId id="{D09B28FC-0586-4EF4-A395-30CAF5EE35A1}"/>
              </a:ext>
            </a:extLst>
          </p:cNvPr>
          <p:cNvSpPr>
            <a:spLocks noGrp="1"/>
          </p:cNvSpPr>
          <p:nvPr/>
        </p:nvSpPr>
        <p:spPr>
          <a:xfrm>
            <a:off x="609600" y="971550"/>
            <a:ext cx="8191500" cy="1171575"/>
          </a:xfrm>
          <a:prstGeom prst="rect">
            <a:avLst/>
          </a:prstGeom>
          <a:noFill/>
          <a:ln w="0">
            <a:noFill/>
          </a:ln>
        </p:spPr>
        <p:txBody>
          <a:bodyPr>
            <a:noAutofit/>
          </a:bodyPr>
          <a:lstStyle/>
          <a:p>
            <a:pPr algn="l">
              <a:defRPr sz="3750" b="1">
                <a:solidFill>
                  <a:srgbClr val="172F3A"/>
                </a:solidFill>
                <a:latin typeface="Times New Roman"/>
                <a:ea typeface="Times New Roman"/>
                <a:cs typeface="Times New Roman"/>
              </a:defRPr>
            </a:pPr>
            <a:r>
              <a:rPr sz="3750" b="1">
                <a:solidFill>
                  <a:srgbClr val="172F3A"/>
                </a:solidFill>
                <a:latin typeface="Times New Roman"/>
                <a:ea typeface="Times New Roman"/>
                <a:cs typeface="Times New Roman"/>
              </a:rPr>
              <a:t>Head-direction example</a:t>
            </a:r>
          </a:p>
        </p:txBody>
      </p:sp>
      <p:sp>
        <p:nvSpPr>
          <p:cNvPr id="3" name="fixed">
            <a:extLst>
              <a:ext uri="{FF2B5EF4-FFF2-40B4-BE49-F238E27FC236}">
                <ns2:creationId id="{D9F51818-77E7-4EBC-AC48-7E1FD9CD5DBA}"/>
              </a:ext>
            </a:extLst>
          </p:cNvPr>
          <p:cNvSpPr>
            <a:spLocks noGrp="1"/>
          </p:cNvSpPr>
          <p:nvPr/>
        </p:nvSpPr>
        <p:spPr>
          <a:xfrm>
            <a:off x="9029700" y="457200"/>
            <a:ext cx="2571750" cy="381000"/>
          </a:xfrm>
          <a:prstGeom prst="rect">
            <a:avLst/>
          </a:prstGeom>
          <a:noFill/>
          <a:ln w="0">
            <a:noFill/>
          </a:ln>
        </p:spPr>
        <p:txBody>
          <a:bodyPr>
            <a:noAutofit/>
          </a:bodyPr>
          <a:lstStyle/>
          <a:p>
            <a:pPr algn="r">
              <a:defRPr sz="1800" b="1">
                <a:solidFill>
                  <a:srgbClr val="087F8C"/>
                </a:solidFill>
                <a:latin typeface="Times New Roman"/>
                <a:ea typeface="Times New Roman"/>
                <a:cs typeface="Times New Roman"/>
              </a:defRPr>
            </a:pPr>
            <a:r>
              <a:rPr sz="1800" b="1">
                <a:solidFill>
                  <a:srgbClr val="087F8C"/>
                </a:solidFill>
                <a:latin typeface="Times New Roman"/>
                <a:ea typeface="Times New Roman"/>
                <a:cs typeface="Times New Roman"/>
              </a:rPr>
              <a:t>IMPLEMENTED</a:t>
            </a:r>
          </a:p>
        </p:txBody>
      </p:sp>
      <p:sp>
        <p:nvSpPr>
          <p:cNvPr id="4" name="fixed">
            <a:extLst>
              <a:ext uri="{FF2B5EF4-FFF2-40B4-BE49-F238E27FC236}">
                <ns2:creationId id="{5C0C0095-6688-4B37-9EF1-E34C6C34772F}"/>
              </a:ext>
            </a:extLst>
          </p:cNvPr>
          <p:cNvSpPr>
            <a:spLocks noGrp="1"/>
          </p:cNvSpPr>
          <p:nvPr/>
        </p:nvSpPr>
        <p:spPr>
          <a:xfrm>
            <a:off x="9029700" y="828675"/>
            <a:ext cx="2571750" cy="304800"/>
          </a:xfrm>
          <a:prstGeom prst="rect">
            <a:avLst/>
          </a:prstGeom>
          <a:noFill/>
          <a:ln w="0">
            <a:noFill/>
          </a:ln>
        </p:spPr>
        <p:txBody>
          <a:bodyPr>
            <a:noAutofit/>
          </a:bodyPr>
          <a:lstStyle/>
          <a:p>
            <a:pPr algn="r">
              <a:defRPr sz="1425" b="0">
                <a:solidFill>
                  <a:srgbClr val="4C6471"/>
                </a:solidFill>
                <a:latin typeface="Times New Roman"/>
                <a:ea typeface="Times New Roman"/>
                <a:cs typeface="Times New Roman"/>
              </a:defRPr>
            </a:pPr>
            <a:r>
              <a:rPr sz="1425" b="0">
                <a:solidFill>
                  <a:srgbClr val="4C6471"/>
                </a:solidFill>
                <a:latin typeface="Times New Roman"/>
                <a:ea typeface="Times New Roman"/>
                <a:cs typeface="Times New Roman"/>
              </a:rPr>
              <a:t>Implementation status</a:t>
            </a:r>
          </a:p>
        </p:txBody>
      </p:sp>
      <p:sp>
        <p:nvSpPr>
          <p:cNvPr id="5" name="fixed">
            <a:extLst>
              <a:ext uri="{FF2B5EF4-FFF2-40B4-BE49-F238E27FC236}">
                <ns2:creationId id="{778C5471-68B3-43ED-BB4C-301A6DD68A96}"/>
              </a:ext>
            </a:extLst>
          </p:cNvPr>
          <p:cNvSpPr>
            <a:spLocks noGrp="1"/>
          </p:cNvSpPr>
          <p:nvPr/>
        </p:nvSpPr>
        <p:spPr>
          <a:xfrm>
            <a:off x="11029950" y="6334125"/>
            <a:ext cx="523875" cy="285750"/>
          </a:xfrm>
          <a:prstGeom prst="rect">
            <a:avLst/>
          </a:prstGeom>
          <a:noFill/>
          <a:ln w="0">
            <a:noFill/>
          </a:ln>
        </p:spPr>
        <p:txBody>
          <a:bodyPr>
            <a:noAutofit/>
          </a:bodyPr>
          <a:lstStyle/>
          <a:p>
            <a:pPr algn="r">
              <a:defRPr sz="1500" b="0">
                <a:solidFill>
                  <a:srgbClr val="4C6471"/>
                </a:solidFill>
                <a:latin typeface="Times New Roman"/>
                <a:ea typeface="Times New Roman"/>
                <a:cs typeface="Times New Roman"/>
              </a:defRPr>
            </a:pPr>
            <a:r>
              <a:rPr sz="1500" b="0">
                <a:solidFill>
                  <a:srgbClr val="4C6471"/>
                </a:solidFill>
                <a:latin typeface="Times New Roman"/>
                <a:ea typeface="Times New Roman"/>
                <a:cs typeface="Times New Roman"/>
              </a:rPr>
              <a:t>14</a:t>
            </a:r>
          </a:p>
        </p:txBody>
      </p:sp>
      <p:pic>
        <p:nvPicPr>
          <p:cNvPr id="17" name=""/>
          <p:cNvPicPr>
            <a:picLocks noChangeAspect="1"/>
          </p:cNvPicPr>
          <p:nvPr/>
        </p:nvPicPr>
        <p:blipFill>
          <a:blip r:embed="Re7c53de4609d41b3"/>
          <a:srcRect l="0" t="14234" r="0" b="14234"/>
          <a:stretch>
            <a:fillRect l="0" t="0" r="0" b="0"/>
          </a:stretch>
        </p:blipFill>
        <p:spPr>
          <a:xfrm>
            <a:off x="609600" y="2238375"/>
            <a:ext cx="5219700" cy="2800350"/>
          </a:xfrm>
          <a:prstGeom prst="rect">
            <a:avLst/>
          </a:prstGeom>
        </p:spPr>
      </p:pic>
      <p:pic>
        <p:nvPicPr>
          <p:cNvPr id="18" name=""/>
          <p:cNvPicPr>
            <a:picLocks noChangeAspect="1"/>
          </p:cNvPicPr>
          <p:nvPr/>
        </p:nvPicPr>
        <p:blipFill>
          <a:blip r:embed="Rb8e9dcc4d9654d6b"/>
          <a:srcRect l="0" t="14234" r="0" b="14234"/>
          <a:stretch>
            <a:fillRect l="0" t="0" r="0" b="0"/>
          </a:stretch>
        </p:blipFill>
        <p:spPr>
          <a:xfrm>
            <a:off x="6343650" y="2238375"/>
            <a:ext cx="5219700" cy="2800350"/>
          </a:xfrm>
          <a:prstGeom prst="rect">
            <a:avLst/>
          </a:prstGeom>
        </p:spPr>
      </p:pic>
      <p:sp>
        <p:nvSpPr>
          <p:cNvPr id="8" name="reveal-1">
            <a:extLst>
              <a:ext uri="{FF2B5EF4-FFF2-40B4-BE49-F238E27FC236}">
                <ns2:creationId id="{636E1236-56E6-4C3D-8730-C125F1010576}"/>
              </a:ext>
            </a:extLst>
          </p:cNvPr>
          <p:cNvSpPr>
            <a:spLocks noGrp="1"/>
          </p:cNvSpPr>
          <p:nvPr/>
        </p:nvSpPr>
        <p:spPr>
          <a:xfrm>
            <a:off x="609600" y="5210175"/>
            <a:ext cx="5219700" cy="409575"/>
          </a:xfrm>
          <a:prstGeom prst="rect">
            <a:avLst/>
          </a:prstGeom>
          <a:noFill/>
          <a:ln w="0">
            <a:noFill/>
          </a:ln>
        </p:spPr>
        <p:txBody>
          <a:bodyPr>
            <a:noAutofit/>
          </a:bodyPr>
          <a:lstStyle/>
          <a:p>
            <a:pPr algn="l">
              <a:defRPr sz="2400" b="1">
                <a:solidFill>
                  <a:srgbClr val="087F8C"/>
                </a:solidFill>
                <a:latin typeface="Times New Roman"/>
                <a:ea typeface="Times New Roman"/>
                <a:cs typeface="Times New Roman"/>
              </a:defRPr>
            </a:pPr>
            <a:r>
              <a:rPr sz="2400" b="1">
                <a:solidFill>
                  <a:srgbClr val="087F8C"/>
                </a:solidFill>
                <a:latin typeface="Times New Roman"/>
                <a:ea typeface="Times New Roman"/>
                <a:cs typeface="Times New Roman"/>
              </a:rPr>
              <a:t>Frontal reference</a:t>
            </a:r>
          </a:p>
        </p:txBody>
      </p:sp>
      <p:sp>
        <p:nvSpPr>
          <p:cNvPr id="9" name="reveal-1">
            <a:extLst>
              <a:ext uri="{FF2B5EF4-FFF2-40B4-BE49-F238E27FC236}">
                <ns2:creationId id="{0AAA1867-EA01-45BF-8FF3-602D2E98BF54}"/>
              </a:ext>
            </a:extLst>
          </p:cNvPr>
          <p:cNvSpPr>
            <a:spLocks noGrp="1"/>
          </p:cNvSpPr>
          <p:nvPr/>
        </p:nvSpPr>
        <p:spPr>
          <a:xfrm>
            <a:off x="609600" y="5648325"/>
            <a:ext cx="5219700" cy="457200"/>
          </a:xfrm>
          <a:prstGeom prst="rect">
            <a:avLst/>
          </a:prstGeom>
          <a:noFill/>
          <a:ln w="0">
            <a:noFill/>
          </a:ln>
        </p:spPr>
        <p:txBody>
          <a:bodyPr>
            <a:noAutofit/>
          </a:bodyPr>
          <a:lstStyle/>
          <a:p>
            <a:pPr algn="l">
              <a:defRPr sz="1875" b="0">
                <a:solidFill>
                  <a:srgbClr val="4C6471"/>
                </a:solidFill>
                <a:latin typeface="Times New Roman"/>
                <a:ea typeface="Times New Roman"/>
                <a:cs typeface="Times New Roman"/>
              </a:defRPr>
            </a:pPr>
            <a:r>
              <a:rPr sz="1875" b="0">
                <a:solidFill>
                  <a:srgbClr val="4C6471"/>
                </a:solidFill>
                <a:latin typeface="Times New Roman"/>
                <a:ea typeface="Times New Roman"/>
                <a:cs typeface="Times New Roman"/>
              </a:rPr>
              <a:t>Guard prevents the biased-baseline alert</a:t>
            </a:r>
          </a:p>
        </p:txBody>
      </p:sp>
      <p:sp>
        <p:nvSpPr>
          <p:cNvPr id="10" name="reveal-2">
            <a:extLst>
              <a:ext uri="{FF2B5EF4-FFF2-40B4-BE49-F238E27FC236}">
                <ns2:creationId id="{EEF9F00A-5D1B-46AE-9FEF-4A2591F36AFB}"/>
              </a:ext>
            </a:extLst>
          </p:cNvPr>
          <p:cNvSpPr>
            <a:spLocks noGrp="1"/>
          </p:cNvSpPr>
          <p:nvPr/>
        </p:nvSpPr>
        <p:spPr>
          <a:xfrm>
            <a:off x="6343650" y="5210175"/>
            <a:ext cx="5219700" cy="409575"/>
          </a:xfrm>
          <a:prstGeom prst="rect">
            <a:avLst/>
          </a:prstGeom>
          <a:noFill/>
          <a:ln w="0">
            <a:noFill/>
          </a:ln>
        </p:spPr>
        <p:txBody>
          <a:bodyPr>
            <a:noAutofit/>
          </a:bodyPr>
          <a:lstStyle/>
          <a:p>
            <a:pPr algn="l">
              <a:defRPr sz="2400" b="1">
                <a:solidFill>
                  <a:srgbClr val="087F8C"/>
                </a:solidFill>
                <a:latin typeface="Times New Roman"/>
                <a:ea typeface="Times New Roman"/>
                <a:cs typeface="Times New Roman"/>
              </a:defRPr>
            </a:pPr>
            <a:r>
              <a:rPr sz="2400" b="1">
                <a:solidFill>
                  <a:srgbClr val="087F8C"/>
                </a:solidFill>
                <a:latin typeface="Times New Roman"/>
                <a:ea typeface="Times New Roman"/>
                <a:cs typeface="Times New Roman"/>
              </a:rPr>
              <a:t>Sustained profile reference</a:t>
            </a:r>
          </a:p>
        </p:txBody>
      </p:sp>
      <p:sp>
        <p:nvSpPr>
          <p:cNvPr id="11" name="reveal-2">
            <a:extLst>
              <a:ext uri="{FF2B5EF4-FFF2-40B4-BE49-F238E27FC236}">
                <ns2:creationId id="{0C39CA34-6812-447C-AC5E-C259B517B8EA}"/>
              </a:ext>
            </a:extLst>
          </p:cNvPr>
          <p:cNvSpPr>
            <a:spLocks noGrp="1"/>
          </p:cNvSpPr>
          <p:nvPr/>
        </p:nvSpPr>
        <p:spPr>
          <a:xfrm>
            <a:off x="6343650" y="5648325"/>
            <a:ext cx="5219700" cy="457200"/>
          </a:xfrm>
          <a:prstGeom prst="rect">
            <a:avLst/>
          </a:prstGeom>
          <a:noFill/>
          <a:ln w="0">
            <a:noFill/>
          </a:ln>
        </p:spPr>
        <p:txBody>
          <a:bodyPr>
            <a:noAutofit/>
          </a:bodyPr>
          <a:lstStyle/>
          <a:p>
            <a:pPr algn="l">
              <a:defRPr sz="1875" b="0">
                <a:solidFill>
                  <a:srgbClr val="4C6471"/>
                </a:solidFill>
                <a:latin typeface="Times New Roman"/>
                <a:ea typeface="Times New Roman"/>
                <a:cs typeface="Times New Roman"/>
              </a:defRPr>
            </a:pPr>
            <a:r>
              <a:rPr sz="1875" b="0">
                <a:solidFill>
                  <a:srgbClr val="4C6471"/>
                </a:solidFill>
                <a:latin typeface="Times New Roman"/>
                <a:ea typeface="Times New Roman"/>
                <a:cs typeface="Times New Roman"/>
              </a:rPr>
              <a:t>A supported turn can produce an alert</a:t>
            </a:r>
          </a:p>
        </p:txBody>
      </p:sp>
    </p:spTree>
    <p:extLst>
      <p:ext uri="{BB962C8B-B14F-4D97-AF65-F5344CB8AC3E}">
        <ns4:creationId val="34446853"/>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1" nodeType="clickEffect">
                            <p:stCondLst>
                              <p:cond delay="0"/>
                            </p:stCondLst>
                            <p:childTnLst>
                              <p:set>
                                <p:cBhvr>
                                  <p:cTn id="5" dur="1" fill="hold">
                                    <p:stCondLst>
                                      <p:cond delay="0"/>
                                    </p:stCondLst>
                                  </p:cTn>
                                  <p:tgtEl>
                                    <p:spTgt spid="8"/>
                                  </p:tgtEl>
                                  <p:attrNameLst>
                                    <p:attrName>style.visibility</p:attrName>
                                  </p:attrNameLst>
                                </p:cBhvr>
                                <p:to>
                                  <p:strVal val="visible"/>
                                </p:to>
                              </p:set>
                              <p:animEffect transition="in" filter="fade">
                                <p:cBhvr>
                                  <p:cTn id="6" dur="350"/>
                                  <p:tgtEl>
                                    <p:spTgt spid="8"/>
                                  </p:tgtEl>
                                </p:cBhvr>
                              </p:animEffect>
                            </p:childTnLst>
                          </p:cTn>
                        </p:par>
                        <p:par>
                          <p:cTn id="7" presetID="10" presetClass="entr" presetSubtype="0" fill="hold" grpId="1" nodeType="clickEffect">
                            <p:stCondLst>
                              <p:cond delay="0"/>
                            </p:stCondLst>
                            <p:childTnLst>
                              <p:set>
                                <p:cBhvr>
                                  <p:cTn id="8" dur="1" fill="hold">
                                    <p:stCondLst>
                                      <p:cond delay="0"/>
                                    </p:stCondLst>
                                  </p:cTn>
                                  <p:tgtEl>
                                    <p:spTgt spid="9"/>
                                  </p:tgtEl>
                                  <p:attrNameLst>
                                    <p:attrName>style.visibility</p:attrName>
                                  </p:attrNameLst>
                                </p:cBhvr>
                                <p:to>
                                  <p:strVal val="visible"/>
                                </p:to>
                              </p:set>
                              <p:animEffect transition="in" filter="fade">
                                <p:cBhvr>
                                  <p:cTn id="9" dur="350"/>
                                  <p:tgtEl>
                                    <p:spTgt spid="9"/>
                                  </p:tgtEl>
                                </p:cBhvr>
                              </p:animEffect>
                            </p:childTnLst>
                          </p:cTn>
                        </p:par>
                      </p:childTnLst>
                    </p:cTn>
                  </p:par>
                  <p:par>
                    <p:cTn id="10" fill="hold">
                      <p:stCondLst>
                        <p:cond delay="indefinite"/>
                      </p:stCondLst>
                      <p:childTnLst>
                        <p:par>
                          <p:cTn id="11" presetID="10" presetClass="entr" presetSubtype="0" fill="hold" grpId="2" nodeType="click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350"/>
                                  <p:tgtEl>
                                    <p:spTgt spid="10"/>
                                  </p:tgtEl>
                                </p:cBhvr>
                              </p:animEffect>
                            </p:childTnLst>
                          </p:cTn>
                        </p:par>
                        <p:par>
                          <p:cTn id="14" presetID="10" presetClass="entr" presetSubtype="0" fill="hold" grpId="2" nodeType="click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350"/>
                                  <p:tgtEl>
                                    <p:spTgt spid="11"/>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8" grpId="1" uiExpand="1"/>
      <p:bldP spid="9" grpId="1" uiExpand="1"/>
      <p:bldP spid="10" grpId="2" uiExpand="1"/>
      <p:bldP spid="11" grpId="2" uiExpand="1"/>
    </p:bldLst>
  </p:timing>
</p:sld>
</file>

<file path=ppt/slides/slide15.xml><?xml version="1.0" encoding="utf-8"?>
<p:sld xmlns:a="http://schemas.openxmlformats.org/drawingml/2006/main" xmlns:ns3="http://schemas.microsoft.com/office/drawing/2014/main" xmlns:ns4="http://schemas.microsoft.com/office/powerpoint/2010/main" xmlns:p="http://schemas.openxmlformats.org/presentationml/2006/main" xmlns:r="http://schemas.openxmlformats.org/officeDocument/2006/relationships">
  <p:cSld>
    <p:bg>
      <p:bgPr>
        <a:solidFill>
          <a:srgbClr val="081321"/>
        </a:solidFill>
      </p:bgPr>
    </p:bg>
    <p:spTree>
      <p:nvGrpSpPr>
        <p:cNvPr id="1" name=""/>
        <p:cNvGrpSpPr/>
        <p:nvPr/>
      </p:nvGrpSpPr>
      <p:grpSpPr>
        <a:xfrm/>
      </p:grpSpPr>
      <p:pic>
        <p:nvPicPr>
          <p:cNvPr id="12" name=""/>
          <p:cNvPicPr>
            <a:picLocks noChangeAspect="1"/>
          </p:cNvPicPr>
          <p:nvPr/>
        </p:nvPicPr>
        <p:blipFill>
          <a:blip r:embed="R56ce3d5f06c4485c"/>
          <a:srcRect l="0" t="27" r="0" b="27"/>
          <a:stretch>
            <a:fillRect l="0" t="0" r="0" b="0"/>
          </a:stretch>
        </p:blipFill>
        <p:spPr>
          <a:xfrm>
            <a:off x="0" y="0"/>
            <a:ext cx="12192000" cy="6858000"/>
          </a:xfrm>
          <a:prstGeom prst="rect">
            <a:avLst/>
          </a:prstGeom>
        </p:spPr>
      </p:pic>
      <p:sp>
        <p:nvSpPr>
          <p:cNvPr id="2" name="fixed">
            <a:extLst>
              <a:ext uri="{FF2B5EF4-FFF2-40B4-BE49-F238E27FC236}">
                <ns3:creationId id="{BAA160F5-EEEB-4430-AFF0-FAD01FA61C0E}"/>
              </a:ext>
            </a:extLst>
          </p:cNvPr>
          <p:cNvSpPr>
            <a:spLocks noGrp="1"/>
          </p:cNvSpPr>
          <p:nvPr/>
        </p:nvSpPr>
        <p:spPr>
          <a:xfrm>
            <a:off x="609600" y="400050"/>
            <a:ext cx="7620000" cy="381000"/>
          </a:xfrm>
          <a:prstGeom prst="rect">
            <a:avLst/>
          </a:prstGeom>
          <a:noFill/>
          <a:ln w="0">
            <a:noFill/>
          </a:ln>
        </p:spPr>
        <p:txBody>
          <a:bodyPr>
            <a:noAutofit/>
          </a:bodyPr>
          <a:lstStyle/>
          <a:p>
            <a:pPr algn="l">
              <a:defRPr sz="1875" b="1">
                <a:solidFill>
                  <a:srgbClr val="E9BF78"/>
                </a:solidFill>
                <a:latin typeface="Times New Roman"/>
                <a:ea typeface="Times New Roman"/>
                <a:cs typeface="Times New Roman"/>
              </a:defRPr>
            </a:pPr>
            <a:r>
              <a:rPr sz="1875" b="1">
                <a:solidFill>
                  <a:srgbClr val="E9BF78"/>
                </a:solidFill>
                <a:latin typeface="Times New Roman"/>
                <a:ea typeface="Times New Roman"/>
                <a:cs typeface="Times New Roman"/>
              </a:rPr>
              <a:t>MODULE 02 / OBJECT DETECTION</a:t>
            </a:r>
          </a:p>
        </p:txBody>
      </p:sp>
      <p:sp>
        <p:nvSpPr>
          <p:cNvPr id="3" name="fixed">
            <a:extLst>
              <a:ext uri="{FF2B5EF4-FFF2-40B4-BE49-F238E27FC236}">
                <ns3:creationId id="{AC32F3EB-8972-4F61-BE10-3CB1809081BB}"/>
              </a:ext>
            </a:extLst>
          </p:cNvPr>
          <p:cNvSpPr>
            <a:spLocks noGrp="1"/>
          </p:cNvSpPr>
          <p:nvPr/>
        </p:nvSpPr>
        <p:spPr>
          <a:xfrm>
            <a:off x="609600" y="971550"/>
            <a:ext cx="8191500" cy="1171575"/>
          </a:xfrm>
          <a:prstGeom prst="rect">
            <a:avLst/>
          </a:prstGeom>
          <a:noFill/>
          <a:ln w="0">
            <a:noFill/>
          </a:ln>
        </p:spPr>
        <p:txBody>
          <a:bodyPr>
            <a:noAutofit/>
          </a:bodyPr>
          <a:lstStyle/>
          <a:p>
            <a:pPr algn="l">
              <a:defRPr sz="3750" b="1">
                <a:solidFill>
                  <a:srgbClr val="FFFFFF"/>
                </a:solidFill>
                <a:latin typeface="Times New Roman"/>
                <a:ea typeface="Times New Roman"/>
                <a:cs typeface="Times New Roman"/>
              </a:defRPr>
            </a:pPr>
            <a:r>
              <a:rPr sz="3750" b="1">
                <a:solidFill>
                  <a:srgbClr val="FFFFFF"/>
                </a:solidFill>
                <a:latin typeface="Times New Roman"/>
                <a:ea typeface="Times New Roman"/>
                <a:cs typeface="Times New Roman"/>
              </a:rPr>
              <a:t>YOLO: what the model does</a:t>
            </a:r>
          </a:p>
        </p:txBody>
      </p:sp>
      <p:sp>
        <p:nvSpPr>
          <p:cNvPr id="4" name="fixed">
            <a:extLst>
              <a:ext uri="{FF2B5EF4-FFF2-40B4-BE49-F238E27FC236}">
                <ns3:creationId id="{32F946AD-8D66-44F1-B1C1-1DF11C7AF4EE}"/>
              </a:ext>
            </a:extLst>
          </p:cNvPr>
          <p:cNvSpPr>
            <a:spLocks noGrp="1"/>
          </p:cNvSpPr>
          <p:nvPr/>
        </p:nvSpPr>
        <p:spPr>
          <a:xfrm>
            <a:off x="9029700" y="457200"/>
            <a:ext cx="2571750" cy="381000"/>
          </a:xfrm>
          <a:prstGeom prst="rect">
            <a:avLst/>
          </a:prstGeom>
          <a:noFill/>
          <a:ln w="0">
            <a:noFill/>
          </a:ln>
        </p:spPr>
        <p:txBody>
          <a:bodyPr>
            <a:noAutofit/>
          </a:bodyPr>
          <a:lstStyle/>
          <a:p>
            <a:pPr algn="r">
              <a:defRPr sz="1800" b="1">
                <a:solidFill>
                  <a:srgbClr val="74E6CF"/>
                </a:solidFill>
                <a:latin typeface="Times New Roman"/>
                <a:ea typeface="Times New Roman"/>
                <a:cs typeface="Times New Roman"/>
              </a:defRPr>
            </a:pPr>
            <a:r>
              <a:rPr sz="1800" b="1">
                <a:solidFill>
                  <a:srgbClr val="74E6CF"/>
                </a:solidFill>
                <a:latin typeface="Times New Roman"/>
                <a:ea typeface="Times New Roman"/>
                <a:cs typeface="Times New Roman"/>
              </a:rPr>
              <a:t>IMPLEMENTED</a:t>
            </a:r>
          </a:p>
        </p:txBody>
      </p:sp>
      <p:sp>
        <p:nvSpPr>
          <p:cNvPr id="5" name="fixed">
            <a:extLst>
              <a:ext uri="{FF2B5EF4-FFF2-40B4-BE49-F238E27FC236}">
                <ns3:creationId id="{D667E3B1-C1CA-4CF1-BC84-DD65B8352CBB}"/>
              </a:ext>
            </a:extLst>
          </p:cNvPr>
          <p:cNvSpPr>
            <a:spLocks noGrp="1"/>
          </p:cNvSpPr>
          <p:nvPr/>
        </p:nvSpPr>
        <p:spPr>
          <a:xfrm>
            <a:off x="9029700" y="828675"/>
            <a:ext cx="2571750" cy="304800"/>
          </a:xfrm>
          <a:prstGeom prst="rect">
            <a:avLst/>
          </a:prstGeom>
          <a:noFill/>
          <a:ln w="0">
            <a:noFill/>
          </a:ln>
        </p:spPr>
        <p:txBody>
          <a:bodyPr>
            <a:noAutofit/>
          </a:bodyPr>
          <a:lstStyle/>
          <a:p>
            <a:pPr algn="r">
              <a:defRPr sz="1425" b="0">
                <a:solidFill>
                  <a:srgbClr val="C5D9DE"/>
                </a:solidFill>
                <a:latin typeface="Times New Roman"/>
                <a:ea typeface="Times New Roman"/>
                <a:cs typeface="Times New Roman"/>
              </a:defRPr>
            </a:pPr>
            <a:r>
              <a:rPr sz="1425" b="0">
                <a:solidFill>
                  <a:srgbClr val="C5D9DE"/>
                </a:solidFill>
                <a:latin typeface="Times New Roman"/>
                <a:ea typeface="Times New Roman"/>
                <a:cs typeface="Times New Roman"/>
              </a:rPr>
              <a:t>Implementation status</a:t>
            </a:r>
          </a:p>
        </p:txBody>
      </p:sp>
      <p:sp>
        <p:nvSpPr>
          <p:cNvPr id="6" name="fixed">
            <a:extLst>
              <a:ext uri="{FF2B5EF4-FFF2-40B4-BE49-F238E27FC236}">
                <ns3:creationId id="{B2E78B8C-B976-452F-88EA-C5A4D1F445C5}"/>
              </a:ext>
            </a:extLst>
          </p:cNvPr>
          <p:cNvSpPr>
            <a:spLocks noGrp="1"/>
          </p:cNvSpPr>
          <p:nvPr/>
        </p:nvSpPr>
        <p:spPr>
          <a:xfrm>
            <a:off x="11029950" y="6334125"/>
            <a:ext cx="523875" cy="285750"/>
          </a:xfrm>
          <a:prstGeom prst="rect">
            <a:avLst/>
          </a:prstGeom>
          <a:noFill/>
          <a:ln w="0">
            <a:noFill/>
          </a:ln>
        </p:spPr>
        <p:txBody>
          <a:bodyPr>
            <a:noAutofit/>
          </a:bodyPr>
          <a:lstStyle/>
          <a:p>
            <a:pPr algn="r">
              <a:defRPr sz="1500" b="0">
                <a:solidFill>
                  <a:srgbClr val="B6CCD3"/>
                </a:solidFill>
                <a:latin typeface="Times New Roman"/>
                <a:ea typeface="Times New Roman"/>
                <a:cs typeface="Times New Roman"/>
              </a:defRPr>
            </a:pPr>
            <a:r>
              <a:rPr sz="1500" b="0">
                <a:solidFill>
                  <a:srgbClr val="B6CCD3"/>
                </a:solidFill>
                <a:latin typeface="Times New Roman"/>
                <a:ea typeface="Times New Roman"/>
                <a:cs typeface="Times New Roman"/>
              </a:rPr>
              <a:t>15</a:t>
            </a:r>
          </a:p>
        </p:txBody>
      </p:sp>
      <p:sp>
        <p:nvSpPr>
          <p:cNvPr id="7" name="reveal-1">
            <a:extLst>
              <a:ext uri="{FF2B5EF4-FFF2-40B4-BE49-F238E27FC236}">
                <ns3:creationId id="{AAB4E3AC-A2C2-4B97-9592-2E0AB8A978AD}"/>
              </a:ext>
            </a:extLst>
          </p:cNvPr>
          <p:cNvSpPr>
            <a:spLocks noGrp="1"/>
          </p:cNvSpPr>
          <p:nvPr/>
        </p:nvSpPr>
        <p:spPr>
          <a:xfrm>
            <a:off x="609600" y="2438400"/>
            <a:ext cx="7096125" cy="561975"/>
          </a:xfrm>
          <a:prstGeom prst="rect">
            <a:avLst/>
          </a:prstGeom>
          <a:noFill/>
          <a:ln w="0">
            <a:noFill/>
          </a:ln>
        </p:spPr>
        <p:txBody>
          <a:bodyPr>
            <a:noAutofit/>
          </a:bodyPr>
          <a:lstStyle/>
          <a:p>
            <a:pPr algn="l">
              <a:defRPr sz="2925" b="1">
                <a:solidFill>
                  <a:srgbClr val="FFFFFF"/>
                </a:solidFill>
                <a:latin typeface="Times New Roman"/>
                <a:ea typeface="Times New Roman"/>
                <a:cs typeface="Times New Roman"/>
              </a:defRPr>
            </a:pPr>
            <a:r>
              <a:rPr sz="2925" b="1">
                <a:solidFill>
                  <a:srgbClr val="FFFFFF"/>
                </a:solidFill>
                <a:latin typeface="Times New Roman"/>
                <a:ea typeface="Times New Roman"/>
                <a:cs typeface="Times New Roman"/>
              </a:rPr>
              <a:t>YOLO = You Only Look Once</a:t>
            </a:r>
          </a:p>
        </p:txBody>
      </p:sp>
      <p:sp>
        <p:nvSpPr>
          <p:cNvPr id="8" name="reveal-1">
            <a:extLst>
              <a:ext uri="{FF2B5EF4-FFF2-40B4-BE49-F238E27FC236}">
                <ns3:creationId id="{DE230CB5-11B9-494E-B6BC-A4AC56D19A05}"/>
              </a:ext>
            </a:extLst>
          </p:cNvPr>
          <p:cNvSpPr>
            <a:spLocks noGrp="1"/>
          </p:cNvSpPr>
          <p:nvPr/>
        </p:nvSpPr>
        <p:spPr>
          <a:xfrm>
            <a:off x="609600" y="3219450"/>
            <a:ext cx="7048500" cy="1085850"/>
          </a:xfrm>
          <a:prstGeom prst="rect">
            <a:avLst/>
          </a:prstGeom>
          <a:noFill/>
          <a:ln w="0">
            <a:noFill/>
          </a:ln>
        </p:spPr>
        <p:txBody>
          <a:bodyPr>
            <a:noAutofit/>
          </a:bodyPr>
          <a:lstStyle/>
          <a:p>
            <a:pPr algn="l">
              <a:defRPr sz="2625" b="0">
                <a:solidFill>
                  <a:srgbClr val="D7E9E8"/>
                </a:solidFill>
                <a:latin typeface="Times New Roman"/>
                <a:ea typeface="Times New Roman"/>
                <a:cs typeface="Times New Roman"/>
              </a:defRPr>
            </a:pPr>
            <a:r>
              <a:rPr sz="2625" b="0">
                <a:solidFill>
                  <a:srgbClr val="D7E9E8"/>
                </a:solidFill>
                <a:latin typeface="Times New Roman"/>
                <a:ea typeface="Times New Roman"/>
                <a:cs typeface="Times New Roman"/>
              </a:rPr>
              <a:t>A pretrained object detector predicts</a:t>
            </a:r>
          </a:p>
          <a:p>
            <a:pPr algn="l">
              <a:defRPr sz="2625" b="0">
                <a:solidFill>
                  <a:srgbClr val="D7E9E8"/>
                </a:solidFill>
                <a:latin typeface="Times New Roman"/>
                <a:ea typeface="Times New Roman"/>
                <a:cs typeface="Times New Roman"/>
              </a:defRPr>
            </a:pPr>
            <a:r>
              <a:rPr sz="2625" b="0">
                <a:solidFill>
                  <a:srgbClr val="D7E9E8"/>
                </a:solidFill>
                <a:latin typeface="Times New Roman"/>
                <a:ea typeface="Times New Roman"/>
                <a:cs typeface="Times New Roman"/>
              </a:rPr>
              <a:t>what an object is and where it appears.</a:t>
            </a:r>
          </a:p>
        </p:txBody>
      </p:sp>
      <p:sp>
        <p:nvSpPr>
          <p:cNvPr id="9" name="reveal-2">
            <a:extLst>
              <a:ext uri="{FF2B5EF4-FFF2-40B4-BE49-F238E27FC236}">
                <ns3:creationId id="{B2AF874C-E934-4CDE-AD80-BBDE835FE497}"/>
              </a:ext>
            </a:extLst>
          </p:cNvPr>
          <p:cNvSpPr>
            <a:spLocks noGrp="1"/>
          </p:cNvSpPr>
          <p:nvPr/>
        </p:nvSpPr>
        <p:spPr>
          <a:xfrm>
            <a:off x="609600" y="4648200"/>
            <a:ext cx="6191250" cy="352425"/>
          </a:xfrm>
          <a:prstGeom prst="rect">
            <a:avLst/>
          </a:prstGeom>
          <a:noFill/>
          <a:ln w="0">
            <a:noFill/>
          </a:ln>
        </p:spPr>
        <p:txBody>
          <a:bodyPr>
            <a:noAutofit/>
          </a:bodyPr>
          <a:lstStyle/>
          <a:p>
            <a:pPr algn="l">
              <a:defRPr sz="1875" b="1">
                <a:solidFill>
                  <a:srgbClr val="E9BF78"/>
                </a:solidFill>
                <a:latin typeface="Times New Roman"/>
                <a:ea typeface="Times New Roman"/>
                <a:cs typeface="Times New Roman"/>
              </a:defRPr>
            </a:pPr>
            <a:r>
              <a:rPr sz="1875" b="1">
                <a:solidFill>
                  <a:srgbClr val="E9BF78"/>
                </a:solidFill>
                <a:latin typeface="Times New Roman"/>
                <a:ea typeface="Times New Roman"/>
                <a:cs typeface="Times New Roman"/>
              </a:rPr>
              <a:t>OUTPUTS</a:t>
            </a:r>
          </a:p>
        </p:txBody>
      </p:sp>
      <p:sp>
        <p:nvSpPr>
          <p:cNvPr id="10" name="reveal-2">
            <a:extLst>
              <a:ext uri="{FF2B5EF4-FFF2-40B4-BE49-F238E27FC236}">
                <ns3:creationId id="{3B722AB8-E972-4302-84C1-168098654A20}"/>
              </a:ext>
            </a:extLst>
          </p:cNvPr>
          <p:cNvSpPr>
            <a:spLocks noGrp="1"/>
          </p:cNvSpPr>
          <p:nvPr/>
        </p:nvSpPr>
        <p:spPr>
          <a:xfrm>
            <a:off x="609600" y="5105400"/>
            <a:ext cx="7334250" cy="628650"/>
          </a:xfrm>
          <a:prstGeom prst="rect">
            <a:avLst/>
          </a:prstGeom>
          <a:noFill/>
          <a:ln w="0">
            <a:noFill/>
          </a:ln>
        </p:spPr>
        <p:txBody>
          <a:bodyPr>
            <a:noAutofit/>
          </a:bodyPr>
          <a:lstStyle/>
          <a:p>
            <a:pPr algn="l">
              <a:defRPr sz="2325" b="0">
                <a:solidFill>
                  <a:srgbClr val="FFFFFF"/>
                </a:solidFill>
                <a:latin typeface="Times New Roman"/>
                <a:ea typeface="Times New Roman"/>
                <a:cs typeface="Times New Roman"/>
              </a:defRPr>
            </a:pPr>
            <a:r>
              <a:rPr sz="2325" b="0">
                <a:solidFill>
                  <a:srgbClr val="FFFFFF"/>
                </a:solidFill>
                <a:latin typeface="Times New Roman"/>
                <a:ea typeface="Times New Roman"/>
                <a:cs typeface="Times New Roman"/>
              </a:rPr>
              <a:t>Class label  /  bounding box  /  confidence</a:t>
            </a:r>
          </a:p>
        </p:txBody>
      </p:sp>
      <p:sp>
        <p:nvSpPr>
          <p:cNvPr id="11" name="fixed">
            <a:extLst>
              <a:ext uri="{FF2B5EF4-FFF2-40B4-BE49-F238E27FC236}">
                <ns3:creationId id="{54166316-9AB1-4CD2-AACA-50D35CC7DAA7}"/>
              </a:ext>
            </a:extLst>
          </p:cNvPr>
          <p:cNvSpPr>
            <a:spLocks noGrp="1"/>
          </p:cNvSpPr>
          <p:nvPr/>
        </p:nvSpPr>
        <p:spPr>
          <a:xfrm>
            <a:off x="609600" y="5953125"/>
            <a:ext cx="10668000" cy="457200"/>
          </a:xfrm>
          <a:prstGeom prst="rect">
            <a:avLst/>
          </a:prstGeom>
          <a:noFill/>
          <a:ln w="0">
            <a:noFill/>
          </a:ln>
        </p:spPr>
        <p:txBody>
          <a:bodyPr>
            <a:noAutofit/>
          </a:bodyPr>
          <a:lstStyle/>
          <a:p>
            <a:pPr algn="l">
              <a:defRPr sz="1725" b="0">
                <a:solidFill>
                  <a:srgbClr val="BDD1D7"/>
                </a:solidFill>
                <a:latin typeface="Times New Roman"/>
                <a:ea typeface="Times New Roman"/>
                <a:cs typeface="Times New Roman"/>
              </a:defRPr>
            </a:pPr>
            <a:r>
              <a:rPr sz="1725" b="0">
                <a:solidFill>
                  <a:srgbClr val="BDD1D7"/>
                </a:solidFill>
                <a:latin typeface="Times New Roman"/>
                <a:ea typeface="Times New Roman"/>
                <a:cs typeface="Times New Roman"/>
              </a:rPr>
              <a:t>Illustrative phone scene. The model output supports examiner review.</a:t>
            </a:r>
          </a:p>
        </p:txBody>
      </p:sp>
    </p:spTree>
    <p:extLst>
      <p:ext uri="{BB962C8B-B14F-4D97-AF65-F5344CB8AC3E}">
        <ns4:creationId val="613102150"/>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1" nodeType="clickEffect">
                            <p:stCondLst>
                              <p:cond delay="0"/>
                            </p:stCondLst>
                            <p:childTnLst>
                              <p:set>
                                <p:cBhvr>
                                  <p:cTn id="5" dur="1" fill="hold">
                                    <p:stCondLst>
                                      <p:cond delay="0"/>
                                    </p:stCondLst>
                                  </p:cTn>
                                  <p:tgtEl>
                                    <p:spTgt spid="7"/>
                                  </p:tgtEl>
                                  <p:attrNameLst>
                                    <p:attrName>style.visibility</p:attrName>
                                  </p:attrNameLst>
                                </p:cBhvr>
                                <p:to>
                                  <p:strVal val="visible"/>
                                </p:to>
                              </p:set>
                              <p:animEffect transition="in" filter="fade">
                                <p:cBhvr>
                                  <p:cTn id="6" dur="350"/>
                                  <p:tgtEl>
                                    <p:spTgt spid="7"/>
                                  </p:tgtEl>
                                </p:cBhvr>
                              </p:animEffect>
                            </p:childTnLst>
                          </p:cTn>
                        </p:par>
                        <p:par>
                          <p:cTn id="7" presetID="10" presetClass="entr" presetSubtype="0" fill="hold" grpId="1" nodeType="clickEffect">
                            <p:stCondLst>
                              <p:cond delay="0"/>
                            </p:stCondLst>
                            <p:childTnLst>
                              <p:set>
                                <p:cBhvr>
                                  <p:cTn id="8" dur="1" fill="hold">
                                    <p:stCondLst>
                                      <p:cond delay="0"/>
                                    </p:stCondLst>
                                  </p:cTn>
                                  <p:tgtEl>
                                    <p:spTgt spid="8"/>
                                  </p:tgtEl>
                                  <p:attrNameLst>
                                    <p:attrName>style.visibility</p:attrName>
                                  </p:attrNameLst>
                                </p:cBhvr>
                                <p:to>
                                  <p:strVal val="visible"/>
                                </p:to>
                              </p:set>
                              <p:animEffect transition="in" filter="fade">
                                <p:cBhvr>
                                  <p:cTn id="9" dur="350"/>
                                  <p:tgtEl>
                                    <p:spTgt spid="8"/>
                                  </p:tgtEl>
                                </p:cBhvr>
                              </p:animEffect>
                            </p:childTnLst>
                          </p:cTn>
                        </p:par>
                      </p:childTnLst>
                    </p:cTn>
                  </p:par>
                  <p:par>
                    <p:cTn id="10" fill="hold">
                      <p:stCondLst>
                        <p:cond delay="indefinite"/>
                      </p:stCondLst>
                      <p:childTnLst>
                        <p:par>
                          <p:cTn id="11" presetID="10" presetClass="entr" presetSubtype="0" fill="hold" grpId="2" nodeType="click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350"/>
                                  <p:tgtEl>
                                    <p:spTgt spid="9"/>
                                  </p:tgtEl>
                                </p:cBhvr>
                              </p:animEffect>
                            </p:childTnLst>
                          </p:cTn>
                        </p:par>
                        <p:par>
                          <p:cTn id="14" presetID="10" presetClass="entr" presetSubtype="0" fill="hold" grpId="2" nodeType="click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350"/>
                                  <p:tgtEl>
                                    <p:spTgt spid="10"/>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7" grpId="1" uiExpand="1"/>
      <p:bldP spid="8" grpId="1" uiExpand="1"/>
      <p:bldP spid="9" grpId="2" uiExpand="1"/>
      <p:bldP spid="10" grpId="2" uiExpand="1"/>
    </p:bldLst>
  </p:timing>
</p:sld>
</file>

<file path=ppt/slides/slide16.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6F7F4"/>
        </a:solidFill>
      </p:bgPr>
    </p:bg>
    <p:spTree>
      <p:nvGrpSpPr>
        <p:cNvPr id="1" name=""/>
        <p:cNvGrpSpPr/>
        <p:nvPr/>
      </p:nvGrpSpPr>
      <p:grpSpPr>
        <a:xfrm/>
      </p:grpSpPr>
      <p:sp>
        <p:nvSpPr>
          <p:cNvPr id="18" name="fixed">
            <a:extLst>
              <a:ext uri="{FF2B5EF4-FFF2-40B4-BE49-F238E27FC236}">
                <ns2:creationId id="{ACA9CDB5-66A8-4B8A-A18B-012BE4E7C8A7}"/>
              </a:ext>
            </a:extLst>
          </p:cNvPr>
          <p:cNvSpPr>
            <a:spLocks noGrp="1"/>
          </p:cNvSpPr>
          <p:nvPr/>
        </p:nvSpPr>
        <p:spPr>
          <a:xfrm>
            <a:off x="609600" y="400050"/>
            <a:ext cx="7620000" cy="381000"/>
          </a:xfrm>
          <a:prstGeom prst="rect">
            <a:avLst/>
          </a:prstGeom>
          <a:noFill/>
          <a:ln w="0">
            <a:noFill/>
          </a:ln>
        </p:spPr>
        <p:txBody>
          <a:bodyPr>
            <a:noAutofit/>
          </a:bodyPr>
          <a:lstStyle/>
          <a:p>
            <a:pPr algn="l">
              <a:defRPr sz="1875" b="1">
                <a:solidFill>
                  <a:srgbClr val="087F8C"/>
                </a:solidFill>
                <a:latin typeface="Times New Roman"/>
                <a:ea typeface="Times New Roman"/>
                <a:cs typeface="Times New Roman"/>
              </a:defRPr>
            </a:pPr>
            <a:r>
              <a:rPr sz="1875" b="1">
                <a:solidFill>
                  <a:srgbClr val="087F8C"/>
                </a:solidFill>
                <a:latin typeface="Times New Roman"/>
                <a:ea typeface="Times New Roman"/>
                <a:cs typeface="Times New Roman"/>
              </a:rPr>
              <a:t>MODULE 02 / WORKING AND EXAMPLE</a:t>
            </a:r>
          </a:p>
        </p:txBody>
      </p:sp>
      <p:sp>
        <p:nvSpPr>
          <p:cNvPr id="2" name="fixed">
            <a:extLst>
              <a:ext uri="{FF2B5EF4-FFF2-40B4-BE49-F238E27FC236}">
                <ns2:creationId id="{0C339EC4-CF61-4804-9709-82E4434B4507}"/>
              </a:ext>
            </a:extLst>
          </p:cNvPr>
          <p:cNvSpPr>
            <a:spLocks noGrp="1"/>
          </p:cNvSpPr>
          <p:nvPr/>
        </p:nvSpPr>
        <p:spPr>
          <a:xfrm>
            <a:off x="609600" y="971550"/>
            <a:ext cx="8191500" cy="1171575"/>
          </a:xfrm>
          <a:prstGeom prst="rect">
            <a:avLst/>
          </a:prstGeom>
          <a:noFill/>
          <a:ln w="0">
            <a:noFill/>
          </a:ln>
        </p:spPr>
        <p:txBody>
          <a:bodyPr>
            <a:noAutofit/>
          </a:bodyPr>
          <a:lstStyle/>
          <a:p>
            <a:pPr algn="l">
              <a:defRPr sz="3750" b="1">
                <a:solidFill>
                  <a:srgbClr val="172F3A"/>
                </a:solidFill>
                <a:latin typeface="Times New Roman"/>
                <a:ea typeface="Times New Roman"/>
                <a:cs typeface="Times New Roman"/>
              </a:defRPr>
            </a:pPr>
            <a:r>
              <a:rPr sz="3750" b="1">
                <a:solidFill>
                  <a:srgbClr val="172F3A"/>
                </a:solidFill>
                <a:latin typeface="Times New Roman"/>
                <a:ea typeface="Times New Roman"/>
                <a:cs typeface="Times New Roman"/>
              </a:rPr>
              <a:t>YOLO in IntegrityFlow</a:t>
            </a:r>
          </a:p>
        </p:txBody>
      </p:sp>
      <p:sp>
        <p:nvSpPr>
          <p:cNvPr id="3" name="fixed">
            <a:extLst>
              <a:ext uri="{FF2B5EF4-FFF2-40B4-BE49-F238E27FC236}">
                <ns2:creationId id="{DCEE118C-F2B1-411E-B4F2-70167BB96122}"/>
              </a:ext>
            </a:extLst>
          </p:cNvPr>
          <p:cNvSpPr>
            <a:spLocks noGrp="1"/>
          </p:cNvSpPr>
          <p:nvPr/>
        </p:nvSpPr>
        <p:spPr>
          <a:xfrm>
            <a:off x="9029700" y="457200"/>
            <a:ext cx="2571750" cy="381000"/>
          </a:xfrm>
          <a:prstGeom prst="rect">
            <a:avLst/>
          </a:prstGeom>
          <a:noFill/>
          <a:ln w="0">
            <a:noFill/>
          </a:ln>
        </p:spPr>
        <p:txBody>
          <a:bodyPr>
            <a:noAutofit/>
          </a:bodyPr>
          <a:lstStyle/>
          <a:p>
            <a:pPr algn="r">
              <a:defRPr sz="1800" b="1">
                <a:solidFill>
                  <a:srgbClr val="087F8C"/>
                </a:solidFill>
                <a:latin typeface="Times New Roman"/>
                <a:ea typeface="Times New Roman"/>
                <a:cs typeface="Times New Roman"/>
              </a:defRPr>
            </a:pPr>
            <a:r>
              <a:rPr sz="1800" b="1">
                <a:solidFill>
                  <a:srgbClr val="087F8C"/>
                </a:solidFill>
                <a:latin typeface="Times New Roman"/>
                <a:ea typeface="Times New Roman"/>
                <a:cs typeface="Times New Roman"/>
              </a:rPr>
              <a:t>IMPLEMENTED</a:t>
            </a:r>
          </a:p>
        </p:txBody>
      </p:sp>
      <p:sp>
        <p:nvSpPr>
          <p:cNvPr id="4" name="fixed">
            <a:extLst>
              <a:ext uri="{FF2B5EF4-FFF2-40B4-BE49-F238E27FC236}">
                <ns2:creationId id="{4643FF40-E8AD-4714-A0D8-AA43F808A42D}"/>
              </a:ext>
            </a:extLst>
          </p:cNvPr>
          <p:cNvSpPr>
            <a:spLocks noGrp="1"/>
          </p:cNvSpPr>
          <p:nvPr/>
        </p:nvSpPr>
        <p:spPr>
          <a:xfrm>
            <a:off x="9029700" y="828675"/>
            <a:ext cx="2571750" cy="304800"/>
          </a:xfrm>
          <a:prstGeom prst="rect">
            <a:avLst/>
          </a:prstGeom>
          <a:noFill/>
          <a:ln w="0">
            <a:noFill/>
          </a:ln>
        </p:spPr>
        <p:txBody>
          <a:bodyPr>
            <a:noAutofit/>
          </a:bodyPr>
          <a:lstStyle/>
          <a:p>
            <a:pPr algn="r">
              <a:defRPr sz="1425" b="0">
                <a:solidFill>
                  <a:srgbClr val="4C6471"/>
                </a:solidFill>
                <a:latin typeface="Times New Roman"/>
                <a:ea typeface="Times New Roman"/>
                <a:cs typeface="Times New Roman"/>
              </a:defRPr>
            </a:pPr>
            <a:r>
              <a:rPr sz="1425" b="0">
                <a:solidFill>
                  <a:srgbClr val="4C6471"/>
                </a:solidFill>
                <a:latin typeface="Times New Roman"/>
                <a:ea typeface="Times New Roman"/>
                <a:cs typeface="Times New Roman"/>
              </a:rPr>
              <a:t>Implementation status</a:t>
            </a:r>
          </a:p>
        </p:txBody>
      </p:sp>
      <p:sp>
        <p:nvSpPr>
          <p:cNvPr id="5" name="fixed">
            <a:extLst>
              <a:ext uri="{FF2B5EF4-FFF2-40B4-BE49-F238E27FC236}">
                <ns2:creationId id="{F0822159-8175-41F2-80DB-9F3C66E78C26}"/>
              </a:ext>
            </a:extLst>
          </p:cNvPr>
          <p:cNvSpPr>
            <a:spLocks noGrp="1"/>
          </p:cNvSpPr>
          <p:nvPr/>
        </p:nvSpPr>
        <p:spPr>
          <a:xfrm>
            <a:off x="11029950" y="6334125"/>
            <a:ext cx="523875" cy="285750"/>
          </a:xfrm>
          <a:prstGeom prst="rect">
            <a:avLst/>
          </a:prstGeom>
          <a:noFill/>
          <a:ln w="0">
            <a:noFill/>
          </a:ln>
        </p:spPr>
        <p:txBody>
          <a:bodyPr>
            <a:noAutofit/>
          </a:bodyPr>
          <a:lstStyle/>
          <a:p>
            <a:pPr algn="r">
              <a:defRPr sz="1500" b="0">
                <a:solidFill>
                  <a:srgbClr val="4C6471"/>
                </a:solidFill>
                <a:latin typeface="Times New Roman"/>
                <a:ea typeface="Times New Roman"/>
                <a:cs typeface="Times New Roman"/>
              </a:defRPr>
            </a:pPr>
            <a:r>
              <a:rPr sz="1500" b="0">
                <a:solidFill>
                  <a:srgbClr val="4C6471"/>
                </a:solidFill>
                <a:latin typeface="Times New Roman"/>
                <a:ea typeface="Times New Roman"/>
                <a:cs typeface="Times New Roman"/>
              </a:rPr>
              <a:t>16</a:t>
            </a:r>
          </a:p>
        </p:txBody>
      </p:sp>
      <p:sp>
        <p:nvSpPr>
          <p:cNvPr id="6" name="reveal-1">
            <a:extLst>
              <a:ext uri="{FF2B5EF4-FFF2-40B4-BE49-F238E27FC236}">
                <ns2:creationId id="{A6302EDD-375E-442D-B9AC-67EA06E82D1E}"/>
              </a:ext>
            </a:extLst>
          </p:cNvPr>
          <p:cNvSpPr>
            <a:spLocks noGrp="1"/>
          </p:cNvSpPr>
          <p:nvPr/>
        </p:nvSpPr>
        <p:spPr>
          <a:xfrm>
            <a:off x="609600" y="2466975"/>
            <a:ext cx="2395538"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640 × 640 letterbox</a:t>
            </a:r>
          </a:p>
        </p:txBody>
      </p:sp>
      <p:sp>
        <p:nvSpPr>
          <p:cNvPr id="7" name="reveal-2">
            <a:extLst>
              <a:ext uri="{FF2B5EF4-FFF2-40B4-BE49-F238E27FC236}">
                <ns2:creationId id="{479E5F6F-D209-4318-BAF4-B22487F8670B}"/>
              </a:ext>
            </a:extLst>
          </p:cNvPr>
          <p:cNvSpPr>
            <a:spLocks noGrp="1"/>
          </p:cNvSpPr>
          <p:nvPr/>
        </p:nvSpPr>
        <p:spPr>
          <a:xfrm>
            <a:off x="3462338" y="2466975"/>
            <a:ext cx="2395538"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ONNX inference</a:t>
            </a:r>
          </a:p>
        </p:txBody>
      </p:sp>
      <p:sp>
        <p:nvSpPr>
          <p:cNvPr id="8" name="reveal-3">
            <a:extLst>
              <a:ext uri="{FF2B5EF4-FFF2-40B4-BE49-F238E27FC236}">
                <ns2:creationId id="{7DC9B24E-33B1-4D63-A7F6-526C1A99ACD2}"/>
              </a:ext>
            </a:extLst>
          </p:cNvPr>
          <p:cNvSpPr>
            <a:spLocks noGrp="1"/>
          </p:cNvSpPr>
          <p:nvPr/>
        </p:nvSpPr>
        <p:spPr>
          <a:xfrm>
            <a:off x="6315075" y="2466975"/>
            <a:ext cx="2395538"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Phone / book classes</a:t>
            </a:r>
          </a:p>
        </p:txBody>
      </p:sp>
      <p:sp>
        <p:nvSpPr>
          <p:cNvPr id="9" name="reveal-4">
            <a:extLst>
              <a:ext uri="{FF2B5EF4-FFF2-40B4-BE49-F238E27FC236}">
                <ns2:creationId id="{EAF6DB2B-488F-46B2-80C2-D28148A1B8C6}"/>
              </a:ext>
            </a:extLst>
          </p:cNvPr>
          <p:cNvSpPr>
            <a:spLocks noGrp="1"/>
          </p:cNvSpPr>
          <p:nvPr/>
        </p:nvSpPr>
        <p:spPr>
          <a:xfrm>
            <a:off x="9167813" y="2466975"/>
            <a:ext cx="2395538"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Spatial confirmation</a:t>
            </a:r>
          </a:p>
        </p:txBody>
      </p:sp>
      <p:cxnSp>
        <p:nvCxnSpPr>
          <p:cNvPr id="27" name="reveal-2"/>
          <p:cNvCxnSpPr>
            <a:stCxn id="6" idx="3"/>
            <a:endCxn id="7" idx="1"/>
          </p:cNvCxnSpPr>
          <p:nvPr/>
        </p:nvCxnSpPr>
        <p:spPr>
          <a:xfrm>
            <a:off x="3005138" y="2943225"/>
            <a:ext cx="457200" cy="0"/>
          </a:xfrm>
          <a:prstGeom prst="straightConnector1">
            <a:avLst/>
          </a:prstGeom>
          <a:ln w="19050">
            <a:solidFill>
              <a:srgbClr val="087F8C"/>
            </a:solidFill>
            <a:tailEnd type="arrow" w="med" len="med"/>
          </a:ln>
        </p:spPr>
      </p:cxnSp>
      <p:cxnSp>
        <p:nvCxnSpPr>
          <p:cNvPr id="28" name="reveal-3"/>
          <p:cNvCxnSpPr>
            <a:stCxn id="7" idx="3"/>
            <a:endCxn id="8" idx="1"/>
          </p:cNvCxnSpPr>
          <p:nvPr/>
        </p:nvCxnSpPr>
        <p:spPr>
          <a:xfrm>
            <a:off x="5857876" y="2943225"/>
            <a:ext cx="457199" cy="0"/>
          </a:xfrm>
          <a:prstGeom prst="straightConnector1">
            <a:avLst/>
          </a:prstGeom>
          <a:ln w="19050">
            <a:solidFill>
              <a:srgbClr val="087F8C"/>
            </a:solidFill>
            <a:tailEnd type="arrow" w="med" len="med"/>
          </a:ln>
        </p:spPr>
      </p:cxnSp>
      <p:cxnSp>
        <p:nvCxnSpPr>
          <p:cNvPr id="29" name="reveal-4"/>
          <p:cNvCxnSpPr>
            <a:stCxn id="8" idx="3"/>
            <a:endCxn id="9" idx="1"/>
          </p:cNvCxnSpPr>
          <p:nvPr/>
        </p:nvCxnSpPr>
        <p:spPr>
          <a:xfrm>
            <a:off x="8710613" y="2943225"/>
            <a:ext cx="457200" cy="0"/>
          </a:xfrm>
          <a:prstGeom prst="straightConnector1">
            <a:avLst/>
          </a:prstGeom>
          <a:ln w="19050">
            <a:solidFill>
              <a:srgbClr val="087F8C"/>
            </a:solidFill>
            <a:tailEnd type="arrow" w="med" len="med"/>
          </a:ln>
        </p:spPr>
      </p:cxnSp>
      <p:sp>
        <p:nvSpPr>
          <p:cNvPr id="13" name="reveal-5">
            <a:extLst>
              <a:ext uri="{FF2B5EF4-FFF2-40B4-BE49-F238E27FC236}">
                <ns2:creationId id="{7561C41B-D870-43DC-A88A-4C58D8BBD91C}"/>
              </a:ext>
            </a:extLst>
          </p:cNvPr>
          <p:cNvSpPr>
            <a:spLocks noGrp="1"/>
          </p:cNvSpPr>
          <p:nvPr/>
        </p:nvSpPr>
        <p:spPr>
          <a:xfrm>
            <a:off x="609600" y="3971925"/>
            <a:ext cx="5095875" cy="476250"/>
          </a:xfrm>
          <a:prstGeom prst="rect">
            <a:avLst/>
          </a:prstGeom>
          <a:noFill/>
          <a:ln w="0">
            <a:noFill/>
          </a:ln>
        </p:spPr>
        <p:txBody>
          <a:bodyPr>
            <a:noAutofit/>
          </a:bodyPr>
          <a:lstStyle/>
          <a:p>
            <a:pPr algn="l">
              <a:defRPr sz="2550" b="1">
                <a:solidFill>
                  <a:srgbClr val="087F8C"/>
                </a:solidFill>
                <a:latin typeface="Times New Roman"/>
                <a:ea typeface="Times New Roman"/>
                <a:cs typeface="Times New Roman"/>
              </a:defRPr>
            </a:pPr>
            <a:r>
              <a:rPr sz="2550" b="1">
                <a:solidFill>
                  <a:srgbClr val="087F8C"/>
                </a:solidFill>
                <a:latin typeface="Times New Roman"/>
                <a:ea typeface="Times New Roman"/>
                <a:cs typeface="Times New Roman"/>
              </a:rPr>
              <a:t>Example: a visible phone</a:t>
            </a:r>
          </a:p>
        </p:txBody>
      </p:sp>
      <p:sp>
        <p:nvSpPr>
          <p:cNvPr id="14" name="reveal-5">
            <a:extLst>
              <a:ext uri="{FF2B5EF4-FFF2-40B4-BE49-F238E27FC236}">
                <ns2:creationId id="{891EB66D-D8D9-4032-B0CB-831787D6D2BF}"/>
              </a:ext>
            </a:extLst>
          </p:cNvPr>
          <p:cNvSpPr>
            <a:spLocks noGrp="1"/>
          </p:cNvSpPr>
          <p:nvPr/>
        </p:nvSpPr>
        <p:spPr>
          <a:xfrm>
            <a:off x="609600" y="4600575"/>
            <a:ext cx="5095875" cy="1619250"/>
          </a:xfrm>
          <a:prstGeom prst="rect">
            <a:avLst/>
          </a:prstGeom>
          <a:noFill/>
          <a:ln w="0">
            <a:noFill/>
          </a:ln>
        </p:spPr>
        <p:txBody>
          <a:bodyPr>
            <a:noAutofit/>
          </a:bodyPr>
          <a:lstStyle/>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Two strong, overlapping phone predictions</a:t>
            </a:r>
          </a:p>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confirm the event and capture its frame.</a:t>
            </a:r>
          </a:p>
        </p:txBody>
      </p:sp>
      <p:sp>
        <p:nvSpPr>
          <p:cNvPr id="15" name="reveal-6">
            <a:extLst>
              <a:ext uri="{FF2B5EF4-FFF2-40B4-BE49-F238E27FC236}">
                <ns2:creationId id="{64AF0214-1B03-45B6-9BD9-7CBAD954FC14}"/>
              </a:ext>
            </a:extLst>
          </p:cNvPr>
          <p:cNvSpPr>
            <a:spLocks noGrp="1"/>
          </p:cNvSpPr>
          <p:nvPr/>
        </p:nvSpPr>
        <p:spPr>
          <a:xfrm>
            <a:off x="6381750" y="3971925"/>
            <a:ext cx="5095875" cy="476250"/>
          </a:xfrm>
          <a:prstGeom prst="rect">
            <a:avLst/>
          </a:prstGeom>
          <a:noFill/>
          <a:ln w="0">
            <a:noFill/>
          </a:ln>
        </p:spPr>
        <p:txBody>
          <a:bodyPr>
            <a:noAutofit/>
          </a:bodyPr>
          <a:lstStyle/>
          <a:p>
            <a:pPr algn="l">
              <a:defRPr sz="2550" b="1">
                <a:solidFill>
                  <a:srgbClr val="087F8C"/>
                </a:solidFill>
                <a:latin typeface="Times New Roman"/>
                <a:ea typeface="Times New Roman"/>
                <a:cs typeface="Times New Roman"/>
              </a:defRPr>
            </a:pPr>
            <a:r>
              <a:rPr sz="2550" b="1">
                <a:solidFill>
                  <a:srgbClr val="087F8C"/>
                </a:solidFill>
                <a:latin typeface="Times New Roman"/>
                <a:ea typeface="Times New Roman"/>
                <a:cs typeface="Times New Roman"/>
              </a:rPr>
              <a:t>Why repeated checks remain</a:t>
            </a:r>
          </a:p>
        </p:txBody>
      </p:sp>
      <p:sp>
        <p:nvSpPr>
          <p:cNvPr id="16" name="reveal-6">
            <a:extLst>
              <a:ext uri="{FF2B5EF4-FFF2-40B4-BE49-F238E27FC236}">
                <ns2:creationId id="{B2D8A35C-8D18-4A39-8EFC-35C84D1A1E25}"/>
              </a:ext>
            </a:extLst>
          </p:cNvPr>
          <p:cNvSpPr>
            <a:spLocks noGrp="1"/>
          </p:cNvSpPr>
          <p:nvPr/>
        </p:nvSpPr>
        <p:spPr>
          <a:xfrm>
            <a:off x="6381750" y="4600575"/>
            <a:ext cx="5095875" cy="1619250"/>
          </a:xfrm>
          <a:prstGeom prst="rect">
            <a:avLst/>
          </a:prstGeom>
          <a:noFill/>
          <a:ln w="0">
            <a:noFill/>
          </a:ln>
        </p:spPr>
        <p:txBody>
          <a:bodyPr>
            <a:noAutofit/>
          </a:bodyPr>
          <a:lstStyle/>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Single-frame mistakes should not alert.</a:t>
            </a:r>
          </a:p>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Weak predictions need three matching checks.</a:t>
            </a:r>
          </a:p>
        </p:txBody>
      </p:sp>
      <p:sp>
        <p:nvSpPr>
          <p:cNvPr id="17" name="fixed">
            <a:extLst>
              <a:ext uri="{FF2B5EF4-FFF2-40B4-BE49-F238E27FC236}">
                <ns2:creationId id="{C45AAA29-3079-4AAF-9F0D-D55CE9FCE550}"/>
              </a:ext>
            </a:extLst>
          </p:cNvPr>
          <p:cNvSpPr>
            <a:spLocks noGrp="1"/>
          </p:cNvSpPr>
          <p:nvPr/>
        </p:nvSpPr>
        <p:spPr>
          <a:xfrm>
            <a:off x="609600" y="5953125"/>
            <a:ext cx="10668000" cy="457200"/>
          </a:xfrm>
          <a:prstGeom prst="rect">
            <a:avLst/>
          </a:prstGeom>
          <a:noFill/>
          <a:ln w="0">
            <a:noFill/>
          </a:ln>
        </p:spPr>
        <p:txBody>
          <a:bodyPr>
            <a:noAutofit/>
          </a:bodyPr>
          <a:lstStyle/>
          <a:p>
            <a:pPr algn="l">
              <a:defRPr sz="1725" b="0">
                <a:solidFill>
                  <a:srgbClr val="4C6471"/>
                </a:solidFill>
                <a:latin typeface="Times New Roman"/>
                <a:ea typeface="Times New Roman"/>
                <a:cs typeface="Times New Roman"/>
              </a:defRPr>
            </a:pPr>
            <a:r>
              <a:rPr sz="1725" b="0">
                <a:solidFill>
                  <a:srgbClr val="4C6471"/>
                </a:solidFill>
                <a:latin typeface="Times New Roman"/>
                <a:ea typeface="Times New Roman"/>
                <a:cs typeface="Times New Roman"/>
              </a:rPr>
              <a:t>Current targets: phone and book. Headphones require a suitable model and validation.</a:t>
            </a:r>
          </a:p>
        </p:txBody>
      </p:sp>
    </p:spTree>
    <p:extLst>
      <p:ext uri="{BB962C8B-B14F-4D97-AF65-F5344CB8AC3E}">
        <ns3:creationId val="496026989"/>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1" nodeType="click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350"/>
                                  <p:tgtEl>
                                    <p:spTgt spid="6"/>
                                  </p:tgtEl>
                                </p:cBhvr>
                              </p:animEffect>
                            </p:childTnLst>
                          </p:cTn>
                        </p:par>
                      </p:childTnLst>
                    </p:cTn>
                  </p:par>
                  <p:par>
                    <p:cTn id="7" fill="hold">
                      <p:stCondLst>
                        <p:cond delay="indefinite"/>
                      </p:stCondLst>
                      <p:childTnLst>
                        <p:par>
                          <p:cTn id="8" presetID="10" presetClass="entr" presetSubtype="0" fill="hold" grpId="2" nodeType="click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350"/>
                                  <p:tgtEl>
                                    <p:spTgt spid="7"/>
                                  </p:tgtEl>
                                </p:cBhvr>
                              </p:animEffect>
                            </p:childTnLst>
                          </p:cTn>
                        </p:par>
                        <p:par>
                          <p:cTn id="11" presetID="10" presetClass="entr" presetSubtype="0" fill="hold" grpId="2" nodeType="clickEffect">
                            <p:stCondLst>
                              <p:cond delay="0"/>
                            </p:stCondLst>
                            <p:childTnLst>
                              <p:set>
                                <p:cBhvr>
                                  <p:cTn id="12" dur="1" fill="hold">
                                    <p:stCondLst>
                                      <p:cond delay="0"/>
                                    </p:stCondLst>
                                  </p:cTn>
                                  <p:tgtEl>
                                    <p:spTgt spid="27"/>
                                  </p:tgtEl>
                                  <p:attrNameLst>
                                    <p:attrName>style.visibility</p:attrName>
                                  </p:attrNameLst>
                                </p:cBhvr>
                                <p:to>
                                  <p:strVal val="visible"/>
                                </p:to>
                              </p:set>
                              <p:animEffect transition="in" filter="fade">
                                <p:cBhvr>
                                  <p:cTn id="13" dur="350"/>
                                  <p:tgtEl>
                                    <p:spTgt spid="27"/>
                                  </p:tgtEl>
                                </p:cBhvr>
                              </p:animEffect>
                            </p:childTnLst>
                          </p:cTn>
                        </p:par>
                      </p:childTnLst>
                    </p:cTn>
                  </p:par>
                  <p:par>
                    <p:cTn id="14" fill="hold">
                      <p:stCondLst>
                        <p:cond delay="indefinite"/>
                      </p:stCondLst>
                      <p:childTnLst>
                        <p:par>
                          <p:cTn id="15" presetID="10" presetClass="entr" presetSubtype="0" fill="hold" grpId="3"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350"/>
                                  <p:tgtEl>
                                    <p:spTgt spid="8"/>
                                  </p:tgtEl>
                                </p:cBhvr>
                              </p:animEffect>
                            </p:childTnLst>
                          </p:cTn>
                        </p:par>
                        <p:par>
                          <p:cTn id="18" presetID="10" presetClass="entr" presetSubtype="0" fill="hold" grpId="3" nodeType="clickEffect">
                            <p:stCondLst>
                              <p:cond delay="0"/>
                            </p:stCondLst>
                            <p:childTnLst>
                              <p:set>
                                <p:cBhvr>
                                  <p:cTn id="19" dur="1" fill="hold">
                                    <p:stCondLst>
                                      <p:cond delay="0"/>
                                    </p:stCondLst>
                                  </p:cTn>
                                  <p:tgtEl>
                                    <p:spTgt spid="28"/>
                                  </p:tgtEl>
                                  <p:attrNameLst>
                                    <p:attrName>style.visibility</p:attrName>
                                  </p:attrNameLst>
                                </p:cBhvr>
                                <p:to>
                                  <p:strVal val="visible"/>
                                </p:to>
                              </p:set>
                              <p:animEffect transition="in" filter="fade">
                                <p:cBhvr>
                                  <p:cTn id="20" dur="350"/>
                                  <p:tgtEl>
                                    <p:spTgt spid="28"/>
                                  </p:tgtEl>
                                </p:cBhvr>
                              </p:animEffect>
                            </p:childTnLst>
                          </p:cTn>
                        </p:par>
                      </p:childTnLst>
                    </p:cTn>
                  </p:par>
                  <p:par>
                    <p:cTn id="21" fill="hold">
                      <p:stCondLst>
                        <p:cond delay="indefinite"/>
                      </p:stCondLst>
                      <p:childTnLst>
                        <p:par>
                          <p:cTn id="22" presetID="10" presetClass="entr" presetSubtype="0" fill="hold" grpId="4" nodeType="click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350"/>
                                  <p:tgtEl>
                                    <p:spTgt spid="9"/>
                                  </p:tgtEl>
                                </p:cBhvr>
                              </p:animEffect>
                            </p:childTnLst>
                          </p:cTn>
                        </p:par>
                        <p:par>
                          <p:cTn id="25" presetID="10" presetClass="entr" presetSubtype="0" fill="hold" grpId="4" nodeType="clickEffect">
                            <p:stCondLst>
                              <p:cond delay="0"/>
                            </p:stCondLst>
                            <p:childTnLst>
                              <p:set>
                                <p:cBhvr>
                                  <p:cTn id="26" dur="1" fill="hold">
                                    <p:stCondLst>
                                      <p:cond delay="0"/>
                                    </p:stCondLst>
                                  </p:cTn>
                                  <p:tgtEl>
                                    <p:spTgt spid="29"/>
                                  </p:tgtEl>
                                  <p:attrNameLst>
                                    <p:attrName>style.visibility</p:attrName>
                                  </p:attrNameLst>
                                </p:cBhvr>
                                <p:to>
                                  <p:strVal val="visible"/>
                                </p:to>
                              </p:set>
                              <p:animEffect transition="in" filter="fade">
                                <p:cBhvr>
                                  <p:cTn id="27" dur="350"/>
                                  <p:tgtEl>
                                    <p:spTgt spid="29"/>
                                  </p:tgtEl>
                                </p:cBhvr>
                              </p:animEffect>
                            </p:childTnLst>
                          </p:cTn>
                        </p:par>
                      </p:childTnLst>
                    </p:cTn>
                  </p:par>
                  <p:par>
                    <p:cTn id="28" fill="hold">
                      <p:stCondLst>
                        <p:cond delay="indefinite"/>
                      </p:stCondLst>
                      <p:childTnLst>
                        <p:par>
                          <p:cTn id="29" presetID="10" presetClass="entr" presetSubtype="0" fill="hold" grpId="5" nodeType="click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350"/>
                                  <p:tgtEl>
                                    <p:spTgt spid="13"/>
                                  </p:tgtEl>
                                </p:cBhvr>
                              </p:animEffect>
                            </p:childTnLst>
                          </p:cTn>
                        </p:par>
                        <p:par>
                          <p:cTn id="32" presetID="10" presetClass="entr" presetSubtype="0" fill="hold" grpId="5" nodeType="click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350"/>
                                  <p:tgtEl>
                                    <p:spTgt spid="14"/>
                                  </p:tgtEl>
                                </p:cBhvr>
                              </p:animEffect>
                            </p:childTnLst>
                          </p:cTn>
                        </p:par>
                      </p:childTnLst>
                    </p:cTn>
                  </p:par>
                  <p:par>
                    <p:cTn id="35" fill="hold">
                      <p:stCondLst>
                        <p:cond delay="indefinite"/>
                      </p:stCondLst>
                      <p:childTnLst>
                        <p:par>
                          <p:cTn id="36" presetID="10" presetClass="entr" presetSubtype="0" fill="hold" grpId="6" nodeType="clickEffect">
                            <p:stCondLst>
                              <p:cond delay="0"/>
                            </p:stCondLst>
                            <p:childTnLst>
                              <p:set>
                                <p:cBhvr>
                                  <p:cTn id="37" dur="1" fill="hold">
                                    <p:stCondLst>
                                      <p:cond delay="0"/>
                                    </p:stCondLst>
                                  </p:cTn>
                                  <p:tgtEl>
                                    <p:spTgt spid="15"/>
                                  </p:tgtEl>
                                  <p:attrNameLst>
                                    <p:attrName>style.visibility</p:attrName>
                                  </p:attrNameLst>
                                </p:cBhvr>
                                <p:to>
                                  <p:strVal val="visible"/>
                                </p:to>
                              </p:set>
                              <p:animEffect transition="in" filter="fade">
                                <p:cBhvr>
                                  <p:cTn id="38" dur="350"/>
                                  <p:tgtEl>
                                    <p:spTgt spid="15"/>
                                  </p:tgtEl>
                                </p:cBhvr>
                              </p:animEffect>
                            </p:childTnLst>
                          </p:cTn>
                        </p:par>
                        <p:par>
                          <p:cTn id="39" presetID="10" presetClass="entr" presetSubtype="0" fill="hold" grpId="6"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fade">
                                <p:cBhvr>
                                  <p:cTn id="41" dur="350"/>
                                  <p:tgtEl>
                                    <p:spTgt spid="16"/>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6" grpId="1" uiExpand="1"/>
      <p:bldP spid="7" grpId="2" uiExpand="1"/>
      <p:bldP spid="27" grpId="2" uiExpand="1"/>
      <p:bldP spid="8" grpId="3" uiExpand="1"/>
      <p:bldP spid="28" grpId="3" uiExpand="1"/>
      <p:bldP spid="9" grpId="4" uiExpand="1"/>
      <p:bldP spid="29" grpId="4" uiExpand="1"/>
      <p:bldP spid="13" grpId="5" uiExpand="1"/>
      <p:bldP spid="14" grpId="5" uiExpand="1"/>
      <p:bldP spid="15" grpId="6" uiExpand="1"/>
      <p:bldP spid="16" grpId="6" uiExpand="1"/>
    </p:bldLst>
  </p:timing>
</p:sld>
</file>

<file path=ppt/slides/slide17.xml><?xml version="1.0" encoding="utf-8"?>
<p:sld xmlns:a="http://schemas.openxmlformats.org/drawingml/2006/main" xmlns:ns3="http://schemas.microsoft.com/office/drawing/2014/main" xmlns:ns4="http://schemas.microsoft.com/office/powerpoint/2010/main" xmlns:p="http://schemas.openxmlformats.org/presentationml/2006/main" xmlns:r="http://schemas.openxmlformats.org/officeDocument/2006/relationships">
  <p:cSld>
    <p:bg>
      <p:bgPr>
        <a:solidFill>
          <a:srgbClr val="081321"/>
        </a:solidFill>
      </p:bgPr>
    </p:bg>
    <p:spTree>
      <p:nvGrpSpPr>
        <p:cNvPr id="1" name=""/>
        <p:cNvGrpSpPr/>
        <p:nvPr/>
      </p:nvGrpSpPr>
      <p:grpSpPr>
        <a:xfrm/>
      </p:grpSpPr>
      <p:pic>
        <p:nvPicPr>
          <p:cNvPr id="11" name=""/>
          <p:cNvPicPr>
            <a:picLocks noChangeAspect="1"/>
          </p:cNvPicPr>
          <p:nvPr/>
        </p:nvPicPr>
        <p:blipFill>
          <a:blip r:embed="R6cd807c67a474a7f"/>
          <a:srcRect l="0" t="27" r="0" b="27"/>
          <a:stretch>
            <a:fillRect l="0" t="0" r="0" b="0"/>
          </a:stretch>
        </p:blipFill>
        <p:spPr>
          <a:xfrm>
            <a:off x="0" y="0"/>
            <a:ext cx="12192000" cy="6858000"/>
          </a:xfrm>
          <a:prstGeom prst="rect">
            <a:avLst/>
          </a:prstGeom>
        </p:spPr>
      </p:pic>
      <p:sp>
        <p:nvSpPr>
          <p:cNvPr id="2" name="fixed">
            <a:extLst>
              <a:ext uri="{FF2B5EF4-FFF2-40B4-BE49-F238E27FC236}">
                <ns3:creationId id="{65BC517A-B82F-488A-91E2-473A5A49FE28}"/>
              </a:ext>
            </a:extLst>
          </p:cNvPr>
          <p:cNvSpPr>
            <a:spLocks noGrp="1"/>
          </p:cNvSpPr>
          <p:nvPr/>
        </p:nvSpPr>
        <p:spPr>
          <a:xfrm>
            <a:off x="609600" y="400050"/>
            <a:ext cx="7620000" cy="381000"/>
          </a:xfrm>
          <a:prstGeom prst="rect">
            <a:avLst/>
          </a:prstGeom>
          <a:noFill/>
          <a:ln w="0">
            <a:noFill/>
          </a:ln>
        </p:spPr>
        <p:txBody>
          <a:bodyPr>
            <a:noAutofit/>
          </a:bodyPr>
          <a:lstStyle/>
          <a:p>
            <a:pPr algn="l">
              <a:defRPr sz="1875" b="1">
                <a:solidFill>
                  <a:srgbClr val="E9BF78"/>
                </a:solidFill>
                <a:latin typeface="Times New Roman"/>
                <a:ea typeface="Times New Roman"/>
                <a:cs typeface="Times New Roman"/>
              </a:defRPr>
            </a:pPr>
            <a:r>
              <a:rPr sz="1875" b="1">
                <a:solidFill>
                  <a:srgbClr val="E9BF78"/>
                </a:solidFill>
                <a:latin typeface="Times New Roman"/>
                <a:ea typeface="Times New Roman"/>
                <a:cs typeface="Times New Roman"/>
              </a:rPr>
              <a:t>EXTENSION TO MODULE 02</a:t>
            </a:r>
          </a:p>
        </p:txBody>
      </p:sp>
      <p:sp>
        <p:nvSpPr>
          <p:cNvPr id="3" name="fixed">
            <a:extLst>
              <a:ext uri="{FF2B5EF4-FFF2-40B4-BE49-F238E27FC236}">
                <ns3:creationId id="{35E07C8F-5663-4B27-8C19-21378F68A136}"/>
              </a:ext>
            </a:extLst>
          </p:cNvPr>
          <p:cNvSpPr>
            <a:spLocks noGrp="1"/>
          </p:cNvSpPr>
          <p:nvPr/>
        </p:nvSpPr>
        <p:spPr>
          <a:xfrm>
            <a:off x="609600" y="971550"/>
            <a:ext cx="8191500" cy="1171575"/>
          </a:xfrm>
          <a:prstGeom prst="rect">
            <a:avLst/>
          </a:prstGeom>
          <a:noFill/>
          <a:ln w="0">
            <a:noFill/>
          </a:ln>
        </p:spPr>
        <p:txBody>
          <a:bodyPr>
            <a:noAutofit/>
          </a:bodyPr>
          <a:lstStyle/>
          <a:p>
            <a:pPr algn="l">
              <a:defRPr sz="3750" b="1">
                <a:solidFill>
                  <a:srgbClr val="FFFFFF"/>
                </a:solidFill>
                <a:latin typeface="Times New Roman"/>
                <a:ea typeface="Times New Roman"/>
                <a:cs typeface="Times New Roman"/>
              </a:defRPr>
            </a:pPr>
            <a:r>
              <a:rPr sz="3750" b="1">
                <a:solidFill>
                  <a:srgbClr val="FFFFFF"/>
                </a:solidFill>
                <a:latin typeface="Times New Roman"/>
                <a:ea typeface="Times New Roman"/>
                <a:cs typeface="Times New Roman"/>
              </a:rPr>
              <a:t>Voice monitoring</a:t>
            </a:r>
          </a:p>
        </p:txBody>
      </p:sp>
      <p:sp>
        <p:nvSpPr>
          <p:cNvPr id="4" name="fixed">
            <a:extLst>
              <a:ext uri="{FF2B5EF4-FFF2-40B4-BE49-F238E27FC236}">
                <ns3:creationId id="{6588D639-BD4C-444D-B943-60D3B4FCD63D}"/>
              </a:ext>
            </a:extLst>
          </p:cNvPr>
          <p:cNvSpPr>
            <a:spLocks noGrp="1"/>
          </p:cNvSpPr>
          <p:nvPr/>
        </p:nvSpPr>
        <p:spPr>
          <a:xfrm>
            <a:off x="9029700" y="457200"/>
            <a:ext cx="2571750" cy="381000"/>
          </a:xfrm>
          <a:prstGeom prst="rect">
            <a:avLst/>
          </a:prstGeom>
          <a:noFill/>
          <a:ln w="0">
            <a:noFill/>
          </a:ln>
        </p:spPr>
        <p:txBody>
          <a:bodyPr>
            <a:noAutofit/>
          </a:bodyPr>
          <a:lstStyle/>
          <a:p>
            <a:pPr algn="r">
              <a:defRPr sz="1800" b="1">
                <a:solidFill>
                  <a:srgbClr val="74E6CF"/>
                </a:solidFill>
                <a:latin typeface="Times New Roman"/>
                <a:ea typeface="Times New Roman"/>
                <a:cs typeface="Times New Roman"/>
              </a:defRPr>
            </a:pPr>
            <a:r>
              <a:rPr sz="1800" b="1">
                <a:solidFill>
                  <a:srgbClr val="74E6CF"/>
                </a:solidFill>
                <a:latin typeface="Times New Roman"/>
                <a:ea typeface="Times New Roman"/>
                <a:cs typeface="Times New Roman"/>
              </a:rPr>
              <a:t>IMPLEMENTED</a:t>
            </a:r>
          </a:p>
        </p:txBody>
      </p:sp>
      <p:sp>
        <p:nvSpPr>
          <p:cNvPr id="5" name="fixed">
            <a:extLst>
              <a:ext uri="{FF2B5EF4-FFF2-40B4-BE49-F238E27FC236}">
                <ns3:creationId id="{9C89FFD1-3F42-4400-B4EB-426B94F9B59A}"/>
              </a:ext>
            </a:extLst>
          </p:cNvPr>
          <p:cNvSpPr>
            <a:spLocks noGrp="1"/>
          </p:cNvSpPr>
          <p:nvPr/>
        </p:nvSpPr>
        <p:spPr>
          <a:xfrm>
            <a:off x="9029700" y="828675"/>
            <a:ext cx="2571750" cy="304800"/>
          </a:xfrm>
          <a:prstGeom prst="rect">
            <a:avLst/>
          </a:prstGeom>
          <a:noFill/>
          <a:ln w="0">
            <a:noFill/>
          </a:ln>
        </p:spPr>
        <p:txBody>
          <a:bodyPr>
            <a:noAutofit/>
          </a:bodyPr>
          <a:lstStyle/>
          <a:p>
            <a:pPr algn="r">
              <a:defRPr sz="1425" b="0">
                <a:solidFill>
                  <a:srgbClr val="C5D9DE"/>
                </a:solidFill>
                <a:latin typeface="Times New Roman"/>
                <a:ea typeface="Times New Roman"/>
                <a:cs typeface="Times New Roman"/>
              </a:defRPr>
            </a:pPr>
            <a:r>
              <a:rPr sz="1425" b="0">
                <a:solidFill>
                  <a:srgbClr val="C5D9DE"/>
                </a:solidFill>
                <a:latin typeface="Times New Roman"/>
                <a:ea typeface="Times New Roman"/>
                <a:cs typeface="Times New Roman"/>
              </a:rPr>
              <a:t>Implementation status</a:t>
            </a:r>
          </a:p>
        </p:txBody>
      </p:sp>
      <p:sp>
        <p:nvSpPr>
          <p:cNvPr id="6" name="fixed">
            <a:extLst>
              <a:ext uri="{FF2B5EF4-FFF2-40B4-BE49-F238E27FC236}">
                <ns3:creationId id="{477DBE78-C023-4994-9734-87D4BDED3F2B}"/>
              </a:ext>
            </a:extLst>
          </p:cNvPr>
          <p:cNvSpPr>
            <a:spLocks noGrp="1"/>
          </p:cNvSpPr>
          <p:nvPr/>
        </p:nvSpPr>
        <p:spPr>
          <a:xfrm>
            <a:off x="11029950" y="6334125"/>
            <a:ext cx="523875" cy="285750"/>
          </a:xfrm>
          <a:prstGeom prst="rect">
            <a:avLst/>
          </a:prstGeom>
          <a:noFill/>
          <a:ln w="0">
            <a:noFill/>
          </a:ln>
        </p:spPr>
        <p:txBody>
          <a:bodyPr>
            <a:noAutofit/>
          </a:bodyPr>
          <a:lstStyle/>
          <a:p>
            <a:pPr algn="r">
              <a:defRPr sz="1500" b="0">
                <a:solidFill>
                  <a:srgbClr val="B6CCD3"/>
                </a:solidFill>
                <a:latin typeface="Times New Roman"/>
                <a:ea typeface="Times New Roman"/>
                <a:cs typeface="Times New Roman"/>
              </a:defRPr>
            </a:pPr>
            <a:r>
              <a:rPr sz="1500" b="0">
                <a:solidFill>
                  <a:srgbClr val="B6CCD3"/>
                </a:solidFill>
                <a:latin typeface="Times New Roman"/>
                <a:ea typeface="Times New Roman"/>
                <a:cs typeface="Times New Roman"/>
              </a:rPr>
              <a:t>17</a:t>
            </a:r>
          </a:p>
        </p:txBody>
      </p:sp>
      <p:sp>
        <p:nvSpPr>
          <p:cNvPr id="7" name="reveal-1">
            <a:extLst>
              <a:ext uri="{FF2B5EF4-FFF2-40B4-BE49-F238E27FC236}">
                <ns3:creationId id="{94146674-35FD-4B23-9249-12E6CD83ABBF}"/>
              </a:ext>
            </a:extLst>
          </p:cNvPr>
          <p:cNvSpPr>
            <a:spLocks noGrp="1"/>
          </p:cNvSpPr>
          <p:nvPr/>
        </p:nvSpPr>
        <p:spPr>
          <a:xfrm>
            <a:off x="609600" y="2514600"/>
            <a:ext cx="7524750" cy="1323975"/>
          </a:xfrm>
          <a:prstGeom prst="rect">
            <a:avLst/>
          </a:prstGeom>
          <a:noFill/>
          <a:ln w="0">
            <a:noFill/>
          </a:ln>
        </p:spPr>
        <p:txBody>
          <a:bodyPr>
            <a:noAutofit/>
          </a:bodyPr>
          <a:lstStyle/>
          <a:p>
            <a:pPr algn="l">
              <a:defRPr sz="3000" b="0">
                <a:solidFill>
                  <a:srgbClr val="FFFFFF"/>
                </a:solidFill>
                <a:latin typeface="Times New Roman"/>
                <a:ea typeface="Times New Roman"/>
                <a:cs typeface="Times New Roman"/>
              </a:defRPr>
            </a:pPr>
            <a:r>
              <a:rPr sz="3000" b="0">
                <a:solidFill>
                  <a:srgbClr val="FFFFFF"/>
                </a:solidFill>
                <a:latin typeface="Times New Roman"/>
                <a:ea typeface="Times New Roman"/>
                <a:cs typeface="Times New Roman"/>
              </a:rPr>
              <a:t>Compare sustained speech with the</a:t>
            </a:r>
          </a:p>
          <a:p>
            <a:pPr algn="l">
              <a:defRPr sz="3000" b="0">
                <a:solidFill>
                  <a:srgbClr val="FFFFFF"/>
                </a:solidFill>
                <a:latin typeface="Times New Roman"/>
                <a:ea typeface="Times New Roman"/>
                <a:cs typeface="Times New Roman"/>
              </a:defRPr>
            </a:pPr>
            <a:r>
              <a:rPr sz="3000" b="0">
                <a:solidFill>
                  <a:srgbClr val="FFFFFF"/>
                </a:solidFill>
                <a:latin typeface="Times New Roman"/>
                <a:ea typeface="Times New Roman"/>
                <a:cs typeface="Times New Roman"/>
              </a:rPr>
              <a:t>candidate’s enrolled voice reference</a:t>
            </a:r>
          </a:p>
        </p:txBody>
      </p:sp>
      <p:sp>
        <p:nvSpPr>
          <p:cNvPr id="8" name="reveal-2">
            <a:extLst>
              <a:ext uri="{FF2B5EF4-FFF2-40B4-BE49-F238E27FC236}">
                <ns3:creationId id="{620D1B34-B8C9-463A-BF49-1DA717203CCC}"/>
              </a:ext>
            </a:extLst>
          </p:cNvPr>
          <p:cNvSpPr>
            <a:spLocks noGrp="1"/>
          </p:cNvSpPr>
          <p:nvPr/>
        </p:nvSpPr>
        <p:spPr>
          <a:xfrm>
            <a:off x="609600" y="4124325"/>
            <a:ext cx="7143750" cy="381000"/>
          </a:xfrm>
          <a:prstGeom prst="rect">
            <a:avLst/>
          </a:prstGeom>
          <a:noFill/>
          <a:ln w="0">
            <a:noFill/>
          </a:ln>
        </p:spPr>
        <p:txBody>
          <a:bodyPr>
            <a:noAutofit/>
          </a:bodyPr>
          <a:lstStyle/>
          <a:p>
            <a:pPr algn="l">
              <a:defRPr sz="1875" b="1">
                <a:solidFill>
                  <a:srgbClr val="E9BF78"/>
                </a:solidFill>
                <a:latin typeface="Times New Roman"/>
                <a:ea typeface="Times New Roman"/>
                <a:cs typeface="Times New Roman"/>
              </a:defRPr>
            </a:pPr>
            <a:r>
              <a:rPr sz="1875" b="1">
                <a:solidFill>
                  <a:srgbClr val="E9BF78"/>
                </a:solidFill>
                <a:latin typeface="Times New Roman"/>
                <a:ea typeface="Times New Roman"/>
                <a:cs typeface="Times New Roman"/>
              </a:rPr>
              <a:t>MAIN COMPONENTS</a:t>
            </a:r>
          </a:p>
        </p:txBody>
      </p:sp>
      <p:sp>
        <p:nvSpPr>
          <p:cNvPr id="9" name="reveal-2">
            <a:extLst>
              <a:ext uri="{FF2B5EF4-FFF2-40B4-BE49-F238E27FC236}">
                <ns3:creationId id="{853DD50E-23E1-4B2E-A770-2DEC8BEB33F0}"/>
              </a:ext>
            </a:extLst>
          </p:cNvPr>
          <p:cNvSpPr>
            <a:spLocks noGrp="1"/>
          </p:cNvSpPr>
          <p:nvPr/>
        </p:nvSpPr>
        <p:spPr>
          <a:xfrm>
            <a:off x="609600" y="4657725"/>
            <a:ext cx="7620000" cy="714375"/>
          </a:xfrm>
          <a:prstGeom prst="rect">
            <a:avLst/>
          </a:prstGeom>
          <a:noFill/>
          <a:ln w="0">
            <a:noFill/>
          </a:ln>
        </p:spPr>
        <p:txBody>
          <a:bodyPr>
            <a:noAutofit/>
          </a:bodyPr>
          <a:lstStyle/>
          <a:p>
            <a:pPr algn="l">
              <a:defRPr sz="2325" b="0">
                <a:solidFill>
                  <a:srgbClr val="D5E7E8"/>
                </a:solidFill>
                <a:latin typeface="Times New Roman"/>
                <a:ea typeface="Times New Roman"/>
                <a:cs typeface="Times New Roman"/>
              </a:defRPr>
            </a:pPr>
            <a:r>
              <a:rPr sz="2325" b="0">
                <a:solidFill>
                  <a:srgbClr val="D5E7E8"/>
                </a:solidFill>
                <a:latin typeface="Times New Roman"/>
                <a:ea typeface="Times New Roman"/>
                <a:cs typeface="Times New Roman"/>
              </a:rPr>
              <a:t>WebRTC VAD  /  Resemblyzer  /  WAV evidence</a:t>
            </a:r>
          </a:p>
        </p:txBody>
      </p:sp>
      <p:sp>
        <p:nvSpPr>
          <p:cNvPr id="10" name="fixed">
            <a:extLst>
              <a:ext uri="{FF2B5EF4-FFF2-40B4-BE49-F238E27FC236}">
                <ns3:creationId id="{A7AA5553-533B-4CA4-892E-47617BEA5F59}"/>
              </a:ext>
            </a:extLst>
          </p:cNvPr>
          <p:cNvSpPr>
            <a:spLocks noGrp="1"/>
          </p:cNvSpPr>
          <p:nvPr/>
        </p:nvSpPr>
        <p:spPr>
          <a:xfrm>
            <a:off x="609600" y="5953125"/>
            <a:ext cx="10668000" cy="457200"/>
          </a:xfrm>
          <a:prstGeom prst="rect">
            <a:avLst/>
          </a:prstGeom>
          <a:noFill/>
          <a:ln w="0">
            <a:noFill/>
          </a:ln>
        </p:spPr>
        <p:txBody>
          <a:bodyPr>
            <a:noAutofit/>
          </a:bodyPr>
          <a:lstStyle/>
          <a:p>
            <a:pPr algn="l">
              <a:defRPr sz="1725" b="0">
                <a:solidFill>
                  <a:srgbClr val="BDD1D7"/>
                </a:solidFill>
                <a:latin typeface="Times New Roman"/>
                <a:ea typeface="Times New Roman"/>
                <a:cs typeface="Times New Roman"/>
              </a:defRPr>
            </a:pPr>
            <a:r>
              <a:rPr sz="1725" b="0">
                <a:solidFill>
                  <a:srgbClr val="BDD1D7"/>
                </a:solidFill>
                <a:latin typeface="Times New Roman"/>
                <a:ea typeface="Times New Roman"/>
                <a:cs typeface="Times New Roman"/>
              </a:rPr>
              <a:t>Reference mismatch is a review signal. Real-room accuracy remains to measure.</a:t>
            </a:r>
          </a:p>
        </p:txBody>
      </p:sp>
    </p:spTree>
    <p:extLst>
      <p:ext uri="{BB962C8B-B14F-4D97-AF65-F5344CB8AC3E}">
        <ns4:creationId val="1411053102"/>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1" nodeType="clickEffect">
                            <p:stCondLst>
                              <p:cond delay="0"/>
                            </p:stCondLst>
                            <p:childTnLst>
                              <p:set>
                                <p:cBhvr>
                                  <p:cTn id="5" dur="1" fill="hold">
                                    <p:stCondLst>
                                      <p:cond delay="0"/>
                                    </p:stCondLst>
                                  </p:cTn>
                                  <p:tgtEl>
                                    <p:spTgt spid="7"/>
                                  </p:tgtEl>
                                  <p:attrNameLst>
                                    <p:attrName>style.visibility</p:attrName>
                                  </p:attrNameLst>
                                </p:cBhvr>
                                <p:to>
                                  <p:strVal val="visible"/>
                                </p:to>
                              </p:set>
                              <p:animEffect transition="in" filter="fade">
                                <p:cBhvr>
                                  <p:cTn id="6" dur="350"/>
                                  <p:tgtEl>
                                    <p:spTgt spid="7"/>
                                  </p:tgtEl>
                                </p:cBhvr>
                              </p:animEffect>
                            </p:childTnLst>
                          </p:cTn>
                        </p:par>
                      </p:childTnLst>
                    </p:cTn>
                  </p:par>
                  <p:par>
                    <p:cTn id="7" fill="hold">
                      <p:stCondLst>
                        <p:cond delay="indefinite"/>
                      </p:stCondLst>
                      <p:childTnLst>
                        <p:par>
                          <p:cTn id="8" presetID="10" presetClass="entr" presetSubtype="0" fill="hold" grpId="2" nodeType="click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350"/>
                                  <p:tgtEl>
                                    <p:spTgt spid="8"/>
                                  </p:tgtEl>
                                </p:cBhvr>
                              </p:animEffect>
                            </p:childTnLst>
                          </p:cTn>
                        </p:par>
                        <p:par>
                          <p:cTn id="11" presetID="10" presetClass="entr" presetSubtype="0" fill="hold" grpId="2" nodeType="click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350"/>
                                  <p:tgtEl>
                                    <p:spTgt spid="9"/>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7" grpId="1" uiExpand="1"/>
      <p:bldP spid="8" grpId="2" uiExpand="1"/>
      <p:bldP spid="9" grpId="2" uiExpand="1"/>
    </p:bldLst>
  </p:timing>
</p:sld>
</file>

<file path=ppt/slides/slide18.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6F7F4"/>
        </a:solidFill>
      </p:bgPr>
    </p:bg>
    <p:spTree>
      <p:nvGrpSpPr>
        <p:cNvPr id="1" name=""/>
        <p:cNvGrpSpPr/>
        <p:nvPr/>
      </p:nvGrpSpPr>
      <p:grpSpPr>
        <a:xfrm/>
      </p:grpSpPr>
      <p:sp>
        <p:nvSpPr>
          <p:cNvPr id="18" name="fixed">
            <a:extLst>
              <a:ext uri="{FF2B5EF4-FFF2-40B4-BE49-F238E27FC236}">
                <ns2:creationId id="{1B3D7B34-1609-42A3-8D4C-55FD8D841F75}"/>
              </a:ext>
            </a:extLst>
          </p:cNvPr>
          <p:cNvSpPr>
            <a:spLocks noGrp="1"/>
          </p:cNvSpPr>
          <p:nvPr/>
        </p:nvSpPr>
        <p:spPr>
          <a:xfrm>
            <a:off x="609600" y="400050"/>
            <a:ext cx="7620000" cy="381000"/>
          </a:xfrm>
          <a:prstGeom prst="rect">
            <a:avLst/>
          </a:prstGeom>
          <a:noFill/>
          <a:ln w="0">
            <a:noFill/>
          </a:ln>
        </p:spPr>
        <p:txBody>
          <a:bodyPr>
            <a:noAutofit/>
          </a:bodyPr>
          <a:lstStyle/>
          <a:p>
            <a:pPr algn="l">
              <a:defRPr sz="1875" b="1">
                <a:solidFill>
                  <a:srgbClr val="087F8C"/>
                </a:solidFill>
                <a:latin typeface="Times New Roman"/>
                <a:ea typeface="Times New Roman"/>
                <a:cs typeface="Times New Roman"/>
              </a:defRPr>
            </a:pPr>
            <a:r>
              <a:rPr sz="1875" b="1">
                <a:solidFill>
                  <a:srgbClr val="087F8C"/>
                </a:solidFill>
                <a:latin typeface="Times New Roman"/>
                <a:ea typeface="Times New Roman"/>
                <a:cs typeface="Times New Roman"/>
              </a:rPr>
              <a:t>VOICE / AUDIO PIPELINE</a:t>
            </a:r>
          </a:p>
        </p:txBody>
      </p:sp>
      <p:sp>
        <p:nvSpPr>
          <p:cNvPr id="2" name="fixed">
            <a:extLst>
              <a:ext uri="{FF2B5EF4-FFF2-40B4-BE49-F238E27FC236}">
                <ns2:creationId id="{6E0D4A7A-4558-4CA3-819B-780FA6AC8A6B}"/>
              </a:ext>
            </a:extLst>
          </p:cNvPr>
          <p:cNvSpPr>
            <a:spLocks noGrp="1"/>
          </p:cNvSpPr>
          <p:nvPr/>
        </p:nvSpPr>
        <p:spPr>
          <a:xfrm>
            <a:off x="609600" y="971550"/>
            <a:ext cx="8191500" cy="1171575"/>
          </a:xfrm>
          <a:prstGeom prst="rect">
            <a:avLst/>
          </a:prstGeom>
          <a:noFill/>
          <a:ln w="0">
            <a:noFill/>
          </a:ln>
        </p:spPr>
        <p:txBody>
          <a:bodyPr>
            <a:noAutofit/>
          </a:bodyPr>
          <a:lstStyle/>
          <a:p>
            <a:pPr algn="l">
              <a:defRPr sz="3750" b="1">
                <a:solidFill>
                  <a:srgbClr val="172F3A"/>
                </a:solidFill>
                <a:latin typeface="Times New Roman"/>
                <a:ea typeface="Times New Roman"/>
                <a:cs typeface="Times New Roman"/>
              </a:defRPr>
            </a:pPr>
            <a:r>
              <a:rPr sz="3750" b="1">
                <a:solidFill>
                  <a:srgbClr val="172F3A"/>
                </a:solidFill>
                <a:latin typeface="Times New Roman"/>
                <a:ea typeface="Times New Roman"/>
                <a:cs typeface="Times New Roman"/>
              </a:rPr>
              <a:t>Speech gating before voice comparison</a:t>
            </a:r>
          </a:p>
        </p:txBody>
      </p:sp>
      <p:sp>
        <p:nvSpPr>
          <p:cNvPr id="3" name="fixed">
            <a:extLst>
              <a:ext uri="{FF2B5EF4-FFF2-40B4-BE49-F238E27FC236}">
                <ns2:creationId id="{E9763D6E-B57B-46B3-91A8-909776378303}"/>
              </a:ext>
            </a:extLst>
          </p:cNvPr>
          <p:cNvSpPr>
            <a:spLocks noGrp="1"/>
          </p:cNvSpPr>
          <p:nvPr/>
        </p:nvSpPr>
        <p:spPr>
          <a:xfrm>
            <a:off x="9029700" y="457200"/>
            <a:ext cx="2571750" cy="381000"/>
          </a:xfrm>
          <a:prstGeom prst="rect">
            <a:avLst/>
          </a:prstGeom>
          <a:noFill/>
          <a:ln w="0">
            <a:noFill/>
          </a:ln>
        </p:spPr>
        <p:txBody>
          <a:bodyPr>
            <a:noAutofit/>
          </a:bodyPr>
          <a:lstStyle/>
          <a:p>
            <a:pPr algn="r">
              <a:defRPr sz="1800" b="1">
                <a:solidFill>
                  <a:srgbClr val="087F8C"/>
                </a:solidFill>
                <a:latin typeface="Times New Roman"/>
                <a:ea typeface="Times New Roman"/>
                <a:cs typeface="Times New Roman"/>
              </a:defRPr>
            </a:pPr>
            <a:r>
              <a:rPr sz="1800" b="1">
                <a:solidFill>
                  <a:srgbClr val="087F8C"/>
                </a:solidFill>
                <a:latin typeface="Times New Roman"/>
                <a:ea typeface="Times New Roman"/>
                <a:cs typeface="Times New Roman"/>
              </a:rPr>
              <a:t>IMPLEMENTED</a:t>
            </a:r>
          </a:p>
        </p:txBody>
      </p:sp>
      <p:sp>
        <p:nvSpPr>
          <p:cNvPr id="4" name="fixed">
            <a:extLst>
              <a:ext uri="{FF2B5EF4-FFF2-40B4-BE49-F238E27FC236}">
                <ns2:creationId id="{53E0B2D1-DA03-4990-A583-5C6A6DB8ADB3}"/>
              </a:ext>
            </a:extLst>
          </p:cNvPr>
          <p:cNvSpPr>
            <a:spLocks noGrp="1"/>
          </p:cNvSpPr>
          <p:nvPr/>
        </p:nvSpPr>
        <p:spPr>
          <a:xfrm>
            <a:off x="9029700" y="828675"/>
            <a:ext cx="2571750" cy="304800"/>
          </a:xfrm>
          <a:prstGeom prst="rect">
            <a:avLst/>
          </a:prstGeom>
          <a:noFill/>
          <a:ln w="0">
            <a:noFill/>
          </a:ln>
        </p:spPr>
        <p:txBody>
          <a:bodyPr>
            <a:noAutofit/>
          </a:bodyPr>
          <a:lstStyle/>
          <a:p>
            <a:pPr algn="r">
              <a:defRPr sz="1425" b="0">
                <a:solidFill>
                  <a:srgbClr val="4C6471"/>
                </a:solidFill>
                <a:latin typeface="Times New Roman"/>
                <a:ea typeface="Times New Roman"/>
                <a:cs typeface="Times New Roman"/>
              </a:defRPr>
            </a:pPr>
            <a:r>
              <a:rPr sz="1425" b="0">
                <a:solidFill>
                  <a:srgbClr val="4C6471"/>
                </a:solidFill>
                <a:latin typeface="Times New Roman"/>
                <a:ea typeface="Times New Roman"/>
                <a:cs typeface="Times New Roman"/>
              </a:rPr>
              <a:t>Implementation status</a:t>
            </a:r>
          </a:p>
        </p:txBody>
      </p:sp>
      <p:sp>
        <p:nvSpPr>
          <p:cNvPr id="5" name="fixed">
            <a:extLst>
              <a:ext uri="{FF2B5EF4-FFF2-40B4-BE49-F238E27FC236}">
                <ns2:creationId id="{15AF4628-2F1A-4F24-B4BC-738020A7344A}"/>
              </a:ext>
            </a:extLst>
          </p:cNvPr>
          <p:cNvSpPr>
            <a:spLocks noGrp="1"/>
          </p:cNvSpPr>
          <p:nvPr/>
        </p:nvSpPr>
        <p:spPr>
          <a:xfrm>
            <a:off x="11029950" y="6334125"/>
            <a:ext cx="523875" cy="285750"/>
          </a:xfrm>
          <a:prstGeom prst="rect">
            <a:avLst/>
          </a:prstGeom>
          <a:noFill/>
          <a:ln w="0">
            <a:noFill/>
          </a:ln>
        </p:spPr>
        <p:txBody>
          <a:bodyPr>
            <a:noAutofit/>
          </a:bodyPr>
          <a:lstStyle/>
          <a:p>
            <a:pPr algn="r">
              <a:defRPr sz="1500" b="0">
                <a:solidFill>
                  <a:srgbClr val="4C6471"/>
                </a:solidFill>
                <a:latin typeface="Times New Roman"/>
                <a:ea typeface="Times New Roman"/>
                <a:cs typeface="Times New Roman"/>
              </a:defRPr>
            </a:pPr>
            <a:r>
              <a:rPr sz="1500" b="0">
                <a:solidFill>
                  <a:srgbClr val="4C6471"/>
                </a:solidFill>
                <a:latin typeface="Times New Roman"/>
                <a:ea typeface="Times New Roman"/>
                <a:cs typeface="Times New Roman"/>
              </a:rPr>
              <a:t>18</a:t>
            </a:r>
          </a:p>
        </p:txBody>
      </p:sp>
      <p:sp>
        <p:nvSpPr>
          <p:cNvPr id="6" name="reveal-1">
            <a:extLst>
              <a:ext uri="{FF2B5EF4-FFF2-40B4-BE49-F238E27FC236}">
                <ns2:creationId id="{244A69FD-2CE7-4352-B225-E493F9AC4AD1}"/>
              </a:ext>
            </a:extLst>
          </p:cNvPr>
          <p:cNvSpPr>
            <a:spLocks noGrp="1"/>
          </p:cNvSpPr>
          <p:nvPr/>
        </p:nvSpPr>
        <p:spPr>
          <a:xfrm>
            <a:off x="609600" y="2466975"/>
            <a:ext cx="2395538"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Microphone PCM</a:t>
            </a:r>
          </a:p>
        </p:txBody>
      </p:sp>
      <p:sp>
        <p:nvSpPr>
          <p:cNvPr id="7" name="reveal-2">
            <a:extLst>
              <a:ext uri="{FF2B5EF4-FFF2-40B4-BE49-F238E27FC236}">
                <ns2:creationId id="{B5944751-A0F9-41D1-845C-41C3D4CBCA58}"/>
              </a:ext>
            </a:extLst>
          </p:cNvPr>
          <p:cNvSpPr>
            <a:spLocks noGrp="1"/>
          </p:cNvSpPr>
          <p:nvPr/>
        </p:nvSpPr>
        <p:spPr>
          <a:xfrm>
            <a:off x="3462338" y="2466975"/>
            <a:ext cx="2395538"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WebRTC VAD</a:t>
            </a:r>
          </a:p>
        </p:txBody>
      </p:sp>
      <p:sp>
        <p:nvSpPr>
          <p:cNvPr id="8" name="reveal-3">
            <a:extLst>
              <a:ext uri="{FF2B5EF4-FFF2-40B4-BE49-F238E27FC236}">
                <ns2:creationId id="{DD56C388-485F-46FB-92B3-A85C33C67721}"/>
              </a:ext>
            </a:extLst>
          </p:cNvPr>
          <p:cNvSpPr>
            <a:spLocks noGrp="1"/>
          </p:cNvSpPr>
          <p:nvPr/>
        </p:nvSpPr>
        <p:spPr>
          <a:xfrm>
            <a:off x="6315075" y="2466975"/>
            <a:ext cx="2395538"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Sustained valid speech</a:t>
            </a:r>
          </a:p>
        </p:txBody>
      </p:sp>
      <p:sp>
        <p:nvSpPr>
          <p:cNvPr id="9" name="reveal-4">
            <a:extLst>
              <a:ext uri="{FF2B5EF4-FFF2-40B4-BE49-F238E27FC236}">
                <ns2:creationId id="{C8A13DEE-BB22-4283-B75B-A3E9E1AAA50E}"/>
              </a:ext>
            </a:extLst>
          </p:cNvPr>
          <p:cNvSpPr>
            <a:spLocks noGrp="1"/>
          </p:cNvSpPr>
          <p:nvPr/>
        </p:nvSpPr>
        <p:spPr>
          <a:xfrm>
            <a:off x="9167813" y="2466975"/>
            <a:ext cx="2395538"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Speaker comparison</a:t>
            </a:r>
          </a:p>
        </p:txBody>
      </p:sp>
      <p:cxnSp>
        <p:nvCxnSpPr>
          <p:cNvPr id="27" name="reveal-2"/>
          <p:cNvCxnSpPr>
            <a:stCxn id="6" idx="3"/>
            <a:endCxn id="7" idx="1"/>
          </p:cNvCxnSpPr>
          <p:nvPr/>
        </p:nvCxnSpPr>
        <p:spPr>
          <a:xfrm>
            <a:off x="3005138" y="2943225"/>
            <a:ext cx="457200" cy="0"/>
          </a:xfrm>
          <a:prstGeom prst="straightConnector1">
            <a:avLst/>
          </a:prstGeom>
          <a:ln w="19050">
            <a:solidFill>
              <a:srgbClr val="087F8C"/>
            </a:solidFill>
            <a:tailEnd type="arrow" w="med" len="med"/>
          </a:ln>
        </p:spPr>
      </p:cxnSp>
      <p:cxnSp>
        <p:nvCxnSpPr>
          <p:cNvPr id="28" name="reveal-3"/>
          <p:cNvCxnSpPr>
            <a:stCxn id="7" idx="3"/>
            <a:endCxn id="8" idx="1"/>
          </p:cNvCxnSpPr>
          <p:nvPr/>
        </p:nvCxnSpPr>
        <p:spPr>
          <a:xfrm>
            <a:off x="5857876" y="2943225"/>
            <a:ext cx="457199" cy="0"/>
          </a:xfrm>
          <a:prstGeom prst="straightConnector1">
            <a:avLst/>
          </a:prstGeom>
          <a:ln w="19050">
            <a:solidFill>
              <a:srgbClr val="087F8C"/>
            </a:solidFill>
            <a:tailEnd type="arrow" w="med" len="med"/>
          </a:ln>
        </p:spPr>
      </p:cxnSp>
      <p:cxnSp>
        <p:nvCxnSpPr>
          <p:cNvPr id="29" name="reveal-4"/>
          <p:cNvCxnSpPr>
            <a:stCxn id="8" idx="3"/>
            <a:endCxn id="9" idx="1"/>
          </p:cNvCxnSpPr>
          <p:nvPr/>
        </p:nvCxnSpPr>
        <p:spPr>
          <a:xfrm>
            <a:off x="8710613" y="2943225"/>
            <a:ext cx="457200" cy="0"/>
          </a:xfrm>
          <a:prstGeom prst="straightConnector1">
            <a:avLst/>
          </a:prstGeom>
          <a:ln w="19050">
            <a:solidFill>
              <a:srgbClr val="087F8C"/>
            </a:solidFill>
            <a:tailEnd type="arrow" w="med" len="med"/>
          </a:ln>
        </p:spPr>
      </p:cxnSp>
      <p:sp>
        <p:nvSpPr>
          <p:cNvPr id="13" name="reveal-5">
            <a:extLst>
              <a:ext uri="{FF2B5EF4-FFF2-40B4-BE49-F238E27FC236}">
                <ns2:creationId id="{82B116E4-4A70-4847-8822-56EB1525EF71}"/>
              </a:ext>
            </a:extLst>
          </p:cNvPr>
          <p:cNvSpPr>
            <a:spLocks noGrp="1"/>
          </p:cNvSpPr>
          <p:nvPr/>
        </p:nvSpPr>
        <p:spPr>
          <a:xfrm>
            <a:off x="609600" y="3971925"/>
            <a:ext cx="5095875" cy="476250"/>
          </a:xfrm>
          <a:prstGeom prst="rect">
            <a:avLst/>
          </a:prstGeom>
          <a:noFill/>
          <a:ln w="0">
            <a:noFill/>
          </a:ln>
        </p:spPr>
        <p:txBody>
          <a:bodyPr>
            <a:noAutofit/>
          </a:bodyPr>
          <a:lstStyle/>
          <a:p>
            <a:pPr algn="l">
              <a:defRPr sz="2550" b="1">
                <a:solidFill>
                  <a:srgbClr val="087F8C"/>
                </a:solidFill>
                <a:latin typeface="Times New Roman"/>
                <a:ea typeface="Times New Roman"/>
                <a:cs typeface="Times New Roman"/>
              </a:defRPr>
            </a:pPr>
            <a:r>
              <a:rPr sz="2550" b="1">
                <a:solidFill>
                  <a:srgbClr val="087F8C"/>
                </a:solidFill>
                <a:latin typeface="Times New Roman"/>
                <a:ea typeface="Times New Roman"/>
                <a:cs typeface="Times New Roman"/>
              </a:rPr>
              <a:t>Brief-noise example</a:t>
            </a:r>
          </a:p>
        </p:txBody>
      </p:sp>
      <p:sp>
        <p:nvSpPr>
          <p:cNvPr id="14" name="reveal-5">
            <a:extLst>
              <a:ext uri="{FF2B5EF4-FFF2-40B4-BE49-F238E27FC236}">
                <ns2:creationId id="{DC37BA8F-22CA-483B-A8A6-14A16882E718}"/>
              </a:ext>
            </a:extLst>
          </p:cNvPr>
          <p:cNvSpPr>
            <a:spLocks noGrp="1"/>
          </p:cNvSpPr>
          <p:nvPr/>
        </p:nvSpPr>
        <p:spPr>
          <a:xfrm>
            <a:off x="609600" y="4600575"/>
            <a:ext cx="5095875" cy="1619250"/>
          </a:xfrm>
          <a:prstGeom prst="rect">
            <a:avLst/>
          </a:prstGeom>
          <a:noFill/>
          <a:ln w="0">
            <a:noFill/>
          </a:ln>
        </p:spPr>
        <p:txBody>
          <a:bodyPr>
            <a:noAutofit/>
          </a:bodyPr>
          <a:lstStyle/>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A brief sound fails the speech gate.</a:t>
            </a:r>
          </a:p>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It does not count as a speaker mismatch.</a:t>
            </a:r>
          </a:p>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VAD can still misclassify noise.</a:t>
            </a:r>
          </a:p>
        </p:txBody>
      </p:sp>
      <p:sp>
        <p:nvSpPr>
          <p:cNvPr id="15" name="reveal-6">
            <a:extLst>
              <a:ext uri="{FF2B5EF4-FFF2-40B4-BE49-F238E27FC236}">
                <ns2:creationId id="{7BE84878-FAC0-47C9-9C1D-A3686DFECD01}"/>
              </a:ext>
            </a:extLst>
          </p:cNvPr>
          <p:cNvSpPr>
            <a:spLocks noGrp="1"/>
          </p:cNvSpPr>
          <p:nvPr/>
        </p:nvSpPr>
        <p:spPr>
          <a:xfrm>
            <a:off x="6381750" y="3971925"/>
            <a:ext cx="5095875" cy="476250"/>
          </a:xfrm>
          <a:prstGeom prst="rect">
            <a:avLst/>
          </a:prstGeom>
          <a:noFill/>
          <a:ln w="0">
            <a:noFill/>
          </a:ln>
        </p:spPr>
        <p:txBody>
          <a:bodyPr>
            <a:noAutofit/>
          </a:bodyPr>
          <a:lstStyle/>
          <a:p>
            <a:pPr algn="l">
              <a:defRPr sz="2550" b="1">
                <a:solidFill>
                  <a:srgbClr val="087F8C"/>
                </a:solidFill>
                <a:latin typeface="Times New Roman"/>
                <a:ea typeface="Times New Roman"/>
                <a:cs typeface="Times New Roman"/>
              </a:defRPr>
            </a:pPr>
            <a:r>
              <a:rPr sz="2550" b="1">
                <a:solidFill>
                  <a:srgbClr val="087F8C"/>
                </a:solidFill>
                <a:latin typeface="Times New Roman"/>
                <a:ea typeface="Times New Roman"/>
                <a:cs typeface="Times New Roman"/>
              </a:rPr>
              <a:t>Speech example</a:t>
            </a:r>
          </a:p>
        </p:txBody>
      </p:sp>
      <p:sp>
        <p:nvSpPr>
          <p:cNvPr id="16" name="reveal-6">
            <a:extLst>
              <a:ext uri="{FF2B5EF4-FFF2-40B4-BE49-F238E27FC236}">
                <ns2:creationId id="{20D91C74-FB41-4712-A0B9-94959FFD6ABC}"/>
              </a:ext>
            </a:extLst>
          </p:cNvPr>
          <p:cNvSpPr>
            <a:spLocks noGrp="1"/>
          </p:cNvSpPr>
          <p:nvPr/>
        </p:nvSpPr>
        <p:spPr>
          <a:xfrm>
            <a:off x="6381750" y="4600575"/>
            <a:ext cx="5095875" cy="1619250"/>
          </a:xfrm>
          <a:prstGeom prst="rect">
            <a:avLst/>
          </a:prstGeom>
          <a:noFill/>
          <a:ln w="0">
            <a:noFill/>
          </a:ln>
        </p:spPr>
        <p:txBody>
          <a:bodyPr>
            <a:noAutofit/>
          </a:bodyPr>
          <a:lstStyle/>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Sustained speech enters comparison.</a:t>
            </a:r>
          </a:p>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Short or clipped segments are rejected.</a:t>
            </a:r>
          </a:p>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Valid suspicious speech can save a clip.</a:t>
            </a:r>
          </a:p>
        </p:txBody>
      </p:sp>
      <p:sp>
        <p:nvSpPr>
          <p:cNvPr id="17" name="fixed">
            <a:extLst>
              <a:ext uri="{FF2B5EF4-FFF2-40B4-BE49-F238E27FC236}">
                <ns2:creationId id="{81DDB543-C528-4627-95F0-9CEE0ACD1A95}"/>
              </a:ext>
            </a:extLst>
          </p:cNvPr>
          <p:cNvSpPr>
            <a:spLocks noGrp="1"/>
          </p:cNvSpPr>
          <p:nvPr/>
        </p:nvSpPr>
        <p:spPr>
          <a:xfrm>
            <a:off x="609600" y="5953125"/>
            <a:ext cx="10668000" cy="457200"/>
          </a:xfrm>
          <a:prstGeom prst="rect">
            <a:avLst/>
          </a:prstGeom>
          <a:noFill/>
          <a:ln w="0">
            <a:noFill/>
          </a:ln>
        </p:spPr>
        <p:txBody>
          <a:bodyPr>
            <a:noAutofit/>
          </a:bodyPr>
          <a:lstStyle/>
          <a:p>
            <a:pPr algn="l">
              <a:defRPr sz="1725" b="0">
                <a:solidFill>
                  <a:srgbClr val="4C6471"/>
                </a:solidFill>
                <a:latin typeface="Times New Roman"/>
                <a:ea typeface="Times New Roman"/>
                <a:cs typeface="Times New Roman"/>
              </a:defRPr>
            </a:pPr>
            <a:r>
              <a:rPr sz="1725" b="0">
                <a:solidFill>
                  <a:srgbClr val="4C6471"/>
                </a:solidFill>
                <a:latin typeface="Times New Roman"/>
                <a:ea typeface="Times New Roman"/>
                <a:cs typeface="Times New Roman"/>
              </a:rPr>
              <a:t>Speech gating reduces unnecessary comparison. It does not establish who is speaking.</a:t>
            </a:r>
          </a:p>
        </p:txBody>
      </p:sp>
    </p:spTree>
    <p:extLst>
      <p:ext uri="{BB962C8B-B14F-4D97-AF65-F5344CB8AC3E}">
        <ns3:creationId val="31904656"/>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1" nodeType="click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350"/>
                                  <p:tgtEl>
                                    <p:spTgt spid="6"/>
                                  </p:tgtEl>
                                </p:cBhvr>
                              </p:animEffect>
                            </p:childTnLst>
                          </p:cTn>
                        </p:par>
                      </p:childTnLst>
                    </p:cTn>
                  </p:par>
                  <p:par>
                    <p:cTn id="7" fill="hold">
                      <p:stCondLst>
                        <p:cond delay="indefinite"/>
                      </p:stCondLst>
                      <p:childTnLst>
                        <p:par>
                          <p:cTn id="8" presetID="10" presetClass="entr" presetSubtype="0" fill="hold" grpId="2" nodeType="click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350"/>
                                  <p:tgtEl>
                                    <p:spTgt spid="7"/>
                                  </p:tgtEl>
                                </p:cBhvr>
                              </p:animEffect>
                            </p:childTnLst>
                          </p:cTn>
                        </p:par>
                        <p:par>
                          <p:cTn id="11" presetID="10" presetClass="entr" presetSubtype="0" fill="hold" grpId="2" nodeType="clickEffect">
                            <p:stCondLst>
                              <p:cond delay="0"/>
                            </p:stCondLst>
                            <p:childTnLst>
                              <p:set>
                                <p:cBhvr>
                                  <p:cTn id="12" dur="1" fill="hold">
                                    <p:stCondLst>
                                      <p:cond delay="0"/>
                                    </p:stCondLst>
                                  </p:cTn>
                                  <p:tgtEl>
                                    <p:spTgt spid="27"/>
                                  </p:tgtEl>
                                  <p:attrNameLst>
                                    <p:attrName>style.visibility</p:attrName>
                                  </p:attrNameLst>
                                </p:cBhvr>
                                <p:to>
                                  <p:strVal val="visible"/>
                                </p:to>
                              </p:set>
                              <p:animEffect transition="in" filter="fade">
                                <p:cBhvr>
                                  <p:cTn id="13" dur="350"/>
                                  <p:tgtEl>
                                    <p:spTgt spid="27"/>
                                  </p:tgtEl>
                                </p:cBhvr>
                              </p:animEffect>
                            </p:childTnLst>
                          </p:cTn>
                        </p:par>
                      </p:childTnLst>
                    </p:cTn>
                  </p:par>
                  <p:par>
                    <p:cTn id="14" fill="hold">
                      <p:stCondLst>
                        <p:cond delay="indefinite"/>
                      </p:stCondLst>
                      <p:childTnLst>
                        <p:par>
                          <p:cTn id="15" presetID="10" presetClass="entr" presetSubtype="0" fill="hold" grpId="3"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350"/>
                                  <p:tgtEl>
                                    <p:spTgt spid="8"/>
                                  </p:tgtEl>
                                </p:cBhvr>
                              </p:animEffect>
                            </p:childTnLst>
                          </p:cTn>
                        </p:par>
                        <p:par>
                          <p:cTn id="18" presetID="10" presetClass="entr" presetSubtype="0" fill="hold" grpId="3" nodeType="clickEffect">
                            <p:stCondLst>
                              <p:cond delay="0"/>
                            </p:stCondLst>
                            <p:childTnLst>
                              <p:set>
                                <p:cBhvr>
                                  <p:cTn id="19" dur="1" fill="hold">
                                    <p:stCondLst>
                                      <p:cond delay="0"/>
                                    </p:stCondLst>
                                  </p:cTn>
                                  <p:tgtEl>
                                    <p:spTgt spid="28"/>
                                  </p:tgtEl>
                                  <p:attrNameLst>
                                    <p:attrName>style.visibility</p:attrName>
                                  </p:attrNameLst>
                                </p:cBhvr>
                                <p:to>
                                  <p:strVal val="visible"/>
                                </p:to>
                              </p:set>
                              <p:animEffect transition="in" filter="fade">
                                <p:cBhvr>
                                  <p:cTn id="20" dur="350"/>
                                  <p:tgtEl>
                                    <p:spTgt spid="28"/>
                                  </p:tgtEl>
                                </p:cBhvr>
                              </p:animEffect>
                            </p:childTnLst>
                          </p:cTn>
                        </p:par>
                      </p:childTnLst>
                    </p:cTn>
                  </p:par>
                  <p:par>
                    <p:cTn id="21" fill="hold">
                      <p:stCondLst>
                        <p:cond delay="indefinite"/>
                      </p:stCondLst>
                      <p:childTnLst>
                        <p:par>
                          <p:cTn id="22" presetID="10" presetClass="entr" presetSubtype="0" fill="hold" grpId="4" nodeType="click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350"/>
                                  <p:tgtEl>
                                    <p:spTgt spid="9"/>
                                  </p:tgtEl>
                                </p:cBhvr>
                              </p:animEffect>
                            </p:childTnLst>
                          </p:cTn>
                        </p:par>
                        <p:par>
                          <p:cTn id="25" presetID="10" presetClass="entr" presetSubtype="0" fill="hold" grpId="4" nodeType="clickEffect">
                            <p:stCondLst>
                              <p:cond delay="0"/>
                            </p:stCondLst>
                            <p:childTnLst>
                              <p:set>
                                <p:cBhvr>
                                  <p:cTn id="26" dur="1" fill="hold">
                                    <p:stCondLst>
                                      <p:cond delay="0"/>
                                    </p:stCondLst>
                                  </p:cTn>
                                  <p:tgtEl>
                                    <p:spTgt spid="29"/>
                                  </p:tgtEl>
                                  <p:attrNameLst>
                                    <p:attrName>style.visibility</p:attrName>
                                  </p:attrNameLst>
                                </p:cBhvr>
                                <p:to>
                                  <p:strVal val="visible"/>
                                </p:to>
                              </p:set>
                              <p:animEffect transition="in" filter="fade">
                                <p:cBhvr>
                                  <p:cTn id="27" dur="350"/>
                                  <p:tgtEl>
                                    <p:spTgt spid="29"/>
                                  </p:tgtEl>
                                </p:cBhvr>
                              </p:animEffect>
                            </p:childTnLst>
                          </p:cTn>
                        </p:par>
                      </p:childTnLst>
                    </p:cTn>
                  </p:par>
                  <p:par>
                    <p:cTn id="28" fill="hold">
                      <p:stCondLst>
                        <p:cond delay="indefinite"/>
                      </p:stCondLst>
                      <p:childTnLst>
                        <p:par>
                          <p:cTn id="29" presetID="10" presetClass="entr" presetSubtype="0" fill="hold" grpId="5" nodeType="click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350"/>
                                  <p:tgtEl>
                                    <p:spTgt spid="13"/>
                                  </p:tgtEl>
                                </p:cBhvr>
                              </p:animEffect>
                            </p:childTnLst>
                          </p:cTn>
                        </p:par>
                        <p:par>
                          <p:cTn id="32" presetID="10" presetClass="entr" presetSubtype="0" fill="hold" grpId="5" nodeType="click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350"/>
                                  <p:tgtEl>
                                    <p:spTgt spid="14"/>
                                  </p:tgtEl>
                                </p:cBhvr>
                              </p:animEffect>
                            </p:childTnLst>
                          </p:cTn>
                        </p:par>
                      </p:childTnLst>
                    </p:cTn>
                  </p:par>
                  <p:par>
                    <p:cTn id="35" fill="hold">
                      <p:stCondLst>
                        <p:cond delay="indefinite"/>
                      </p:stCondLst>
                      <p:childTnLst>
                        <p:par>
                          <p:cTn id="36" presetID="10" presetClass="entr" presetSubtype="0" fill="hold" grpId="6" nodeType="clickEffect">
                            <p:stCondLst>
                              <p:cond delay="0"/>
                            </p:stCondLst>
                            <p:childTnLst>
                              <p:set>
                                <p:cBhvr>
                                  <p:cTn id="37" dur="1" fill="hold">
                                    <p:stCondLst>
                                      <p:cond delay="0"/>
                                    </p:stCondLst>
                                  </p:cTn>
                                  <p:tgtEl>
                                    <p:spTgt spid="15"/>
                                  </p:tgtEl>
                                  <p:attrNameLst>
                                    <p:attrName>style.visibility</p:attrName>
                                  </p:attrNameLst>
                                </p:cBhvr>
                                <p:to>
                                  <p:strVal val="visible"/>
                                </p:to>
                              </p:set>
                              <p:animEffect transition="in" filter="fade">
                                <p:cBhvr>
                                  <p:cTn id="38" dur="350"/>
                                  <p:tgtEl>
                                    <p:spTgt spid="15"/>
                                  </p:tgtEl>
                                </p:cBhvr>
                              </p:animEffect>
                            </p:childTnLst>
                          </p:cTn>
                        </p:par>
                        <p:par>
                          <p:cTn id="39" presetID="10" presetClass="entr" presetSubtype="0" fill="hold" grpId="6"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fade">
                                <p:cBhvr>
                                  <p:cTn id="41" dur="350"/>
                                  <p:tgtEl>
                                    <p:spTgt spid="16"/>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6" grpId="1" uiExpand="1"/>
      <p:bldP spid="7" grpId="2" uiExpand="1"/>
      <p:bldP spid="27" grpId="2" uiExpand="1"/>
      <p:bldP spid="8" grpId="3" uiExpand="1"/>
      <p:bldP spid="28" grpId="3" uiExpand="1"/>
      <p:bldP spid="9" grpId="4" uiExpand="1"/>
      <p:bldP spid="29" grpId="4" uiExpand="1"/>
      <p:bldP spid="13" grpId="5" uiExpand="1"/>
      <p:bldP spid="14" grpId="5" uiExpand="1"/>
      <p:bldP spid="15" grpId="6" uiExpand="1"/>
      <p:bldP spid="16" grpId="6" uiExpand="1"/>
    </p:bldLst>
  </p:timing>
</p:sld>
</file>

<file path=ppt/slides/slide19.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6F7F4"/>
        </a:solidFill>
      </p:bgPr>
    </p:bg>
    <p:spTree>
      <p:nvGrpSpPr>
        <p:cNvPr id="1" name=""/>
        <p:cNvGrpSpPr/>
        <p:nvPr/>
      </p:nvGrpSpPr>
      <p:grpSpPr>
        <a:xfrm/>
      </p:grpSpPr>
      <p:sp>
        <p:nvSpPr>
          <p:cNvPr id="18" name="fixed">
            <a:extLst>
              <a:ext uri="{FF2B5EF4-FFF2-40B4-BE49-F238E27FC236}">
                <ns2:creationId id="{134FDB21-DEBE-4CA0-8229-F49D2FD4F692}"/>
              </a:ext>
            </a:extLst>
          </p:cNvPr>
          <p:cNvSpPr>
            <a:spLocks noGrp="1"/>
          </p:cNvSpPr>
          <p:nvPr/>
        </p:nvSpPr>
        <p:spPr>
          <a:xfrm>
            <a:off x="609600" y="400050"/>
            <a:ext cx="7620000" cy="381000"/>
          </a:xfrm>
          <a:prstGeom prst="rect">
            <a:avLst/>
          </a:prstGeom>
          <a:noFill/>
          <a:ln w="0">
            <a:noFill/>
          </a:ln>
        </p:spPr>
        <p:txBody>
          <a:bodyPr>
            <a:noAutofit/>
          </a:bodyPr>
          <a:lstStyle/>
          <a:p>
            <a:pPr algn="l">
              <a:defRPr sz="1875" b="1">
                <a:solidFill>
                  <a:srgbClr val="087F8C"/>
                </a:solidFill>
                <a:latin typeface="Times New Roman"/>
                <a:ea typeface="Times New Roman"/>
                <a:cs typeface="Times New Roman"/>
              </a:defRPr>
            </a:pPr>
            <a:r>
              <a:rPr sz="1875" b="1">
                <a:solidFill>
                  <a:srgbClr val="087F8C"/>
                </a:solidFill>
                <a:latin typeface="Times New Roman"/>
                <a:ea typeface="Times New Roman"/>
                <a:cs typeface="Times New Roman"/>
              </a:rPr>
              <a:t>VOICE / WORKING</a:t>
            </a:r>
          </a:p>
        </p:txBody>
      </p:sp>
      <p:sp>
        <p:nvSpPr>
          <p:cNvPr id="2" name="fixed">
            <a:extLst>
              <a:ext uri="{FF2B5EF4-FFF2-40B4-BE49-F238E27FC236}">
                <ns2:creationId id="{06C4D69F-990E-404A-96C8-661087FEE1D0}"/>
              </a:ext>
            </a:extLst>
          </p:cNvPr>
          <p:cNvSpPr>
            <a:spLocks noGrp="1"/>
          </p:cNvSpPr>
          <p:nvPr/>
        </p:nvSpPr>
        <p:spPr>
          <a:xfrm>
            <a:off x="609600" y="971550"/>
            <a:ext cx="8191500" cy="1171575"/>
          </a:xfrm>
          <a:prstGeom prst="rect">
            <a:avLst/>
          </a:prstGeom>
          <a:noFill/>
          <a:ln w="0">
            <a:noFill/>
          </a:ln>
        </p:spPr>
        <p:txBody>
          <a:bodyPr>
            <a:noAutofit/>
          </a:bodyPr>
          <a:lstStyle/>
          <a:p>
            <a:pPr algn="l">
              <a:defRPr sz="3750" b="1">
                <a:solidFill>
                  <a:srgbClr val="172F3A"/>
                </a:solidFill>
                <a:latin typeface="Times New Roman"/>
                <a:ea typeface="Times New Roman"/>
                <a:cs typeface="Times New Roman"/>
              </a:defRPr>
            </a:pPr>
            <a:r>
              <a:rPr sz="3750" b="1">
                <a:solidFill>
                  <a:srgbClr val="172F3A"/>
                </a:solidFill>
                <a:latin typeface="Times New Roman"/>
                <a:ea typeface="Times New Roman"/>
                <a:cs typeface="Times New Roman"/>
              </a:rPr>
              <a:t>Voice enrollment and comparison</a:t>
            </a:r>
          </a:p>
        </p:txBody>
      </p:sp>
      <p:sp>
        <p:nvSpPr>
          <p:cNvPr id="3" name="fixed">
            <a:extLst>
              <a:ext uri="{FF2B5EF4-FFF2-40B4-BE49-F238E27FC236}">
                <ns2:creationId id="{A5E17578-8D16-4D66-BB12-E6FD946AABE9}"/>
              </a:ext>
            </a:extLst>
          </p:cNvPr>
          <p:cNvSpPr>
            <a:spLocks noGrp="1"/>
          </p:cNvSpPr>
          <p:nvPr/>
        </p:nvSpPr>
        <p:spPr>
          <a:xfrm>
            <a:off x="9029700" y="457200"/>
            <a:ext cx="2571750" cy="381000"/>
          </a:xfrm>
          <a:prstGeom prst="rect">
            <a:avLst/>
          </a:prstGeom>
          <a:noFill/>
          <a:ln w="0">
            <a:noFill/>
          </a:ln>
        </p:spPr>
        <p:txBody>
          <a:bodyPr>
            <a:noAutofit/>
          </a:bodyPr>
          <a:lstStyle/>
          <a:p>
            <a:pPr algn="r">
              <a:defRPr sz="1800" b="1">
                <a:solidFill>
                  <a:srgbClr val="087F8C"/>
                </a:solidFill>
                <a:latin typeface="Times New Roman"/>
                <a:ea typeface="Times New Roman"/>
                <a:cs typeface="Times New Roman"/>
              </a:defRPr>
            </a:pPr>
            <a:r>
              <a:rPr sz="1800" b="1">
                <a:solidFill>
                  <a:srgbClr val="087F8C"/>
                </a:solidFill>
                <a:latin typeface="Times New Roman"/>
                <a:ea typeface="Times New Roman"/>
                <a:cs typeface="Times New Roman"/>
              </a:rPr>
              <a:t>IMPLEMENTED</a:t>
            </a:r>
          </a:p>
        </p:txBody>
      </p:sp>
      <p:sp>
        <p:nvSpPr>
          <p:cNvPr id="4" name="fixed">
            <a:extLst>
              <a:ext uri="{FF2B5EF4-FFF2-40B4-BE49-F238E27FC236}">
                <ns2:creationId id="{B0B64E59-B09E-45ED-89D1-39C00EEBE2E3}"/>
              </a:ext>
            </a:extLst>
          </p:cNvPr>
          <p:cNvSpPr>
            <a:spLocks noGrp="1"/>
          </p:cNvSpPr>
          <p:nvPr/>
        </p:nvSpPr>
        <p:spPr>
          <a:xfrm>
            <a:off x="9029700" y="828675"/>
            <a:ext cx="2571750" cy="304800"/>
          </a:xfrm>
          <a:prstGeom prst="rect">
            <a:avLst/>
          </a:prstGeom>
          <a:noFill/>
          <a:ln w="0">
            <a:noFill/>
          </a:ln>
        </p:spPr>
        <p:txBody>
          <a:bodyPr>
            <a:noAutofit/>
          </a:bodyPr>
          <a:lstStyle/>
          <a:p>
            <a:pPr algn="r">
              <a:defRPr sz="1425" b="0">
                <a:solidFill>
                  <a:srgbClr val="4C6471"/>
                </a:solidFill>
                <a:latin typeface="Times New Roman"/>
                <a:ea typeface="Times New Roman"/>
                <a:cs typeface="Times New Roman"/>
              </a:defRPr>
            </a:pPr>
            <a:r>
              <a:rPr sz="1425" b="0">
                <a:solidFill>
                  <a:srgbClr val="4C6471"/>
                </a:solidFill>
                <a:latin typeface="Times New Roman"/>
                <a:ea typeface="Times New Roman"/>
                <a:cs typeface="Times New Roman"/>
              </a:rPr>
              <a:t>Implementation status</a:t>
            </a:r>
          </a:p>
        </p:txBody>
      </p:sp>
      <p:sp>
        <p:nvSpPr>
          <p:cNvPr id="5" name="fixed">
            <a:extLst>
              <a:ext uri="{FF2B5EF4-FFF2-40B4-BE49-F238E27FC236}">
                <ns2:creationId id="{8393C13F-F901-4A1F-9BC0-E5F31704E394}"/>
              </a:ext>
            </a:extLst>
          </p:cNvPr>
          <p:cNvSpPr>
            <a:spLocks noGrp="1"/>
          </p:cNvSpPr>
          <p:nvPr/>
        </p:nvSpPr>
        <p:spPr>
          <a:xfrm>
            <a:off x="11029950" y="6334125"/>
            <a:ext cx="523875" cy="285750"/>
          </a:xfrm>
          <a:prstGeom prst="rect">
            <a:avLst/>
          </a:prstGeom>
          <a:noFill/>
          <a:ln w="0">
            <a:noFill/>
          </a:ln>
        </p:spPr>
        <p:txBody>
          <a:bodyPr>
            <a:noAutofit/>
          </a:bodyPr>
          <a:lstStyle/>
          <a:p>
            <a:pPr algn="r">
              <a:defRPr sz="1500" b="0">
                <a:solidFill>
                  <a:srgbClr val="4C6471"/>
                </a:solidFill>
                <a:latin typeface="Times New Roman"/>
                <a:ea typeface="Times New Roman"/>
                <a:cs typeface="Times New Roman"/>
              </a:defRPr>
            </a:pPr>
            <a:r>
              <a:rPr sz="1500" b="0">
                <a:solidFill>
                  <a:srgbClr val="4C6471"/>
                </a:solidFill>
                <a:latin typeface="Times New Roman"/>
                <a:ea typeface="Times New Roman"/>
                <a:cs typeface="Times New Roman"/>
              </a:rPr>
              <a:t>19</a:t>
            </a:r>
          </a:p>
        </p:txBody>
      </p:sp>
      <p:sp>
        <p:nvSpPr>
          <p:cNvPr id="6" name="reveal-1">
            <a:extLst>
              <a:ext uri="{FF2B5EF4-FFF2-40B4-BE49-F238E27FC236}">
                <ns2:creationId id="{17FDD720-3408-4B06-A5BF-6F1B467895D8}"/>
              </a:ext>
            </a:extLst>
          </p:cNvPr>
          <p:cNvSpPr>
            <a:spLocks noGrp="1"/>
          </p:cNvSpPr>
          <p:nvPr/>
        </p:nvSpPr>
        <p:spPr>
          <a:xfrm>
            <a:off x="609600" y="2324100"/>
            <a:ext cx="3346450"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Enrollment speech</a:t>
            </a:r>
          </a:p>
        </p:txBody>
      </p:sp>
      <p:sp>
        <p:nvSpPr>
          <p:cNvPr id="7" name="reveal-2">
            <a:extLst>
              <a:ext uri="{FF2B5EF4-FFF2-40B4-BE49-F238E27FC236}">
                <ns2:creationId id="{BE0C4F18-92EA-48B2-A7FA-7BF9E6702596}"/>
              </a:ext>
            </a:extLst>
          </p:cNvPr>
          <p:cNvSpPr>
            <a:spLocks noGrp="1"/>
          </p:cNvSpPr>
          <p:nvPr/>
        </p:nvSpPr>
        <p:spPr>
          <a:xfrm>
            <a:off x="4413250" y="2324100"/>
            <a:ext cx="3346450"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Resemblyzer encoder</a:t>
            </a:r>
          </a:p>
        </p:txBody>
      </p:sp>
      <p:sp>
        <p:nvSpPr>
          <p:cNvPr id="8" name="reveal-3">
            <a:extLst>
              <a:ext uri="{FF2B5EF4-FFF2-40B4-BE49-F238E27FC236}">
                <ns2:creationId id="{31348A97-D374-40AD-B034-7C78B19A3FE2}"/>
              </a:ext>
            </a:extLst>
          </p:cNvPr>
          <p:cNvSpPr>
            <a:spLocks noGrp="1"/>
          </p:cNvSpPr>
          <p:nvPr/>
        </p:nvSpPr>
        <p:spPr>
          <a:xfrm>
            <a:off x="8216900" y="2324100"/>
            <a:ext cx="3346450"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Stored 256-value vector</a:t>
            </a:r>
          </a:p>
        </p:txBody>
      </p:sp>
      <p:cxnSp>
        <p:nvCxnSpPr>
          <p:cNvPr id="26" name="reveal-2"/>
          <p:cNvCxnSpPr>
            <a:stCxn id="6" idx="3"/>
            <a:endCxn id="7" idx="1"/>
          </p:cNvCxnSpPr>
          <p:nvPr/>
        </p:nvCxnSpPr>
        <p:spPr>
          <a:xfrm>
            <a:off x="3956050" y="2800350"/>
            <a:ext cx="457200" cy="0"/>
          </a:xfrm>
          <a:prstGeom prst="straightConnector1">
            <a:avLst/>
          </a:prstGeom>
          <a:ln w="19050">
            <a:solidFill>
              <a:srgbClr val="087F8C"/>
            </a:solidFill>
            <a:tailEnd type="arrow" w="med" len="med"/>
          </a:ln>
        </p:spPr>
      </p:cxnSp>
      <p:cxnSp>
        <p:nvCxnSpPr>
          <p:cNvPr id="27" name="reveal-3"/>
          <p:cNvCxnSpPr>
            <a:stCxn id="7" idx="3"/>
            <a:endCxn id="8" idx="1"/>
          </p:cNvCxnSpPr>
          <p:nvPr/>
        </p:nvCxnSpPr>
        <p:spPr>
          <a:xfrm>
            <a:off x="7759700" y="2800350"/>
            <a:ext cx="457200" cy="0"/>
          </a:xfrm>
          <a:prstGeom prst="straightConnector1">
            <a:avLst/>
          </a:prstGeom>
          <a:ln w="19050">
            <a:solidFill>
              <a:srgbClr val="087F8C"/>
            </a:solidFill>
            <a:tailEnd type="arrow" w="med" len="med"/>
          </a:ln>
        </p:spPr>
      </p:cxnSp>
      <p:sp>
        <p:nvSpPr>
          <p:cNvPr id="11" name="reveal-1">
            <a:extLst>
              <a:ext uri="{FF2B5EF4-FFF2-40B4-BE49-F238E27FC236}">
                <ns2:creationId id="{BE486A52-61DC-4E88-B09D-84BCC7C3413B}"/>
              </a:ext>
            </a:extLst>
          </p:cNvPr>
          <p:cNvSpPr>
            <a:spLocks noGrp="1"/>
          </p:cNvSpPr>
          <p:nvPr/>
        </p:nvSpPr>
        <p:spPr>
          <a:xfrm>
            <a:off x="609600" y="4038600"/>
            <a:ext cx="3346450"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Exam speech segment</a:t>
            </a:r>
          </a:p>
        </p:txBody>
      </p:sp>
      <p:sp>
        <p:nvSpPr>
          <p:cNvPr id="12" name="reveal-2">
            <a:extLst>
              <a:ext uri="{FF2B5EF4-FFF2-40B4-BE49-F238E27FC236}">
                <ns2:creationId id="{648442F7-F29B-4DA8-8657-E172219C7F81}"/>
              </a:ext>
            </a:extLst>
          </p:cNvPr>
          <p:cNvSpPr>
            <a:spLocks noGrp="1"/>
          </p:cNvSpPr>
          <p:nvPr/>
        </p:nvSpPr>
        <p:spPr>
          <a:xfrm>
            <a:off x="4413250" y="4038600"/>
            <a:ext cx="3346450"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Same voice encoder</a:t>
            </a:r>
          </a:p>
        </p:txBody>
      </p:sp>
      <p:sp>
        <p:nvSpPr>
          <p:cNvPr id="13" name="reveal-3">
            <a:extLst>
              <a:ext uri="{FF2B5EF4-FFF2-40B4-BE49-F238E27FC236}">
                <ns2:creationId id="{EB6E1573-DFE9-4F4E-8E6E-88BDBAC2CAC4}"/>
              </a:ext>
            </a:extLst>
          </p:cNvPr>
          <p:cNvSpPr>
            <a:spLocks noGrp="1"/>
          </p:cNvSpPr>
          <p:nvPr/>
        </p:nvSpPr>
        <p:spPr>
          <a:xfrm>
            <a:off x="8216900" y="4038600"/>
            <a:ext cx="3346450"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Cosine comparison</a:t>
            </a:r>
          </a:p>
        </p:txBody>
      </p:sp>
      <p:cxnSp>
        <p:nvCxnSpPr>
          <p:cNvPr id="31" name="reveal-2"/>
          <p:cNvCxnSpPr>
            <a:stCxn id="11" idx="3"/>
            <a:endCxn id="12" idx="1"/>
          </p:cNvCxnSpPr>
          <p:nvPr/>
        </p:nvCxnSpPr>
        <p:spPr>
          <a:xfrm>
            <a:off x="3956050" y="4514850"/>
            <a:ext cx="457200" cy="0"/>
          </a:xfrm>
          <a:prstGeom prst="straightConnector1">
            <a:avLst/>
          </a:prstGeom>
          <a:ln w="19050">
            <a:solidFill>
              <a:srgbClr val="087F8C"/>
            </a:solidFill>
            <a:tailEnd type="arrow" w="med" len="med"/>
          </a:ln>
        </p:spPr>
      </p:cxnSp>
      <p:cxnSp>
        <p:nvCxnSpPr>
          <p:cNvPr id="32" name="reveal-3"/>
          <p:cNvCxnSpPr>
            <a:stCxn id="12" idx="3"/>
            <a:endCxn id="13" idx="1"/>
          </p:cNvCxnSpPr>
          <p:nvPr/>
        </p:nvCxnSpPr>
        <p:spPr>
          <a:xfrm>
            <a:off x="7759700" y="4514850"/>
            <a:ext cx="457200" cy="0"/>
          </a:xfrm>
          <a:prstGeom prst="straightConnector1">
            <a:avLst/>
          </a:prstGeom>
          <a:ln w="19050">
            <a:solidFill>
              <a:srgbClr val="087F8C"/>
            </a:solidFill>
            <a:tailEnd type="arrow" w="med" len="med"/>
          </a:ln>
        </p:spPr>
      </p:cxnSp>
      <p:sp>
        <p:nvSpPr>
          <p:cNvPr id="16" name="reveal-7">
            <a:extLst>
              <a:ext uri="{FF2B5EF4-FFF2-40B4-BE49-F238E27FC236}">
                <ns2:creationId id="{7B77D44C-791F-45D9-AC38-D3EFD4962B75}"/>
              </a:ext>
            </a:extLst>
          </p:cNvPr>
          <p:cNvSpPr>
            <a:spLocks noGrp="1"/>
          </p:cNvSpPr>
          <p:nvPr/>
        </p:nvSpPr>
        <p:spPr>
          <a:xfrm>
            <a:off x="609600" y="5334000"/>
            <a:ext cx="10763250" cy="457200"/>
          </a:xfrm>
          <a:prstGeom prst="rect">
            <a:avLst/>
          </a:prstGeom>
          <a:noFill/>
          <a:ln w="0">
            <a:noFill/>
          </a:ln>
        </p:spPr>
        <p:txBody>
          <a:bodyPr>
            <a:noAutofit/>
          </a:bodyPr>
          <a:lstStyle/>
          <a:p>
            <a:pPr algn="l">
              <a:defRPr sz="2400" b="1">
                <a:solidFill>
                  <a:srgbClr val="087F8C"/>
                </a:solidFill>
                <a:latin typeface="Times New Roman"/>
                <a:ea typeface="Times New Roman"/>
                <a:cs typeface="Times New Roman"/>
              </a:defRPr>
            </a:pPr>
            <a:r>
              <a:rPr sz="2400" b="1">
                <a:solidFill>
                  <a:srgbClr val="087F8C"/>
                </a:solidFill>
                <a:latin typeface="Times New Roman"/>
                <a:ea typeface="Times New Roman"/>
                <a:cs typeface="Times New Roman"/>
              </a:rPr>
              <a:t>Similarity = reference vector · incoming voice vector</a:t>
            </a:r>
          </a:p>
        </p:txBody>
      </p:sp>
      <p:sp>
        <p:nvSpPr>
          <p:cNvPr id="17" name="fixed">
            <a:extLst>
              <a:ext uri="{FF2B5EF4-FFF2-40B4-BE49-F238E27FC236}">
                <ns2:creationId id="{00EFC4EE-7B24-4855-9A06-4032ECD12C09}"/>
              </a:ext>
            </a:extLst>
          </p:cNvPr>
          <p:cNvSpPr>
            <a:spLocks noGrp="1"/>
          </p:cNvSpPr>
          <p:nvPr/>
        </p:nvSpPr>
        <p:spPr>
          <a:xfrm>
            <a:off x="609600" y="5953125"/>
            <a:ext cx="10668000" cy="457200"/>
          </a:xfrm>
          <a:prstGeom prst="rect">
            <a:avLst/>
          </a:prstGeom>
          <a:noFill/>
          <a:ln w="0">
            <a:noFill/>
          </a:ln>
        </p:spPr>
        <p:txBody>
          <a:bodyPr>
            <a:noAutofit/>
          </a:bodyPr>
          <a:lstStyle/>
          <a:p>
            <a:pPr algn="l">
              <a:defRPr sz="1725" b="0">
                <a:solidFill>
                  <a:srgbClr val="4C6471"/>
                </a:solidFill>
                <a:latin typeface="Times New Roman"/>
                <a:ea typeface="Times New Roman"/>
                <a:cs typeface="Times New Roman"/>
              </a:defRPr>
            </a:pPr>
            <a:r>
              <a:rPr sz="1725" b="0">
                <a:solidFill>
                  <a:srgbClr val="4C6471"/>
                </a:solidFill>
                <a:latin typeface="Times New Roman"/>
                <a:ea typeface="Times New Roman"/>
                <a:cs typeface="Times New Roman"/>
              </a:rPr>
              <a:t>Cosine cutoff: 0.75. Two valid segments below it trigger a review event.</a:t>
            </a:r>
          </a:p>
        </p:txBody>
      </p:sp>
    </p:spTree>
    <p:extLst>
      <p:ext uri="{BB962C8B-B14F-4D97-AF65-F5344CB8AC3E}">
        <ns3:creationId val="2087162962"/>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1" nodeType="click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350"/>
                                  <p:tgtEl>
                                    <p:spTgt spid="6"/>
                                  </p:tgtEl>
                                </p:cBhvr>
                              </p:animEffect>
                            </p:childTnLst>
                          </p:cTn>
                        </p:par>
                        <p:par>
                          <p:cTn id="7" presetID="10" presetClass="entr" presetSubtype="0" fill="hold" grpId="1" nodeType="clickEffect">
                            <p:stCondLst>
                              <p:cond delay="0"/>
                            </p:stCondLst>
                            <p:childTnLst>
                              <p:set>
                                <p:cBhvr>
                                  <p:cTn id="8" dur="1" fill="hold">
                                    <p:stCondLst>
                                      <p:cond delay="0"/>
                                    </p:stCondLst>
                                  </p:cTn>
                                  <p:tgtEl>
                                    <p:spTgt spid="11"/>
                                  </p:tgtEl>
                                  <p:attrNameLst>
                                    <p:attrName>style.visibility</p:attrName>
                                  </p:attrNameLst>
                                </p:cBhvr>
                                <p:to>
                                  <p:strVal val="visible"/>
                                </p:to>
                              </p:set>
                              <p:animEffect transition="in" filter="fade">
                                <p:cBhvr>
                                  <p:cTn id="9" dur="350"/>
                                  <p:tgtEl>
                                    <p:spTgt spid="11"/>
                                  </p:tgtEl>
                                </p:cBhvr>
                              </p:animEffect>
                            </p:childTnLst>
                          </p:cTn>
                        </p:par>
                      </p:childTnLst>
                    </p:cTn>
                  </p:par>
                  <p:par>
                    <p:cTn id="10" fill="hold">
                      <p:stCondLst>
                        <p:cond delay="indefinite"/>
                      </p:stCondLst>
                      <p:childTnLst>
                        <p:par>
                          <p:cTn id="11" presetID="10" presetClass="entr" presetSubtype="0" fill="hold" grpId="2" nodeType="click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350"/>
                                  <p:tgtEl>
                                    <p:spTgt spid="7"/>
                                  </p:tgtEl>
                                </p:cBhvr>
                              </p:animEffect>
                            </p:childTnLst>
                          </p:cTn>
                        </p:par>
                        <p:par>
                          <p:cTn id="14" presetID="10" presetClass="entr" presetSubtype="0" fill="hold" grpId="2" nodeType="clickEffect">
                            <p:stCondLst>
                              <p:cond delay="0"/>
                            </p:stCondLst>
                            <p:childTnLst>
                              <p:set>
                                <p:cBhvr>
                                  <p:cTn id="15" dur="1" fill="hold">
                                    <p:stCondLst>
                                      <p:cond delay="0"/>
                                    </p:stCondLst>
                                  </p:cTn>
                                  <p:tgtEl>
                                    <p:spTgt spid="26"/>
                                  </p:tgtEl>
                                  <p:attrNameLst>
                                    <p:attrName>style.visibility</p:attrName>
                                  </p:attrNameLst>
                                </p:cBhvr>
                                <p:to>
                                  <p:strVal val="visible"/>
                                </p:to>
                              </p:set>
                              <p:animEffect transition="in" filter="fade">
                                <p:cBhvr>
                                  <p:cTn id="16" dur="350"/>
                                  <p:tgtEl>
                                    <p:spTgt spid="26"/>
                                  </p:tgtEl>
                                </p:cBhvr>
                              </p:animEffect>
                            </p:childTnLst>
                          </p:cTn>
                        </p:par>
                        <p:par>
                          <p:cTn id="17" presetID="10" presetClass="entr" presetSubtype="0" fill="hold" grpId="2" nodeType="click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350"/>
                                  <p:tgtEl>
                                    <p:spTgt spid="12"/>
                                  </p:tgtEl>
                                </p:cBhvr>
                              </p:animEffect>
                            </p:childTnLst>
                          </p:cTn>
                        </p:par>
                        <p:par>
                          <p:cTn id="20" presetID="10" presetClass="entr" presetSubtype="0" fill="hold" grpId="2" nodeType="clickEffect">
                            <p:stCondLst>
                              <p:cond delay="0"/>
                            </p:stCondLst>
                            <p:childTnLst>
                              <p:set>
                                <p:cBhvr>
                                  <p:cTn id="21" dur="1" fill="hold">
                                    <p:stCondLst>
                                      <p:cond delay="0"/>
                                    </p:stCondLst>
                                  </p:cTn>
                                  <p:tgtEl>
                                    <p:spTgt spid="31"/>
                                  </p:tgtEl>
                                  <p:attrNameLst>
                                    <p:attrName>style.visibility</p:attrName>
                                  </p:attrNameLst>
                                </p:cBhvr>
                                <p:to>
                                  <p:strVal val="visible"/>
                                </p:to>
                              </p:set>
                              <p:animEffect transition="in" filter="fade">
                                <p:cBhvr>
                                  <p:cTn id="22" dur="350"/>
                                  <p:tgtEl>
                                    <p:spTgt spid="31"/>
                                  </p:tgtEl>
                                </p:cBhvr>
                              </p:animEffect>
                            </p:childTnLst>
                          </p:cTn>
                        </p:par>
                      </p:childTnLst>
                    </p:cTn>
                  </p:par>
                  <p:par>
                    <p:cTn id="23" fill="hold">
                      <p:stCondLst>
                        <p:cond delay="indefinite"/>
                      </p:stCondLst>
                      <p:childTnLst>
                        <p:par>
                          <p:cTn id="24" presetID="10" presetClass="entr" presetSubtype="0" fill="hold" grpId="3" nodeType="click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fade">
                                <p:cBhvr>
                                  <p:cTn id="26" dur="350"/>
                                  <p:tgtEl>
                                    <p:spTgt spid="8"/>
                                  </p:tgtEl>
                                </p:cBhvr>
                              </p:animEffect>
                            </p:childTnLst>
                          </p:cTn>
                        </p:par>
                        <p:par>
                          <p:cTn id="27" presetID="10" presetClass="entr" presetSubtype="0" fill="hold" grpId="3" nodeType="clickEffect">
                            <p:stCondLst>
                              <p:cond delay="0"/>
                            </p:stCondLst>
                            <p:childTnLst>
                              <p:set>
                                <p:cBhvr>
                                  <p:cTn id="28" dur="1" fill="hold">
                                    <p:stCondLst>
                                      <p:cond delay="0"/>
                                    </p:stCondLst>
                                  </p:cTn>
                                  <p:tgtEl>
                                    <p:spTgt spid="27"/>
                                  </p:tgtEl>
                                  <p:attrNameLst>
                                    <p:attrName>style.visibility</p:attrName>
                                  </p:attrNameLst>
                                </p:cBhvr>
                                <p:to>
                                  <p:strVal val="visible"/>
                                </p:to>
                              </p:set>
                              <p:animEffect transition="in" filter="fade">
                                <p:cBhvr>
                                  <p:cTn id="29" dur="350"/>
                                  <p:tgtEl>
                                    <p:spTgt spid="27"/>
                                  </p:tgtEl>
                                </p:cBhvr>
                              </p:animEffect>
                            </p:childTnLst>
                          </p:cTn>
                        </p:par>
                        <p:par>
                          <p:cTn id="30" presetID="10" presetClass="entr" presetSubtype="0" fill="hold" grpId="3" nodeType="click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fade">
                                <p:cBhvr>
                                  <p:cTn id="32" dur="350"/>
                                  <p:tgtEl>
                                    <p:spTgt spid="13"/>
                                  </p:tgtEl>
                                </p:cBhvr>
                              </p:animEffect>
                            </p:childTnLst>
                          </p:cTn>
                        </p:par>
                        <p:par>
                          <p:cTn id="33" presetID="10" presetClass="entr" presetSubtype="0" fill="hold" grpId="3" nodeType="clickEffect">
                            <p:stCondLst>
                              <p:cond delay="0"/>
                            </p:stCondLst>
                            <p:childTnLst>
                              <p:set>
                                <p:cBhvr>
                                  <p:cTn id="34" dur="1" fill="hold">
                                    <p:stCondLst>
                                      <p:cond delay="0"/>
                                    </p:stCondLst>
                                  </p:cTn>
                                  <p:tgtEl>
                                    <p:spTgt spid="32"/>
                                  </p:tgtEl>
                                  <p:attrNameLst>
                                    <p:attrName>style.visibility</p:attrName>
                                  </p:attrNameLst>
                                </p:cBhvr>
                                <p:to>
                                  <p:strVal val="visible"/>
                                </p:to>
                              </p:set>
                              <p:animEffect transition="in" filter="fade">
                                <p:cBhvr>
                                  <p:cTn id="35" dur="350"/>
                                  <p:tgtEl>
                                    <p:spTgt spid="32"/>
                                  </p:tgtEl>
                                </p:cBhvr>
                              </p:animEffect>
                            </p:childTnLst>
                          </p:cTn>
                        </p:par>
                      </p:childTnLst>
                    </p:cTn>
                  </p:par>
                  <p:par>
                    <p:cTn id="36" fill="hold">
                      <p:stCondLst>
                        <p:cond delay="indefinite"/>
                      </p:stCondLst>
                      <p:childTnLst>
                        <p:par>
                          <p:cTn id="37" presetID="10" presetClass="entr" presetSubtype="0" fill="hold" grpId="7" nodeType="clickEffect">
                            <p:stCondLst>
                              <p:cond delay="0"/>
                            </p:stCondLst>
                            <p:childTnLst>
                              <p:set>
                                <p:cBhvr>
                                  <p:cTn id="38" dur="1" fill="hold">
                                    <p:stCondLst>
                                      <p:cond delay="0"/>
                                    </p:stCondLst>
                                  </p:cTn>
                                  <p:tgtEl>
                                    <p:spTgt spid="16"/>
                                  </p:tgtEl>
                                  <p:attrNameLst>
                                    <p:attrName>style.visibility</p:attrName>
                                  </p:attrNameLst>
                                </p:cBhvr>
                                <p:to>
                                  <p:strVal val="visible"/>
                                </p:to>
                              </p:set>
                              <p:animEffect transition="in" filter="fade">
                                <p:cBhvr>
                                  <p:cTn id="39" dur="350"/>
                                  <p:tgtEl>
                                    <p:spTgt spid="16"/>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6" grpId="1" uiExpand="1"/>
      <p:bldP spid="11" grpId="1" uiExpand="1"/>
      <p:bldP spid="7" grpId="2" uiExpand="1"/>
      <p:bldP spid="26" grpId="2" uiExpand="1"/>
      <p:bldP spid="12" grpId="2" uiExpand="1"/>
      <p:bldP spid="31" grpId="2" uiExpand="1"/>
      <p:bldP spid="8" grpId="3" uiExpand="1"/>
      <p:bldP spid="27" grpId="3" uiExpand="1"/>
      <p:bldP spid="13" grpId="3" uiExpand="1"/>
      <p:bldP spid="32" grpId="3" uiExpand="1"/>
      <p:bldP spid="16" grpId="7" uiExpand="1"/>
    </p:bldLst>
  </p:timing>
</p:sld>
</file>

<file path=ppt/slides/slide20.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6F7F4"/>
        </a:solidFill>
      </p:bgPr>
    </p:bg>
    <p:spTree>
      <p:nvGrpSpPr>
        <p:cNvPr id="1" name=""/>
        <p:cNvGrpSpPr/>
        <p:nvPr/>
      </p:nvGrpSpPr>
      <p:grpSpPr>
        <a:xfrm/>
      </p:grpSpPr>
      <p:sp>
        <p:nvSpPr>
          <p:cNvPr id="9" name="fixed">
            <a:extLst>
              <a:ext uri="{FF2B5EF4-FFF2-40B4-BE49-F238E27FC236}">
                <ns2:creationId id="{15EA400B-C084-4FA8-A005-7A5F7ED35FD6}"/>
              </a:ext>
            </a:extLst>
          </p:cNvPr>
          <p:cNvSpPr>
            <a:spLocks noGrp="1"/>
          </p:cNvSpPr>
          <p:nvPr/>
        </p:nvSpPr>
        <p:spPr>
          <a:xfrm>
            <a:off x="609600" y="400050"/>
            <a:ext cx="7620000" cy="381000"/>
          </a:xfrm>
          <a:prstGeom prst="rect">
            <a:avLst/>
          </a:prstGeom>
          <a:noFill/>
          <a:ln w="0">
            <a:noFill/>
          </a:ln>
        </p:spPr>
        <p:txBody>
          <a:bodyPr>
            <a:noAutofit/>
          </a:bodyPr>
          <a:lstStyle/>
          <a:p>
            <a:pPr algn="l">
              <a:defRPr sz="1875" b="1">
                <a:solidFill>
                  <a:srgbClr val="087F8C"/>
                </a:solidFill>
                <a:latin typeface="Times New Roman"/>
                <a:ea typeface="Times New Roman"/>
                <a:cs typeface="Times New Roman"/>
              </a:defRPr>
            </a:pPr>
            <a:r>
              <a:rPr sz="1875" b="1">
                <a:solidFill>
                  <a:srgbClr val="087F8C"/>
                </a:solidFill>
                <a:latin typeface="Times New Roman"/>
                <a:ea typeface="Times New Roman"/>
                <a:cs typeface="Times New Roman"/>
              </a:rPr>
              <a:t>VOICE / ILLUSTRATIVE DECISION EXAMPLE</a:t>
            </a:r>
          </a:p>
        </p:txBody>
      </p:sp>
      <p:sp>
        <p:nvSpPr>
          <p:cNvPr id="2" name="fixed">
            <a:extLst>
              <a:ext uri="{FF2B5EF4-FFF2-40B4-BE49-F238E27FC236}">
                <ns2:creationId id="{5864F139-227F-4A06-A649-1E2C227397EB}"/>
              </a:ext>
            </a:extLst>
          </p:cNvPr>
          <p:cNvSpPr>
            <a:spLocks noGrp="1"/>
          </p:cNvSpPr>
          <p:nvPr/>
        </p:nvSpPr>
        <p:spPr>
          <a:xfrm>
            <a:off x="609600" y="971550"/>
            <a:ext cx="8191500" cy="1171575"/>
          </a:xfrm>
          <a:prstGeom prst="rect">
            <a:avLst/>
          </a:prstGeom>
          <a:noFill/>
          <a:ln w="0">
            <a:noFill/>
          </a:ln>
        </p:spPr>
        <p:txBody>
          <a:bodyPr>
            <a:noAutofit/>
          </a:bodyPr>
          <a:lstStyle/>
          <a:p>
            <a:pPr algn="l">
              <a:defRPr sz="3750" b="1">
                <a:solidFill>
                  <a:srgbClr val="172F3A"/>
                </a:solidFill>
                <a:latin typeface="Times New Roman"/>
                <a:ea typeface="Times New Roman"/>
                <a:cs typeface="Times New Roman"/>
              </a:defRPr>
            </a:pPr>
            <a:r>
              <a:rPr sz="3750" b="1">
                <a:solidFill>
                  <a:srgbClr val="172F3A"/>
                </a:solidFill>
                <a:latin typeface="Times New Roman"/>
                <a:ea typeface="Times New Roman"/>
                <a:cs typeface="Times New Roman"/>
              </a:rPr>
              <a:t>Voice comparison example</a:t>
            </a:r>
          </a:p>
        </p:txBody>
      </p:sp>
      <p:sp>
        <p:nvSpPr>
          <p:cNvPr id="3" name="fixed">
            <a:extLst>
              <a:ext uri="{FF2B5EF4-FFF2-40B4-BE49-F238E27FC236}">
                <ns2:creationId id="{B0648B22-067D-42B7-9B17-A297B89159B9}"/>
              </a:ext>
            </a:extLst>
          </p:cNvPr>
          <p:cNvSpPr>
            <a:spLocks noGrp="1"/>
          </p:cNvSpPr>
          <p:nvPr/>
        </p:nvSpPr>
        <p:spPr>
          <a:xfrm>
            <a:off x="9029700" y="457200"/>
            <a:ext cx="2571750" cy="381000"/>
          </a:xfrm>
          <a:prstGeom prst="rect">
            <a:avLst/>
          </a:prstGeom>
          <a:noFill/>
          <a:ln w="0">
            <a:noFill/>
          </a:ln>
        </p:spPr>
        <p:txBody>
          <a:bodyPr>
            <a:noAutofit/>
          </a:bodyPr>
          <a:lstStyle/>
          <a:p>
            <a:pPr algn="r">
              <a:defRPr sz="1800" b="1">
                <a:solidFill>
                  <a:srgbClr val="087F8C"/>
                </a:solidFill>
                <a:latin typeface="Times New Roman"/>
                <a:ea typeface="Times New Roman"/>
                <a:cs typeface="Times New Roman"/>
              </a:defRPr>
            </a:pPr>
            <a:r>
              <a:rPr sz="1800" b="1">
                <a:solidFill>
                  <a:srgbClr val="087F8C"/>
                </a:solidFill>
                <a:latin typeface="Times New Roman"/>
                <a:ea typeface="Times New Roman"/>
                <a:cs typeface="Times New Roman"/>
              </a:rPr>
              <a:t>IMPLEMENTED</a:t>
            </a:r>
          </a:p>
        </p:txBody>
      </p:sp>
      <p:sp>
        <p:nvSpPr>
          <p:cNvPr id="4" name="fixed">
            <a:extLst>
              <a:ext uri="{FF2B5EF4-FFF2-40B4-BE49-F238E27FC236}">
                <ns2:creationId id="{83219C3F-82C6-474E-AB3D-F11F2031EFCF}"/>
              </a:ext>
            </a:extLst>
          </p:cNvPr>
          <p:cNvSpPr>
            <a:spLocks noGrp="1"/>
          </p:cNvSpPr>
          <p:nvPr/>
        </p:nvSpPr>
        <p:spPr>
          <a:xfrm>
            <a:off x="9029700" y="828675"/>
            <a:ext cx="2571750" cy="304800"/>
          </a:xfrm>
          <a:prstGeom prst="rect">
            <a:avLst/>
          </a:prstGeom>
          <a:noFill/>
          <a:ln w="0">
            <a:noFill/>
          </a:ln>
        </p:spPr>
        <p:txBody>
          <a:bodyPr>
            <a:noAutofit/>
          </a:bodyPr>
          <a:lstStyle/>
          <a:p>
            <a:pPr algn="r">
              <a:defRPr sz="1425" b="0">
                <a:solidFill>
                  <a:srgbClr val="4C6471"/>
                </a:solidFill>
                <a:latin typeface="Times New Roman"/>
                <a:ea typeface="Times New Roman"/>
                <a:cs typeface="Times New Roman"/>
              </a:defRPr>
            </a:pPr>
            <a:r>
              <a:rPr sz="1425" b="0">
                <a:solidFill>
                  <a:srgbClr val="4C6471"/>
                </a:solidFill>
                <a:latin typeface="Times New Roman"/>
                <a:ea typeface="Times New Roman"/>
                <a:cs typeface="Times New Roman"/>
              </a:rPr>
              <a:t>Implementation status</a:t>
            </a:r>
          </a:p>
        </p:txBody>
      </p:sp>
      <p:sp>
        <p:nvSpPr>
          <p:cNvPr id="5" name="fixed">
            <a:extLst>
              <a:ext uri="{FF2B5EF4-FFF2-40B4-BE49-F238E27FC236}">
                <ns2:creationId id="{70AC0EE0-4AB0-4CF8-834A-555805B1F136}"/>
              </a:ext>
            </a:extLst>
          </p:cNvPr>
          <p:cNvSpPr>
            <a:spLocks noGrp="1"/>
          </p:cNvSpPr>
          <p:nvPr/>
        </p:nvSpPr>
        <p:spPr>
          <a:xfrm>
            <a:off x="11029950" y="6334125"/>
            <a:ext cx="523875" cy="285750"/>
          </a:xfrm>
          <a:prstGeom prst="rect">
            <a:avLst/>
          </a:prstGeom>
          <a:noFill/>
          <a:ln w="0">
            <a:noFill/>
          </a:ln>
        </p:spPr>
        <p:txBody>
          <a:bodyPr>
            <a:noAutofit/>
          </a:bodyPr>
          <a:lstStyle/>
          <a:p>
            <a:pPr algn="r">
              <a:defRPr sz="1500" b="0">
                <a:solidFill>
                  <a:srgbClr val="4C6471"/>
                </a:solidFill>
                <a:latin typeface="Times New Roman"/>
                <a:ea typeface="Times New Roman"/>
                <a:cs typeface="Times New Roman"/>
              </a:defRPr>
            </a:pPr>
            <a:r>
              <a:rPr sz="1500" b="0">
                <a:solidFill>
                  <a:srgbClr val="4C6471"/>
                </a:solidFill>
                <a:latin typeface="Times New Roman"/>
                <a:ea typeface="Times New Roman"/>
                <a:cs typeface="Times New Roman"/>
              </a:rPr>
              <a:t>20</a:t>
            </a:r>
          </a:p>
        </p:txBody>
      </p:sp>
      <p:graphicFrame>
        <p:nvGraphicFramePr>
          <p:cNvPr id="14" name=""/>
          <p:cNvGraphicFramePr/>
          <p:nvPr/>
        </p:nvGraphicFramePr>
        <p:xfrm>
          <a:off x="609600" y="2286000"/>
          <a:ext cx="10953750" cy="2571750"/>
        </p:xfrm>
        <a:graphic>
          <a:graphicData uri="http://schemas.openxmlformats.org/drawingml/2006/table">
            <a:tbl>
              <a:tblPr/>
              <a:tblGrid>
                <a:gridCol w="4286250"/>
                <a:gridCol w="3524250"/>
                <a:gridCol w="3143250"/>
              </a:tblGrid>
              <a:tr h="642938">
                <a:tc>
                  <a:txBody>
                    <a:bodyPr/>
                    <a:lstStyle/>
                    <a:p>
                      <a:r>
                        <a:rPr sz="2025" b="1">
                          <a:solidFill>
                            <a:srgbClr val="FFFFFF"/>
                          </a:solidFill>
                          <a:latin typeface="Times New Roman"/>
                          <a:ea typeface="Times New Roman"/>
                          <a:cs typeface="Times New Roman"/>
                        </a:rPr>
                        <a:t>VALID SPEECH SEGMENT</a:t>
                      </a:r>
                    </a:p>
                  </a:txBody>
                  <a:tcPr marL="91440" marR="91440" marT="45720" marB="45720">
                    <a:solidFill>
                      <a:srgbClr val="172F3A"/>
                    </a:solidFill>
                  </a:tcPr>
                </a:tc>
                <a:tc>
                  <a:txBody>
                    <a:bodyPr/>
                    <a:lstStyle/>
                    <a:p>
                      <a:r>
                        <a:rPr sz="2025" b="1">
                          <a:solidFill>
                            <a:srgbClr val="FFFFFF"/>
                          </a:solidFill>
                          <a:latin typeface="Times New Roman"/>
                          <a:ea typeface="Times New Roman"/>
                          <a:cs typeface="Times New Roman"/>
                        </a:rPr>
                        <a:t>ILLUSTRATIVE SIMILARITY</a:t>
                      </a:r>
                    </a:p>
                  </a:txBody>
                  <a:tcPr marL="91440" marR="91440" marT="45720" marB="45720">
                    <a:solidFill>
                      <a:srgbClr val="172F3A"/>
                    </a:solidFill>
                  </a:tcPr>
                </a:tc>
                <a:tc>
                  <a:txBody>
                    <a:bodyPr/>
                    <a:lstStyle/>
                    <a:p>
                      <a:r>
                        <a:rPr sz="2025" b="1">
                          <a:solidFill>
                            <a:srgbClr val="FFFFFF"/>
                          </a:solidFill>
                          <a:latin typeface="Times New Roman"/>
                          <a:ea typeface="Times New Roman"/>
                          <a:cs typeface="Times New Roman"/>
                        </a:rPr>
                        <a:t>RESULT</a:t>
                      </a:r>
                    </a:p>
                  </a:txBody>
                  <a:tcPr marL="91440" marR="91440" marT="45720" marB="45720">
                    <a:solidFill>
                      <a:srgbClr val="172F3A"/>
                    </a:solidFill>
                  </a:tcPr>
                </a:tc>
              </a:tr>
              <a:tr h="642938">
                <a:tc>
                  <a:txBody>
                    <a:bodyPr/>
                    <a:lstStyle/>
                    <a:p>
                      <a:r>
                        <a:rPr sz="2025" b="0">
                          <a:solidFill>
                            <a:srgbClr val="172F3A"/>
                          </a:solidFill>
                          <a:latin typeface="Times New Roman"/>
                          <a:ea typeface="Times New Roman"/>
                          <a:cs typeface="Times New Roman"/>
                        </a:rPr>
                        <a:t>Candidate reference match</a:t>
                      </a:r>
                    </a:p>
                  </a:txBody>
                  <a:tcPr marL="91440" marR="91440" marT="45720" marB="45720">
                    <a:solidFill>
                      <a:srgbClr val="E7EEEA"/>
                    </a:solidFill>
                  </a:tcPr>
                </a:tc>
                <a:tc>
                  <a:txBody>
                    <a:bodyPr/>
                    <a:lstStyle/>
                    <a:p>
                      <a:r>
                        <a:rPr sz="2025" b="0">
                          <a:solidFill>
                            <a:srgbClr val="172F3A"/>
                          </a:solidFill>
                          <a:latin typeface="Times New Roman"/>
                          <a:ea typeface="Times New Roman"/>
                          <a:cs typeface="Times New Roman"/>
                        </a:rPr>
                        <a:t>0.86</a:t>
                      </a:r>
                    </a:p>
                  </a:txBody>
                  <a:tcPr marL="91440" marR="91440" marT="45720" marB="45720">
                    <a:solidFill>
                      <a:srgbClr val="E7EEEA"/>
                    </a:solidFill>
                  </a:tcPr>
                </a:tc>
                <a:tc>
                  <a:txBody>
                    <a:bodyPr/>
                    <a:lstStyle/>
                    <a:p>
                      <a:r>
                        <a:rPr sz="2025" b="0">
                          <a:solidFill>
                            <a:srgbClr val="172F3A"/>
                          </a:solidFill>
                          <a:latin typeface="Times New Roman"/>
                          <a:ea typeface="Times New Roman"/>
                          <a:cs typeface="Times New Roman"/>
                        </a:rPr>
                        <a:t>Clear mismatch count</a:t>
                      </a:r>
                    </a:p>
                  </a:txBody>
                  <a:tcPr marL="91440" marR="91440" marT="45720" marB="45720">
                    <a:solidFill>
                      <a:srgbClr val="E7EEEA"/>
                    </a:solidFill>
                  </a:tcPr>
                </a:tc>
              </a:tr>
              <a:tr h="642938">
                <a:tc>
                  <a:txBody>
                    <a:bodyPr/>
                    <a:lstStyle/>
                    <a:p>
                      <a:r>
                        <a:rPr sz="2025" b="0">
                          <a:solidFill>
                            <a:srgbClr val="172F3A"/>
                          </a:solidFill>
                          <a:latin typeface="Times New Roman"/>
                          <a:ea typeface="Times New Roman"/>
                          <a:cs typeface="Times New Roman"/>
                        </a:rPr>
                        <a:t>First different-voice segment</a:t>
                      </a:r>
                    </a:p>
                  </a:txBody>
                  <a:tcPr marL="91440" marR="91440" marT="45720" marB="45720">
                    <a:solidFill>
                      <a:srgbClr val="F6F7F4"/>
                    </a:solidFill>
                  </a:tcPr>
                </a:tc>
                <a:tc>
                  <a:txBody>
                    <a:bodyPr/>
                    <a:lstStyle/>
                    <a:p>
                      <a:r>
                        <a:rPr sz="2025" b="0">
                          <a:solidFill>
                            <a:srgbClr val="172F3A"/>
                          </a:solidFill>
                          <a:latin typeface="Times New Roman"/>
                          <a:ea typeface="Times New Roman"/>
                          <a:cs typeface="Times New Roman"/>
                        </a:rPr>
                        <a:t>0.62</a:t>
                      </a:r>
                    </a:p>
                  </a:txBody>
                  <a:tcPr marL="91440" marR="91440" marT="45720" marB="45720">
                    <a:solidFill>
                      <a:srgbClr val="F6F7F4"/>
                    </a:solidFill>
                  </a:tcPr>
                </a:tc>
                <a:tc>
                  <a:txBody>
                    <a:bodyPr/>
                    <a:lstStyle/>
                    <a:p>
                      <a:r>
                        <a:rPr sz="2025" b="0">
                          <a:solidFill>
                            <a:srgbClr val="172F3A"/>
                          </a:solidFill>
                          <a:latin typeface="Times New Roman"/>
                          <a:ea typeface="Times New Roman"/>
                          <a:cs typeface="Times New Roman"/>
                        </a:rPr>
                        <a:t>Mismatch 1, no alert yet</a:t>
                      </a:r>
                    </a:p>
                  </a:txBody>
                  <a:tcPr marL="91440" marR="91440" marT="45720" marB="45720">
                    <a:solidFill>
                      <a:srgbClr val="F6F7F4"/>
                    </a:solidFill>
                  </a:tcPr>
                </a:tc>
              </a:tr>
              <a:tr h="642938">
                <a:tc>
                  <a:txBody>
                    <a:bodyPr/>
                    <a:lstStyle/>
                    <a:p>
                      <a:r>
                        <a:rPr sz="2025" b="0">
                          <a:solidFill>
                            <a:srgbClr val="172F3A"/>
                          </a:solidFill>
                          <a:latin typeface="Times New Roman"/>
                          <a:ea typeface="Times New Roman"/>
                          <a:cs typeface="Times New Roman"/>
                        </a:rPr>
                        <a:t>Second different-voice segment</a:t>
                      </a:r>
                    </a:p>
                  </a:txBody>
                  <a:tcPr marL="91440" marR="91440" marT="45720" marB="45720">
                    <a:solidFill>
                      <a:srgbClr val="E7EEEA"/>
                    </a:solidFill>
                  </a:tcPr>
                </a:tc>
                <a:tc>
                  <a:txBody>
                    <a:bodyPr/>
                    <a:lstStyle/>
                    <a:p>
                      <a:r>
                        <a:rPr sz="2025" b="0">
                          <a:solidFill>
                            <a:srgbClr val="172F3A"/>
                          </a:solidFill>
                          <a:latin typeface="Times New Roman"/>
                          <a:ea typeface="Times New Roman"/>
                          <a:cs typeface="Times New Roman"/>
                        </a:rPr>
                        <a:t>0.61</a:t>
                      </a:r>
                    </a:p>
                  </a:txBody>
                  <a:tcPr marL="91440" marR="91440" marT="45720" marB="45720">
                    <a:solidFill>
                      <a:srgbClr val="E7EEEA"/>
                    </a:solidFill>
                  </a:tcPr>
                </a:tc>
                <a:tc>
                  <a:txBody>
                    <a:bodyPr/>
                    <a:lstStyle/>
                    <a:p>
                      <a:r>
                        <a:rPr sz="2025" b="0">
                          <a:solidFill>
                            <a:srgbClr val="172F3A"/>
                          </a:solidFill>
                          <a:latin typeface="Times New Roman"/>
                          <a:ea typeface="Times New Roman"/>
                          <a:cs typeface="Times New Roman"/>
                        </a:rPr>
                        <a:t>Mismatch 2, save clip and alert</a:t>
                      </a:r>
                    </a:p>
                  </a:txBody>
                  <a:tcPr marL="91440" marR="91440" marT="45720" marB="45720">
                    <a:solidFill>
                      <a:srgbClr val="E7EEEA"/>
                    </a:solidFill>
                  </a:tcPr>
                </a:tc>
              </a:tr>
            </a:tbl>
          </a:graphicData>
        </a:graphic>
      </p:graphicFrame>
      <p:sp>
        <p:nvSpPr>
          <p:cNvPr id="7" name="reveal-1">
            <a:extLst>
              <a:ext uri="{FF2B5EF4-FFF2-40B4-BE49-F238E27FC236}">
                <ns2:creationId id="{95E26A45-6866-40F7-AD20-1BDE127DBD25}"/>
              </a:ext>
            </a:extLst>
          </p:cNvPr>
          <p:cNvSpPr>
            <a:spLocks noGrp="1"/>
          </p:cNvSpPr>
          <p:nvPr/>
        </p:nvSpPr>
        <p:spPr>
          <a:xfrm>
            <a:off x="609600" y="5314950"/>
            <a:ext cx="10810875" cy="590550"/>
          </a:xfrm>
          <a:prstGeom prst="rect">
            <a:avLst/>
          </a:prstGeom>
          <a:noFill/>
          <a:ln w="0">
            <a:noFill/>
          </a:ln>
        </p:spPr>
        <p:txBody>
          <a:bodyPr>
            <a:noAutofit/>
          </a:bodyPr>
          <a:lstStyle/>
          <a:p>
            <a:pPr algn="l">
              <a:defRPr sz="2550" b="1">
                <a:solidFill>
                  <a:srgbClr val="087F8C"/>
                </a:solidFill>
                <a:latin typeface="Times New Roman"/>
                <a:ea typeface="Times New Roman"/>
                <a:cs typeface="Times New Roman"/>
              </a:defRPr>
            </a:pPr>
            <a:r>
              <a:rPr sz="2550" b="1">
                <a:solidFill>
                  <a:srgbClr val="087F8C"/>
                </a:solidFill>
                <a:latin typeface="Times New Roman"/>
                <a:ea typeface="Times New Roman"/>
                <a:cs typeface="Times New Roman"/>
              </a:rPr>
              <a:t>Short or clipped audio does not count as a valid mismatch</a:t>
            </a:r>
          </a:p>
        </p:txBody>
      </p:sp>
      <p:sp>
        <p:nvSpPr>
          <p:cNvPr id="8" name="fixed">
            <a:extLst>
              <a:ext uri="{FF2B5EF4-FFF2-40B4-BE49-F238E27FC236}">
                <ns2:creationId id="{E0AB773F-0209-43EE-B76F-30BC803EE9B7}"/>
              </a:ext>
            </a:extLst>
          </p:cNvPr>
          <p:cNvSpPr>
            <a:spLocks noGrp="1"/>
          </p:cNvSpPr>
          <p:nvPr/>
        </p:nvSpPr>
        <p:spPr>
          <a:xfrm>
            <a:off x="609600" y="5953125"/>
            <a:ext cx="10668000" cy="457200"/>
          </a:xfrm>
          <a:prstGeom prst="rect">
            <a:avLst/>
          </a:prstGeom>
          <a:noFill/>
          <a:ln w="0">
            <a:noFill/>
          </a:ln>
        </p:spPr>
        <p:txBody>
          <a:bodyPr>
            <a:noAutofit/>
          </a:bodyPr>
          <a:lstStyle/>
          <a:p>
            <a:pPr algn="l">
              <a:defRPr sz="1725" b="0">
                <a:solidFill>
                  <a:srgbClr val="4C6471"/>
                </a:solidFill>
                <a:latin typeface="Times New Roman"/>
                <a:ea typeface="Times New Roman"/>
                <a:cs typeface="Times New Roman"/>
              </a:defRPr>
            </a:pPr>
            <a:r>
              <a:rPr sz="1725" b="0">
                <a:solidFill>
                  <a:srgbClr val="4C6471"/>
                </a:solidFill>
                <a:latin typeface="Times New Roman"/>
                <a:ea typeface="Times New Roman"/>
                <a:cs typeface="Times New Roman"/>
              </a:rPr>
              <a:t>Illustrative values. Actual threshold performance requires quiet-room and noisy-room trials.</a:t>
            </a:r>
          </a:p>
        </p:txBody>
      </p:sp>
    </p:spTree>
    <p:extLst>
      <p:ext uri="{BB962C8B-B14F-4D97-AF65-F5344CB8AC3E}">
        <ns3:creationId val="910422935"/>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1" nodeType="clickEffect">
                            <p:stCondLst>
                              <p:cond delay="0"/>
                            </p:stCondLst>
                            <p:childTnLst>
                              <p:set>
                                <p:cBhvr>
                                  <p:cTn id="5" dur="1" fill="hold">
                                    <p:stCondLst>
                                      <p:cond delay="0"/>
                                    </p:stCondLst>
                                  </p:cTn>
                                  <p:tgtEl>
                                    <p:spTgt spid="7"/>
                                  </p:tgtEl>
                                  <p:attrNameLst>
                                    <p:attrName>style.visibility</p:attrName>
                                  </p:attrNameLst>
                                </p:cBhvr>
                                <p:to>
                                  <p:strVal val="visible"/>
                                </p:to>
                              </p:set>
                              <p:animEffect transition="in" filter="fade">
                                <p:cBhvr>
                                  <p:cTn id="6" dur="350"/>
                                  <p:tgtEl>
                                    <p:spTgt spid="7"/>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7" grpId="1" uiExpand="1"/>
    </p:bldLst>
  </p:timing>
</p:sld>
</file>

<file path=ppt/slides/slide21.xml><?xml version="1.0" encoding="utf-8"?>
<p:sld xmlns:a="http://schemas.openxmlformats.org/drawingml/2006/main" xmlns:ns3="http://schemas.microsoft.com/office/drawing/2014/main" xmlns:ns4="http://schemas.microsoft.com/office/powerpoint/2010/main" xmlns:p="http://schemas.openxmlformats.org/presentationml/2006/main" xmlns:r="http://schemas.openxmlformats.org/officeDocument/2006/relationships">
  <p:cSld>
    <p:bg>
      <p:bgPr>
        <a:solidFill>
          <a:srgbClr val="081321"/>
        </a:solidFill>
      </p:bgPr>
    </p:bg>
    <p:spTree>
      <p:nvGrpSpPr>
        <p:cNvPr id="1" name=""/>
        <p:cNvGrpSpPr/>
        <p:nvPr/>
      </p:nvGrpSpPr>
      <p:grpSpPr>
        <a:xfrm/>
      </p:grpSpPr>
      <p:pic>
        <p:nvPicPr>
          <p:cNvPr id="15" name=""/>
          <p:cNvPicPr>
            <a:picLocks noChangeAspect="1"/>
          </p:cNvPicPr>
          <p:nvPr/>
        </p:nvPicPr>
        <p:blipFill>
          <a:blip r:embed="Re7653da8df564202"/>
          <a:srcRect l="0" t="27" r="0" b="27"/>
          <a:stretch>
            <a:fillRect l="0" t="0" r="0" b="0"/>
          </a:stretch>
        </p:blipFill>
        <p:spPr>
          <a:xfrm>
            <a:off x="0" y="0"/>
            <a:ext cx="12192000" cy="6858000"/>
          </a:xfrm>
          <a:prstGeom prst="rect">
            <a:avLst/>
          </a:prstGeom>
        </p:spPr>
      </p:pic>
      <p:sp>
        <p:nvSpPr>
          <p:cNvPr id="2" name="fixed">
            <a:extLst>
              <a:ext uri="{FF2B5EF4-FFF2-40B4-BE49-F238E27FC236}">
                <ns3:creationId id="{E7614B49-8F1E-48A3-897E-0A6B1B2EDF99}"/>
              </a:ext>
            </a:extLst>
          </p:cNvPr>
          <p:cNvSpPr>
            <a:spLocks noGrp="1"/>
          </p:cNvSpPr>
          <p:nvPr/>
        </p:nvSpPr>
        <p:spPr>
          <a:xfrm>
            <a:off x="609600" y="400050"/>
            <a:ext cx="7620000" cy="381000"/>
          </a:xfrm>
          <a:prstGeom prst="rect">
            <a:avLst/>
          </a:prstGeom>
          <a:noFill/>
          <a:ln w="0">
            <a:noFill/>
          </a:ln>
        </p:spPr>
        <p:txBody>
          <a:bodyPr>
            <a:noAutofit/>
          </a:bodyPr>
          <a:lstStyle/>
          <a:p>
            <a:pPr algn="l">
              <a:defRPr sz="1875" b="1">
                <a:solidFill>
                  <a:srgbClr val="E9BF78"/>
                </a:solidFill>
                <a:latin typeface="Times New Roman"/>
                <a:ea typeface="Times New Roman"/>
                <a:cs typeface="Times New Roman"/>
              </a:defRPr>
            </a:pPr>
            <a:r>
              <a:rPr sz="1875" b="1">
                <a:solidFill>
                  <a:srgbClr val="E9BF78"/>
                </a:solidFill>
                <a:latin typeface="Times New Roman"/>
                <a:ea typeface="Times New Roman"/>
                <a:cs typeface="Times New Roman"/>
              </a:rPr>
              <a:t>MODULE 03</a:t>
            </a:r>
          </a:p>
        </p:txBody>
      </p:sp>
      <p:sp>
        <p:nvSpPr>
          <p:cNvPr id="3" name="fixed">
            <a:extLst>
              <a:ext uri="{FF2B5EF4-FFF2-40B4-BE49-F238E27FC236}">
                <ns3:creationId id="{0211075A-F8D2-47A7-9CE7-5446E99FEBD8}"/>
              </a:ext>
            </a:extLst>
          </p:cNvPr>
          <p:cNvSpPr>
            <a:spLocks noGrp="1"/>
          </p:cNvSpPr>
          <p:nvPr/>
        </p:nvSpPr>
        <p:spPr>
          <a:xfrm>
            <a:off x="609600" y="971550"/>
            <a:ext cx="8191500" cy="1171575"/>
          </a:xfrm>
          <a:prstGeom prst="rect">
            <a:avLst/>
          </a:prstGeom>
          <a:noFill/>
          <a:ln w="0">
            <a:noFill/>
          </a:ln>
        </p:spPr>
        <p:txBody>
          <a:bodyPr>
            <a:noAutofit/>
          </a:bodyPr>
          <a:lstStyle/>
          <a:p>
            <a:pPr algn="l">
              <a:defRPr sz="3750" b="1">
                <a:solidFill>
                  <a:srgbClr val="FFFFFF"/>
                </a:solidFill>
                <a:latin typeface="Times New Roman"/>
                <a:ea typeface="Times New Roman"/>
                <a:cs typeface="Times New Roman"/>
              </a:defRPr>
            </a:pPr>
            <a:r>
              <a:rPr sz="3750" b="1">
                <a:solidFill>
                  <a:srgbClr val="FFFFFF"/>
                </a:solidFill>
                <a:latin typeface="Times New Roman"/>
                <a:ea typeface="Times New Roman"/>
                <a:cs typeface="Times New Roman"/>
              </a:rPr>
              <a:t>Evidence capture and delivery</a:t>
            </a:r>
          </a:p>
        </p:txBody>
      </p:sp>
      <p:sp>
        <p:nvSpPr>
          <p:cNvPr id="4" name="fixed">
            <a:extLst>
              <a:ext uri="{FF2B5EF4-FFF2-40B4-BE49-F238E27FC236}">
                <ns3:creationId id="{9D218094-32EA-47EF-9546-4478CEC186BA}"/>
              </a:ext>
            </a:extLst>
          </p:cNvPr>
          <p:cNvSpPr>
            <a:spLocks noGrp="1"/>
          </p:cNvSpPr>
          <p:nvPr/>
        </p:nvSpPr>
        <p:spPr>
          <a:xfrm>
            <a:off x="9029700" y="457200"/>
            <a:ext cx="2571750" cy="381000"/>
          </a:xfrm>
          <a:prstGeom prst="rect">
            <a:avLst/>
          </a:prstGeom>
          <a:noFill/>
          <a:ln w="0">
            <a:noFill/>
          </a:ln>
        </p:spPr>
        <p:txBody>
          <a:bodyPr>
            <a:noAutofit/>
          </a:bodyPr>
          <a:lstStyle/>
          <a:p>
            <a:pPr algn="r">
              <a:defRPr sz="1800" b="1">
                <a:solidFill>
                  <a:srgbClr val="74E6CF"/>
                </a:solidFill>
                <a:latin typeface="Times New Roman"/>
                <a:ea typeface="Times New Roman"/>
                <a:cs typeface="Times New Roman"/>
              </a:defRPr>
            </a:pPr>
            <a:r>
              <a:rPr sz="1800" b="1">
                <a:solidFill>
                  <a:srgbClr val="74E6CF"/>
                </a:solidFill>
                <a:latin typeface="Times New Roman"/>
                <a:ea typeface="Times New Roman"/>
                <a:cs typeface="Times New Roman"/>
              </a:rPr>
              <a:t>COMPLETED</a:t>
            </a:r>
          </a:p>
        </p:txBody>
      </p:sp>
      <p:sp>
        <p:nvSpPr>
          <p:cNvPr id="5" name="fixed">
            <a:extLst>
              <a:ext uri="{FF2B5EF4-FFF2-40B4-BE49-F238E27FC236}">
                <ns3:creationId id="{4B62E2C7-95F4-48FC-BCF5-913276EBF002}"/>
              </a:ext>
            </a:extLst>
          </p:cNvPr>
          <p:cNvSpPr>
            <a:spLocks noGrp="1"/>
          </p:cNvSpPr>
          <p:nvPr/>
        </p:nvSpPr>
        <p:spPr>
          <a:xfrm>
            <a:off x="9029700" y="828675"/>
            <a:ext cx="2571750" cy="304800"/>
          </a:xfrm>
          <a:prstGeom prst="rect">
            <a:avLst/>
          </a:prstGeom>
          <a:noFill/>
          <a:ln w="0">
            <a:noFill/>
          </a:ln>
        </p:spPr>
        <p:txBody>
          <a:bodyPr>
            <a:noAutofit/>
          </a:bodyPr>
          <a:lstStyle/>
          <a:p>
            <a:pPr algn="r">
              <a:defRPr sz="1425" b="0">
                <a:solidFill>
                  <a:srgbClr val="C5D9DE"/>
                </a:solidFill>
                <a:latin typeface="Times New Roman"/>
                <a:ea typeface="Times New Roman"/>
                <a:cs typeface="Times New Roman"/>
              </a:defRPr>
            </a:pPr>
            <a:r>
              <a:rPr sz="1425" b="0">
                <a:solidFill>
                  <a:srgbClr val="C5D9DE"/>
                </a:solidFill>
                <a:latin typeface="Times New Roman"/>
                <a:ea typeface="Times New Roman"/>
                <a:cs typeface="Times New Roman"/>
              </a:rPr>
              <a:t>Implementation status</a:t>
            </a:r>
          </a:p>
        </p:txBody>
      </p:sp>
      <p:sp>
        <p:nvSpPr>
          <p:cNvPr id="6" name="fixed">
            <a:extLst>
              <a:ext uri="{FF2B5EF4-FFF2-40B4-BE49-F238E27FC236}">
                <ns3:creationId id="{B5EBAE13-C17F-4706-8888-DC4AC8EEFF61}"/>
              </a:ext>
            </a:extLst>
          </p:cNvPr>
          <p:cNvSpPr>
            <a:spLocks noGrp="1"/>
          </p:cNvSpPr>
          <p:nvPr/>
        </p:nvSpPr>
        <p:spPr>
          <a:xfrm>
            <a:off x="11029950" y="6334125"/>
            <a:ext cx="523875" cy="285750"/>
          </a:xfrm>
          <a:prstGeom prst="rect">
            <a:avLst/>
          </a:prstGeom>
          <a:noFill/>
          <a:ln w="0">
            <a:noFill/>
          </a:ln>
        </p:spPr>
        <p:txBody>
          <a:bodyPr>
            <a:noAutofit/>
          </a:bodyPr>
          <a:lstStyle/>
          <a:p>
            <a:pPr algn="r">
              <a:defRPr sz="1500" b="0">
                <a:solidFill>
                  <a:srgbClr val="B6CCD3"/>
                </a:solidFill>
                <a:latin typeface="Times New Roman"/>
                <a:ea typeface="Times New Roman"/>
                <a:cs typeface="Times New Roman"/>
              </a:defRPr>
            </a:pPr>
            <a:r>
              <a:rPr sz="1500" b="0">
                <a:solidFill>
                  <a:srgbClr val="B6CCD3"/>
                </a:solidFill>
                <a:latin typeface="Times New Roman"/>
                <a:ea typeface="Times New Roman"/>
                <a:cs typeface="Times New Roman"/>
              </a:rPr>
              <a:t>21</a:t>
            </a:r>
          </a:p>
        </p:txBody>
      </p:sp>
      <p:sp>
        <p:nvSpPr>
          <p:cNvPr id="7" name="reveal-1">
            <a:extLst>
              <a:ext uri="{FF2B5EF4-FFF2-40B4-BE49-F238E27FC236}">
                <ns3:creationId id="{16A2E042-A619-41AA-8992-839D3A339F7A}"/>
              </a:ext>
            </a:extLst>
          </p:cNvPr>
          <p:cNvSpPr>
            <a:spLocks noGrp="1"/>
          </p:cNvSpPr>
          <p:nvPr/>
        </p:nvSpPr>
        <p:spPr>
          <a:xfrm>
            <a:off x="609600" y="2533650"/>
            <a:ext cx="7620000" cy="1181100"/>
          </a:xfrm>
          <a:prstGeom prst="rect">
            <a:avLst/>
          </a:prstGeom>
          <a:noFill/>
          <a:ln w="0">
            <a:noFill/>
          </a:ln>
        </p:spPr>
        <p:txBody>
          <a:bodyPr>
            <a:noAutofit/>
          </a:bodyPr>
          <a:lstStyle/>
          <a:p>
            <a:pPr algn="l">
              <a:defRPr sz="2700" b="0">
                <a:solidFill>
                  <a:srgbClr val="FFFFFF"/>
                </a:solidFill>
                <a:latin typeface="Times New Roman"/>
                <a:ea typeface="Times New Roman"/>
                <a:cs typeface="Times New Roman"/>
              </a:defRPr>
            </a:pPr>
            <a:r>
              <a:rPr sz="2700" b="0">
                <a:solidFill>
                  <a:srgbClr val="FFFFFF"/>
                </a:solidFill>
                <a:latin typeface="Times New Roman"/>
                <a:ea typeface="Times New Roman"/>
                <a:cs typeface="Times New Roman"/>
              </a:rPr>
              <a:t>Preserve event context so an examiner can inspect what caused the alert.</a:t>
            </a:r>
          </a:p>
        </p:txBody>
      </p:sp>
      <p:sp>
        <p:nvSpPr>
          <p:cNvPr id="8" name="reveal-2">
            <a:extLst>
              <a:ext uri="{FF2B5EF4-FFF2-40B4-BE49-F238E27FC236}">
                <ns3:creationId id="{25D994FD-9E5D-4F6E-8137-6994AED8B616}"/>
              </a:ext>
            </a:extLst>
          </p:cNvPr>
          <p:cNvSpPr>
            <a:spLocks noGrp="1"/>
          </p:cNvSpPr>
          <p:nvPr/>
        </p:nvSpPr>
        <p:spPr>
          <a:xfrm>
            <a:off x="609600" y="3867150"/>
            <a:ext cx="7334250" cy="323850"/>
          </a:xfrm>
          <a:prstGeom prst="rect">
            <a:avLst/>
          </a:prstGeom>
          <a:noFill/>
          <a:ln w="0">
            <a:noFill/>
          </a:ln>
        </p:spPr>
        <p:txBody>
          <a:bodyPr>
            <a:noAutofit/>
          </a:bodyPr>
          <a:lstStyle/>
          <a:p>
            <a:pPr algn="l">
              <a:defRPr sz="1725" b="1">
                <a:solidFill>
                  <a:srgbClr val="E9BF78"/>
                </a:solidFill>
                <a:latin typeface="Times New Roman"/>
                <a:ea typeface="Times New Roman"/>
                <a:cs typeface="Times New Roman"/>
              </a:defRPr>
            </a:pPr>
            <a:r>
              <a:rPr sz="1725" b="1">
                <a:solidFill>
                  <a:srgbClr val="E9BF78"/>
                </a:solidFill>
                <a:latin typeface="Times New Roman"/>
                <a:ea typeface="Times New Roman"/>
                <a:cs typeface="Times New Roman"/>
              </a:rPr>
              <a:t>MAIN COMPONENTS</a:t>
            </a:r>
          </a:p>
        </p:txBody>
      </p:sp>
      <p:sp>
        <p:nvSpPr>
          <p:cNvPr id="9" name="reveal-2">
            <a:extLst>
              <a:ext uri="{FF2B5EF4-FFF2-40B4-BE49-F238E27FC236}">
                <ns3:creationId id="{5B662E25-D44E-488B-9D85-CF8A0C55ACDD}"/>
              </a:ext>
            </a:extLst>
          </p:cNvPr>
          <p:cNvSpPr>
            <a:spLocks noGrp="1"/>
          </p:cNvSpPr>
          <p:nvPr/>
        </p:nvSpPr>
        <p:spPr>
          <a:xfrm>
            <a:off x="609600" y="4267200"/>
            <a:ext cx="7905750" cy="600075"/>
          </a:xfrm>
          <a:prstGeom prst="rect">
            <a:avLst/>
          </a:prstGeom>
          <a:noFill/>
          <a:ln w="0">
            <a:noFill/>
          </a:ln>
        </p:spPr>
        <p:txBody>
          <a:bodyPr>
            <a:noAutofit/>
          </a:bodyPr>
          <a:lstStyle/>
          <a:p>
            <a:pPr algn="l">
              <a:defRPr sz="2175" b="0">
                <a:solidFill>
                  <a:srgbClr val="D8E6E9"/>
                </a:solidFill>
                <a:latin typeface="Times New Roman"/>
                <a:ea typeface="Times New Roman"/>
                <a:cs typeface="Times New Roman"/>
              </a:defRPr>
            </a:pPr>
            <a:r>
              <a:rPr sz="2175" b="0">
                <a:solidFill>
                  <a:srgbClr val="D8E6E9"/>
                </a:solidFill>
                <a:latin typeface="Times New Roman"/>
                <a:ea typeface="Times New Roman"/>
                <a:cs typeface="Times New Roman"/>
              </a:rPr>
              <a:t>JPEG / WAV capture  /  SQLite spool  /  Electron retry queue</a:t>
            </a:r>
          </a:p>
        </p:txBody>
      </p:sp>
      <p:sp>
        <p:nvSpPr>
          <p:cNvPr id="10" name="reveal-3">
            <a:extLst>
              <a:ext uri="{FF2B5EF4-FFF2-40B4-BE49-F238E27FC236}">
                <ns3:creationId id="{30400C15-41A7-4237-A424-C003764ECB95}"/>
              </a:ext>
            </a:extLst>
          </p:cNvPr>
          <p:cNvSpPr>
            <a:spLocks noGrp="1"/>
          </p:cNvSpPr>
          <p:nvPr/>
        </p:nvSpPr>
        <p:spPr>
          <a:xfrm>
            <a:off x="609600" y="5219700"/>
            <a:ext cx="3346450" cy="952500"/>
          </a:xfrm>
          <a:prstGeom prst="rect">
            <a:avLst/>
          </a:prstGeom>
          <a:solidFill>
            <a:srgbClr val="123342"/>
          </a:solidFill>
          <a:ln w="9525">
            <a:solidFill>
              <a:srgbClr val="466D77"/>
            </a:solidFill>
          </a:ln>
        </p:spPr>
        <p:txBody>
          <a:bodyPr anchor="ctr"/>
          <a:lstStyle/>
          <a:p>
            <a:pPr algn="ctr">
              <a:defRPr sz="2025" b="1">
                <a:solidFill>
                  <a:srgbClr val="FFFFFF"/>
                </a:solidFill>
                <a:latin typeface="Times New Roman"/>
                <a:ea typeface="Times New Roman"/>
                <a:cs typeface="Times New Roman"/>
              </a:defRPr>
            </a:pPr>
            <a:r>
              <a:rPr sz="2025" b="1">
                <a:solidFill>
                  <a:srgbClr val="FFFFFF"/>
                </a:solidFill>
                <a:latin typeface="Times New Roman"/>
                <a:ea typeface="Times New Roman"/>
                <a:cs typeface="Times New Roman"/>
              </a:rPr>
              <a:t>Monitoring event</a:t>
            </a:r>
          </a:p>
        </p:txBody>
      </p:sp>
      <p:sp>
        <p:nvSpPr>
          <p:cNvPr id="11" name="reveal-4">
            <a:extLst>
              <a:ext uri="{FF2B5EF4-FFF2-40B4-BE49-F238E27FC236}">
                <ns3:creationId id="{B4A3B68D-8FF8-43C2-BBBA-5986D9907E51}"/>
              </a:ext>
            </a:extLst>
          </p:cNvPr>
          <p:cNvSpPr>
            <a:spLocks noGrp="1"/>
          </p:cNvSpPr>
          <p:nvPr/>
        </p:nvSpPr>
        <p:spPr>
          <a:xfrm>
            <a:off x="4413250" y="5219700"/>
            <a:ext cx="3346450" cy="952500"/>
          </a:xfrm>
          <a:prstGeom prst="rect">
            <a:avLst/>
          </a:prstGeom>
          <a:solidFill>
            <a:srgbClr val="123342"/>
          </a:solidFill>
          <a:ln w="9525">
            <a:solidFill>
              <a:srgbClr val="466D77"/>
            </a:solidFill>
          </a:ln>
        </p:spPr>
        <p:txBody>
          <a:bodyPr anchor="ctr"/>
          <a:lstStyle/>
          <a:p>
            <a:pPr algn="ctr">
              <a:defRPr sz="2025" b="1">
                <a:solidFill>
                  <a:srgbClr val="FFFFFF"/>
                </a:solidFill>
                <a:latin typeface="Times New Roman"/>
                <a:ea typeface="Times New Roman"/>
                <a:cs typeface="Times New Roman"/>
              </a:defRPr>
            </a:pPr>
            <a:r>
              <a:rPr sz="2025" b="1">
                <a:solidFill>
                  <a:srgbClr val="FFFFFF"/>
                </a:solidFill>
                <a:latin typeface="Times New Roman"/>
                <a:ea typeface="Times New Roman"/>
                <a:cs typeface="Times New Roman"/>
              </a:rPr>
              <a:t>Evidence and event ID</a:t>
            </a:r>
          </a:p>
        </p:txBody>
      </p:sp>
      <p:sp>
        <p:nvSpPr>
          <p:cNvPr id="12" name="reveal-5">
            <a:extLst>
              <a:ext uri="{FF2B5EF4-FFF2-40B4-BE49-F238E27FC236}">
                <ns3:creationId id="{936111C6-6A28-4616-934A-795D0FD0AFEA}"/>
              </a:ext>
            </a:extLst>
          </p:cNvPr>
          <p:cNvSpPr>
            <a:spLocks noGrp="1"/>
          </p:cNvSpPr>
          <p:nvPr/>
        </p:nvSpPr>
        <p:spPr>
          <a:xfrm>
            <a:off x="8216900" y="5219700"/>
            <a:ext cx="3346450" cy="952500"/>
          </a:xfrm>
          <a:prstGeom prst="rect">
            <a:avLst/>
          </a:prstGeom>
          <a:solidFill>
            <a:srgbClr val="123342"/>
          </a:solidFill>
          <a:ln w="9525">
            <a:solidFill>
              <a:srgbClr val="466D77"/>
            </a:solidFill>
          </a:ln>
        </p:spPr>
        <p:txBody>
          <a:bodyPr anchor="ctr"/>
          <a:lstStyle/>
          <a:p>
            <a:pPr algn="ctr">
              <a:defRPr sz="2025" b="1">
                <a:solidFill>
                  <a:srgbClr val="FFFFFF"/>
                </a:solidFill>
                <a:latin typeface="Times New Roman"/>
                <a:ea typeface="Times New Roman"/>
                <a:cs typeface="Times New Roman"/>
              </a:defRPr>
            </a:pPr>
            <a:r>
              <a:rPr sz="2025" b="1">
                <a:solidFill>
                  <a:srgbClr val="FFFFFF"/>
                </a:solidFill>
                <a:latin typeface="Times New Roman"/>
                <a:ea typeface="Times New Roman"/>
                <a:cs typeface="Times New Roman"/>
              </a:rPr>
              <a:t>Server persistence</a:t>
            </a:r>
          </a:p>
        </p:txBody>
      </p:sp>
      <p:cxnSp>
        <p:nvCxnSpPr>
          <p:cNvPr id="27" name="reveal-4"/>
          <p:cNvCxnSpPr>
            <a:stCxn id="10" idx="3"/>
            <a:endCxn id="11" idx="1"/>
          </p:cNvCxnSpPr>
          <p:nvPr/>
        </p:nvCxnSpPr>
        <p:spPr>
          <a:xfrm>
            <a:off x="3956050" y="5695950"/>
            <a:ext cx="457200" cy="0"/>
          </a:xfrm>
          <a:prstGeom prst="straightConnector1">
            <a:avLst/>
          </a:prstGeom>
          <a:ln w="19050">
            <a:solidFill>
              <a:srgbClr val="74E6CF"/>
            </a:solidFill>
            <a:tailEnd type="arrow" w="med" len="med"/>
          </a:ln>
        </p:spPr>
      </p:cxnSp>
      <p:cxnSp>
        <p:nvCxnSpPr>
          <p:cNvPr id="28" name="reveal-5"/>
          <p:cNvCxnSpPr>
            <a:stCxn id="11" idx="3"/>
            <a:endCxn id="12" idx="1"/>
          </p:cNvCxnSpPr>
          <p:nvPr/>
        </p:nvCxnSpPr>
        <p:spPr>
          <a:xfrm>
            <a:off x="7759700" y="5695950"/>
            <a:ext cx="457200" cy="0"/>
          </a:xfrm>
          <a:prstGeom prst="straightConnector1">
            <a:avLst/>
          </a:prstGeom>
          <a:ln w="19050">
            <a:solidFill>
              <a:srgbClr val="74E6CF"/>
            </a:solidFill>
            <a:tailEnd type="arrow" w="med" len="med"/>
          </a:ln>
        </p:spPr>
      </p:cxnSp>
    </p:spTree>
    <p:extLst>
      <p:ext uri="{BB962C8B-B14F-4D97-AF65-F5344CB8AC3E}">
        <ns4:creationId val="840530928"/>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1" nodeType="clickEffect">
                            <p:stCondLst>
                              <p:cond delay="0"/>
                            </p:stCondLst>
                            <p:childTnLst>
                              <p:set>
                                <p:cBhvr>
                                  <p:cTn id="5" dur="1" fill="hold">
                                    <p:stCondLst>
                                      <p:cond delay="0"/>
                                    </p:stCondLst>
                                  </p:cTn>
                                  <p:tgtEl>
                                    <p:spTgt spid="7"/>
                                  </p:tgtEl>
                                  <p:attrNameLst>
                                    <p:attrName>style.visibility</p:attrName>
                                  </p:attrNameLst>
                                </p:cBhvr>
                                <p:to>
                                  <p:strVal val="visible"/>
                                </p:to>
                              </p:set>
                              <p:animEffect transition="in" filter="fade">
                                <p:cBhvr>
                                  <p:cTn id="6" dur="350"/>
                                  <p:tgtEl>
                                    <p:spTgt spid="7"/>
                                  </p:tgtEl>
                                </p:cBhvr>
                              </p:animEffect>
                            </p:childTnLst>
                          </p:cTn>
                        </p:par>
                      </p:childTnLst>
                    </p:cTn>
                  </p:par>
                  <p:par>
                    <p:cTn id="7" fill="hold">
                      <p:stCondLst>
                        <p:cond delay="indefinite"/>
                      </p:stCondLst>
                      <p:childTnLst>
                        <p:par>
                          <p:cTn id="8" presetID="10" presetClass="entr" presetSubtype="0" fill="hold" grpId="2" nodeType="click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350"/>
                                  <p:tgtEl>
                                    <p:spTgt spid="8"/>
                                  </p:tgtEl>
                                </p:cBhvr>
                              </p:animEffect>
                            </p:childTnLst>
                          </p:cTn>
                        </p:par>
                        <p:par>
                          <p:cTn id="11" presetID="10" presetClass="entr" presetSubtype="0" fill="hold" grpId="2" nodeType="click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350"/>
                                  <p:tgtEl>
                                    <p:spTgt spid="9"/>
                                  </p:tgtEl>
                                </p:cBhvr>
                              </p:animEffect>
                            </p:childTnLst>
                          </p:cTn>
                        </p:par>
                      </p:childTnLst>
                    </p:cTn>
                  </p:par>
                  <p:par>
                    <p:cTn id="14" fill="hold">
                      <p:stCondLst>
                        <p:cond delay="indefinite"/>
                      </p:stCondLst>
                      <p:childTnLst>
                        <p:par>
                          <p:cTn id="15" presetID="10" presetClass="entr" presetSubtype="0" fill="hold" grpId="3"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350"/>
                                  <p:tgtEl>
                                    <p:spTgt spid="10"/>
                                  </p:tgtEl>
                                </p:cBhvr>
                              </p:animEffect>
                            </p:childTnLst>
                          </p:cTn>
                        </p:par>
                      </p:childTnLst>
                    </p:cTn>
                  </p:par>
                  <p:par>
                    <p:cTn id="18" fill="hold">
                      <p:stCondLst>
                        <p:cond delay="indefinite"/>
                      </p:stCondLst>
                      <p:childTnLst>
                        <p:par>
                          <p:cTn id="19" presetID="10" presetClass="entr" presetSubtype="0" fill="hold" grpId="4" nodeType="click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350"/>
                                  <p:tgtEl>
                                    <p:spTgt spid="11"/>
                                  </p:tgtEl>
                                </p:cBhvr>
                              </p:animEffect>
                            </p:childTnLst>
                          </p:cTn>
                        </p:par>
                        <p:par>
                          <p:cTn id="22" presetID="10" presetClass="entr" presetSubtype="0" fill="hold" grpId="4" nodeType="clickEffect">
                            <p:stCondLst>
                              <p:cond delay="0"/>
                            </p:stCondLst>
                            <p:childTnLst>
                              <p:set>
                                <p:cBhvr>
                                  <p:cTn id="23" dur="1" fill="hold">
                                    <p:stCondLst>
                                      <p:cond delay="0"/>
                                    </p:stCondLst>
                                  </p:cTn>
                                  <p:tgtEl>
                                    <p:spTgt spid="27"/>
                                  </p:tgtEl>
                                  <p:attrNameLst>
                                    <p:attrName>style.visibility</p:attrName>
                                  </p:attrNameLst>
                                </p:cBhvr>
                                <p:to>
                                  <p:strVal val="visible"/>
                                </p:to>
                              </p:set>
                              <p:animEffect transition="in" filter="fade">
                                <p:cBhvr>
                                  <p:cTn id="24" dur="350"/>
                                  <p:tgtEl>
                                    <p:spTgt spid="27"/>
                                  </p:tgtEl>
                                </p:cBhvr>
                              </p:animEffect>
                            </p:childTnLst>
                          </p:cTn>
                        </p:par>
                      </p:childTnLst>
                    </p:cTn>
                  </p:par>
                  <p:par>
                    <p:cTn id="25" fill="hold">
                      <p:stCondLst>
                        <p:cond delay="indefinite"/>
                      </p:stCondLst>
                      <p:childTnLst>
                        <p:par>
                          <p:cTn id="26" presetID="10" presetClass="entr" presetSubtype="0" fill="hold" grpId="5" nodeType="click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350"/>
                                  <p:tgtEl>
                                    <p:spTgt spid="12"/>
                                  </p:tgtEl>
                                </p:cBhvr>
                              </p:animEffect>
                            </p:childTnLst>
                          </p:cTn>
                        </p:par>
                        <p:par>
                          <p:cTn id="29" presetID="10" presetClass="entr" presetSubtype="0" fill="hold" grpId="5" nodeType="clickEffect">
                            <p:stCondLst>
                              <p:cond delay="0"/>
                            </p:stCondLst>
                            <p:childTnLst>
                              <p:set>
                                <p:cBhvr>
                                  <p:cTn id="30" dur="1" fill="hold">
                                    <p:stCondLst>
                                      <p:cond delay="0"/>
                                    </p:stCondLst>
                                  </p:cTn>
                                  <p:tgtEl>
                                    <p:spTgt spid="28"/>
                                  </p:tgtEl>
                                  <p:attrNameLst>
                                    <p:attrName>style.visibility</p:attrName>
                                  </p:attrNameLst>
                                </p:cBhvr>
                                <p:to>
                                  <p:strVal val="visible"/>
                                </p:to>
                              </p:set>
                              <p:animEffect transition="in" filter="fade">
                                <p:cBhvr>
                                  <p:cTn id="31" dur="350"/>
                                  <p:tgtEl>
                                    <p:spTgt spid="28"/>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7" grpId="1" uiExpand="1"/>
      <p:bldP spid="8" grpId="2" uiExpand="1"/>
      <p:bldP spid="9" grpId="2" uiExpand="1"/>
      <p:bldP spid="10" grpId="3" uiExpand="1"/>
      <p:bldP spid="11" grpId="4" uiExpand="1"/>
      <p:bldP spid="27" grpId="4" uiExpand="1"/>
      <p:bldP spid="12" grpId="5" uiExpand="1"/>
      <p:bldP spid="28" grpId="5" uiExpand="1"/>
    </p:bldLst>
  </p:timing>
</p:sld>
</file>

<file path=ppt/slides/slide22.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6F7F4"/>
        </a:solidFill>
      </p:bgPr>
    </p:bg>
    <p:spTree>
      <p:nvGrpSpPr>
        <p:cNvPr id="1" name=""/>
        <p:cNvGrpSpPr/>
        <p:nvPr/>
      </p:nvGrpSpPr>
      <p:grpSpPr>
        <a:xfrm/>
      </p:grpSpPr>
      <p:sp>
        <p:nvSpPr>
          <p:cNvPr id="18" name="fixed">
            <a:extLst>
              <a:ext uri="{FF2B5EF4-FFF2-40B4-BE49-F238E27FC236}">
                <ns2:creationId id="{5CD6BCD3-C824-4E8C-AF6D-697E12F74CCA}"/>
              </a:ext>
            </a:extLst>
          </p:cNvPr>
          <p:cNvSpPr>
            <a:spLocks noGrp="1"/>
          </p:cNvSpPr>
          <p:nvPr/>
        </p:nvSpPr>
        <p:spPr>
          <a:xfrm>
            <a:off x="609600" y="400050"/>
            <a:ext cx="7620000" cy="381000"/>
          </a:xfrm>
          <a:prstGeom prst="rect">
            <a:avLst/>
          </a:prstGeom>
          <a:noFill/>
          <a:ln w="0">
            <a:noFill/>
          </a:ln>
        </p:spPr>
        <p:txBody>
          <a:bodyPr>
            <a:noAutofit/>
          </a:bodyPr>
          <a:lstStyle/>
          <a:p>
            <a:pPr algn="l">
              <a:defRPr sz="1875" b="1">
                <a:solidFill>
                  <a:srgbClr val="087F8C"/>
                </a:solidFill>
                <a:latin typeface="Times New Roman"/>
                <a:ea typeface="Times New Roman"/>
                <a:cs typeface="Times New Roman"/>
              </a:defRPr>
            </a:pPr>
            <a:r>
              <a:rPr sz="1875" b="1">
                <a:solidFill>
                  <a:srgbClr val="087F8C"/>
                </a:solidFill>
                <a:latin typeface="Times New Roman"/>
                <a:ea typeface="Times New Roman"/>
                <a:cs typeface="Times New Roman"/>
              </a:rPr>
              <a:t>MODULE 03 / WORKING AND EXAMPLE</a:t>
            </a:r>
          </a:p>
        </p:txBody>
      </p:sp>
      <p:sp>
        <p:nvSpPr>
          <p:cNvPr id="2" name="fixed">
            <a:extLst>
              <a:ext uri="{FF2B5EF4-FFF2-40B4-BE49-F238E27FC236}">
                <ns2:creationId id="{677E1229-CB83-4772-9BED-FABA1C371268}"/>
              </a:ext>
            </a:extLst>
          </p:cNvPr>
          <p:cNvSpPr>
            <a:spLocks noGrp="1"/>
          </p:cNvSpPr>
          <p:nvPr/>
        </p:nvSpPr>
        <p:spPr>
          <a:xfrm>
            <a:off x="609600" y="971550"/>
            <a:ext cx="8191500" cy="1171575"/>
          </a:xfrm>
          <a:prstGeom prst="rect">
            <a:avLst/>
          </a:prstGeom>
          <a:noFill/>
          <a:ln w="0">
            <a:noFill/>
          </a:ln>
        </p:spPr>
        <p:txBody>
          <a:bodyPr>
            <a:noAutofit/>
          </a:bodyPr>
          <a:lstStyle/>
          <a:p>
            <a:pPr algn="l">
              <a:defRPr sz="3750" b="1">
                <a:solidFill>
                  <a:srgbClr val="172F3A"/>
                </a:solidFill>
                <a:latin typeface="Times New Roman"/>
                <a:ea typeface="Times New Roman"/>
                <a:cs typeface="Times New Roman"/>
              </a:defRPr>
            </a:pPr>
            <a:r>
              <a:rPr sz="3750" b="1">
                <a:solidFill>
                  <a:srgbClr val="172F3A"/>
                </a:solidFill>
                <a:latin typeface="Times New Roman"/>
                <a:ea typeface="Times New Roman"/>
                <a:cs typeface="Times New Roman"/>
              </a:rPr>
              <a:t>Offline recovery and delayed evidence</a:t>
            </a:r>
          </a:p>
        </p:txBody>
      </p:sp>
      <p:sp>
        <p:nvSpPr>
          <p:cNvPr id="3" name="fixed">
            <a:extLst>
              <a:ext uri="{FF2B5EF4-FFF2-40B4-BE49-F238E27FC236}">
                <ns2:creationId id="{D755B101-C00E-490E-8BC8-1B2E801DF614}"/>
              </a:ext>
            </a:extLst>
          </p:cNvPr>
          <p:cNvSpPr>
            <a:spLocks noGrp="1"/>
          </p:cNvSpPr>
          <p:nvPr/>
        </p:nvSpPr>
        <p:spPr>
          <a:xfrm>
            <a:off x="9029700" y="457200"/>
            <a:ext cx="2571750" cy="381000"/>
          </a:xfrm>
          <a:prstGeom prst="rect">
            <a:avLst/>
          </a:prstGeom>
          <a:noFill/>
          <a:ln w="0">
            <a:noFill/>
          </a:ln>
        </p:spPr>
        <p:txBody>
          <a:bodyPr>
            <a:noAutofit/>
          </a:bodyPr>
          <a:lstStyle/>
          <a:p>
            <a:pPr algn="r">
              <a:defRPr sz="1800" b="1">
                <a:solidFill>
                  <a:srgbClr val="087F8C"/>
                </a:solidFill>
                <a:latin typeface="Times New Roman"/>
                <a:ea typeface="Times New Roman"/>
                <a:cs typeface="Times New Roman"/>
              </a:defRPr>
            </a:pPr>
            <a:r>
              <a:rPr sz="1800" b="1">
                <a:solidFill>
                  <a:srgbClr val="087F8C"/>
                </a:solidFill>
                <a:latin typeface="Times New Roman"/>
                <a:ea typeface="Times New Roman"/>
                <a:cs typeface="Times New Roman"/>
              </a:rPr>
              <a:t>COMPLETED</a:t>
            </a:r>
          </a:p>
        </p:txBody>
      </p:sp>
      <p:sp>
        <p:nvSpPr>
          <p:cNvPr id="4" name="fixed">
            <a:extLst>
              <a:ext uri="{FF2B5EF4-FFF2-40B4-BE49-F238E27FC236}">
                <ns2:creationId id="{9774957F-BDE1-4783-9887-93616008C2C0}"/>
              </a:ext>
            </a:extLst>
          </p:cNvPr>
          <p:cNvSpPr>
            <a:spLocks noGrp="1"/>
          </p:cNvSpPr>
          <p:nvPr/>
        </p:nvSpPr>
        <p:spPr>
          <a:xfrm>
            <a:off x="9029700" y="828675"/>
            <a:ext cx="2571750" cy="304800"/>
          </a:xfrm>
          <a:prstGeom prst="rect">
            <a:avLst/>
          </a:prstGeom>
          <a:noFill/>
          <a:ln w="0">
            <a:noFill/>
          </a:ln>
        </p:spPr>
        <p:txBody>
          <a:bodyPr>
            <a:noAutofit/>
          </a:bodyPr>
          <a:lstStyle/>
          <a:p>
            <a:pPr algn="r">
              <a:defRPr sz="1425" b="0">
                <a:solidFill>
                  <a:srgbClr val="4C6471"/>
                </a:solidFill>
                <a:latin typeface="Times New Roman"/>
                <a:ea typeface="Times New Roman"/>
                <a:cs typeface="Times New Roman"/>
              </a:defRPr>
            </a:pPr>
            <a:r>
              <a:rPr sz="1425" b="0">
                <a:solidFill>
                  <a:srgbClr val="4C6471"/>
                </a:solidFill>
                <a:latin typeface="Times New Roman"/>
                <a:ea typeface="Times New Roman"/>
                <a:cs typeface="Times New Roman"/>
              </a:rPr>
              <a:t>Implementation status</a:t>
            </a:r>
          </a:p>
        </p:txBody>
      </p:sp>
      <p:sp>
        <p:nvSpPr>
          <p:cNvPr id="5" name="fixed">
            <a:extLst>
              <a:ext uri="{FF2B5EF4-FFF2-40B4-BE49-F238E27FC236}">
                <ns2:creationId id="{4D134F46-72A7-4017-8A26-E5C9AABE937F}"/>
              </a:ext>
            </a:extLst>
          </p:cNvPr>
          <p:cNvSpPr>
            <a:spLocks noGrp="1"/>
          </p:cNvSpPr>
          <p:nvPr/>
        </p:nvSpPr>
        <p:spPr>
          <a:xfrm>
            <a:off x="11029950" y="6334125"/>
            <a:ext cx="523875" cy="285750"/>
          </a:xfrm>
          <a:prstGeom prst="rect">
            <a:avLst/>
          </a:prstGeom>
          <a:noFill/>
          <a:ln w="0">
            <a:noFill/>
          </a:ln>
        </p:spPr>
        <p:txBody>
          <a:bodyPr>
            <a:noAutofit/>
          </a:bodyPr>
          <a:lstStyle/>
          <a:p>
            <a:pPr algn="r">
              <a:defRPr sz="1500" b="0">
                <a:solidFill>
                  <a:srgbClr val="4C6471"/>
                </a:solidFill>
                <a:latin typeface="Times New Roman"/>
                <a:ea typeface="Times New Roman"/>
                <a:cs typeface="Times New Roman"/>
              </a:defRPr>
            </a:pPr>
            <a:r>
              <a:rPr sz="1500" b="0">
                <a:solidFill>
                  <a:srgbClr val="4C6471"/>
                </a:solidFill>
                <a:latin typeface="Times New Roman"/>
                <a:ea typeface="Times New Roman"/>
                <a:cs typeface="Times New Roman"/>
              </a:rPr>
              <a:t>22</a:t>
            </a:r>
          </a:p>
        </p:txBody>
      </p:sp>
      <p:sp>
        <p:nvSpPr>
          <p:cNvPr id="6" name="reveal-1">
            <a:extLst>
              <a:ext uri="{FF2B5EF4-FFF2-40B4-BE49-F238E27FC236}">
                <ns2:creationId id="{5ECB6143-839A-4651-8F86-FBB63FC39314}"/>
              </a:ext>
            </a:extLst>
          </p:cNvPr>
          <p:cNvSpPr>
            <a:spLocks noGrp="1"/>
          </p:cNvSpPr>
          <p:nvPr/>
        </p:nvSpPr>
        <p:spPr>
          <a:xfrm>
            <a:off x="609600" y="2381250"/>
            <a:ext cx="2395538"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14:58</a:t>
            </a:r>
          </a:p>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Event captured offline</a:t>
            </a:r>
          </a:p>
        </p:txBody>
      </p:sp>
      <p:sp>
        <p:nvSpPr>
          <p:cNvPr id="7" name="reveal-2">
            <a:extLst>
              <a:ext uri="{FF2B5EF4-FFF2-40B4-BE49-F238E27FC236}">
                <ns2:creationId id="{DDF2FA87-379D-4219-A128-43716E02FCD9}"/>
              </a:ext>
            </a:extLst>
          </p:cNvPr>
          <p:cNvSpPr>
            <a:spLocks noGrp="1"/>
          </p:cNvSpPr>
          <p:nvPr/>
        </p:nvSpPr>
        <p:spPr>
          <a:xfrm>
            <a:off x="3462338" y="2381250"/>
            <a:ext cx="2395538"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15:00</a:t>
            </a:r>
          </a:p>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Exam completes</a:t>
            </a:r>
          </a:p>
        </p:txBody>
      </p:sp>
      <p:sp>
        <p:nvSpPr>
          <p:cNvPr id="8" name="reveal-3">
            <a:extLst>
              <a:ext uri="{FF2B5EF4-FFF2-40B4-BE49-F238E27FC236}">
                <ns2:creationId id="{BBC653C0-CB6B-44E7-B246-0786D5305472}"/>
              </a:ext>
            </a:extLst>
          </p:cNvPr>
          <p:cNvSpPr>
            <a:spLocks noGrp="1"/>
          </p:cNvSpPr>
          <p:nvPr/>
        </p:nvSpPr>
        <p:spPr>
          <a:xfrm>
            <a:off x="6315075" y="2381250"/>
            <a:ext cx="2395538"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15:02</a:t>
            </a:r>
          </a:p>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Queue uploads event</a:t>
            </a:r>
          </a:p>
        </p:txBody>
      </p:sp>
      <p:sp>
        <p:nvSpPr>
          <p:cNvPr id="9" name="reveal-4">
            <a:extLst>
              <a:ext uri="{FF2B5EF4-FFF2-40B4-BE49-F238E27FC236}">
                <ns2:creationId id="{68330585-7283-4723-B83D-9FEFB5448F16}"/>
              </a:ext>
            </a:extLst>
          </p:cNvPr>
          <p:cNvSpPr>
            <a:spLocks noGrp="1"/>
          </p:cNvSpPr>
          <p:nvPr/>
        </p:nvSpPr>
        <p:spPr>
          <a:xfrm>
            <a:off x="9167813" y="2381250"/>
            <a:ext cx="2395538"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Examiner</a:t>
            </a:r>
          </a:p>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Reviews late evidence</a:t>
            </a:r>
          </a:p>
        </p:txBody>
      </p:sp>
      <p:cxnSp>
        <p:nvCxnSpPr>
          <p:cNvPr id="27" name="reveal-2"/>
          <p:cNvCxnSpPr>
            <a:stCxn id="6" idx="3"/>
            <a:endCxn id="7" idx="1"/>
          </p:cNvCxnSpPr>
          <p:nvPr/>
        </p:nvCxnSpPr>
        <p:spPr>
          <a:xfrm>
            <a:off x="3005138" y="2857500"/>
            <a:ext cx="457200" cy="0"/>
          </a:xfrm>
          <a:prstGeom prst="straightConnector1">
            <a:avLst/>
          </a:prstGeom>
          <a:ln w="19050">
            <a:solidFill>
              <a:srgbClr val="087F8C"/>
            </a:solidFill>
            <a:tailEnd type="arrow" w="med" len="med"/>
          </a:ln>
        </p:spPr>
      </p:cxnSp>
      <p:cxnSp>
        <p:nvCxnSpPr>
          <p:cNvPr id="28" name="reveal-3"/>
          <p:cNvCxnSpPr>
            <a:stCxn id="7" idx="3"/>
            <a:endCxn id="8" idx="1"/>
          </p:cNvCxnSpPr>
          <p:nvPr/>
        </p:nvCxnSpPr>
        <p:spPr>
          <a:xfrm>
            <a:off x="5857876" y="2857500"/>
            <a:ext cx="457199" cy="0"/>
          </a:xfrm>
          <a:prstGeom prst="straightConnector1">
            <a:avLst/>
          </a:prstGeom>
          <a:ln w="19050">
            <a:solidFill>
              <a:srgbClr val="087F8C"/>
            </a:solidFill>
            <a:tailEnd type="arrow" w="med" len="med"/>
          </a:ln>
        </p:spPr>
      </p:cxnSp>
      <p:cxnSp>
        <p:nvCxnSpPr>
          <p:cNvPr id="29" name="reveal-4"/>
          <p:cNvCxnSpPr>
            <a:stCxn id="8" idx="3"/>
            <a:endCxn id="9" idx="1"/>
          </p:cNvCxnSpPr>
          <p:nvPr/>
        </p:nvCxnSpPr>
        <p:spPr>
          <a:xfrm>
            <a:off x="8710613" y="2857500"/>
            <a:ext cx="457200" cy="0"/>
          </a:xfrm>
          <a:prstGeom prst="straightConnector1">
            <a:avLst/>
          </a:prstGeom>
          <a:ln w="19050">
            <a:solidFill>
              <a:srgbClr val="087F8C"/>
            </a:solidFill>
            <a:tailEnd type="arrow" w="med" len="med"/>
          </a:ln>
        </p:spPr>
      </p:cxnSp>
      <p:sp>
        <p:nvSpPr>
          <p:cNvPr id="13" name="reveal-5">
            <a:extLst>
              <a:ext uri="{FF2B5EF4-FFF2-40B4-BE49-F238E27FC236}">
                <ns2:creationId id="{33208156-05D5-4A80-BFB8-EFB8E84F5D38}"/>
              </a:ext>
            </a:extLst>
          </p:cNvPr>
          <p:cNvSpPr>
            <a:spLocks noGrp="1"/>
          </p:cNvSpPr>
          <p:nvPr/>
        </p:nvSpPr>
        <p:spPr>
          <a:xfrm>
            <a:off x="609600" y="3924300"/>
            <a:ext cx="5095875" cy="476250"/>
          </a:xfrm>
          <a:prstGeom prst="rect">
            <a:avLst/>
          </a:prstGeom>
          <a:noFill/>
          <a:ln w="0">
            <a:noFill/>
          </a:ln>
        </p:spPr>
        <p:txBody>
          <a:bodyPr>
            <a:noAutofit/>
          </a:bodyPr>
          <a:lstStyle/>
          <a:p>
            <a:pPr algn="l">
              <a:defRPr sz="2550" b="1">
                <a:solidFill>
                  <a:srgbClr val="087F8C"/>
                </a:solidFill>
                <a:latin typeface="Times New Roman"/>
                <a:ea typeface="Times New Roman"/>
                <a:cs typeface="Times New Roman"/>
              </a:defRPr>
            </a:pPr>
            <a:r>
              <a:rPr sz="2550" b="1">
                <a:solidFill>
                  <a:srgbClr val="087F8C"/>
                </a:solidFill>
                <a:latin typeface="Times New Roman"/>
                <a:ea typeface="Times New Roman"/>
                <a:cs typeface="Times New Roman"/>
              </a:rPr>
              <a:t>What the queues retain</a:t>
            </a:r>
          </a:p>
        </p:txBody>
      </p:sp>
      <p:sp>
        <p:nvSpPr>
          <p:cNvPr id="14" name="reveal-5">
            <a:extLst>
              <a:ext uri="{FF2B5EF4-FFF2-40B4-BE49-F238E27FC236}">
                <ns2:creationId id="{EBEA3D30-4F1F-4EEA-8983-952A0653F5F0}"/>
              </a:ext>
            </a:extLst>
          </p:cNvPr>
          <p:cNvSpPr>
            <a:spLocks noGrp="1"/>
          </p:cNvSpPr>
          <p:nvPr/>
        </p:nvSpPr>
        <p:spPr>
          <a:xfrm>
            <a:off x="609600" y="4552950"/>
            <a:ext cx="5095875" cy="1619250"/>
          </a:xfrm>
          <a:prstGeom prst="rect">
            <a:avLst/>
          </a:prstGeom>
          <a:noFill/>
          <a:ln w="0">
            <a:noFill/>
          </a:ln>
        </p:spPr>
        <p:txBody>
          <a:bodyPr>
            <a:noAutofit/>
          </a:bodyPr>
          <a:lstStyle/>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Original event ID and timestamp</a:t>
            </a:r>
          </a:p>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Evidence path and retry state</a:t>
            </a:r>
          </a:p>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The same identity across retries</a:t>
            </a:r>
          </a:p>
        </p:txBody>
      </p:sp>
      <p:sp>
        <p:nvSpPr>
          <p:cNvPr id="15" name="reveal-6">
            <a:extLst>
              <a:ext uri="{FF2B5EF4-FFF2-40B4-BE49-F238E27FC236}">
                <ns2:creationId id="{27605AC9-2513-48B3-8CA0-D6D2B6C440AE}"/>
              </a:ext>
            </a:extLst>
          </p:cNvPr>
          <p:cNvSpPr>
            <a:spLocks noGrp="1"/>
          </p:cNvSpPr>
          <p:nvPr/>
        </p:nvSpPr>
        <p:spPr>
          <a:xfrm>
            <a:off x="6381750" y="3924300"/>
            <a:ext cx="5095875" cy="476250"/>
          </a:xfrm>
          <a:prstGeom prst="rect">
            <a:avLst/>
          </a:prstGeom>
          <a:noFill/>
          <a:ln w="0">
            <a:noFill/>
          </a:ln>
        </p:spPr>
        <p:txBody>
          <a:bodyPr>
            <a:noAutofit/>
          </a:bodyPr>
          <a:lstStyle/>
          <a:p>
            <a:pPr algn="l">
              <a:defRPr sz="2550" b="1">
                <a:solidFill>
                  <a:srgbClr val="087F8C"/>
                </a:solidFill>
                <a:latin typeface="Times New Roman"/>
                <a:ea typeface="Times New Roman"/>
                <a:cs typeface="Times New Roman"/>
              </a:defRPr>
            </a:pPr>
            <a:r>
              <a:rPr sz="2550" b="1">
                <a:solidFill>
                  <a:srgbClr val="087F8C"/>
                </a:solidFill>
                <a:latin typeface="Times New Roman"/>
                <a:ea typeface="Times New Roman"/>
                <a:cs typeface="Times New Roman"/>
              </a:rPr>
              <a:t>How the server handles it</a:t>
            </a:r>
          </a:p>
        </p:txBody>
      </p:sp>
      <p:sp>
        <p:nvSpPr>
          <p:cNvPr id="16" name="reveal-6">
            <a:extLst>
              <a:ext uri="{FF2B5EF4-FFF2-40B4-BE49-F238E27FC236}">
                <ns2:creationId id="{10B33E4A-2AEA-4DB1-8F8B-88CE3118197A}"/>
              </a:ext>
            </a:extLst>
          </p:cNvPr>
          <p:cNvSpPr>
            <a:spLocks noGrp="1"/>
          </p:cNvSpPr>
          <p:nvPr/>
        </p:nvSpPr>
        <p:spPr>
          <a:xfrm>
            <a:off x="6381750" y="4552950"/>
            <a:ext cx="5095875" cy="1619250"/>
          </a:xfrm>
          <a:prstGeom prst="rect">
            <a:avLst/>
          </a:prstGeom>
          <a:noFill/>
          <a:ln w="0">
            <a:noFill/>
          </a:ln>
        </p:spPr>
        <p:txBody>
          <a:bodyPr>
            <a:noAutofit/>
          </a:bodyPr>
          <a:lstStyle/>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Save valid delayed evidence</a:t>
            </a:r>
          </a:p>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Mark it as late and avoid duplicates</a:t>
            </a:r>
          </a:p>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Require confirmation before scoring</a:t>
            </a:r>
          </a:p>
        </p:txBody>
      </p:sp>
      <p:sp>
        <p:nvSpPr>
          <p:cNvPr id="17" name="fixed">
            <a:extLst>
              <a:ext uri="{FF2B5EF4-FFF2-40B4-BE49-F238E27FC236}">
                <ns2:creationId id="{2FEC9BE9-5C35-4985-A25D-5752606F27E3}"/>
              </a:ext>
            </a:extLst>
          </p:cNvPr>
          <p:cNvSpPr>
            <a:spLocks noGrp="1"/>
          </p:cNvSpPr>
          <p:nvPr/>
        </p:nvSpPr>
        <p:spPr>
          <a:xfrm>
            <a:off x="609600" y="5953125"/>
            <a:ext cx="10668000" cy="457200"/>
          </a:xfrm>
          <a:prstGeom prst="rect">
            <a:avLst/>
          </a:prstGeom>
          <a:noFill/>
          <a:ln w="0">
            <a:noFill/>
          </a:ln>
        </p:spPr>
        <p:txBody>
          <a:bodyPr>
            <a:noAutofit/>
          </a:bodyPr>
          <a:lstStyle/>
          <a:p>
            <a:pPr algn="l">
              <a:defRPr sz="1725" b="0">
                <a:solidFill>
                  <a:srgbClr val="4C6471"/>
                </a:solidFill>
                <a:latin typeface="Times New Roman"/>
                <a:ea typeface="Times New Roman"/>
                <a:cs typeface="Times New Roman"/>
              </a:defRPr>
            </a:pPr>
            <a:r>
              <a:rPr sz="1725" b="0">
                <a:solidFill>
                  <a:srgbClr val="4C6471"/>
                </a:solidFill>
                <a:latin typeface="Times New Roman"/>
                <a:ea typeface="Times New Roman"/>
                <a:cs typeface="Times New Roman"/>
              </a:rPr>
              <a:t>Illustrative timeline. Live monitoring still needs connectivity to the central server.</a:t>
            </a:r>
          </a:p>
        </p:txBody>
      </p:sp>
    </p:spTree>
    <p:extLst>
      <p:ext uri="{BB962C8B-B14F-4D97-AF65-F5344CB8AC3E}">
        <ns3:creationId val="261875479"/>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1" nodeType="click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350"/>
                                  <p:tgtEl>
                                    <p:spTgt spid="6"/>
                                  </p:tgtEl>
                                </p:cBhvr>
                              </p:animEffect>
                            </p:childTnLst>
                          </p:cTn>
                        </p:par>
                      </p:childTnLst>
                    </p:cTn>
                  </p:par>
                  <p:par>
                    <p:cTn id="7" fill="hold">
                      <p:stCondLst>
                        <p:cond delay="indefinite"/>
                      </p:stCondLst>
                      <p:childTnLst>
                        <p:par>
                          <p:cTn id="8" presetID="10" presetClass="entr" presetSubtype="0" fill="hold" grpId="2" nodeType="click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350"/>
                                  <p:tgtEl>
                                    <p:spTgt spid="7"/>
                                  </p:tgtEl>
                                </p:cBhvr>
                              </p:animEffect>
                            </p:childTnLst>
                          </p:cTn>
                        </p:par>
                        <p:par>
                          <p:cTn id="11" presetID="10" presetClass="entr" presetSubtype="0" fill="hold" grpId="2" nodeType="clickEffect">
                            <p:stCondLst>
                              <p:cond delay="0"/>
                            </p:stCondLst>
                            <p:childTnLst>
                              <p:set>
                                <p:cBhvr>
                                  <p:cTn id="12" dur="1" fill="hold">
                                    <p:stCondLst>
                                      <p:cond delay="0"/>
                                    </p:stCondLst>
                                  </p:cTn>
                                  <p:tgtEl>
                                    <p:spTgt spid="27"/>
                                  </p:tgtEl>
                                  <p:attrNameLst>
                                    <p:attrName>style.visibility</p:attrName>
                                  </p:attrNameLst>
                                </p:cBhvr>
                                <p:to>
                                  <p:strVal val="visible"/>
                                </p:to>
                              </p:set>
                              <p:animEffect transition="in" filter="fade">
                                <p:cBhvr>
                                  <p:cTn id="13" dur="350"/>
                                  <p:tgtEl>
                                    <p:spTgt spid="27"/>
                                  </p:tgtEl>
                                </p:cBhvr>
                              </p:animEffect>
                            </p:childTnLst>
                          </p:cTn>
                        </p:par>
                      </p:childTnLst>
                    </p:cTn>
                  </p:par>
                  <p:par>
                    <p:cTn id="14" fill="hold">
                      <p:stCondLst>
                        <p:cond delay="indefinite"/>
                      </p:stCondLst>
                      <p:childTnLst>
                        <p:par>
                          <p:cTn id="15" presetID="10" presetClass="entr" presetSubtype="0" fill="hold" grpId="3"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350"/>
                                  <p:tgtEl>
                                    <p:spTgt spid="8"/>
                                  </p:tgtEl>
                                </p:cBhvr>
                              </p:animEffect>
                            </p:childTnLst>
                          </p:cTn>
                        </p:par>
                        <p:par>
                          <p:cTn id="18" presetID="10" presetClass="entr" presetSubtype="0" fill="hold" grpId="3" nodeType="clickEffect">
                            <p:stCondLst>
                              <p:cond delay="0"/>
                            </p:stCondLst>
                            <p:childTnLst>
                              <p:set>
                                <p:cBhvr>
                                  <p:cTn id="19" dur="1" fill="hold">
                                    <p:stCondLst>
                                      <p:cond delay="0"/>
                                    </p:stCondLst>
                                  </p:cTn>
                                  <p:tgtEl>
                                    <p:spTgt spid="28"/>
                                  </p:tgtEl>
                                  <p:attrNameLst>
                                    <p:attrName>style.visibility</p:attrName>
                                  </p:attrNameLst>
                                </p:cBhvr>
                                <p:to>
                                  <p:strVal val="visible"/>
                                </p:to>
                              </p:set>
                              <p:animEffect transition="in" filter="fade">
                                <p:cBhvr>
                                  <p:cTn id="20" dur="350"/>
                                  <p:tgtEl>
                                    <p:spTgt spid="28"/>
                                  </p:tgtEl>
                                </p:cBhvr>
                              </p:animEffect>
                            </p:childTnLst>
                          </p:cTn>
                        </p:par>
                      </p:childTnLst>
                    </p:cTn>
                  </p:par>
                  <p:par>
                    <p:cTn id="21" fill="hold">
                      <p:stCondLst>
                        <p:cond delay="indefinite"/>
                      </p:stCondLst>
                      <p:childTnLst>
                        <p:par>
                          <p:cTn id="22" presetID="10" presetClass="entr" presetSubtype="0" fill="hold" grpId="4" nodeType="click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350"/>
                                  <p:tgtEl>
                                    <p:spTgt spid="9"/>
                                  </p:tgtEl>
                                </p:cBhvr>
                              </p:animEffect>
                            </p:childTnLst>
                          </p:cTn>
                        </p:par>
                        <p:par>
                          <p:cTn id="25" presetID="10" presetClass="entr" presetSubtype="0" fill="hold" grpId="4" nodeType="clickEffect">
                            <p:stCondLst>
                              <p:cond delay="0"/>
                            </p:stCondLst>
                            <p:childTnLst>
                              <p:set>
                                <p:cBhvr>
                                  <p:cTn id="26" dur="1" fill="hold">
                                    <p:stCondLst>
                                      <p:cond delay="0"/>
                                    </p:stCondLst>
                                  </p:cTn>
                                  <p:tgtEl>
                                    <p:spTgt spid="29"/>
                                  </p:tgtEl>
                                  <p:attrNameLst>
                                    <p:attrName>style.visibility</p:attrName>
                                  </p:attrNameLst>
                                </p:cBhvr>
                                <p:to>
                                  <p:strVal val="visible"/>
                                </p:to>
                              </p:set>
                              <p:animEffect transition="in" filter="fade">
                                <p:cBhvr>
                                  <p:cTn id="27" dur="350"/>
                                  <p:tgtEl>
                                    <p:spTgt spid="29"/>
                                  </p:tgtEl>
                                </p:cBhvr>
                              </p:animEffect>
                            </p:childTnLst>
                          </p:cTn>
                        </p:par>
                      </p:childTnLst>
                    </p:cTn>
                  </p:par>
                  <p:par>
                    <p:cTn id="28" fill="hold">
                      <p:stCondLst>
                        <p:cond delay="indefinite"/>
                      </p:stCondLst>
                      <p:childTnLst>
                        <p:par>
                          <p:cTn id="29" presetID="10" presetClass="entr" presetSubtype="0" fill="hold" grpId="5" nodeType="click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350"/>
                                  <p:tgtEl>
                                    <p:spTgt spid="13"/>
                                  </p:tgtEl>
                                </p:cBhvr>
                              </p:animEffect>
                            </p:childTnLst>
                          </p:cTn>
                        </p:par>
                        <p:par>
                          <p:cTn id="32" presetID="10" presetClass="entr" presetSubtype="0" fill="hold" grpId="5" nodeType="click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350"/>
                                  <p:tgtEl>
                                    <p:spTgt spid="14"/>
                                  </p:tgtEl>
                                </p:cBhvr>
                              </p:animEffect>
                            </p:childTnLst>
                          </p:cTn>
                        </p:par>
                      </p:childTnLst>
                    </p:cTn>
                  </p:par>
                  <p:par>
                    <p:cTn id="35" fill="hold">
                      <p:stCondLst>
                        <p:cond delay="indefinite"/>
                      </p:stCondLst>
                      <p:childTnLst>
                        <p:par>
                          <p:cTn id="36" presetID="10" presetClass="entr" presetSubtype="0" fill="hold" grpId="6" nodeType="clickEffect">
                            <p:stCondLst>
                              <p:cond delay="0"/>
                            </p:stCondLst>
                            <p:childTnLst>
                              <p:set>
                                <p:cBhvr>
                                  <p:cTn id="37" dur="1" fill="hold">
                                    <p:stCondLst>
                                      <p:cond delay="0"/>
                                    </p:stCondLst>
                                  </p:cTn>
                                  <p:tgtEl>
                                    <p:spTgt spid="15"/>
                                  </p:tgtEl>
                                  <p:attrNameLst>
                                    <p:attrName>style.visibility</p:attrName>
                                  </p:attrNameLst>
                                </p:cBhvr>
                                <p:to>
                                  <p:strVal val="visible"/>
                                </p:to>
                              </p:set>
                              <p:animEffect transition="in" filter="fade">
                                <p:cBhvr>
                                  <p:cTn id="38" dur="350"/>
                                  <p:tgtEl>
                                    <p:spTgt spid="15"/>
                                  </p:tgtEl>
                                </p:cBhvr>
                              </p:animEffect>
                            </p:childTnLst>
                          </p:cTn>
                        </p:par>
                        <p:par>
                          <p:cTn id="39" presetID="10" presetClass="entr" presetSubtype="0" fill="hold" grpId="6"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fade">
                                <p:cBhvr>
                                  <p:cTn id="41" dur="350"/>
                                  <p:tgtEl>
                                    <p:spTgt spid="16"/>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6" grpId="1" uiExpand="1"/>
      <p:bldP spid="7" grpId="2" uiExpand="1"/>
      <p:bldP spid="27" grpId="2" uiExpand="1"/>
      <p:bldP spid="8" grpId="3" uiExpand="1"/>
      <p:bldP spid="28" grpId="3" uiExpand="1"/>
      <p:bldP spid="9" grpId="4" uiExpand="1"/>
      <p:bldP spid="29" grpId="4" uiExpand="1"/>
      <p:bldP spid="13" grpId="5" uiExpand="1"/>
      <p:bldP spid="14" grpId="5" uiExpand="1"/>
      <p:bldP spid="15" grpId="6" uiExpand="1"/>
      <p:bldP spid="16" grpId="6" uiExpand="1"/>
    </p:bldLst>
  </p:timing>
</p:sld>
</file>

<file path=ppt/slides/slide23.xml><?xml version="1.0" encoding="utf-8"?>
<p:sld xmlns:a="http://schemas.openxmlformats.org/drawingml/2006/main" xmlns:ns3="http://schemas.microsoft.com/office/drawing/2014/main" xmlns:ns4="http://schemas.microsoft.com/office/powerpoint/2010/main" xmlns:p="http://schemas.openxmlformats.org/presentationml/2006/main" xmlns:r="http://schemas.openxmlformats.org/officeDocument/2006/relationships">
  <p:cSld>
    <p:bg>
      <p:bgPr>
        <a:solidFill>
          <a:srgbClr val="081321"/>
        </a:solidFill>
      </p:bgPr>
    </p:bg>
    <p:spTree>
      <p:nvGrpSpPr>
        <p:cNvPr id="1" name=""/>
        <p:cNvGrpSpPr/>
        <p:nvPr/>
      </p:nvGrpSpPr>
      <p:grpSpPr>
        <a:xfrm/>
      </p:grpSpPr>
      <p:pic>
        <p:nvPicPr>
          <p:cNvPr id="15" name=""/>
          <p:cNvPicPr>
            <a:picLocks noChangeAspect="1"/>
          </p:cNvPicPr>
          <p:nvPr/>
        </p:nvPicPr>
        <p:blipFill>
          <a:blip r:embed="R98d2edbcc15747f0"/>
          <a:srcRect l="0" t="27" r="0" b="27"/>
          <a:stretch>
            <a:fillRect l="0" t="0" r="0" b="0"/>
          </a:stretch>
        </p:blipFill>
        <p:spPr>
          <a:xfrm>
            <a:off x="0" y="0"/>
            <a:ext cx="12192000" cy="6858000"/>
          </a:xfrm>
          <a:prstGeom prst="rect">
            <a:avLst/>
          </a:prstGeom>
        </p:spPr>
      </p:pic>
      <p:sp>
        <p:nvSpPr>
          <p:cNvPr id="2" name="fixed">
            <a:extLst>
              <a:ext uri="{FF2B5EF4-FFF2-40B4-BE49-F238E27FC236}">
                <ns3:creationId id="{B1DAF053-1F02-4622-AF21-5A56A991B654}"/>
              </a:ext>
            </a:extLst>
          </p:cNvPr>
          <p:cNvSpPr>
            <a:spLocks noGrp="1"/>
          </p:cNvSpPr>
          <p:nvPr/>
        </p:nvSpPr>
        <p:spPr>
          <a:xfrm>
            <a:off x="609600" y="400050"/>
            <a:ext cx="7620000" cy="381000"/>
          </a:xfrm>
          <a:prstGeom prst="rect">
            <a:avLst/>
          </a:prstGeom>
          <a:noFill/>
          <a:ln w="0">
            <a:noFill/>
          </a:ln>
        </p:spPr>
        <p:txBody>
          <a:bodyPr>
            <a:noAutofit/>
          </a:bodyPr>
          <a:lstStyle/>
          <a:p>
            <a:pPr algn="l">
              <a:defRPr sz="1875" b="1">
                <a:solidFill>
                  <a:srgbClr val="E9BF78"/>
                </a:solidFill>
                <a:latin typeface="Times New Roman"/>
                <a:ea typeface="Times New Roman"/>
                <a:cs typeface="Times New Roman"/>
              </a:defRPr>
            </a:pPr>
            <a:r>
              <a:rPr sz="1875" b="1">
                <a:solidFill>
                  <a:srgbClr val="E9BF78"/>
                </a:solidFill>
                <a:latin typeface="Times New Roman"/>
                <a:ea typeface="Times New Roman"/>
                <a:cs typeface="Times New Roman"/>
              </a:rPr>
              <a:t>MODULE 04</a:t>
            </a:r>
          </a:p>
        </p:txBody>
      </p:sp>
      <p:sp>
        <p:nvSpPr>
          <p:cNvPr id="3" name="fixed">
            <a:extLst>
              <a:ext uri="{FF2B5EF4-FFF2-40B4-BE49-F238E27FC236}">
                <ns3:creationId id="{A78C3341-0D13-4662-A7AB-723117AEB881}"/>
              </a:ext>
            </a:extLst>
          </p:cNvPr>
          <p:cNvSpPr>
            <a:spLocks noGrp="1"/>
          </p:cNvSpPr>
          <p:nvPr/>
        </p:nvSpPr>
        <p:spPr>
          <a:xfrm>
            <a:off x="609600" y="971550"/>
            <a:ext cx="8191500" cy="1171575"/>
          </a:xfrm>
          <a:prstGeom prst="rect">
            <a:avLst/>
          </a:prstGeom>
          <a:noFill/>
          <a:ln w="0">
            <a:noFill/>
          </a:ln>
        </p:spPr>
        <p:txBody>
          <a:bodyPr>
            <a:noAutofit/>
          </a:bodyPr>
          <a:lstStyle/>
          <a:p>
            <a:pPr algn="l">
              <a:defRPr sz="3750" b="1">
                <a:solidFill>
                  <a:srgbClr val="FFFFFF"/>
                </a:solidFill>
                <a:latin typeface="Times New Roman"/>
                <a:ea typeface="Times New Roman"/>
                <a:cs typeface="Times New Roman"/>
              </a:defRPr>
            </a:pPr>
            <a:r>
              <a:rPr sz="3750" b="1">
                <a:solidFill>
                  <a:srgbClr val="FFFFFF"/>
                </a:solidFill>
                <a:latin typeface="Times New Roman"/>
                <a:ea typeface="Times New Roman"/>
                <a:cs typeface="Times New Roman"/>
              </a:rPr>
              <a:t>System self-check</a:t>
            </a:r>
          </a:p>
        </p:txBody>
      </p:sp>
      <p:sp>
        <p:nvSpPr>
          <p:cNvPr id="4" name="fixed">
            <a:extLst>
              <a:ext uri="{FF2B5EF4-FFF2-40B4-BE49-F238E27FC236}">
                <ns3:creationId id="{351C200E-DB36-4A44-995A-75A2137302A7}"/>
              </a:ext>
            </a:extLst>
          </p:cNvPr>
          <p:cNvSpPr>
            <a:spLocks noGrp="1"/>
          </p:cNvSpPr>
          <p:nvPr/>
        </p:nvSpPr>
        <p:spPr>
          <a:xfrm>
            <a:off x="9029700" y="457200"/>
            <a:ext cx="2571750" cy="381000"/>
          </a:xfrm>
          <a:prstGeom prst="rect">
            <a:avLst/>
          </a:prstGeom>
          <a:noFill/>
          <a:ln w="0">
            <a:noFill/>
          </a:ln>
        </p:spPr>
        <p:txBody>
          <a:bodyPr>
            <a:noAutofit/>
          </a:bodyPr>
          <a:lstStyle/>
          <a:p>
            <a:pPr algn="r">
              <a:defRPr sz="1800" b="1">
                <a:solidFill>
                  <a:srgbClr val="74E6CF"/>
                </a:solidFill>
                <a:latin typeface="Times New Roman"/>
                <a:ea typeface="Times New Roman"/>
                <a:cs typeface="Times New Roman"/>
              </a:defRPr>
            </a:pPr>
            <a:r>
              <a:rPr sz="1800" b="1">
                <a:solidFill>
                  <a:srgbClr val="74E6CF"/>
                </a:solidFill>
                <a:latin typeface="Times New Roman"/>
                <a:ea typeface="Times New Roman"/>
                <a:cs typeface="Times New Roman"/>
              </a:rPr>
              <a:t>COMPLETED</a:t>
            </a:r>
          </a:p>
        </p:txBody>
      </p:sp>
      <p:sp>
        <p:nvSpPr>
          <p:cNvPr id="5" name="fixed">
            <a:extLst>
              <a:ext uri="{FF2B5EF4-FFF2-40B4-BE49-F238E27FC236}">
                <ns3:creationId id="{CAFF39D0-2A00-4844-9E1B-E001ADFB17E2}"/>
              </a:ext>
            </a:extLst>
          </p:cNvPr>
          <p:cNvSpPr>
            <a:spLocks noGrp="1"/>
          </p:cNvSpPr>
          <p:nvPr/>
        </p:nvSpPr>
        <p:spPr>
          <a:xfrm>
            <a:off x="9029700" y="828675"/>
            <a:ext cx="2571750" cy="304800"/>
          </a:xfrm>
          <a:prstGeom prst="rect">
            <a:avLst/>
          </a:prstGeom>
          <a:noFill/>
          <a:ln w="0">
            <a:noFill/>
          </a:ln>
        </p:spPr>
        <p:txBody>
          <a:bodyPr>
            <a:noAutofit/>
          </a:bodyPr>
          <a:lstStyle/>
          <a:p>
            <a:pPr algn="r">
              <a:defRPr sz="1425" b="0">
                <a:solidFill>
                  <a:srgbClr val="C5D9DE"/>
                </a:solidFill>
                <a:latin typeface="Times New Roman"/>
                <a:ea typeface="Times New Roman"/>
                <a:cs typeface="Times New Roman"/>
              </a:defRPr>
            </a:pPr>
            <a:r>
              <a:rPr sz="1425" b="0">
                <a:solidFill>
                  <a:srgbClr val="C5D9DE"/>
                </a:solidFill>
                <a:latin typeface="Times New Roman"/>
                <a:ea typeface="Times New Roman"/>
                <a:cs typeface="Times New Roman"/>
              </a:rPr>
              <a:t>Implementation status</a:t>
            </a:r>
          </a:p>
        </p:txBody>
      </p:sp>
      <p:sp>
        <p:nvSpPr>
          <p:cNvPr id="6" name="fixed">
            <a:extLst>
              <a:ext uri="{FF2B5EF4-FFF2-40B4-BE49-F238E27FC236}">
                <ns3:creationId id="{6CED897A-46DB-4BC5-9A9A-DBBDEBE74B57}"/>
              </a:ext>
            </a:extLst>
          </p:cNvPr>
          <p:cNvSpPr>
            <a:spLocks noGrp="1"/>
          </p:cNvSpPr>
          <p:nvPr/>
        </p:nvSpPr>
        <p:spPr>
          <a:xfrm>
            <a:off x="11029950" y="6334125"/>
            <a:ext cx="523875" cy="285750"/>
          </a:xfrm>
          <a:prstGeom prst="rect">
            <a:avLst/>
          </a:prstGeom>
          <a:noFill/>
          <a:ln w="0">
            <a:noFill/>
          </a:ln>
        </p:spPr>
        <p:txBody>
          <a:bodyPr>
            <a:noAutofit/>
          </a:bodyPr>
          <a:lstStyle/>
          <a:p>
            <a:pPr algn="r">
              <a:defRPr sz="1500" b="0">
                <a:solidFill>
                  <a:srgbClr val="B6CCD3"/>
                </a:solidFill>
                <a:latin typeface="Times New Roman"/>
                <a:ea typeface="Times New Roman"/>
                <a:cs typeface="Times New Roman"/>
              </a:defRPr>
            </a:pPr>
            <a:r>
              <a:rPr sz="1500" b="0">
                <a:solidFill>
                  <a:srgbClr val="B6CCD3"/>
                </a:solidFill>
                <a:latin typeface="Times New Roman"/>
                <a:ea typeface="Times New Roman"/>
                <a:cs typeface="Times New Roman"/>
              </a:rPr>
              <a:t>23</a:t>
            </a:r>
          </a:p>
        </p:txBody>
      </p:sp>
      <p:sp>
        <p:nvSpPr>
          <p:cNvPr id="7" name="reveal-1">
            <a:extLst>
              <a:ext uri="{FF2B5EF4-FFF2-40B4-BE49-F238E27FC236}">
                <ns3:creationId id="{FB207F34-93D4-4229-BC57-45D3252722B5}"/>
              </a:ext>
            </a:extLst>
          </p:cNvPr>
          <p:cNvSpPr>
            <a:spLocks noGrp="1"/>
          </p:cNvSpPr>
          <p:nvPr/>
        </p:nvSpPr>
        <p:spPr>
          <a:xfrm>
            <a:off x="609600" y="2533650"/>
            <a:ext cx="7620000" cy="1181100"/>
          </a:xfrm>
          <a:prstGeom prst="rect">
            <a:avLst/>
          </a:prstGeom>
          <a:noFill/>
          <a:ln w="0">
            <a:noFill/>
          </a:ln>
        </p:spPr>
        <p:txBody>
          <a:bodyPr>
            <a:noAutofit/>
          </a:bodyPr>
          <a:lstStyle/>
          <a:p>
            <a:pPr algn="l">
              <a:defRPr sz="2700" b="0">
                <a:solidFill>
                  <a:srgbClr val="FFFFFF"/>
                </a:solidFill>
                <a:latin typeface="Times New Roman"/>
                <a:ea typeface="Times New Roman"/>
                <a:cs typeface="Times New Roman"/>
              </a:defRPr>
            </a:pPr>
            <a:r>
              <a:rPr sz="2700" b="0">
                <a:solidFill>
                  <a:srgbClr val="FFFFFF"/>
                </a:solidFill>
                <a:latin typeface="Times New Roman"/>
                <a:ea typeface="Times New Roman"/>
                <a:cs typeface="Times New Roman"/>
              </a:rPr>
              <a:t>Verify the required devices and examination rules before the candidate enters.</a:t>
            </a:r>
          </a:p>
        </p:txBody>
      </p:sp>
      <p:sp>
        <p:nvSpPr>
          <p:cNvPr id="8" name="reveal-2">
            <a:extLst>
              <a:ext uri="{FF2B5EF4-FFF2-40B4-BE49-F238E27FC236}">
                <ns3:creationId id="{09ECCCA8-26EF-4028-8C82-421117B7FADA}"/>
              </a:ext>
            </a:extLst>
          </p:cNvPr>
          <p:cNvSpPr>
            <a:spLocks noGrp="1"/>
          </p:cNvSpPr>
          <p:nvPr/>
        </p:nvSpPr>
        <p:spPr>
          <a:xfrm>
            <a:off x="609600" y="3867150"/>
            <a:ext cx="7334250" cy="323850"/>
          </a:xfrm>
          <a:prstGeom prst="rect">
            <a:avLst/>
          </a:prstGeom>
          <a:noFill/>
          <a:ln w="0">
            <a:noFill/>
          </a:ln>
        </p:spPr>
        <p:txBody>
          <a:bodyPr>
            <a:noAutofit/>
          </a:bodyPr>
          <a:lstStyle/>
          <a:p>
            <a:pPr algn="l">
              <a:defRPr sz="1725" b="1">
                <a:solidFill>
                  <a:srgbClr val="E9BF78"/>
                </a:solidFill>
                <a:latin typeface="Times New Roman"/>
                <a:ea typeface="Times New Roman"/>
                <a:cs typeface="Times New Roman"/>
              </a:defRPr>
            </a:pPr>
            <a:r>
              <a:rPr sz="1725" b="1">
                <a:solidFill>
                  <a:srgbClr val="E9BF78"/>
                </a:solidFill>
                <a:latin typeface="Times New Roman"/>
                <a:ea typeface="Times New Roman"/>
                <a:cs typeface="Times New Roman"/>
              </a:rPr>
              <a:t>MAIN COMPONENTS</a:t>
            </a:r>
          </a:p>
        </p:txBody>
      </p:sp>
      <p:sp>
        <p:nvSpPr>
          <p:cNvPr id="9" name="reveal-2">
            <a:extLst>
              <a:ext uri="{FF2B5EF4-FFF2-40B4-BE49-F238E27FC236}">
                <ns3:creationId id="{DFB0E132-ADC8-45B8-915A-CB0C4C13BBCF}"/>
              </a:ext>
            </a:extLst>
          </p:cNvPr>
          <p:cNvSpPr>
            <a:spLocks noGrp="1"/>
          </p:cNvSpPr>
          <p:nvPr/>
        </p:nvSpPr>
        <p:spPr>
          <a:xfrm>
            <a:off x="609600" y="4267200"/>
            <a:ext cx="7905750" cy="600075"/>
          </a:xfrm>
          <a:prstGeom prst="rect">
            <a:avLst/>
          </a:prstGeom>
          <a:noFill/>
          <a:ln w="0">
            <a:noFill/>
          </a:ln>
        </p:spPr>
        <p:txBody>
          <a:bodyPr>
            <a:noAutofit/>
          </a:bodyPr>
          <a:lstStyle/>
          <a:p>
            <a:pPr algn="l">
              <a:defRPr sz="2175" b="0">
                <a:solidFill>
                  <a:srgbClr val="D8E6E9"/>
                </a:solidFill>
                <a:latin typeface="Times New Roman"/>
                <a:ea typeface="Times New Roman"/>
                <a:cs typeface="Times New Roman"/>
              </a:defRPr>
            </a:pPr>
            <a:r>
              <a:rPr sz="2175" b="0">
                <a:solidFill>
                  <a:srgbClr val="D8E6E9"/>
                </a:solidFill>
                <a:latin typeface="Times New Roman"/>
                <a:ea typeface="Times New Roman"/>
                <a:cs typeface="Times New Roman"/>
              </a:rPr>
              <a:t>Electron device checks  /  Python health API  /  enrollment</a:t>
            </a:r>
          </a:p>
        </p:txBody>
      </p:sp>
      <p:sp>
        <p:nvSpPr>
          <p:cNvPr id="10" name="reveal-3">
            <a:extLst>
              <a:ext uri="{FF2B5EF4-FFF2-40B4-BE49-F238E27FC236}">
                <ns3:creationId id="{3AC57A5B-7BC7-4F31-B016-7065297ADEB6}"/>
              </a:ext>
            </a:extLst>
          </p:cNvPr>
          <p:cNvSpPr>
            <a:spLocks noGrp="1"/>
          </p:cNvSpPr>
          <p:nvPr/>
        </p:nvSpPr>
        <p:spPr>
          <a:xfrm>
            <a:off x="609600" y="5219700"/>
            <a:ext cx="3346450" cy="952500"/>
          </a:xfrm>
          <a:prstGeom prst="rect">
            <a:avLst/>
          </a:prstGeom>
          <a:solidFill>
            <a:srgbClr val="123342"/>
          </a:solidFill>
          <a:ln w="9525">
            <a:solidFill>
              <a:srgbClr val="466D77"/>
            </a:solidFill>
          </a:ln>
        </p:spPr>
        <p:txBody>
          <a:bodyPr anchor="ctr"/>
          <a:lstStyle/>
          <a:p>
            <a:pPr algn="ctr">
              <a:defRPr sz="2025" b="1">
                <a:solidFill>
                  <a:srgbClr val="FFFFFF"/>
                </a:solidFill>
                <a:latin typeface="Times New Roman"/>
                <a:ea typeface="Times New Roman"/>
                <a:cs typeface="Times New Roman"/>
              </a:defRPr>
            </a:pPr>
            <a:r>
              <a:rPr sz="2025" b="1">
                <a:solidFill>
                  <a:srgbClr val="FFFFFF"/>
                </a:solidFill>
                <a:latin typeface="Times New Roman"/>
                <a:ea typeface="Times New Roman"/>
                <a:cs typeface="Times New Roman"/>
              </a:rPr>
              <a:t>Consent and rules</a:t>
            </a:r>
          </a:p>
        </p:txBody>
      </p:sp>
      <p:sp>
        <p:nvSpPr>
          <p:cNvPr id="11" name="reveal-4">
            <a:extLst>
              <a:ext uri="{FF2B5EF4-FFF2-40B4-BE49-F238E27FC236}">
                <ns3:creationId id="{6422D604-C15F-4D8D-AC20-2952E5CBEE90}"/>
              </a:ext>
            </a:extLst>
          </p:cNvPr>
          <p:cNvSpPr>
            <a:spLocks noGrp="1"/>
          </p:cNvSpPr>
          <p:nvPr/>
        </p:nvSpPr>
        <p:spPr>
          <a:xfrm>
            <a:off x="4413250" y="5219700"/>
            <a:ext cx="3346450" cy="952500"/>
          </a:xfrm>
          <a:prstGeom prst="rect">
            <a:avLst/>
          </a:prstGeom>
          <a:solidFill>
            <a:srgbClr val="123342"/>
          </a:solidFill>
          <a:ln w="9525">
            <a:solidFill>
              <a:srgbClr val="466D77"/>
            </a:solidFill>
          </a:ln>
        </p:spPr>
        <p:txBody>
          <a:bodyPr anchor="ctr"/>
          <a:lstStyle/>
          <a:p>
            <a:pPr algn="ctr">
              <a:defRPr sz="2025" b="1">
                <a:solidFill>
                  <a:srgbClr val="FFFFFF"/>
                </a:solidFill>
                <a:latin typeface="Times New Roman"/>
                <a:ea typeface="Times New Roman"/>
                <a:cs typeface="Times New Roman"/>
              </a:defRPr>
            </a:pPr>
            <a:r>
              <a:rPr sz="2025" b="1">
                <a:solidFill>
                  <a:srgbClr val="FFFFFF"/>
                </a:solidFill>
                <a:latin typeface="Times New Roman"/>
                <a:ea typeface="Times New Roman"/>
                <a:cs typeface="Times New Roman"/>
              </a:rPr>
              <a:t>Hardware readiness</a:t>
            </a:r>
          </a:p>
        </p:txBody>
      </p:sp>
      <p:sp>
        <p:nvSpPr>
          <p:cNvPr id="12" name="reveal-5">
            <a:extLst>
              <a:ext uri="{FF2B5EF4-FFF2-40B4-BE49-F238E27FC236}">
                <ns3:creationId id="{AED08199-04FB-475D-92AF-69E62B584147}"/>
              </a:ext>
            </a:extLst>
          </p:cNvPr>
          <p:cNvSpPr>
            <a:spLocks noGrp="1"/>
          </p:cNvSpPr>
          <p:nvPr/>
        </p:nvSpPr>
        <p:spPr>
          <a:xfrm>
            <a:off x="8216900" y="5219700"/>
            <a:ext cx="3346450" cy="952500"/>
          </a:xfrm>
          <a:prstGeom prst="rect">
            <a:avLst/>
          </a:prstGeom>
          <a:solidFill>
            <a:srgbClr val="123342"/>
          </a:solidFill>
          <a:ln w="9525">
            <a:solidFill>
              <a:srgbClr val="466D77"/>
            </a:solidFill>
          </a:ln>
        </p:spPr>
        <p:txBody>
          <a:bodyPr anchor="ctr"/>
          <a:lstStyle/>
          <a:p>
            <a:pPr algn="ctr">
              <a:defRPr sz="2025" b="1">
                <a:solidFill>
                  <a:srgbClr val="FFFFFF"/>
                </a:solidFill>
                <a:latin typeface="Times New Roman"/>
                <a:ea typeface="Times New Roman"/>
                <a:cs typeface="Times New Roman"/>
              </a:defRPr>
            </a:pPr>
            <a:r>
              <a:rPr sz="2025" b="1">
                <a:solidFill>
                  <a:srgbClr val="FFFFFF"/>
                </a:solidFill>
                <a:latin typeface="Times New Roman"/>
                <a:ea typeface="Times New Roman"/>
                <a:cs typeface="Times New Roman"/>
              </a:rPr>
              <a:t>Exam entry</a:t>
            </a:r>
          </a:p>
        </p:txBody>
      </p:sp>
      <p:cxnSp>
        <p:nvCxnSpPr>
          <p:cNvPr id="27" name="reveal-4"/>
          <p:cNvCxnSpPr>
            <a:stCxn id="10" idx="3"/>
            <a:endCxn id="11" idx="1"/>
          </p:cNvCxnSpPr>
          <p:nvPr/>
        </p:nvCxnSpPr>
        <p:spPr>
          <a:xfrm>
            <a:off x="3956050" y="5695950"/>
            <a:ext cx="457200" cy="0"/>
          </a:xfrm>
          <a:prstGeom prst="straightConnector1">
            <a:avLst/>
          </a:prstGeom>
          <a:ln w="19050">
            <a:solidFill>
              <a:srgbClr val="74E6CF"/>
            </a:solidFill>
            <a:tailEnd type="arrow" w="med" len="med"/>
          </a:ln>
        </p:spPr>
      </p:cxnSp>
      <p:cxnSp>
        <p:nvCxnSpPr>
          <p:cNvPr id="28" name="reveal-5"/>
          <p:cNvCxnSpPr>
            <a:stCxn id="11" idx="3"/>
            <a:endCxn id="12" idx="1"/>
          </p:cNvCxnSpPr>
          <p:nvPr/>
        </p:nvCxnSpPr>
        <p:spPr>
          <a:xfrm>
            <a:off x="7759700" y="5695950"/>
            <a:ext cx="457200" cy="0"/>
          </a:xfrm>
          <a:prstGeom prst="straightConnector1">
            <a:avLst/>
          </a:prstGeom>
          <a:ln w="19050">
            <a:solidFill>
              <a:srgbClr val="74E6CF"/>
            </a:solidFill>
            <a:tailEnd type="arrow" w="med" len="med"/>
          </a:ln>
        </p:spPr>
      </p:cxnSp>
    </p:spTree>
    <p:extLst>
      <p:ext uri="{BB962C8B-B14F-4D97-AF65-F5344CB8AC3E}">
        <ns4:creationId val="1222566890"/>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1" nodeType="clickEffect">
                            <p:stCondLst>
                              <p:cond delay="0"/>
                            </p:stCondLst>
                            <p:childTnLst>
                              <p:set>
                                <p:cBhvr>
                                  <p:cTn id="5" dur="1" fill="hold">
                                    <p:stCondLst>
                                      <p:cond delay="0"/>
                                    </p:stCondLst>
                                  </p:cTn>
                                  <p:tgtEl>
                                    <p:spTgt spid="7"/>
                                  </p:tgtEl>
                                  <p:attrNameLst>
                                    <p:attrName>style.visibility</p:attrName>
                                  </p:attrNameLst>
                                </p:cBhvr>
                                <p:to>
                                  <p:strVal val="visible"/>
                                </p:to>
                              </p:set>
                              <p:animEffect transition="in" filter="fade">
                                <p:cBhvr>
                                  <p:cTn id="6" dur="350"/>
                                  <p:tgtEl>
                                    <p:spTgt spid="7"/>
                                  </p:tgtEl>
                                </p:cBhvr>
                              </p:animEffect>
                            </p:childTnLst>
                          </p:cTn>
                        </p:par>
                      </p:childTnLst>
                    </p:cTn>
                  </p:par>
                  <p:par>
                    <p:cTn id="7" fill="hold">
                      <p:stCondLst>
                        <p:cond delay="indefinite"/>
                      </p:stCondLst>
                      <p:childTnLst>
                        <p:par>
                          <p:cTn id="8" presetID="10" presetClass="entr" presetSubtype="0" fill="hold" grpId="2" nodeType="click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350"/>
                                  <p:tgtEl>
                                    <p:spTgt spid="8"/>
                                  </p:tgtEl>
                                </p:cBhvr>
                              </p:animEffect>
                            </p:childTnLst>
                          </p:cTn>
                        </p:par>
                        <p:par>
                          <p:cTn id="11" presetID="10" presetClass="entr" presetSubtype="0" fill="hold" grpId="2" nodeType="click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350"/>
                                  <p:tgtEl>
                                    <p:spTgt spid="9"/>
                                  </p:tgtEl>
                                </p:cBhvr>
                              </p:animEffect>
                            </p:childTnLst>
                          </p:cTn>
                        </p:par>
                      </p:childTnLst>
                    </p:cTn>
                  </p:par>
                  <p:par>
                    <p:cTn id="14" fill="hold">
                      <p:stCondLst>
                        <p:cond delay="indefinite"/>
                      </p:stCondLst>
                      <p:childTnLst>
                        <p:par>
                          <p:cTn id="15" presetID="10" presetClass="entr" presetSubtype="0" fill="hold" grpId="3"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350"/>
                                  <p:tgtEl>
                                    <p:spTgt spid="10"/>
                                  </p:tgtEl>
                                </p:cBhvr>
                              </p:animEffect>
                            </p:childTnLst>
                          </p:cTn>
                        </p:par>
                      </p:childTnLst>
                    </p:cTn>
                  </p:par>
                  <p:par>
                    <p:cTn id="18" fill="hold">
                      <p:stCondLst>
                        <p:cond delay="indefinite"/>
                      </p:stCondLst>
                      <p:childTnLst>
                        <p:par>
                          <p:cTn id="19" presetID="10" presetClass="entr" presetSubtype="0" fill="hold" grpId="4" nodeType="click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350"/>
                                  <p:tgtEl>
                                    <p:spTgt spid="11"/>
                                  </p:tgtEl>
                                </p:cBhvr>
                              </p:animEffect>
                            </p:childTnLst>
                          </p:cTn>
                        </p:par>
                        <p:par>
                          <p:cTn id="22" presetID="10" presetClass="entr" presetSubtype="0" fill="hold" grpId="4" nodeType="clickEffect">
                            <p:stCondLst>
                              <p:cond delay="0"/>
                            </p:stCondLst>
                            <p:childTnLst>
                              <p:set>
                                <p:cBhvr>
                                  <p:cTn id="23" dur="1" fill="hold">
                                    <p:stCondLst>
                                      <p:cond delay="0"/>
                                    </p:stCondLst>
                                  </p:cTn>
                                  <p:tgtEl>
                                    <p:spTgt spid="27"/>
                                  </p:tgtEl>
                                  <p:attrNameLst>
                                    <p:attrName>style.visibility</p:attrName>
                                  </p:attrNameLst>
                                </p:cBhvr>
                                <p:to>
                                  <p:strVal val="visible"/>
                                </p:to>
                              </p:set>
                              <p:animEffect transition="in" filter="fade">
                                <p:cBhvr>
                                  <p:cTn id="24" dur="350"/>
                                  <p:tgtEl>
                                    <p:spTgt spid="27"/>
                                  </p:tgtEl>
                                </p:cBhvr>
                              </p:animEffect>
                            </p:childTnLst>
                          </p:cTn>
                        </p:par>
                      </p:childTnLst>
                    </p:cTn>
                  </p:par>
                  <p:par>
                    <p:cTn id="25" fill="hold">
                      <p:stCondLst>
                        <p:cond delay="indefinite"/>
                      </p:stCondLst>
                      <p:childTnLst>
                        <p:par>
                          <p:cTn id="26" presetID="10" presetClass="entr" presetSubtype="0" fill="hold" grpId="5" nodeType="click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350"/>
                                  <p:tgtEl>
                                    <p:spTgt spid="12"/>
                                  </p:tgtEl>
                                </p:cBhvr>
                              </p:animEffect>
                            </p:childTnLst>
                          </p:cTn>
                        </p:par>
                        <p:par>
                          <p:cTn id="29" presetID="10" presetClass="entr" presetSubtype="0" fill="hold" grpId="5" nodeType="clickEffect">
                            <p:stCondLst>
                              <p:cond delay="0"/>
                            </p:stCondLst>
                            <p:childTnLst>
                              <p:set>
                                <p:cBhvr>
                                  <p:cTn id="30" dur="1" fill="hold">
                                    <p:stCondLst>
                                      <p:cond delay="0"/>
                                    </p:stCondLst>
                                  </p:cTn>
                                  <p:tgtEl>
                                    <p:spTgt spid="28"/>
                                  </p:tgtEl>
                                  <p:attrNameLst>
                                    <p:attrName>style.visibility</p:attrName>
                                  </p:attrNameLst>
                                </p:cBhvr>
                                <p:to>
                                  <p:strVal val="visible"/>
                                </p:to>
                              </p:set>
                              <p:animEffect transition="in" filter="fade">
                                <p:cBhvr>
                                  <p:cTn id="31" dur="350"/>
                                  <p:tgtEl>
                                    <p:spTgt spid="28"/>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7" grpId="1" uiExpand="1"/>
      <p:bldP spid="8" grpId="2" uiExpand="1"/>
      <p:bldP spid="9" grpId="2" uiExpand="1"/>
      <p:bldP spid="10" grpId="3" uiExpand="1"/>
      <p:bldP spid="11" grpId="4" uiExpand="1"/>
      <p:bldP spid="27" grpId="4" uiExpand="1"/>
      <p:bldP spid="12" grpId="5" uiExpand="1"/>
      <p:bldP spid="28" grpId="5" uiExpand="1"/>
    </p:bldLst>
  </p:timing>
</p:sld>
</file>

<file path=ppt/slides/slide24.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6F7F4"/>
        </a:solidFill>
      </p:bgPr>
    </p:bg>
    <p:spTree>
      <p:nvGrpSpPr>
        <p:cNvPr id="1" name=""/>
        <p:cNvGrpSpPr/>
        <p:nvPr/>
      </p:nvGrpSpPr>
      <p:grpSpPr>
        <a:xfrm/>
      </p:grpSpPr>
      <p:sp>
        <p:nvSpPr>
          <p:cNvPr id="18" name="fixed">
            <a:extLst>
              <a:ext uri="{FF2B5EF4-FFF2-40B4-BE49-F238E27FC236}">
                <ns2:creationId id="{85DF49D8-872B-4990-B746-BB3387B98AD8}"/>
              </a:ext>
            </a:extLst>
          </p:cNvPr>
          <p:cNvSpPr>
            <a:spLocks noGrp="1"/>
          </p:cNvSpPr>
          <p:nvPr/>
        </p:nvSpPr>
        <p:spPr>
          <a:xfrm>
            <a:off x="609600" y="400050"/>
            <a:ext cx="7620000" cy="381000"/>
          </a:xfrm>
          <a:prstGeom prst="rect">
            <a:avLst/>
          </a:prstGeom>
          <a:noFill/>
          <a:ln w="0">
            <a:noFill/>
          </a:ln>
        </p:spPr>
        <p:txBody>
          <a:bodyPr>
            <a:noAutofit/>
          </a:bodyPr>
          <a:lstStyle/>
          <a:p>
            <a:pPr algn="l">
              <a:defRPr sz="1875" b="1">
                <a:solidFill>
                  <a:srgbClr val="087F8C"/>
                </a:solidFill>
                <a:latin typeface="Times New Roman"/>
                <a:ea typeface="Times New Roman"/>
                <a:cs typeface="Times New Roman"/>
              </a:defRPr>
            </a:pPr>
            <a:r>
              <a:rPr sz="1875" b="1">
                <a:solidFill>
                  <a:srgbClr val="087F8C"/>
                </a:solidFill>
                <a:latin typeface="Times New Roman"/>
                <a:ea typeface="Times New Roman"/>
                <a:cs typeface="Times New Roman"/>
              </a:rPr>
              <a:t>MODULE 04 / WORKING AND EXAMPLE</a:t>
            </a:r>
          </a:p>
        </p:txBody>
      </p:sp>
      <p:sp>
        <p:nvSpPr>
          <p:cNvPr id="2" name="fixed">
            <a:extLst>
              <a:ext uri="{FF2B5EF4-FFF2-40B4-BE49-F238E27FC236}">
                <ns2:creationId id="{5B363B24-5A95-4E28-BFE8-E16CE8F8273C}"/>
              </a:ext>
            </a:extLst>
          </p:cNvPr>
          <p:cNvSpPr>
            <a:spLocks noGrp="1"/>
          </p:cNvSpPr>
          <p:nvPr/>
        </p:nvSpPr>
        <p:spPr>
          <a:xfrm>
            <a:off x="609600" y="971550"/>
            <a:ext cx="8191500" cy="1171575"/>
          </a:xfrm>
          <a:prstGeom prst="rect">
            <a:avLst/>
          </a:prstGeom>
          <a:noFill/>
          <a:ln w="0">
            <a:noFill/>
          </a:ln>
        </p:spPr>
        <p:txBody>
          <a:bodyPr>
            <a:noAutofit/>
          </a:bodyPr>
          <a:lstStyle/>
          <a:p>
            <a:pPr algn="l">
              <a:defRPr sz="3750" b="1">
                <a:solidFill>
                  <a:srgbClr val="172F3A"/>
                </a:solidFill>
                <a:latin typeface="Times New Roman"/>
                <a:ea typeface="Times New Roman"/>
                <a:cs typeface="Times New Roman"/>
              </a:defRPr>
            </a:pPr>
            <a:r>
              <a:rPr sz="3750" b="1">
                <a:solidFill>
                  <a:srgbClr val="172F3A"/>
                </a:solidFill>
                <a:latin typeface="Times New Roman"/>
                <a:ea typeface="Times New Roman"/>
                <a:cs typeface="Times New Roman"/>
              </a:rPr>
              <a:t>Self-check example: blocked and ready states</a:t>
            </a:r>
          </a:p>
        </p:txBody>
      </p:sp>
      <p:sp>
        <p:nvSpPr>
          <p:cNvPr id="3" name="fixed">
            <a:extLst>
              <a:ext uri="{FF2B5EF4-FFF2-40B4-BE49-F238E27FC236}">
                <ns2:creationId id="{82B5D904-EA02-4184-B2B4-0665A95DE708}"/>
              </a:ext>
            </a:extLst>
          </p:cNvPr>
          <p:cNvSpPr>
            <a:spLocks noGrp="1"/>
          </p:cNvSpPr>
          <p:nvPr/>
        </p:nvSpPr>
        <p:spPr>
          <a:xfrm>
            <a:off x="9029700" y="457200"/>
            <a:ext cx="2571750" cy="381000"/>
          </a:xfrm>
          <a:prstGeom prst="rect">
            <a:avLst/>
          </a:prstGeom>
          <a:noFill/>
          <a:ln w="0">
            <a:noFill/>
          </a:ln>
        </p:spPr>
        <p:txBody>
          <a:bodyPr>
            <a:noAutofit/>
          </a:bodyPr>
          <a:lstStyle/>
          <a:p>
            <a:pPr algn="r">
              <a:defRPr sz="1800" b="1">
                <a:solidFill>
                  <a:srgbClr val="087F8C"/>
                </a:solidFill>
                <a:latin typeface="Times New Roman"/>
                <a:ea typeface="Times New Roman"/>
                <a:cs typeface="Times New Roman"/>
              </a:defRPr>
            </a:pPr>
            <a:r>
              <a:rPr sz="1800" b="1">
                <a:solidFill>
                  <a:srgbClr val="087F8C"/>
                </a:solidFill>
                <a:latin typeface="Times New Roman"/>
                <a:ea typeface="Times New Roman"/>
                <a:cs typeface="Times New Roman"/>
              </a:rPr>
              <a:t>COMPLETED</a:t>
            </a:r>
          </a:p>
        </p:txBody>
      </p:sp>
      <p:sp>
        <p:nvSpPr>
          <p:cNvPr id="4" name="fixed">
            <a:extLst>
              <a:ext uri="{FF2B5EF4-FFF2-40B4-BE49-F238E27FC236}">
                <ns2:creationId id="{50E14ECF-B22D-40C4-8522-6921F8920DAF}"/>
              </a:ext>
            </a:extLst>
          </p:cNvPr>
          <p:cNvSpPr>
            <a:spLocks noGrp="1"/>
          </p:cNvSpPr>
          <p:nvPr/>
        </p:nvSpPr>
        <p:spPr>
          <a:xfrm>
            <a:off x="9029700" y="828675"/>
            <a:ext cx="2571750" cy="304800"/>
          </a:xfrm>
          <a:prstGeom prst="rect">
            <a:avLst/>
          </a:prstGeom>
          <a:noFill/>
          <a:ln w="0">
            <a:noFill/>
          </a:ln>
        </p:spPr>
        <p:txBody>
          <a:bodyPr>
            <a:noAutofit/>
          </a:bodyPr>
          <a:lstStyle/>
          <a:p>
            <a:pPr algn="r">
              <a:defRPr sz="1425" b="0">
                <a:solidFill>
                  <a:srgbClr val="4C6471"/>
                </a:solidFill>
                <a:latin typeface="Times New Roman"/>
                <a:ea typeface="Times New Roman"/>
                <a:cs typeface="Times New Roman"/>
              </a:defRPr>
            </a:pPr>
            <a:r>
              <a:rPr sz="1425" b="0">
                <a:solidFill>
                  <a:srgbClr val="4C6471"/>
                </a:solidFill>
                <a:latin typeface="Times New Roman"/>
                <a:ea typeface="Times New Roman"/>
                <a:cs typeface="Times New Roman"/>
              </a:rPr>
              <a:t>Implementation status</a:t>
            </a:r>
          </a:p>
        </p:txBody>
      </p:sp>
      <p:sp>
        <p:nvSpPr>
          <p:cNvPr id="5" name="fixed">
            <a:extLst>
              <a:ext uri="{FF2B5EF4-FFF2-40B4-BE49-F238E27FC236}">
                <ns2:creationId id="{CFF2035C-E8A3-493F-88A5-43ABD3ABD86B}"/>
              </a:ext>
            </a:extLst>
          </p:cNvPr>
          <p:cNvSpPr>
            <a:spLocks noGrp="1"/>
          </p:cNvSpPr>
          <p:nvPr/>
        </p:nvSpPr>
        <p:spPr>
          <a:xfrm>
            <a:off x="11029950" y="6334125"/>
            <a:ext cx="523875" cy="285750"/>
          </a:xfrm>
          <a:prstGeom prst="rect">
            <a:avLst/>
          </a:prstGeom>
          <a:noFill/>
          <a:ln w="0">
            <a:noFill/>
          </a:ln>
        </p:spPr>
        <p:txBody>
          <a:bodyPr>
            <a:noAutofit/>
          </a:bodyPr>
          <a:lstStyle/>
          <a:p>
            <a:pPr algn="r">
              <a:defRPr sz="1500" b="0">
                <a:solidFill>
                  <a:srgbClr val="4C6471"/>
                </a:solidFill>
                <a:latin typeface="Times New Roman"/>
                <a:ea typeface="Times New Roman"/>
                <a:cs typeface="Times New Roman"/>
              </a:defRPr>
            </a:pPr>
            <a:r>
              <a:rPr sz="1500" b="0">
                <a:solidFill>
                  <a:srgbClr val="4C6471"/>
                </a:solidFill>
                <a:latin typeface="Times New Roman"/>
                <a:ea typeface="Times New Roman"/>
                <a:cs typeface="Times New Roman"/>
              </a:rPr>
              <a:t>24</a:t>
            </a:r>
          </a:p>
        </p:txBody>
      </p:sp>
      <p:sp>
        <p:nvSpPr>
          <p:cNvPr id="6" name="reveal-1">
            <a:extLst>
              <a:ext uri="{FF2B5EF4-FFF2-40B4-BE49-F238E27FC236}">
                <ns2:creationId id="{F96A683F-0D23-4C8B-A49E-C22A5AB4EB69}"/>
              </a:ext>
            </a:extLst>
          </p:cNvPr>
          <p:cNvSpPr>
            <a:spLocks noGrp="1"/>
          </p:cNvSpPr>
          <p:nvPr/>
        </p:nvSpPr>
        <p:spPr>
          <a:xfrm>
            <a:off x="609600" y="2381250"/>
            <a:ext cx="2395538"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Read exam requirements</a:t>
            </a:r>
          </a:p>
        </p:txBody>
      </p:sp>
      <p:sp>
        <p:nvSpPr>
          <p:cNvPr id="7" name="reveal-2">
            <a:extLst>
              <a:ext uri="{FF2B5EF4-FFF2-40B4-BE49-F238E27FC236}">
                <ns2:creationId id="{DF5D5F83-300B-4724-BE18-9482E1A71F42}"/>
              </a:ext>
            </a:extLst>
          </p:cNvPr>
          <p:cNvSpPr>
            <a:spLocks noGrp="1"/>
          </p:cNvSpPr>
          <p:nvPr/>
        </p:nvSpPr>
        <p:spPr>
          <a:xfrm>
            <a:off x="3462338" y="2381250"/>
            <a:ext cx="2395538"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Check devices / models</a:t>
            </a:r>
          </a:p>
        </p:txBody>
      </p:sp>
      <p:sp>
        <p:nvSpPr>
          <p:cNvPr id="8" name="reveal-3">
            <a:extLst>
              <a:ext uri="{FF2B5EF4-FFF2-40B4-BE49-F238E27FC236}">
                <ns2:creationId id="{9EA73EAD-69EF-40B5-9406-D20A9346BC5A}"/>
              </a:ext>
            </a:extLst>
          </p:cNvPr>
          <p:cNvSpPr>
            <a:spLocks noGrp="1"/>
          </p:cNvSpPr>
          <p:nvPr/>
        </p:nvSpPr>
        <p:spPr>
          <a:xfrm>
            <a:off x="6315075" y="2381250"/>
            <a:ext cx="2395538"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Resolve blocked checks</a:t>
            </a:r>
          </a:p>
        </p:txBody>
      </p:sp>
      <p:sp>
        <p:nvSpPr>
          <p:cNvPr id="9" name="reveal-4">
            <a:extLst>
              <a:ext uri="{FF2B5EF4-FFF2-40B4-BE49-F238E27FC236}">
                <ns2:creationId id="{1E35CEA7-F3D6-4E8D-9B2D-6093CE68E8F8}"/>
              </a:ext>
            </a:extLst>
          </p:cNvPr>
          <p:cNvSpPr>
            <a:spLocks noGrp="1"/>
          </p:cNvSpPr>
          <p:nvPr/>
        </p:nvSpPr>
        <p:spPr>
          <a:xfrm>
            <a:off x="9167813" y="2381250"/>
            <a:ext cx="2395538"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Enter permitted mode</a:t>
            </a:r>
          </a:p>
        </p:txBody>
      </p:sp>
      <p:cxnSp>
        <p:nvCxnSpPr>
          <p:cNvPr id="27" name="reveal-2"/>
          <p:cNvCxnSpPr>
            <a:stCxn id="6" idx="3"/>
            <a:endCxn id="7" idx="1"/>
          </p:cNvCxnSpPr>
          <p:nvPr/>
        </p:nvCxnSpPr>
        <p:spPr>
          <a:xfrm>
            <a:off x="3005138" y="2857500"/>
            <a:ext cx="457200" cy="0"/>
          </a:xfrm>
          <a:prstGeom prst="straightConnector1">
            <a:avLst/>
          </a:prstGeom>
          <a:ln w="19050">
            <a:solidFill>
              <a:srgbClr val="087F8C"/>
            </a:solidFill>
            <a:tailEnd type="arrow" w="med" len="med"/>
          </a:ln>
        </p:spPr>
      </p:cxnSp>
      <p:cxnSp>
        <p:nvCxnSpPr>
          <p:cNvPr id="28" name="reveal-3"/>
          <p:cNvCxnSpPr>
            <a:stCxn id="7" idx="3"/>
            <a:endCxn id="8" idx="1"/>
          </p:cNvCxnSpPr>
          <p:nvPr/>
        </p:nvCxnSpPr>
        <p:spPr>
          <a:xfrm>
            <a:off x="5857876" y="2857500"/>
            <a:ext cx="457199" cy="0"/>
          </a:xfrm>
          <a:prstGeom prst="straightConnector1">
            <a:avLst/>
          </a:prstGeom>
          <a:ln w="19050">
            <a:solidFill>
              <a:srgbClr val="087F8C"/>
            </a:solidFill>
            <a:tailEnd type="arrow" w="med" len="med"/>
          </a:ln>
        </p:spPr>
      </p:cxnSp>
      <p:cxnSp>
        <p:nvCxnSpPr>
          <p:cNvPr id="29" name="reveal-4"/>
          <p:cNvCxnSpPr>
            <a:stCxn id="8" idx="3"/>
            <a:endCxn id="9" idx="1"/>
          </p:cNvCxnSpPr>
          <p:nvPr/>
        </p:nvCxnSpPr>
        <p:spPr>
          <a:xfrm>
            <a:off x="8710613" y="2857500"/>
            <a:ext cx="457200" cy="0"/>
          </a:xfrm>
          <a:prstGeom prst="straightConnector1">
            <a:avLst/>
          </a:prstGeom>
          <a:ln w="19050">
            <a:solidFill>
              <a:srgbClr val="087F8C"/>
            </a:solidFill>
            <a:tailEnd type="arrow" w="med" len="med"/>
          </a:ln>
        </p:spPr>
      </p:cxnSp>
      <p:sp>
        <p:nvSpPr>
          <p:cNvPr id="13" name="reveal-5">
            <a:extLst>
              <a:ext uri="{FF2B5EF4-FFF2-40B4-BE49-F238E27FC236}">
                <ns2:creationId id="{F29C8458-0974-4177-BC32-ACB9B69E8D56}"/>
              </a:ext>
            </a:extLst>
          </p:cNvPr>
          <p:cNvSpPr>
            <a:spLocks noGrp="1"/>
          </p:cNvSpPr>
          <p:nvPr/>
        </p:nvSpPr>
        <p:spPr>
          <a:xfrm>
            <a:off x="609600" y="3924300"/>
            <a:ext cx="5095875" cy="476250"/>
          </a:xfrm>
          <a:prstGeom prst="rect">
            <a:avLst/>
          </a:prstGeom>
          <a:noFill/>
          <a:ln w="0">
            <a:noFill/>
          </a:ln>
        </p:spPr>
        <p:txBody>
          <a:bodyPr>
            <a:noAutofit/>
          </a:bodyPr>
          <a:lstStyle/>
          <a:p>
            <a:pPr algn="l">
              <a:defRPr sz="2550" b="1">
                <a:solidFill>
                  <a:srgbClr val="087F8C"/>
                </a:solidFill>
                <a:latin typeface="Times New Roman"/>
                <a:ea typeface="Times New Roman"/>
                <a:cs typeface="Times New Roman"/>
              </a:defRPr>
            </a:pPr>
            <a:r>
              <a:rPr sz="2550" b="1">
                <a:solidFill>
                  <a:srgbClr val="087F8C"/>
                </a:solidFill>
                <a:latin typeface="Times New Roman"/>
                <a:ea typeface="Times New Roman"/>
                <a:cs typeface="Times New Roman"/>
              </a:rPr>
              <a:t>Online example</a:t>
            </a:r>
          </a:p>
        </p:txBody>
      </p:sp>
      <p:sp>
        <p:nvSpPr>
          <p:cNvPr id="14" name="reveal-5">
            <a:extLst>
              <a:ext uri="{FF2B5EF4-FFF2-40B4-BE49-F238E27FC236}">
                <ns2:creationId id="{27796855-6EEA-4D6A-8CE3-5D08ADA9066E}"/>
              </a:ext>
            </a:extLst>
          </p:cNvPr>
          <p:cNvSpPr>
            <a:spLocks noGrp="1"/>
          </p:cNvSpPr>
          <p:nvPr/>
        </p:nvSpPr>
        <p:spPr>
          <a:xfrm>
            <a:off x="609600" y="4552950"/>
            <a:ext cx="5095875" cy="1619250"/>
          </a:xfrm>
          <a:prstGeom prst="rect">
            <a:avLst/>
          </a:prstGeom>
          <a:noFill/>
          <a:ln w="0">
            <a:noFill/>
          </a:ln>
        </p:spPr>
        <p:txBody>
          <a:bodyPr>
            <a:noAutofit/>
          </a:bodyPr>
          <a:lstStyle/>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Connected USB storage blocks readiness.</a:t>
            </a:r>
          </a:p>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Remove it and repeat the check.</a:t>
            </a:r>
          </a:p>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Online camera and voice must be ready.</a:t>
            </a:r>
          </a:p>
        </p:txBody>
      </p:sp>
      <p:sp>
        <p:nvSpPr>
          <p:cNvPr id="15" name="reveal-6">
            <a:extLst>
              <a:ext uri="{FF2B5EF4-FFF2-40B4-BE49-F238E27FC236}">
                <ns2:creationId id="{E4AE0B29-10CF-4495-BFA8-7EE69A1223E3}"/>
              </a:ext>
            </a:extLst>
          </p:cNvPr>
          <p:cNvSpPr>
            <a:spLocks noGrp="1"/>
          </p:cNvSpPr>
          <p:nvPr/>
        </p:nvSpPr>
        <p:spPr>
          <a:xfrm>
            <a:off x="6381750" y="3924300"/>
            <a:ext cx="5095875" cy="476250"/>
          </a:xfrm>
          <a:prstGeom prst="rect">
            <a:avLst/>
          </a:prstGeom>
          <a:noFill/>
          <a:ln w="0">
            <a:noFill/>
          </a:ln>
        </p:spPr>
        <p:txBody>
          <a:bodyPr>
            <a:noAutofit/>
          </a:bodyPr>
          <a:lstStyle/>
          <a:p>
            <a:pPr algn="l">
              <a:defRPr sz="2550" b="1">
                <a:solidFill>
                  <a:srgbClr val="087F8C"/>
                </a:solidFill>
                <a:latin typeface="Times New Roman"/>
                <a:ea typeface="Times New Roman"/>
                <a:cs typeface="Times New Roman"/>
              </a:defRPr>
            </a:pPr>
            <a:r>
              <a:rPr sz="2550" b="1">
                <a:solidFill>
                  <a:srgbClr val="087F8C"/>
                </a:solidFill>
                <a:latin typeface="Times New Roman"/>
                <a:ea typeface="Times New Roman"/>
                <a:cs typeface="Times New Roman"/>
              </a:rPr>
              <a:t>Physical-lab example</a:t>
            </a:r>
          </a:p>
        </p:txBody>
      </p:sp>
      <p:sp>
        <p:nvSpPr>
          <p:cNvPr id="16" name="reveal-6">
            <a:extLst>
              <a:ext uri="{FF2B5EF4-FFF2-40B4-BE49-F238E27FC236}">
                <ns2:creationId id="{7FDDDF2B-F5CC-4E7A-8D0A-C67914D113F1}"/>
              </a:ext>
            </a:extLst>
          </p:cNvPr>
          <p:cNvSpPr>
            <a:spLocks noGrp="1"/>
          </p:cNvSpPr>
          <p:nvPr/>
        </p:nvSpPr>
        <p:spPr>
          <a:xfrm>
            <a:off x="6381750" y="4552950"/>
            <a:ext cx="5095875" cy="1619250"/>
          </a:xfrm>
          <a:prstGeom prst="rect">
            <a:avLst/>
          </a:prstGeom>
          <a:noFill/>
          <a:ln w="0">
            <a:noFill/>
          </a:ln>
        </p:spPr>
        <p:txBody>
          <a:bodyPr>
            <a:noAutofit/>
          </a:bodyPr>
          <a:lstStyle/>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Camera and voice are bypassed.</a:t>
            </a:r>
          </a:p>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Application, USB and display checks remain.</a:t>
            </a:r>
          </a:p>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Exam mode sets the required checks.</a:t>
            </a:r>
          </a:p>
        </p:txBody>
      </p:sp>
      <p:sp>
        <p:nvSpPr>
          <p:cNvPr id="17" name="fixed">
            <a:extLst>
              <a:ext uri="{FF2B5EF4-FFF2-40B4-BE49-F238E27FC236}">
                <ns2:creationId id="{3FBC54AA-DEC5-474E-A28C-29BC0E0C4361}"/>
              </a:ext>
            </a:extLst>
          </p:cNvPr>
          <p:cNvSpPr>
            <a:spLocks noGrp="1"/>
          </p:cNvSpPr>
          <p:nvPr/>
        </p:nvSpPr>
        <p:spPr>
          <a:xfrm>
            <a:off x="609600" y="5953125"/>
            <a:ext cx="10668000" cy="457200"/>
          </a:xfrm>
          <a:prstGeom prst="rect">
            <a:avLst/>
          </a:prstGeom>
          <a:noFill/>
          <a:ln w="0">
            <a:noFill/>
          </a:ln>
        </p:spPr>
        <p:txBody>
          <a:bodyPr>
            <a:noAutofit/>
          </a:bodyPr>
          <a:lstStyle/>
          <a:p>
            <a:pPr algn="l">
              <a:defRPr sz="1725" b="0">
                <a:solidFill>
                  <a:srgbClr val="4C6471"/>
                </a:solidFill>
                <a:latin typeface="Times New Roman"/>
                <a:ea typeface="Times New Roman"/>
                <a:cs typeface="Times New Roman"/>
              </a:defRPr>
            </a:pPr>
            <a:r>
              <a:rPr sz="1725" b="0">
                <a:solidFill>
                  <a:srgbClr val="4C6471"/>
                </a:solidFill>
                <a:latin typeface="Times New Roman"/>
                <a:ea typeface="Times New Roman"/>
                <a:cs typeface="Times New Roman"/>
              </a:rPr>
              <a:t>A successful self-check means required components are ready, not that AI accuracy is proven.</a:t>
            </a:r>
          </a:p>
        </p:txBody>
      </p:sp>
    </p:spTree>
    <p:extLst>
      <p:ext uri="{BB962C8B-B14F-4D97-AF65-F5344CB8AC3E}">
        <ns3:creationId val="600696008"/>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1" nodeType="click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350"/>
                                  <p:tgtEl>
                                    <p:spTgt spid="6"/>
                                  </p:tgtEl>
                                </p:cBhvr>
                              </p:animEffect>
                            </p:childTnLst>
                          </p:cTn>
                        </p:par>
                      </p:childTnLst>
                    </p:cTn>
                  </p:par>
                  <p:par>
                    <p:cTn id="7" fill="hold">
                      <p:stCondLst>
                        <p:cond delay="indefinite"/>
                      </p:stCondLst>
                      <p:childTnLst>
                        <p:par>
                          <p:cTn id="8" presetID="10" presetClass="entr" presetSubtype="0" fill="hold" grpId="2" nodeType="click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350"/>
                                  <p:tgtEl>
                                    <p:spTgt spid="7"/>
                                  </p:tgtEl>
                                </p:cBhvr>
                              </p:animEffect>
                            </p:childTnLst>
                          </p:cTn>
                        </p:par>
                        <p:par>
                          <p:cTn id="11" presetID="10" presetClass="entr" presetSubtype="0" fill="hold" grpId="2" nodeType="clickEffect">
                            <p:stCondLst>
                              <p:cond delay="0"/>
                            </p:stCondLst>
                            <p:childTnLst>
                              <p:set>
                                <p:cBhvr>
                                  <p:cTn id="12" dur="1" fill="hold">
                                    <p:stCondLst>
                                      <p:cond delay="0"/>
                                    </p:stCondLst>
                                  </p:cTn>
                                  <p:tgtEl>
                                    <p:spTgt spid="27"/>
                                  </p:tgtEl>
                                  <p:attrNameLst>
                                    <p:attrName>style.visibility</p:attrName>
                                  </p:attrNameLst>
                                </p:cBhvr>
                                <p:to>
                                  <p:strVal val="visible"/>
                                </p:to>
                              </p:set>
                              <p:animEffect transition="in" filter="fade">
                                <p:cBhvr>
                                  <p:cTn id="13" dur="350"/>
                                  <p:tgtEl>
                                    <p:spTgt spid="27"/>
                                  </p:tgtEl>
                                </p:cBhvr>
                              </p:animEffect>
                            </p:childTnLst>
                          </p:cTn>
                        </p:par>
                      </p:childTnLst>
                    </p:cTn>
                  </p:par>
                  <p:par>
                    <p:cTn id="14" fill="hold">
                      <p:stCondLst>
                        <p:cond delay="indefinite"/>
                      </p:stCondLst>
                      <p:childTnLst>
                        <p:par>
                          <p:cTn id="15" presetID="10" presetClass="entr" presetSubtype="0" fill="hold" grpId="3"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350"/>
                                  <p:tgtEl>
                                    <p:spTgt spid="8"/>
                                  </p:tgtEl>
                                </p:cBhvr>
                              </p:animEffect>
                            </p:childTnLst>
                          </p:cTn>
                        </p:par>
                        <p:par>
                          <p:cTn id="18" presetID="10" presetClass="entr" presetSubtype="0" fill="hold" grpId="3" nodeType="clickEffect">
                            <p:stCondLst>
                              <p:cond delay="0"/>
                            </p:stCondLst>
                            <p:childTnLst>
                              <p:set>
                                <p:cBhvr>
                                  <p:cTn id="19" dur="1" fill="hold">
                                    <p:stCondLst>
                                      <p:cond delay="0"/>
                                    </p:stCondLst>
                                  </p:cTn>
                                  <p:tgtEl>
                                    <p:spTgt spid="28"/>
                                  </p:tgtEl>
                                  <p:attrNameLst>
                                    <p:attrName>style.visibility</p:attrName>
                                  </p:attrNameLst>
                                </p:cBhvr>
                                <p:to>
                                  <p:strVal val="visible"/>
                                </p:to>
                              </p:set>
                              <p:animEffect transition="in" filter="fade">
                                <p:cBhvr>
                                  <p:cTn id="20" dur="350"/>
                                  <p:tgtEl>
                                    <p:spTgt spid="28"/>
                                  </p:tgtEl>
                                </p:cBhvr>
                              </p:animEffect>
                            </p:childTnLst>
                          </p:cTn>
                        </p:par>
                      </p:childTnLst>
                    </p:cTn>
                  </p:par>
                  <p:par>
                    <p:cTn id="21" fill="hold">
                      <p:stCondLst>
                        <p:cond delay="indefinite"/>
                      </p:stCondLst>
                      <p:childTnLst>
                        <p:par>
                          <p:cTn id="22" presetID="10" presetClass="entr" presetSubtype="0" fill="hold" grpId="4" nodeType="click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350"/>
                                  <p:tgtEl>
                                    <p:spTgt spid="9"/>
                                  </p:tgtEl>
                                </p:cBhvr>
                              </p:animEffect>
                            </p:childTnLst>
                          </p:cTn>
                        </p:par>
                        <p:par>
                          <p:cTn id="25" presetID="10" presetClass="entr" presetSubtype="0" fill="hold" grpId="4" nodeType="clickEffect">
                            <p:stCondLst>
                              <p:cond delay="0"/>
                            </p:stCondLst>
                            <p:childTnLst>
                              <p:set>
                                <p:cBhvr>
                                  <p:cTn id="26" dur="1" fill="hold">
                                    <p:stCondLst>
                                      <p:cond delay="0"/>
                                    </p:stCondLst>
                                  </p:cTn>
                                  <p:tgtEl>
                                    <p:spTgt spid="29"/>
                                  </p:tgtEl>
                                  <p:attrNameLst>
                                    <p:attrName>style.visibility</p:attrName>
                                  </p:attrNameLst>
                                </p:cBhvr>
                                <p:to>
                                  <p:strVal val="visible"/>
                                </p:to>
                              </p:set>
                              <p:animEffect transition="in" filter="fade">
                                <p:cBhvr>
                                  <p:cTn id="27" dur="350"/>
                                  <p:tgtEl>
                                    <p:spTgt spid="29"/>
                                  </p:tgtEl>
                                </p:cBhvr>
                              </p:animEffect>
                            </p:childTnLst>
                          </p:cTn>
                        </p:par>
                      </p:childTnLst>
                    </p:cTn>
                  </p:par>
                  <p:par>
                    <p:cTn id="28" fill="hold">
                      <p:stCondLst>
                        <p:cond delay="indefinite"/>
                      </p:stCondLst>
                      <p:childTnLst>
                        <p:par>
                          <p:cTn id="29" presetID="10" presetClass="entr" presetSubtype="0" fill="hold" grpId="5" nodeType="click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350"/>
                                  <p:tgtEl>
                                    <p:spTgt spid="13"/>
                                  </p:tgtEl>
                                </p:cBhvr>
                              </p:animEffect>
                            </p:childTnLst>
                          </p:cTn>
                        </p:par>
                        <p:par>
                          <p:cTn id="32" presetID="10" presetClass="entr" presetSubtype="0" fill="hold" grpId="5" nodeType="click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350"/>
                                  <p:tgtEl>
                                    <p:spTgt spid="14"/>
                                  </p:tgtEl>
                                </p:cBhvr>
                              </p:animEffect>
                            </p:childTnLst>
                          </p:cTn>
                        </p:par>
                      </p:childTnLst>
                    </p:cTn>
                  </p:par>
                  <p:par>
                    <p:cTn id="35" fill="hold">
                      <p:stCondLst>
                        <p:cond delay="indefinite"/>
                      </p:stCondLst>
                      <p:childTnLst>
                        <p:par>
                          <p:cTn id="36" presetID="10" presetClass="entr" presetSubtype="0" fill="hold" grpId="6" nodeType="clickEffect">
                            <p:stCondLst>
                              <p:cond delay="0"/>
                            </p:stCondLst>
                            <p:childTnLst>
                              <p:set>
                                <p:cBhvr>
                                  <p:cTn id="37" dur="1" fill="hold">
                                    <p:stCondLst>
                                      <p:cond delay="0"/>
                                    </p:stCondLst>
                                  </p:cTn>
                                  <p:tgtEl>
                                    <p:spTgt spid="15"/>
                                  </p:tgtEl>
                                  <p:attrNameLst>
                                    <p:attrName>style.visibility</p:attrName>
                                  </p:attrNameLst>
                                </p:cBhvr>
                                <p:to>
                                  <p:strVal val="visible"/>
                                </p:to>
                              </p:set>
                              <p:animEffect transition="in" filter="fade">
                                <p:cBhvr>
                                  <p:cTn id="38" dur="350"/>
                                  <p:tgtEl>
                                    <p:spTgt spid="15"/>
                                  </p:tgtEl>
                                </p:cBhvr>
                              </p:animEffect>
                            </p:childTnLst>
                          </p:cTn>
                        </p:par>
                        <p:par>
                          <p:cTn id="39" presetID="10" presetClass="entr" presetSubtype="0" fill="hold" grpId="6"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fade">
                                <p:cBhvr>
                                  <p:cTn id="41" dur="350"/>
                                  <p:tgtEl>
                                    <p:spTgt spid="16"/>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6" grpId="1" uiExpand="1"/>
      <p:bldP spid="7" grpId="2" uiExpand="1"/>
      <p:bldP spid="27" grpId="2" uiExpand="1"/>
      <p:bldP spid="8" grpId="3" uiExpand="1"/>
      <p:bldP spid="28" grpId="3" uiExpand="1"/>
      <p:bldP spid="9" grpId="4" uiExpand="1"/>
      <p:bldP spid="29" grpId="4" uiExpand="1"/>
      <p:bldP spid="13" grpId="5" uiExpand="1"/>
      <p:bldP spid="14" grpId="5" uiExpand="1"/>
      <p:bldP spid="15" grpId="6" uiExpand="1"/>
      <p:bldP spid="16" grpId="6" uiExpand="1"/>
    </p:bldLst>
  </p:timing>
</p:sld>
</file>

<file path=ppt/slides/slide25.xml><?xml version="1.0" encoding="utf-8"?>
<p:sld xmlns:a="http://schemas.openxmlformats.org/drawingml/2006/main" xmlns:ns3="http://schemas.microsoft.com/office/drawing/2014/main" xmlns:ns4="http://schemas.microsoft.com/office/powerpoint/2010/main" xmlns:p="http://schemas.openxmlformats.org/presentationml/2006/main" xmlns:r="http://schemas.openxmlformats.org/officeDocument/2006/relationships">
  <p:cSld>
    <p:bg>
      <p:bgPr>
        <a:solidFill>
          <a:srgbClr val="081321"/>
        </a:solidFill>
      </p:bgPr>
    </p:bg>
    <p:spTree>
      <p:nvGrpSpPr>
        <p:cNvPr id="1" name=""/>
        <p:cNvGrpSpPr/>
        <p:nvPr/>
      </p:nvGrpSpPr>
      <p:grpSpPr>
        <a:xfrm/>
      </p:grpSpPr>
      <p:pic>
        <p:nvPicPr>
          <p:cNvPr id="15" name=""/>
          <p:cNvPicPr>
            <a:picLocks noChangeAspect="1"/>
          </p:cNvPicPr>
          <p:nvPr/>
        </p:nvPicPr>
        <p:blipFill>
          <a:blip r:embed="R17d6d57ad8024ef3"/>
          <a:srcRect l="0" t="27" r="0" b="27"/>
          <a:stretch>
            <a:fillRect l="0" t="0" r="0" b="0"/>
          </a:stretch>
        </p:blipFill>
        <p:spPr>
          <a:xfrm>
            <a:off x="0" y="0"/>
            <a:ext cx="12192000" cy="6858000"/>
          </a:xfrm>
          <a:prstGeom prst="rect">
            <a:avLst/>
          </a:prstGeom>
        </p:spPr>
      </p:pic>
      <p:sp>
        <p:nvSpPr>
          <p:cNvPr id="2" name="fixed">
            <a:extLst>
              <a:ext uri="{FF2B5EF4-FFF2-40B4-BE49-F238E27FC236}">
                <ns3:creationId id="{3DAEC8D1-DFC2-4BC7-B86A-039B9CC2A0FC}"/>
              </a:ext>
            </a:extLst>
          </p:cNvPr>
          <p:cNvSpPr>
            <a:spLocks noGrp="1"/>
          </p:cNvSpPr>
          <p:nvPr/>
        </p:nvSpPr>
        <p:spPr>
          <a:xfrm>
            <a:off x="609600" y="400050"/>
            <a:ext cx="7620000" cy="381000"/>
          </a:xfrm>
          <a:prstGeom prst="rect">
            <a:avLst/>
          </a:prstGeom>
          <a:noFill/>
          <a:ln w="0">
            <a:noFill/>
          </a:ln>
        </p:spPr>
        <p:txBody>
          <a:bodyPr>
            <a:noAutofit/>
          </a:bodyPr>
          <a:lstStyle/>
          <a:p>
            <a:pPr algn="l">
              <a:defRPr sz="1875" b="1">
                <a:solidFill>
                  <a:srgbClr val="E9BF78"/>
                </a:solidFill>
                <a:latin typeface="Times New Roman"/>
                <a:ea typeface="Times New Roman"/>
                <a:cs typeface="Times New Roman"/>
              </a:defRPr>
            </a:pPr>
            <a:r>
              <a:rPr sz="1875" b="1">
                <a:solidFill>
                  <a:srgbClr val="E9BF78"/>
                </a:solidFill>
                <a:latin typeface="Times New Roman"/>
                <a:ea typeface="Times New Roman"/>
                <a:cs typeface="Times New Roman"/>
              </a:rPr>
              <a:t>MODULE 05</a:t>
            </a:r>
          </a:p>
        </p:txBody>
      </p:sp>
      <p:sp>
        <p:nvSpPr>
          <p:cNvPr id="3" name="fixed">
            <a:extLst>
              <a:ext uri="{FF2B5EF4-FFF2-40B4-BE49-F238E27FC236}">
                <ns3:creationId id="{EB0EB361-18FE-4AE6-B270-EC2C2B93AF91}"/>
              </a:ext>
            </a:extLst>
          </p:cNvPr>
          <p:cNvSpPr>
            <a:spLocks noGrp="1"/>
          </p:cNvSpPr>
          <p:nvPr/>
        </p:nvSpPr>
        <p:spPr>
          <a:xfrm>
            <a:off x="609600" y="971550"/>
            <a:ext cx="8191500" cy="1171575"/>
          </a:xfrm>
          <a:prstGeom prst="rect">
            <a:avLst/>
          </a:prstGeom>
          <a:noFill/>
          <a:ln w="0">
            <a:noFill/>
          </a:ln>
        </p:spPr>
        <p:txBody>
          <a:bodyPr>
            <a:noAutofit/>
          </a:bodyPr>
          <a:lstStyle/>
          <a:p>
            <a:pPr algn="l">
              <a:defRPr sz="3750" b="1">
                <a:solidFill>
                  <a:srgbClr val="FFFFFF"/>
                </a:solidFill>
                <a:latin typeface="Times New Roman"/>
                <a:ea typeface="Times New Roman"/>
                <a:cs typeface="Times New Roman"/>
              </a:defRPr>
            </a:pPr>
            <a:r>
              <a:rPr sz="3750" b="1">
                <a:solidFill>
                  <a:srgbClr val="FFFFFF"/>
                </a:solidFill>
                <a:latin typeface="Times New Roman"/>
                <a:ea typeface="Times New Roman"/>
                <a:cs typeface="Times New Roman"/>
              </a:rPr>
              <a:t>Severity scoring</a:t>
            </a:r>
          </a:p>
        </p:txBody>
      </p:sp>
      <p:sp>
        <p:nvSpPr>
          <p:cNvPr id="4" name="fixed">
            <a:extLst>
              <a:ext uri="{FF2B5EF4-FFF2-40B4-BE49-F238E27FC236}">
                <ns3:creationId id="{643E361F-97C5-4913-B236-E7B94DD868EC}"/>
              </a:ext>
            </a:extLst>
          </p:cNvPr>
          <p:cNvSpPr>
            <a:spLocks noGrp="1"/>
          </p:cNvSpPr>
          <p:nvPr/>
        </p:nvSpPr>
        <p:spPr>
          <a:xfrm>
            <a:off x="9029700" y="457200"/>
            <a:ext cx="2571750" cy="381000"/>
          </a:xfrm>
          <a:prstGeom prst="rect">
            <a:avLst/>
          </a:prstGeom>
          <a:noFill/>
          <a:ln w="0">
            <a:noFill/>
          </a:ln>
        </p:spPr>
        <p:txBody>
          <a:bodyPr>
            <a:noAutofit/>
          </a:bodyPr>
          <a:lstStyle/>
          <a:p>
            <a:pPr algn="r">
              <a:defRPr sz="1800" b="1">
                <a:solidFill>
                  <a:srgbClr val="74E6CF"/>
                </a:solidFill>
                <a:latin typeface="Times New Roman"/>
                <a:ea typeface="Times New Roman"/>
                <a:cs typeface="Times New Roman"/>
              </a:defRPr>
            </a:pPr>
            <a:r>
              <a:rPr sz="1800" b="1">
                <a:solidFill>
                  <a:srgbClr val="74E6CF"/>
                </a:solidFill>
                <a:latin typeface="Times New Roman"/>
                <a:ea typeface="Times New Roman"/>
                <a:cs typeface="Times New Roman"/>
              </a:rPr>
              <a:t>COMPLETED</a:t>
            </a:r>
          </a:p>
        </p:txBody>
      </p:sp>
      <p:sp>
        <p:nvSpPr>
          <p:cNvPr id="5" name="fixed">
            <a:extLst>
              <a:ext uri="{FF2B5EF4-FFF2-40B4-BE49-F238E27FC236}">
                <ns3:creationId id="{F6241826-9E80-486D-AB82-637C582AC452}"/>
              </a:ext>
            </a:extLst>
          </p:cNvPr>
          <p:cNvSpPr>
            <a:spLocks noGrp="1"/>
          </p:cNvSpPr>
          <p:nvPr/>
        </p:nvSpPr>
        <p:spPr>
          <a:xfrm>
            <a:off x="9029700" y="828675"/>
            <a:ext cx="2571750" cy="304800"/>
          </a:xfrm>
          <a:prstGeom prst="rect">
            <a:avLst/>
          </a:prstGeom>
          <a:noFill/>
          <a:ln w="0">
            <a:noFill/>
          </a:ln>
        </p:spPr>
        <p:txBody>
          <a:bodyPr>
            <a:noAutofit/>
          </a:bodyPr>
          <a:lstStyle/>
          <a:p>
            <a:pPr algn="r">
              <a:defRPr sz="1425" b="0">
                <a:solidFill>
                  <a:srgbClr val="C5D9DE"/>
                </a:solidFill>
                <a:latin typeface="Times New Roman"/>
                <a:ea typeface="Times New Roman"/>
                <a:cs typeface="Times New Roman"/>
              </a:defRPr>
            </a:pPr>
            <a:r>
              <a:rPr sz="1425" b="0">
                <a:solidFill>
                  <a:srgbClr val="C5D9DE"/>
                </a:solidFill>
                <a:latin typeface="Times New Roman"/>
                <a:ea typeface="Times New Roman"/>
                <a:cs typeface="Times New Roman"/>
              </a:rPr>
              <a:t>Implementation status</a:t>
            </a:r>
          </a:p>
        </p:txBody>
      </p:sp>
      <p:sp>
        <p:nvSpPr>
          <p:cNvPr id="6" name="fixed">
            <a:extLst>
              <a:ext uri="{FF2B5EF4-FFF2-40B4-BE49-F238E27FC236}">
                <ns3:creationId id="{6B3CA56A-C261-4075-8DE5-D63ADDD5CCDC}"/>
              </a:ext>
            </a:extLst>
          </p:cNvPr>
          <p:cNvSpPr>
            <a:spLocks noGrp="1"/>
          </p:cNvSpPr>
          <p:nvPr/>
        </p:nvSpPr>
        <p:spPr>
          <a:xfrm>
            <a:off x="11029950" y="6334125"/>
            <a:ext cx="523875" cy="285750"/>
          </a:xfrm>
          <a:prstGeom prst="rect">
            <a:avLst/>
          </a:prstGeom>
          <a:noFill/>
          <a:ln w="0">
            <a:noFill/>
          </a:ln>
        </p:spPr>
        <p:txBody>
          <a:bodyPr>
            <a:noAutofit/>
          </a:bodyPr>
          <a:lstStyle/>
          <a:p>
            <a:pPr algn="r">
              <a:defRPr sz="1500" b="0">
                <a:solidFill>
                  <a:srgbClr val="B6CCD3"/>
                </a:solidFill>
                <a:latin typeface="Times New Roman"/>
                <a:ea typeface="Times New Roman"/>
                <a:cs typeface="Times New Roman"/>
              </a:defRPr>
            </a:pPr>
            <a:r>
              <a:rPr sz="1500" b="0">
                <a:solidFill>
                  <a:srgbClr val="B6CCD3"/>
                </a:solidFill>
                <a:latin typeface="Times New Roman"/>
                <a:ea typeface="Times New Roman"/>
                <a:cs typeface="Times New Roman"/>
              </a:rPr>
              <a:t>25</a:t>
            </a:r>
          </a:p>
        </p:txBody>
      </p:sp>
      <p:sp>
        <p:nvSpPr>
          <p:cNvPr id="7" name="reveal-1">
            <a:extLst>
              <a:ext uri="{FF2B5EF4-FFF2-40B4-BE49-F238E27FC236}">
                <ns3:creationId id="{8477AFF5-6583-4610-A1C8-A973D8DF7148}"/>
              </a:ext>
            </a:extLst>
          </p:cNvPr>
          <p:cNvSpPr>
            <a:spLocks noGrp="1"/>
          </p:cNvSpPr>
          <p:nvPr/>
        </p:nvSpPr>
        <p:spPr>
          <a:xfrm>
            <a:off x="609600" y="2533650"/>
            <a:ext cx="7620000" cy="1181100"/>
          </a:xfrm>
          <a:prstGeom prst="rect">
            <a:avLst/>
          </a:prstGeom>
          <a:noFill/>
          <a:ln w="0">
            <a:noFill/>
          </a:ln>
        </p:spPr>
        <p:txBody>
          <a:bodyPr>
            <a:noAutofit/>
          </a:bodyPr>
          <a:lstStyle/>
          <a:p>
            <a:pPr algn="l">
              <a:defRPr sz="2700" b="0">
                <a:solidFill>
                  <a:srgbClr val="FFFFFF"/>
                </a:solidFill>
                <a:latin typeface="Times New Roman"/>
                <a:ea typeface="Times New Roman"/>
                <a:cs typeface="Times New Roman"/>
              </a:defRPr>
            </a:pPr>
            <a:r>
              <a:rPr sz="2700" b="0">
                <a:solidFill>
                  <a:srgbClr val="FFFFFF"/>
                </a:solidFill>
                <a:latin typeface="Times New Roman"/>
                <a:ea typeface="Times New Roman"/>
                <a:cs typeface="Times New Roman"/>
              </a:rPr>
              <a:t>Turn eligible violation records into a review priority for each candidate session.</a:t>
            </a:r>
          </a:p>
        </p:txBody>
      </p:sp>
      <p:sp>
        <p:nvSpPr>
          <p:cNvPr id="8" name="reveal-2">
            <a:extLst>
              <a:ext uri="{FF2B5EF4-FFF2-40B4-BE49-F238E27FC236}">
                <ns3:creationId id="{1D4D2609-F615-4FF6-92BA-8189097FE15A}"/>
              </a:ext>
            </a:extLst>
          </p:cNvPr>
          <p:cNvSpPr>
            <a:spLocks noGrp="1"/>
          </p:cNvSpPr>
          <p:nvPr/>
        </p:nvSpPr>
        <p:spPr>
          <a:xfrm>
            <a:off x="609600" y="3867150"/>
            <a:ext cx="7334250" cy="323850"/>
          </a:xfrm>
          <a:prstGeom prst="rect">
            <a:avLst/>
          </a:prstGeom>
          <a:noFill/>
          <a:ln w="0">
            <a:noFill/>
          </a:ln>
        </p:spPr>
        <p:txBody>
          <a:bodyPr>
            <a:noAutofit/>
          </a:bodyPr>
          <a:lstStyle/>
          <a:p>
            <a:pPr algn="l">
              <a:defRPr sz="1725" b="1">
                <a:solidFill>
                  <a:srgbClr val="E9BF78"/>
                </a:solidFill>
                <a:latin typeface="Times New Roman"/>
                <a:ea typeface="Times New Roman"/>
                <a:cs typeface="Times New Roman"/>
              </a:defRPr>
            </a:pPr>
            <a:r>
              <a:rPr sz="1725" b="1">
                <a:solidFill>
                  <a:srgbClr val="E9BF78"/>
                </a:solidFill>
                <a:latin typeface="Times New Roman"/>
                <a:ea typeface="Times New Roman"/>
                <a:cs typeface="Times New Roman"/>
              </a:rPr>
              <a:t>MAIN COMPONENTS</a:t>
            </a:r>
          </a:p>
        </p:txBody>
      </p:sp>
      <p:sp>
        <p:nvSpPr>
          <p:cNvPr id="9" name="reveal-2">
            <a:extLst>
              <a:ext uri="{FF2B5EF4-FFF2-40B4-BE49-F238E27FC236}">
                <ns3:creationId id="{E74921E5-4EA3-4610-9E64-A74DC9636F72}"/>
              </a:ext>
            </a:extLst>
          </p:cNvPr>
          <p:cNvSpPr>
            <a:spLocks noGrp="1"/>
          </p:cNvSpPr>
          <p:nvPr/>
        </p:nvSpPr>
        <p:spPr>
          <a:xfrm>
            <a:off x="609600" y="4267200"/>
            <a:ext cx="7905750" cy="600075"/>
          </a:xfrm>
          <a:prstGeom prst="rect">
            <a:avLst/>
          </a:prstGeom>
          <a:noFill/>
          <a:ln w="0">
            <a:noFill/>
          </a:ln>
        </p:spPr>
        <p:txBody>
          <a:bodyPr>
            <a:noAutofit/>
          </a:bodyPr>
          <a:lstStyle/>
          <a:p>
            <a:pPr algn="l">
              <a:defRPr sz="2175" b="0">
                <a:solidFill>
                  <a:srgbClr val="D8E6E9"/>
                </a:solidFill>
                <a:latin typeface="Times New Roman"/>
                <a:ea typeface="Times New Roman"/>
                <a:cs typeface="Times New Roman"/>
              </a:defRPr>
            </a:pPr>
            <a:r>
              <a:rPr sz="2175" b="0">
                <a:solidFill>
                  <a:srgbClr val="D8E6E9"/>
                </a:solidFill>
                <a:latin typeface="Times New Roman"/>
                <a:ea typeface="Times New Roman"/>
                <a:cs typeface="Times New Roman"/>
              </a:rPr>
              <a:t>Severity weights  /  exponential decay  /  examiner decisions</a:t>
            </a:r>
          </a:p>
        </p:txBody>
      </p:sp>
      <p:sp>
        <p:nvSpPr>
          <p:cNvPr id="10" name="reveal-3">
            <a:extLst>
              <a:ext uri="{FF2B5EF4-FFF2-40B4-BE49-F238E27FC236}">
                <ns3:creationId id="{1029112C-623C-4ABC-8E2C-30B05B2B0B07}"/>
              </a:ext>
            </a:extLst>
          </p:cNvPr>
          <p:cNvSpPr>
            <a:spLocks noGrp="1"/>
          </p:cNvSpPr>
          <p:nvPr/>
        </p:nvSpPr>
        <p:spPr>
          <a:xfrm>
            <a:off x="609600" y="5219700"/>
            <a:ext cx="3346450" cy="952500"/>
          </a:xfrm>
          <a:prstGeom prst="rect">
            <a:avLst/>
          </a:prstGeom>
          <a:solidFill>
            <a:srgbClr val="123342"/>
          </a:solidFill>
          <a:ln w="9525">
            <a:solidFill>
              <a:srgbClr val="466D77"/>
            </a:solidFill>
          </a:ln>
        </p:spPr>
        <p:txBody>
          <a:bodyPr anchor="ctr"/>
          <a:lstStyle/>
          <a:p>
            <a:pPr algn="ctr">
              <a:defRPr sz="2025" b="1">
                <a:solidFill>
                  <a:srgbClr val="FFFFFF"/>
                </a:solidFill>
                <a:latin typeface="Times New Roman"/>
                <a:ea typeface="Times New Roman"/>
                <a:cs typeface="Times New Roman"/>
              </a:defRPr>
            </a:pPr>
            <a:r>
              <a:rPr sz="2025" b="1">
                <a:solidFill>
                  <a:srgbClr val="FFFFFF"/>
                </a:solidFill>
                <a:latin typeface="Times New Roman"/>
                <a:ea typeface="Times New Roman"/>
                <a:cs typeface="Times New Roman"/>
              </a:rPr>
              <a:t>Eligible events</a:t>
            </a:r>
          </a:p>
        </p:txBody>
      </p:sp>
      <p:sp>
        <p:nvSpPr>
          <p:cNvPr id="11" name="reveal-4">
            <a:extLst>
              <a:ext uri="{FF2B5EF4-FFF2-40B4-BE49-F238E27FC236}">
                <ns3:creationId id="{A3EABBF3-C71B-486F-B51E-81B05BE66746}"/>
              </a:ext>
            </a:extLst>
          </p:cNvPr>
          <p:cNvSpPr>
            <a:spLocks noGrp="1"/>
          </p:cNvSpPr>
          <p:nvPr/>
        </p:nvSpPr>
        <p:spPr>
          <a:xfrm>
            <a:off x="4413250" y="5219700"/>
            <a:ext cx="3346450" cy="952500"/>
          </a:xfrm>
          <a:prstGeom prst="rect">
            <a:avLst/>
          </a:prstGeom>
          <a:solidFill>
            <a:srgbClr val="123342"/>
          </a:solidFill>
          <a:ln w="9525">
            <a:solidFill>
              <a:srgbClr val="466D77"/>
            </a:solidFill>
          </a:ln>
        </p:spPr>
        <p:txBody>
          <a:bodyPr anchor="ctr"/>
          <a:lstStyle/>
          <a:p>
            <a:pPr algn="ctr">
              <a:defRPr sz="2025" b="1">
                <a:solidFill>
                  <a:srgbClr val="FFFFFF"/>
                </a:solidFill>
                <a:latin typeface="Times New Roman"/>
                <a:ea typeface="Times New Roman"/>
                <a:cs typeface="Times New Roman"/>
              </a:defRPr>
            </a:pPr>
            <a:r>
              <a:rPr sz="2025" b="1">
                <a:solidFill>
                  <a:srgbClr val="FFFFFF"/>
                </a:solidFill>
                <a:latin typeface="Times New Roman"/>
                <a:ea typeface="Times New Roman"/>
                <a:cs typeface="Times New Roman"/>
              </a:rPr>
              <a:t>Weighted calculation</a:t>
            </a:r>
          </a:p>
        </p:txBody>
      </p:sp>
      <p:sp>
        <p:nvSpPr>
          <p:cNvPr id="12" name="reveal-5">
            <a:extLst>
              <a:ext uri="{FF2B5EF4-FFF2-40B4-BE49-F238E27FC236}">
                <ns3:creationId id="{A2395D26-FF62-40AE-B4FB-91F4E657D43E}"/>
              </a:ext>
            </a:extLst>
          </p:cNvPr>
          <p:cNvSpPr>
            <a:spLocks noGrp="1"/>
          </p:cNvSpPr>
          <p:nvPr/>
        </p:nvSpPr>
        <p:spPr>
          <a:xfrm>
            <a:off x="8216900" y="5219700"/>
            <a:ext cx="3346450" cy="952500"/>
          </a:xfrm>
          <a:prstGeom prst="rect">
            <a:avLst/>
          </a:prstGeom>
          <a:solidFill>
            <a:srgbClr val="123342"/>
          </a:solidFill>
          <a:ln w="9525">
            <a:solidFill>
              <a:srgbClr val="466D77"/>
            </a:solidFill>
          </a:ln>
        </p:spPr>
        <p:txBody>
          <a:bodyPr anchor="ctr"/>
          <a:lstStyle/>
          <a:p>
            <a:pPr algn="ctr">
              <a:defRPr sz="2025" b="1">
                <a:solidFill>
                  <a:srgbClr val="FFFFFF"/>
                </a:solidFill>
                <a:latin typeface="Times New Roman"/>
                <a:ea typeface="Times New Roman"/>
                <a:cs typeface="Times New Roman"/>
              </a:defRPr>
            </a:pPr>
            <a:r>
              <a:rPr sz="2025" b="1">
                <a:solidFill>
                  <a:srgbClr val="FFFFFF"/>
                </a:solidFill>
                <a:latin typeface="Times New Roman"/>
                <a:ea typeface="Times New Roman"/>
                <a:cs typeface="Times New Roman"/>
              </a:rPr>
              <a:t>Review priority</a:t>
            </a:r>
          </a:p>
        </p:txBody>
      </p:sp>
      <p:cxnSp>
        <p:nvCxnSpPr>
          <p:cNvPr id="27" name="reveal-4"/>
          <p:cNvCxnSpPr>
            <a:stCxn id="10" idx="3"/>
            <a:endCxn id="11" idx="1"/>
          </p:cNvCxnSpPr>
          <p:nvPr/>
        </p:nvCxnSpPr>
        <p:spPr>
          <a:xfrm>
            <a:off x="3956050" y="5695950"/>
            <a:ext cx="457200" cy="0"/>
          </a:xfrm>
          <a:prstGeom prst="straightConnector1">
            <a:avLst/>
          </a:prstGeom>
          <a:ln w="19050">
            <a:solidFill>
              <a:srgbClr val="74E6CF"/>
            </a:solidFill>
            <a:tailEnd type="arrow" w="med" len="med"/>
          </a:ln>
        </p:spPr>
      </p:cxnSp>
      <p:cxnSp>
        <p:nvCxnSpPr>
          <p:cNvPr id="28" name="reveal-5"/>
          <p:cNvCxnSpPr>
            <a:stCxn id="11" idx="3"/>
            <a:endCxn id="12" idx="1"/>
          </p:cNvCxnSpPr>
          <p:nvPr/>
        </p:nvCxnSpPr>
        <p:spPr>
          <a:xfrm>
            <a:off x="7759700" y="5695950"/>
            <a:ext cx="457200" cy="0"/>
          </a:xfrm>
          <a:prstGeom prst="straightConnector1">
            <a:avLst/>
          </a:prstGeom>
          <a:ln w="19050">
            <a:solidFill>
              <a:srgbClr val="74E6CF"/>
            </a:solidFill>
            <a:tailEnd type="arrow" w="med" len="med"/>
          </a:ln>
        </p:spPr>
      </p:cxnSp>
    </p:spTree>
    <p:extLst>
      <p:ext uri="{BB962C8B-B14F-4D97-AF65-F5344CB8AC3E}">
        <ns4:creationId val="188351680"/>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1" nodeType="clickEffect">
                            <p:stCondLst>
                              <p:cond delay="0"/>
                            </p:stCondLst>
                            <p:childTnLst>
                              <p:set>
                                <p:cBhvr>
                                  <p:cTn id="5" dur="1" fill="hold">
                                    <p:stCondLst>
                                      <p:cond delay="0"/>
                                    </p:stCondLst>
                                  </p:cTn>
                                  <p:tgtEl>
                                    <p:spTgt spid="7"/>
                                  </p:tgtEl>
                                  <p:attrNameLst>
                                    <p:attrName>style.visibility</p:attrName>
                                  </p:attrNameLst>
                                </p:cBhvr>
                                <p:to>
                                  <p:strVal val="visible"/>
                                </p:to>
                              </p:set>
                              <p:animEffect transition="in" filter="fade">
                                <p:cBhvr>
                                  <p:cTn id="6" dur="350"/>
                                  <p:tgtEl>
                                    <p:spTgt spid="7"/>
                                  </p:tgtEl>
                                </p:cBhvr>
                              </p:animEffect>
                            </p:childTnLst>
                          </p:cTn>
                        </p:par>
                      </p:childTnLst>
                    </p:cTn>
                  </p:par>
                  <p:par>
                    <p:cTn id="7" fill="hold">
                      <p:stCondLst>
                        <p:cond delay="indefinite"/>
                      </p:stCondLst>
                      <p:childTnLst>
                        <p:par>
                          <p:cTn id="8" presetID="10" presetClass="entr" presetSubtype="0" fill="hold" grpId="2" nodeType="click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350"/>
                                  <p:tgtEl>
                                    <p:spTgt spid="8"/>
                                  </p:tgtEl>
                                </p:cBhvr>
                              </p:animEffect>
                            </p:childTnLst>
                          </p:cTn>
                        </p:par>
                        <p:par>
                          <p:cTn id="11" presetID="10" presetClass="entr" presetSubtype="0" fill="hold" grpId="2" nodeType="click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350"/>
                                  <p:tgtEl>
                                    <p:spTgt spid="9"/>
                                  </p:tgtEl>
                                </p:cBhvr>
                              </p:animEffect>
                            </p:childTnLst>
                          </p:cTn>
                        </p:par>
                      </p:childTnLst>
                    </p:cTn>
                  </p:par>
                  <p:par>
                    <p:cTn id="14" fill="hold">
                      <p:stCondLst>
                        <p:cond delay="indefinite"/>
                      </p:stCondLst>
                      <p:childTnLst>
                        <p:par>
                          <p:cTn id="15" presetID="10" presetClass="entr" presetSubtype="0" fill="hold" grpId="3"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350"/>
                                  <p:tgtEl>
                                    <p:spTgt spid="10"/>
                                  </p:tgtEl>
                                </p:cBhvr>
                              </p:animEffect>
                            </p:childTnLst>
                          </p:cTn>
                        </p:par>
                      </p:childTnLst>
                    </p:cTn>
                  </p:par>
                  <p:par>
                    <p:cTn id="18" fill="hold">
                      <p:stCondLst>
                        <p:cond delay="indefinite"/>
                      </p:stCondLst>
                      <p:childTnLst>
                        <p:par>
                          <p:cTn id="19" presetID="10" presetClass="entr" presetSubtype="0" fill="hold" grpId="4" nodeType="click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350"/>
                                  <p:tgtEl>
                                    <p:spTgt spid="11"/>
                                  </p:tgtEl>
                                </p:cBhvr>
                              </p:animEffect>
                            </p:childTnLst>
                          </p:cTn>
                        </p:par>
                        <p:par>
                          <p:cTn id="22" presetID="10" presetClass="entr" presetSubtype="0" fill="hold" grpId="4" nodeType="clickEffect">
                            <p:stCondLst>
                              <p:cond delay="0"/>
                            </p:stCondLst>
                            <p:childTnLst>
                              <p:set>
                                <p:cBhvr>
                                  <p:cTn id="23" dur="1" fill="hold">
                                    <p:stCondLst>
                                      <p:cond delay="0"/>
                                    </p:stCondLst>
                                  </p:cTn>
                                  <p:tgtEl>
                                    <p:spTgt spid="27"/>
                                  </p:tgtEl>
                                  <p:attrNameLst>
                                    <p:attrName>style.visibility</p:attrName>
                                  </p:attrNameLst>
                                </p:cBhvr>
                                <p:to>
                                  <p:strVal val="visible"/>
                                </p:to>
                              </p:set>
                              <p:animEffect transition="in" filter="fade">
                                <p:cBhvr>
                                  <p:cTn id="24" dur="350"/>
                                  <p:tgtEl>
                                    <p:spTgt spid="27"/>
                                  </p:tgtEl>
                                </p:cBhvr>
                              </p:animEffect>
                            </p:childTnLst>
                          </p:cTn>
                        </p:par>
                      </p:childTnLst>
                    </p:cTn>
                  </p:par>
                  <p:par>
                    <p:cTn id="25" fill="hold">
                      <p:stCondLst>
                        <p:cond delay="indefinite"/>
                      </p:stCondLst>
                      <p:childTnLst>
                        <p:par>
                          <p:cTn id="26" presetID="10" presetClass="entr" presetSubtype="0" fill="hold" grpId="5" nodeType="click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350"/>
                                  <p:tgtEl>
                                    <p:spTgt spid="12"/>
                                  </p:tgtEl>
                                </p:cBhvr>
                              </p:animEffect>
                            </p:childTnLst>
                          </p:cTn>
                        </p:par>
                        <p:par>
                          <p:cTn id="29" presetID="10" presetClass="entr" presetSubtype="0" fill="hold" grpId="5" nodeType="clickEffect">
                            <p:stCondLst>
                              <p:cond delay="0"/>
                            </p:stCondLst>
                            <p:childTnLst>
                              <p:set>
                                <p:cBhvr>
                                  <p:cTn id="30" dur="1" fill="hold">
                                    <p:stCondLst>
                                      <p:cond delay="0"/>
                                    </p:stCondLst>
                                  </p:cTn>
                                  <p:tgtEl>
                                    <p:spTgt spid="28"/>
                                  </p:tgtEl>
                                  <p:attrNameLst>
                                    <p:attrName>style.visibility</p:attrName>
                                  </p:attrNameLst>
                                </p:cBhvr>
                                <p:to>
                                  <p:strVal val="visible"/>
                                </p:to>
                              </p:set>
                              <p:animEffect transition="in" filter="fade">
                                <p:cBhvr>
                                  <p:cTn id="31" dur="350"/>
                                  <p:tgtEl>
                                    <p:spTgt spid="28"/>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7" grpId="1" uiExpand="1"/>
      <p:bldP spid="8" grpId="2" uiExpand="1"/>
      <p:bldP spid="9" grpId="2" uiExpand="1"/>
      <p:bldP spid="10" grpId="3" uiExpand="1"/>
      <p:bldP spid="11" grpId="4" uiExpand="1"/>
      <p:bldP spid="27" grpId="4" uiExpand="1"/>
      <p:bldP spid="12" grpId="5" uiExpand="1"/>
      <p:bldP spid="28" grpId="5" uiExpand="1"/>
    </p:bldLst>
  </p:timing>
</p:sld>
</file>

<file path=ppt/slides/slide26.xml><?xml version="1.0" encoding="utf-8"?>
<p:sld xmlns:a="http://schemas.openxmlformats.org/drawingml/2006/main" xmlns:ns2="http://schemas.microsoft.com/office/drawing/2014/main" xmlns:ns3="http://schemas.openxmlformats.org/drawingml/2006/chart" xmlns:ns5="http://schemas.microsoft.com/office/powerpoint/2010/main" xmlns:p="http://schemas.openxmlformats.org/presentationml/2006/main" xmlns:r="http://schemas.openxmlformats.org/officeDocument/2006/relationships">
  <p:cSld>
    <p:bg>
      <p:bgPr>
        <a:solidFill>
          <a:srgbClr val="F6F7F4"/>
        </a:solidFill>
      </p:bgPr>
    </p:bg>
    <p:spTree>
      <p:nvGrpSpPr>
        <p:cNvPr id="1" name=""/>
        <p:cNvGrpSpPr/>
        <p:nvPr/>
      </p:nvGrpSpPr>
      <p:grpSpPr>
        <a:xfrm/>
      </p:grpSpPr>
      <p:sp>
        <p:nvSpPr>
          <p:cNvPr id="10" name="fixed">
            <a:extLst>
              <a:ext uri="{FF2B5EF4-FFF2-40B4-BE49-F238E27FC236}">
                <ns2:creationId id="{F1269E10-B195-4130-AEBA-91E8126BDEF6}"/>
              </a:ext>
            </a:extLst>
          </p:cNvPr>
          <p:cNvSpPr>
            <a:spLocks noGrp="1"/>
          </p:cNvSpPr>
          <p:nvPr/>
        </p:nvSpPr>
        <p:spPr>
          <a:xfrm>
            <a:off x="609600" y="400050"/>
            <a:ext cx="7620000" cy="381000"/>
          </a:xfrm>
          <a:prstGeom prst="rect">
            <a:avLst/>
          </a:prstGeom>
          <a:noFill/>
          <a:ln w="0">
            <a:noFill/>
          </a:ln>
        </p:spPr>
        <p:txBody>
          <a:bodyPr>
            <a:noAutofit/>
          </a:bodyPr>
          <a:lstStyle/>
          <a:p>
            <a:pPr algn="l">
              <a:defRPr sz="1875" b="1">
                <a:solidFill>
                  <a:srgbClr val="087F8C"/>
                </a:solidFill>
                <a:latin typeface="Times New Roman"/>
                <a:ea typeface="Times New Roman"/>
                <a:cs typeface="Times New Roman"/>
              </a:defRPr>
            </a:pPr>
            <a:r>
              <a:rPr sz="1875" b="1">
                <a:solidFill>
                  <a:srgbClr val="087F8C"/>
                </a:solidFill>
                <a:latin typeface="Times New Roman"/>
                <a:ea typeface="Times New Roman"/>
                <a:cs typeface="Times New Roman"/>
              </a:rPr>
              <a:t>MODULE 05 / CURRENT FORMULA</a:t>
            </a:r>
          </a:p>
        </p:txBody>
      </p:sp>
      <p:sp>
        <p:nvSpPr>
          <p:cNvPr id="2" name="fixed">
            <a:extLst>
              <a:ext uri="{FF2B5EF4-FFF2-40B4-BE49-F238E27FC236}">
                <ns2:creationId id="{F839CF5A-792C-4AF4-ACAF-F4FD6852C5BC}"/>
              </a:ext>
            </a:extLst>
          </p:cNvPr>
          <p:cNvSpPr>
            <a:spLocks noGrp="1"/>
          </p:cNvSpPr>
          <p:nvPr/>
        </p:nvSpPr>
        <p:spPr>
          <a:xfrm>
            <a:off x="609600" y="971550"/>
            <a:ext cx="8191500" cy="1171575"/>
          </a:xfrm>
          <a:prstGeom prst="rect">
            <a:avLst/>
          </a:prstGeom>
          <a:noFill/>
          <a:ln w="0">
            <a:noFill/>
          </a:ln>
        </p:spPr>
        <p:txBody>
          <a:bodyPr>
            <a:noAutofit/>
          </a:bodyPr>
          <a:lstStyle/>
          <a:p>
            <a:pPr algn="l">
              <a:defRPr sz="3750" b="1">
                <a:solidFill>
                  <a:srgbClr val="172F3A"/>
                </a:solidFill>
                <a:latin typeface="Times New Roman"/>
                <a:ea typeface="Times New Roman"/>
                <a:cs typeface="Times New Roman"/>
              </a:defRPr>
            </a:pPr>
            <a:r>
              <a:rPr sz="3750" b="1">
                <a:solidFill>
                  <a:srgbClr val="172F3A"/>
                </a:solidFill>
                <a:latin typeface="Times New Roman"/>
                <a:ea typeface="Times New Roman"/>
                <a:cs typeface="Times New Roman"/>
              </a:rPr>
              <a:t>Risk-score worked example</a:t>
            </a:r>
          </a:p>
        </p:txBody>
      </p:sp>
      <p:sp>
        <p:nvSpPr>
          <p:cNvPr id="3" name="fixed">
            <a:extLst>
              <a:ext uri="{FF2B5EF4-FFF2-40B4-BE49-F238E27FC236}">
                <ns2:creationId id="{67DFB5EF-BFA2-4990-9D9F-BA9C28C33915}"/>
              </a:ext>
            </a:extLst>
          </p:cNvPr>
          <p:cNvSpPr>
            <a:spLocks noGrp="1"/>
          </p:cNvSpPr>
          <p:nvPr/>
        </p:nvSpPr>
        <p:spPr>
          <a:xfrm>
            <a:off x="9029700" y="457200"/>
            <a:ext cx="2571750" cy="381000"/>
          </a:xfrm>
          <a:prstGeom prst="rect">
            <a:avLst/>
          </a:prstGeom>
          <a:noFill/>
          <a:ln w="0">
            <a:noFill/>
          </a:ln>
        </p:spPr>
        <p:txBody>
          <a:bodyPr>
            <a:noAutofit/>
          </a:bodyPr>
          <a:lstStyle/>
          <a:p>
            <a:pPr algn="r">
              <a:defRPr sz="1800" b="1">
                <a:solidFill>
                  <a:srgbClr val="087F8C"/>
                </a:solidFill>
                <a:latin typeface="Times New Roman"/>
                <a:ea typeface="Times New Roman"/>
                <a:cs typeface="Times New Roman"/>
              </a:defRPr>
            </a:pPr>
            <a:r>
              <a:rPr sz="1800" b="1">
                <a:solidFill>
                  <a:srgbClr val="087F8C"/>
                </a:solidFill>
                <a:latin typeface="Times New Roman"/>
                <a:ea typeface="Times New Roman"/>
                <a:cs typeface="Times New Roman"/>
              </a:rPr>
              <a:t>COMPLETED</a:t>
            </a:r>
          </a:p>
        </p:txBody>
      </p:sp>
      <p:sp>
        <p:nvSpPr>
          <p:cNvPr id="4" name="fixed">
            <a:extLst>
              <a:ext uri="{FF2B5EF4-FFF2-40B4-BE49-F238E27FC236}">
                <ns2:creationId id="{CE1787D8-9DC6-4857-B286-32F40FB9EF0A}"/>
              </a:ext>
            </a:extLst>
          </p:cNvPr>
          <p:cNvSpPr>
            <a:spLocks noGrp="1"/>
          </p:cNvSpPr>
          <p:nvPr/>
        </p:nvSpPr>
        <p:spPr>
          <a:xfrm>
            <a:off x="9029700" y="828675"/>
            <a:ext cx="2571750" cy="304800"/>
          </a:xfrm>
          <a:prstGeom prst="rect">
            <a:avLst/>
          </a:prstGeom>
          <a:noFill/>
          <a:ln w="0">
            <a:noFill/>
          </a:ln>
        </p:spPr>
        <p:txBody>
          <a:bodyPr>
            <a:noAutofit/>
          </a:bodyPr>
          <a:lstStyle/>
          <a:p>
            <a:pPr algn="r">
              <a:defRPr sz="1425" b="0">
                <a:solidFill>
                  <a:srgbClr val="4C6471"/>
                </a:solidFill>
                <a:latin typeface="Times New Roman"/>
                <a:ea typeface="Times New Roman"/>
                <a:cs typeface="Times New Roman"/>
              </a:defRPr>
            </a:pPr>
            <a:r>
              <a:rPr sz="1425" b="0">
                <a:solidFill>
                  <a:srgbClr val="4C6471"/>
                </a:solidFill>
                <a:latin typeface="Times New Roman"/>
                <a:ea typeface="Times New Roman"/>
                <a:cs typeface="Times New Roman"/>
              </a:rPr>
              <a:t>Implementation status</a:t>
            </a:r>
          </a:p>
        </p:txBody>
      </p:sp>
      <p:sp>
        <p:nvSpPr>
          <p:cNvPr id="5" name="fixed">
            <a:extLst>
              <a:ext uri="{FF2B5EF4-FFF2-40B4-BE49-F238E27FC236}">
                <ns2:creationId id="{B9400B45-25BF-41DB-AEAF-E3B1A2BE04AA}"/>
              </a:ext>
            </a:extLst>
          </p:cNvPr>
          <p:cNvSpPr>
            <a:spLocks noGrp="1"/>
          </p:cNvSpPr>
          <p:nvPr/>
        </p:nvSpPr>
        <p:spPr>
          <a:xfrm>
            <a:off x="11029950" y="6334125"/>
            <a:ext cx="523875" cy="285750"/>
          </a:xfrm>
          <a:prstGeom prst="rect">
            <a:avLst/>
          </a:prstGeom>
          <a:noFill/>
          <a:ln w="0">
            <a:noFill/>
          </a:ln>
        </p:spPr>
        <p:txBody>
          <a:bodyPr>
            <a:noAutofit/>
          </a:bodyPr>
          <a:lstStyle/>
          <a:p>
            <a:pPr algn="r">
              <a:defRPr sz="1500" b="0">
                <a:solidFill>
                  <a:srgbClr val="4C6471"/>
                </a:solidFill>
                <a:latin typeface="Times New Roman"/>
                <a:ea typeface="Times New Roman"/>
                <a:cs typeface="Times New Roman"/>
              </a:defRPr>
            </a:pPr>
            <a:r>
              <a:rPr sz="1500" b="0">
                <a:solidFill>
                  <a:srgbClr val="4C6471"/>
                </a:solidFill>
                <a:latin typeface="Times New Roman"/>
                <a:ea typeface="Times New Roman"/>
                <a:cs typeface="Times New Roman"/>
              </a:rPr>
              <a:t>26</a:t>
            </a:r>
          </a:p>
        </p:txBody>
      </p:sp>
      <p:graphicFrame>
        <p:nvGraphicFramePr>
          <p:cNvPr id="15" name="Chart"/>
          <p:cNvGraphicFramePr/>
          <p:nvPr/>
        </p:nvGraphicFramePr>
        <p:xfrm>
          <a:off x="609600" y="2257425"/>
          <a:ext cx="7239000" cy="3381375"/>
        </p:xfrm>
        <a:graphic>
          <a:graphicData uri="http://schemas.openxmlformats.org/drawingml/2006/chart">
            <ns3:chart r:id="Ref0a72ab5bfd4bd1"/>
          </a:graphicData>
        </a:graphic>
      </p:graphicFrame>
      <p:sp>
        <p:nvSpPr>
          <p:cNvPr id="7" name="reveal-1">
            <a:extLst>
              <a:ext uri="{FF2B5EF4-FFF2-40B4-BE49-F238E27FC236}">
                <ns2:creationId id="{FFFB9936-EF24-431E-BF76-0ABDED74BA1C}"/>
              </a:ext>
            </a:extLst>
          </p:cNvPr>
          <p:cNvSpPr>
            <a:spLocks noGrp="1"/>
          </p:cNvSpPr>
          <p:nvPr/>
        </p:nvSpPr>
        <p:spPr>
          <a:xfrm>
            <a:off x="8334375" y="2381250"/>
            <a:ext cx="3162300" cy="495300"/>
          </a:xfrm>
          <a:prstGeom prst="rect">
            <a:avLst/>
          </a:prstGeom>
          <a:noFill/>
          <a:ln w="0">
            <a:noFill/>
          </a:ln>
        </p:spPr>
        <p:txBody>
          <a:bodyPr>
            <a:noAutofit/>
          </a:bodyPr>
          <a:lstStyle/>
          <a:p>
            <a:pPr algn="l">
              <a:defRPr sz="2250" b="1">
                <a:solidFill>
                  <a:srgbClr val="087F8C"/>
                </a:solidFill>
                <a:latin typeface="Times New Roman"/>
                <a:ea typeface="Times New Roman"/>
                <a:cs typeface="Times New Roman"/>
              </a:defRPr>
            </a:pPr>
            <a:r>
              <a:rPr sz="2250" b="1">
                <a:solidFill>
                  <a:srgbClr val="087F8C"/>
                </a:solidFill>
                <a:latin typeface="Times New Roman"/>
                <a:ea typeface="Times New Roman"/>
                <a:cs typeface="Times New Roman"/>
              </a:rPr>
              <a:t>Severity 4 + severity 3</a:t>
            </a:r>
          </a:p>
        </p:txBody>
      </p:sp>
      <p:sp>
        <p:nvSpPr>
          <p:cNvPr id="8" name="reveal-1">
            <a:extLst>
              <a:ext uri="{FF2B5EF4-FFF2-40B4-BE49-F238E27FC236}">
                <ns2:creationId id="{12B572C0-6988-4BCD-804F-6F047C0DE7CC}"/>
              </a:ext>
            </a:extLst>
          </p:cNvPr>
          <p:cNvSpPr>
            <a:spLocks noGrp="1"/>
          </p:cNvSpPr>
          <p:nvPr/>
        </p:nvSpPr>
        <p:spPr>
          <a:xfrm>
            <a:off x="8334375" y="3086100"/>
            <a:ext cx="3162300" cy="2000250"/>
          </a:xfrm>
          <a:prstGeom prst="rect">
            <a:avLst/>
          </a:prstGeom>
          <a:noFill/>
          <a:ln w="0">
            <a:noFill/>
          </a:ln>
        </p:spPr>
        <p:txBody>
          <a:bodyPr>
            <a:noAutofit/>
          </a:bodyPr>
          <a:lstStyle/>
          <a:p>
            <a:pPr algn="l">
              <a:defRPr sz="2175" b="0">
                <a:solidFill>
                  <a:srgbClr val="4C6471"/>
                </a:solidFill>
                <a:latin typeface="Times New Roman"/>
                <a:ea typeface="Times New Roman"/>
                <a:cs typeface="Times New Roman"/>
              </a:defRPr>
            </a:pPr>
            <a:r>
              <a:rPr sz="2175" b="0">
                <a:solidFill>
                  <a:srgbClr val="4C6471"/>
                </a:solidFill>
                <a:latin typeface="Times New Roman"/>
                <a:ea typeface="Times New Roman"/>
                <a:cs typeface="Times New Roman"/>
              </a:rPr>
              <a:t>Fresh events raise priority.</a:t>
            </a:r>
          </a:p>
          <a:p>
            <a:pPr algn="l">
              <a:defRPr sz="2175" b="0">
                <a:solidFill>
                  <a:srgbClr val="4C6471"/>
                </a:solidFill>
                <a:latin typeface="Times New Roman"/>
                <a:ea typeface="Times New Roman"/>
                <a:cs typeface="Times New Roman"/>
              </a:defRPr>
            </a:pPr>
            <a:r>
              <a:rPr sz="2175" b="0">
                <a:solidFill>
                  <a:srgbClr val="4C6471"/>
                </a:solidFill>
                <a:latin typeface="Times New Roman"/>
                <a:ea typeface="Times New Roman"/>
                <a:cs typeface="Times New Roman"/>
              </a:rPr>
              <a:t>Dismissal removes an event.</a:t>
            </a:r>
          </a:p>
          <a:p>
            <a:pPr algn="l">
              <a:defRPr sz="2175" b="0">
                <a:solidFill>
                  <a:srgbClr val="4C6471"/>
                </a:solidFill>
                <a:latin typeface="Times New Roman"/>
                <a:ea typeface="Times New Roman"/>
                <a:cs typeface="Times New Roman"/>
              </a:defRPr>
            </a:pPr>
            <a:r>
              <a:rPr sz="2175" b="0">
                <a:solidFill>
                  <a:srgbClr val="4C6471"/>
                </a:solidFill>
                <a:latin typeface="Times New Roman"/>
                <a:ea typeface="Times New Roman"/>
                <a:cs typeface="Times New Roman"/>
              </a:rPr>
              <a:t>Time reduces recent weight.</a:t>
            </a:r>
          </a:p>
          <a:p>
            <a:pPr algn="l">
              <a:defRPr sz="2175" b="0">
                <a:solidFill>
                  <a:srgbClr val="4C6471"/>
                </a:solidFill>
                <a:latin typeface="Times New Roman"/>
                <a:ea typeface="Times New Roman"/>
                <a:cs typeface="Times New Roman"/>
              </a:defRPr>
            </a:pPr>
            <a:r>
              <a:rPr sz="2175" b="0">
                <a:solidFill>
                  <a:srgbClr val="4C6471"/>
                </a:solidFill>
                <a:latin typeface="Times New Roman"/>
                <a:ea typeface="Times New Roman"/>
                <a:cs typeface="Times New Roman"/>
              </a:rPr>
              <a:t>A persistent baseline remains.</a:t>
            </a:r>
          </a:p>
        </p:txBody>
      </p:sp>
      <p:sp>
        <p:nvSpPr>
          <p:cNvPr id="9" name="fixed">
            <a:extLst>
              <a:ext uri="{FF2B5EF4-FFF2-40B4-BE49-F238E27FC236}">
                <ns2:creationId id="{58D9FDB2-8AAD-43A0-9D7D-9C71ED153DA9}"/>
              </a:ext>
            </a:extLst>
          </p:cNvPr>
          <p:cNvSpPr>
            <a:spLocks noGrp="1"/>
          </p:cNvSpPr>
          <p:nvPr/>
        </p:nvSpPr>
        <p:spPr>
          <a:xfrm>
            <a:off x="609600" y="5953125"/>
            <a:ext cx="10668000" cy="457200"/>
          </a:xfrm>
          <a:prstGeom prst="rect">
            <a:avLst/>
          </a:prstGeom>
          <a:noFill/>
          <a:ln w="0">
            <a:noFill/>
          </a:ln>
        </p:spPr>
        <p:txBody>
          <a:bodyPr>
            <a:noAutofit/>
          </a:bodyPr>
          <a:lstStyle/>
          <a:p>
            <a:pPr algn="l">
              <a:defRPr sz="1725" b="0">
                <a:solidFill>
                  <a:srgbClr val="4C6471"/>
                </a:solidFill>
                <a:latin typeface="Times New Roman"/>
                <a:ea typeface="Times New Roman"/>
                <a:cs typeface="Times New Roman"/>
              </a:defRPr>
            </a:pPr>
            <a:r>
              <a:rPr sz="1725" b="0">
                <a:solidFill>
                  <a:srgbClr val="4C6471"/>
                </a:solidFill>
                <a:latin typeface="Times New Roman"/>
                <a:ea typeface="Times New Roman"/>
                <a:cs typeface="Times New Roman"/>
              </a:rPr>
              <a:t>Calculated example from the current strategy. The score is review priority, not cheating probability.</a:t>
            </a:r>
          </a:p>
        </p:txBody>
      </p:sp>
    </p:spTree>
    <p:extLst>
      <p:ext uri="{BB962C8B-B14F-4D97-AF65-F5344CB8AC3E}">
        <ns5:creationId val="556563731"/>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1" nodeType="clickEffect">
                            <p:stCondLst>
                              <p:cond delay="0"/>
                            </p:stCondLst>
                            <p:childTnLst>
                              <p:set>
                                <p:cBhvr>
                                  <p:cTn id="5" dur="1" fill="hold">
                                    <p:stCondLst>
                                      <p:cond delay="0"/>
                                    </p:stCondLst>
                                  </p:cTn>
                                  <p:tgtEl>
                                    <p:spTgt spid="7"/>
                                  </p:tgtEl>
                                  <p:attrNameLst>
                                    <p:attrName>style.visibility</p:attrName>
                                  </p:attrNameLst>
                                </p:cBhvr>
                                <p:to>
                                  <p:strVal val="visible"/>
                                </p:to>
                              </p:set>
                              <p:animEffect transition="in" filter="fade">
                                <p:cBhvr>
                                  <p:cTn id="6" dur="350"/>
                                  <p:tgtEl>
                                    <p:spTgt spid="7"/>
                                  </p:tgtEl>
                                </p:cBhvr>
                              </p:animEffect>
                            </p:childTnLst>
                          </p:cTn>
                        </p:par>
                        <p:par>
                          <p:cTn id="7" presetID="10" presetClass="entr" presetSubtype="0" fill="hold" grpId="1" nodeType="clickEffect">
                            <p:stCondLst>
                              <p:cond delay="0"/>
                            </p:stCondLst>
                            <p:childTnLst>
                              <p:set>
                                <p:cBhvr>
                                  <p:cTn id="8" dur="1" fill="hold">
                                    <p:stCondLst>
                                      <p:cond delay="0"/>
                                    </p:stCondLst>
                                  </p:cTn>
                                  <p:tgtEl>
                                    <p:spTgt spid="8"/>
                                  </p:tgtEl>
                                  <p:attrNameLst>
                                    <p:attrName>style.visibility</p:attrName>
                                  </p:attrNameLst>
                                </p:cBhvr>
                                <p:to>
                                  <p:strVal val="visible"/>
                                </p:to>
                              </p:set>
                              <p:animEffect transition="in" filter="fade">
                                <p:cBhvr>
                                  <p:cTn id="9" dur="350"/>
                                  <p:tgtEl>
                                    <p:spTgt spid="8"/>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7" grpId="1" uiExpand="1"/>
      <p:bldP spid="8" grpId="1" uiExpand="1"/>
    </p:bldLst>
  </p:timing>
</p:sld>
</file>

<file path=ppt/slides/slide27.xml><?xml version="1.0" encoding="utf-8"?>
<p:sld xmlns:a="http://schemas.openxmlformats.org/drawingml/2006/main" xmlns:ns3="http://schemas.microsoft.com/office/drawing/2014/main" xmlns:ns4="http://schemas.microsoft.com/office/powerpoint/2010/main" xmlns:p="http://schemas.openxmlformats.org/presentationml/2006/main" xmlns:r="http://schemas.openxmlformats.org/officeDocument/2006/relationships">
  <p:cSld>
    <p:bg>
      <p:bgPr>
        <a:solidFill>
          <a:srgbClr val="081321"/>
        </a:solidFill>
      </p:bgPr>
    </p:bg>
    <p:spTree>
      <p:nvGrpSpPr>
        <p:cNvPr id="1" name=""/>
        <p:cNvGrpSpPr/>
        <p:nvPr/>
      </p:nvGrpSpPr>
      <p:grpSpPr>
        <a:xfrm/>
      </p:grpSpPr>
      <p:pic>
        <p:nvPicPr>
          <p:cNvPr id="15" name=""/>
          <p:cNvPicPr>
            <a:picLocks noChangeAspect="1"/>
          </p:cNvPicPr>
          <p:nvPr/>
        </p:nvPicPr>
        <p:blipFill>
          <a:blip r:embed="R3394bb232a754450"/>
          <a:srcRect l="0" t="27" r="0" b="27"/>
          <a:stretch>
            <a:fillRect l="0" t="0" r="0" b="0"/>
          </a:stretch>
        </p:blipFill>
        <p:spPr>
          <a:xfrm>
            <a:off x="0" y="0"/>
            <a:ext cx="12192000" cy="6858000"/>
          </a:xfrm>
          <a:prstGeom prst="rect">
            <a:avLst/>
          </a:prstGeom>
        </p:spPr>
      </p:pic>
      <p:sp>
        <p:nvSpPr>
          <p:cNvPr id="2" name="fixed">
            <a:extLst>
              <a:ext uri="{FF2B5EF4-FFF2-40B4-BE49-F238E27FC236}">
                <ns3:creationId id="{636DB4CB-2093-48B8-BD27-C8EFDDDAA48D}"/>
              </a:ext>
            </a:extLst>
          </p:cNvPr>
          <p:cNvSpPr>
            <a:spLocks noGrp="1"/>
          </p:cNvSpPr>
          <p:nvPr/>
        </p:nvSpPr>
        <p:spPr>
          <a:xfrm>
            <a:off x="609600" y="400050"/>
            <a:ext cx="7620000" cy="381000"/>
          </a:xfrm>
          <a:prstGeom prst="rect">
            <a:avLst/>
          </a:prstGeom>
          <a:noFill/>
          <a:ln w="0">
            <a:noFill/>
          </a:ln>
        </p:spPr>
        <p:txBody>
          <a:bodyPr>
            <a:noAutofit/>
          </a:bodyPr>
          <a:lstStyle/>
          <a:p>
            <a:pPr algn="l">
              <a:defRPr sz="1875" b="1">
                <a:solidFill>
                  <a:srgbClr val="E9BF78"/>
                </a:solidFill>
                <a:latin typeface="Times New Roman"/>
                <a:ea typeface="Times New Roman"/>
                <a:cs typeface="Times New Roman"/>
              </a:defRPr>
            </a:pPr>
            <a:r>
              <a:rPr sz="1875" b="1">
                <a:solidFill>
                  <a:srgbClr val="E9BF78"/>
                </a:solidFill>
                <a:latin typeface="Times New Roman"/>
                <a:ea typeface="Times New Roman"/>
                <a:cs typeface="Times New Roman"/>
              </a:rPr>
              <a:t>MODULE 06</a:t>
            </a:r>
          </a:p>
        </p:txBody>
      </p:sp>
      <p:sp>
        <p:nvSpPr>
          <p:cNvPr id="3" name="fixed">
            <a:extLst>
              <a:ext uri="{FF2B5EF4-FFF2-40B4-BE49-F238E27FC236}">
                <ns3:creationId id="{7B151DA7-85CC-4C28-9F93-FA775F815332}"/>
              </a:ext>
            </a:extLst>
          </p:cNvPr>
          <p:cNvSpPr>
            <a:spLocks noGrp="1"/>
          </p:cNvSpPr>
          <p:nvPr/>
        </p:nvSpPr>
        <p:spPr>
          <a:xfrm>
            <a:off x="609600" y="971550"/>
            <a:ext cx="8191500" cy="1171575"/>
          </a:xfrm>
          <a:prstGeom prst="rect">
            <a:avLst/>
          </a:prstGeom>
          <a:noFill/>
          <a:ln w="0">
            <a:noFill/>
          </a:ln>
        </p:spPr>
        <p:txBody>
          <a:bodyPr>
            <a:noAutofit/>
          </a:bodyPr>
          <a:lstStyle/>
          <a:p>
            <a:pPr algn="l">
              <a:defRPr sz="3750" b="1">
                <a:solidFill>
                  <a:srgbClr val="FFFFFF"/>
                </a:solidFill>
                <a:latin typeface="Times New Roman"/>
                <a:ea typeface="Times New Roman"/>
                <a:cs typeface="Times New Roman"/>
              </a:defRPr>
            </a:pPr>
            <a:r>
              <a:rPr sz="3750" b="1">
                <a:solidFill>
                  <a:srgbClr val="FFFFFF"/>
                </a:solidFill>
                <a:latin typeface="Times New Roman"/>
                <a:ea typeface="Times New Roman"/>
                <a:cs typeface="Times New Roman"/>
              </a:rPr>
              <a:t>Examiner dashboard</a:t>
            </a:r>
          </a:p>
        </p:txBody>
      </p:sp>
      <p:sp>
        <p:nvSpPr>
          <p:cNvPr id="4" name="fixed">
            <a:extLst>
              <a:ext uri="{FF2B5EF4-FFF2-40B4-BE49-F238E27FC236}">
                <ns3:creationId id="{B8180B0B-1D85-40AB-9624-4E174A8413C2}"/>
              </a:ext>
            </a:extLst>
          </p:cNvPr>
          <p:cNvSpPr>
            <a:spLocks noGrp="1"/>
          </p:cNvSpPr>
          <p:nvPr/>
        </p:nvSpPr>
        <p:spPr>
          <a:xfrm>
            <a:off x="9029700" y="457200"/>
            <a:ext cx="2571750" cy="381000"/>
          </a:xfrm>
          <a:prstGeom prst="rect">
            <a:avLst/>
          </a:prstGeom>
          <a:noFill/>
          <a:ln w="0">
            <a:noFill/>
          </a:ln>
        </p:spPr>
        <p:txBody>
          <a:bodyPr>
            <a:noAutofit/>
          </a:bodyPr>
          <a:lstStyle/>
          <a:p>
            <a:pPr algn="r">
              <a:defRPr sz="1800" b="1">
                <a:solidFill>
                  <a:srgbClr val="74E6CF"/>
                </a:solidFill>
                <a:latin typeface="Times New Roman"/>
                <a:ea typeface="Times New Roman"/>
                <a:cs typeface="Times New Roman"/>
              </a:defRPr>
            </a:pPr>
            <a:r>
              <a:rPr sz="1800" b="1">
                <a:solidFill>
                  <a:srgbClr val="74E6CF"/>
                </a:solidFill>
                <a:latin typeface="Times New Roman"/>
                <a:ea typeface="Times New Roman"/>
                <a:cs typeface="Times New Roman"/>
              </a:rPr>
              <a:t>COMPLETED</a:t>
            </a:r>
          </a:p>
        </p:txBody>
      </p:sp>
      <p:sp>
        <p:nvSpPr>
          <p:cNvPr id="5" name="fixed">
            <a:extLst>
              <a:ext uri="{FF2B5EF4-FFF2-40B4-BE49-F238E27FC236}">
                <ns3:creationId id="{6EB1B675-8607-42EB-861C-E5FEDDD04E95}"/>
              </a:ext>
            </a:extLst>
          </p:cNvPr>
          <p:cNvSpPr>
            <a:spLocks noGrp="1"/>
          </p:cNvSpPr>
          <p:nvPr/>
        </p:nvSpPr>
        <p:spPr>
          <a:xfrm>
            <a:off x="9029700" y="828675"/>
            <a:ext cx="2571750" cy="304800"/>
          </a:xfrm>
          <a:prstGeom prst="rect">
            <a:avLst/>
          </a:prstGeom>
          <a:noFill/>
          <a:ln w="0">
            <a:noFill/>
          </a:ln>
        </p:spPr>
        <p:txBody>
          <a:bodyPr>
            <a:noAutofit/>
          </a:bodyPr>
          <a:lstStyle/>
          <a:p>
            <a:pPr algn="r">
              <a:defRPr sz="1425" b="0">
                <a:solidFill>
                  <a:srgbClr val="C5D9DE"/>
                </a:solidFill>
                <a:latin typeface="Times New Roman"/>
                <a:ea typeface="Times New Roman"/>
                <a:cs typeface="Times New Roman"/>
              </a:defRPr>
            </a:pPr>
            <a:r>
              <a:rPr sz="1425" b="0">
                <a:solidFill>
                  <a:srgbClr val="C5D9DE"/>
                </a:solidFill>
                <a:latin typeface="Times New Roman"/>
                <a:ea typeface="Times New Roman"/>
                <a:cs typeface="Times New Roman"/>
              </a:rPr>
              <a:t>Implementation status</a:t>
            </a:r>
          </a:p>
        </p:txBody>
      </p:sp>
      <p:sp>
        <p:nvSpPr>
          <p:cNvPr id="6" name="fixed">
            <a:extLst>
              <a:ext uri="{FF2B5EF4-FFF2-40B4-BE49-F238E27FC236}">
                <ns3:creationId id="{6F3F384E-2445-4DE5-A187-15037963982E}"/>
              </a:ext>
            </a:extLst>
          </p:cNvPr>
          <p:cNvSpPr>
            <a:spLocks noGrp="1"/>
          </p:cNvSpPr>
          <p:nvPr/>
        </p:nvSpPr>
        <p:spPr>
          <a:xfrm>
            <a:off x="11029950" y="6334125"/>
            <a:ext cx="523875" cy="285750"/>
          </a:xfrm>
          <a:prstGeom prst="rect">
            <a:avLst/>
          </a:prstGeom>
          <a:noFill/>
          <a:ln w="0">
            <a:noFill/>
          </a:ln>
        </p:spPr>
        <p:txBody>
          <a:bodyPr>
            <a:noAutofit/>
          </a:bodyPr>
          <a:lstStyle/>
          <a:p>
            <a:pPr algn="r">
              <a:defRPr sz="1500" b="0">
                <a:solidFill>
                  <a:srgbClr val="B6CCD3"/>
                </a:solidFill>
                <a:latin typeface="Times New Roman"/>
                <a:ea typeface="Times New Roman"/>
                <a:cs typeface="Times New Roman"/>
              </a:defRPr>
            </a:pPr>
            <a:r>
              <a:rPr sz="1500" b="0">
                <a:solidFill>
                  <a:srgbClr val="B6CCD3"/>
                </a:solidFill>
                <a:latin typeface="Times New Roman"/>
                <a:ea typeface="Times New Roman"/>
                <a:cs typeface="Times New Roman"/>
              </a:rPr>
              <a:t>27</a:t>
            </a:r>
          </a:p>
        </p:txBody>
      </p:sp>
      <p:sp>
        <p:nvSpPr>
          <p:cNvPr id="7" name="reveal-1">
            <a:extLst>
              <a:ext uri="{FF2B5EF4-FFF2-40B4-BE49-F238E27FC236}">
                <ns3:creationId id="{CA06EE22-F7E0-4049-9295-5414FDADB435}"/>
              </a:ext>
            </a:extLst>
          </p:cNvPr>
          <p:cNvSpPr>
            <a:spLocks noGrp="1"/>
          </p:cNvSpPr>
          <p:nvPr/>
        </p:nvSpPr>
        <p:spPr>
          <a:xfrm>
            <a:off x="609600" y="2533650"/>
            <a:ext cx="7620000" cy="1181100"/>
          </a:xfrm>
          <a:prstGeom prst="rect">
            <a:avLst/>
          </a:prstGeom>
          <a:noFill/>
          <a:ln w="0">
            <a:noFill/>
          </a:ln>
        </p:spPr>
        <p:txBody>
          <a:bodyPr>
            <a:noAutofit/>
          </a:bodyPr>
          <a:lstStyle/>
          <a:p>
            <a:pPr algn="l">
              <a:defRPr sz="2700" b="0">
                <a:solidFill>
                  <a:srgbClr val="FFFFFF"/>
                </a:solidFill>
                <a:latin typeface="Times New Roman"/>
                <a:ea typeface="Times New Roman"/>
                <a:cs typeface="Times New Roman"/>
              </a:defRPr>
            </a:pPr>
            <a:r>
              <a:rPr sz="2700" b="0">
                <a:solidFill>
                  <a:srgbClr val="FFFFFF"/>
                </a:solidFill>
                <a:latin typeface="Times New Roman"/>
                <a:ea typeface="Times New Roman"/>
                <a:cs typeface="Times New Roman"/>
              </a:rPr>
              <a:t>Bring active-exam alerts, evidence and candidate controls into one review workflow.</a:t>
            </a:r>
          </a:p>
        </p:txBody>
      </p:sp>
      <p:sp>
        <p:nvSpPr>
          <p:cNvPr id="8" name="reveal-2">
            <a:extLst>
              <a:ext uri="{FF2B5EF4-FFF2-40B4-BE49-F238E27FC236}">
                <ns3:creationId id="{CD271CF9-1DFF-4803-96F0-A3B9B4BA692F}"/>
              </a:ext>
            </a:extLst>
          </p:cNvPr>
          <p:cNvSpPr>
            <a:spLocks noGrp="1"/>
          </p:cNvSpPr>
          <p:nvPr/>
        </p:nvSpPr>
        <p:spPr>
          <a:xfrm>
            <a:off x="609600" y="3867150"/>
            <a:ext cx="7334250" cy="323850"/>
          </a:xfrm>
          <a:prstGeom prst="rect">
            <a:avLst/>
          </a:prstGeom>
          <a:noFill/>
          <a:ln w="0">
            <a:noFill/>
          </a:ln>
        </p:spPr>
        <p:txBody>
          <a:bodyPr>
            <a:noAutofit/>
          </a:bodyPr>
          <a:lstStyle/>
          <a:p>
            <a:pPr algn="l">
              <a:defRPr sz="1725" b="1">
                <a:solidFill>
                  <a:srgbClr val="E9BF78"/>
                </a:solidFill>
                <a:latin typeface="Times New Roman"/>
                <a:ea typeface="Times New Roman"/>
                <a:cs typeface="Times New Roman"/>
              </a:defRPr>
            </a:pPr>
            <a:r>
              <a:rPr sz="1725" b="1">
                <a:solidFill>
                  <a:srgbClr val="E9BF78"/>
                </a:solidFill>
                <a:latin typeface="Times New Roman"/>
                <a:ea typeface="Times New Roman"/>
                <a:cs typeface="Times New Roman"/>
              </a:rPr>
              <a:t>MAIN COMPONENTS</a:t>
            </a:r>
          </a:p>
        </p:txBody>
      </p:sp>
      <p:sp>
        <p:nvSpPr>
          <p:cNvPr id="9" name="reveal-2">
            <a:extLst>
              <a:ext uri="{FF2B5EF4-FFF2-40B4-BE49-F238E27FC236}">
                <ns3:creationId id="{A7A0DE54-28EF-4877-A4B1-6A0DA13CAF10}"/>
              </a:ext>
            </a:extLst>
          </p:cNvPr>
          <p:cNvSpPr>
            <a:spLocks noGrp="1"/>
          </p:cNvSpPr>
          <p:nvPr/>
        </p:nvSpPr>
        <p:spPr>
          <a:xfrm>
            <a:off x="609600" y="4267200"/>
            <a:ext cx="7905750" cy="600075"/>
          </a:xfrm>
          <a:prstGeom prst="rect">
            <a:avLst/>
          </a:prstGeom>
          <a:noFill/>
          <a:ln w="0">
            <a:noFill/>
          </a:ln>
        </p:spPr>
        <p:txBody>
          <a:bodyPr>
            <a:noAutofit/>
          </a:bodyPr>
          <a:lstStyle/>
          <a:p>
            <a:pPr algn="l">
              <a:defRPr sz="2175" b="0">
                <a:solidFill>
                  <a:srgbClr val="D8E6E9"/>
                </a:solidFill>
                <a:latin typeface="Times New Roman"/>
                <a:ea typeface="Times New Roman"/>
                <a:cs typeface="Times New Roman"/>
              </a:defRPr>
            </a:pPr>
            <a:r>
              <a:rPr sz="2175" b="0">
                <a:solidFill>
                  <a:srgbClr val="D8E6E9"/>
                </a:solidFill>
                <a:latin typeface="Times New Roman"/>
                <a:ea typeface="Times New Roman"/>
                <a:cs typeface="Times New Roman"/>
              </a:rPr>
              <a:t>React + Vite  /  Socket.IO  /  exam-scoped APIs</a:t>
            </a:r>
          </a:p>
        </p:txBody>
      </p:sp>
      <p:sp>
        <p:nvSpPr>
          <p:cNvPr id="10" name="reveal-3">
            <a:extLst>
              <a:ext uri="{FF2B5EF4-FFF2-40B4-BE49-F238E27FC236}">
                <ns3:creationId id="{4A821ED4-0435-47D2-9F0A-276CC41C3E9A}"/>
              </a:ext>
            </a:extLst>
          </p:cNvPr>
          <p:cNvSpPr>
            <a:spLocks noGrp="1"/>
          </p:cNvSpPr>
          <p:nvPr/>
        </p:nvSpPr>
        <p:spPr>
          <a:xfrm>
            <a:off x="609600" y="5219700"/>
            <a:ext cx="3346450" cy="952500"/>
          </a:xfrm>
          <a:prstGeom prst="rect">
            <a:avLst/>
          </a:prstGeom>
          <a:solidFill>
            <a:srgbClr val="123342"/>
          </a:solidFill>
          <a:ln w="9525">
            <a:solidFill>
              <a:srgbClr val="466D77"/>
            </a:solidFill>
          </a:ln>
        </p:spPr>
        <p:txBody>
          <a:bodyPr anchor="ctr"/>
          <a:lstStyle/>
          <a:p>
            <a:pPr algn="ctr">
              <a:defRPr sz="2025" b="1">
                <a:solidFill>
                  <a:srgbClr val="FFFFFF"/>
                </a:solidFill>
                <a:latin typeface="Times New Roman"/>
                <a:ea typeface="Times New Roman"/>
                <a:cs typeface="Times New Roman"/>
              </a:defRPr>
            </a:pPr>
            <a:r>
              <a:rPr sz="2025" b="1">
                <a:solidFill>
                  <a:srgbClr val="FFFFFF"/>
                </a:solidFill>
                <a:latin typeface="Times New Roman"/>
                <a:ea typeface="Times New Roman"/>
                <a:cs typeface="Times New Roman"/>
              </a:rPr>
              <a:t>Select active exam</a:t>
            </a:r>
          </a:p>
        </p:txBody>
      </p:sp>
      <p:sp>
        <p:nvSpPr>
          <p:cNvPr id="11" name="reveal-4">
            <a:extLst>
              <a:ext uri="{FF2B5EF4-FFF2-40B4-BE49-F238E27FC236}">
                <ns3:creationId id="{7360AE16-6EF3-451A-B1C9-007618E5365B}"/>
              </a:ext>
            </a:extLst>
          </p:cNvPr>
          <p:cNvSpPr>
            <a:spLocks noGrp="1"/>
          </p:cNvSpPr>
          <p:nvPr/>
        </p:nvSpPr>
        <p:spPr>
          <a:xfrm>
            <a:off x="4413250" y="5219700"/>
            <a:ext cx="3346450" cy="952500"/>
          </a:xfrm>
          <a:prstGeom prst="rect">
            <a:avLst/>
          </a:prstGeom>
          <a:solidFill>
            <a:srgbClr val="123342"/>
          </a:solidFill>
          <a:ln w="9525">
            <a:solidFill>
              <a:srgbClr val="466D77"/>
            </a:solidFill>
          </a:ln>
        </p:spPr>
        <p:txBody>
          <a:bodyPr anchor="ctr"/>
          <a:lstStyle/>
          <a:p>
            <a:pPr algn="ctr">
              <a:defRPr sz="2025" b="1">
                <a:solidFill>
                  <a:srgbClr val="FFFFFF"/>
                </a:solidFill>
                <a:latin typeface="Times New Roman"/>
                <a:ea typeface="Times New Roman"/>
                <a:cs typeface="Times New Roman"/>
              </a:defRPr>
            </a:pPr>
            <a:r>
              <a:rPr sz="2025" b="1">
                <a:solidFill>
                  <a:srgbClr val="FFFFFF"/>
                </a:solidFill>
                <a:latin typeface="Times New Roman"/>
                <a:ea typeface="Times New Roman"/>
                <a:cs typeface="Times New Roman"/>
              </a:rPr>
              <a:t>Review priority and evidence</a:t>
            </a:r>
          </a:p>
        </p:txBody>
      </p:sp>
      <p:sp>
        <p:nvSpPr>
          <p:cNvPr id="12" name="reveal-5">
            <a:extLst>
              <a:ext uri="{FF2B5EF4-FFF2-40B4-BE49-F238E27FC236}">
                <ns3:creationId id="{CF78F3AE-FDEF-40FF-B0DC-A644165FED1C}"/>
              </a:ext>
            </a:extLst>
          </p:cNvPr>
          <p:cNvSpPr>
            <a:spLocks noGrp="1"/>
          </p:cNvSpPr>
          <p:nvPr/>
        </p:nvSpPr>
        <p:spPr>
          <a:xfrm>
            <a:off x="8216900" y="5219700"/>
            <a:ext cx="3346450" cy="952500"/>
          </a:xfrm>
          <a:prstGeom prst="rect">
            <a:avLst/>
          </a:prstGeom>
          <a:solidFill>
            <a:srgbClr val="123342"/>
          </a:solidFill>
          <a:ln w="9525">
            <a:solidFill>
              <a:srgbClr val="466D77"/>
            </a:solidFill>
          </a:ln>
        </p:spPr>
        <p:txBody>
          <a:bodyPr anchor="ctr"/>
          <a:lstStyle/>
          <a:p>
            <a:pPr algn="ctr">
              <a:defRPr sz="2025" b="1">
                <a:solidFill>
                  <a:srgbClr val="FFFFFF"/>
                </a:solidFill>
                <a:latin typeface="Times New Roman"/>
                <a:ea typeface="Times New Roman"/>
                <a:cs typeface="Times New Roman"/>
              </a:defRPr>
            </a:pPr>
            <a:r>
              <a:rPr sz="2025" b="1">
                <a:solidFill>
                  <a:srgbClr val="FFFFFF"/>
                </a:solidFill>
                <a:latin typeface="Times New Roman"/>
                <a:ea typeface="Times New Roman"/>
                <a:cs typeface="Times New Roman"/>
              </a:rPr>
              <a:t>Take examiner action</a:t>
            </a:r>
          </a:p>
        </p:txBody>
      </p:sp>
      <p:cxnSp>
        <p:nvCxnSpPr>
          <p:cNvPr id="27" name="reveal-4"/>
          <p:cNvCxnSpPr>
            <a:stCxn id="10" idx="3"/>
            <a:endCxn id="11" idx="1"/>
          </p:cNvCxnSpPr>
          <p:nvPr/>
        </p:nvCxnSpPr>
        <p:spPr>
          <a:xfrm>
            <a:off x="3956050" y="5695950"/>
            <a:ext cx="457200" cy="0"/>
          </a:xfrm>
          <a:prstGeom prst="straightConnector1">
            <a:avLst/>
          </a:prstGeom>
          <a:ln w="19050">
            <a:solidFill>
              <a:srgbClr val="74E6CF"/>
            </a:solidFill>
            <a:tailEnd type="arrow" w="med" len="med"/>
          </a:ln>
        </p:spPr>
      </p:cxnSp>
      <p:cxnSp>
        <p:nvCxnSpPr>
          <p:cNvPr id="28" name="reveal-5"/>
          <p:cNvCxnSpPr>
            <a:stCxn id="11" idx="3"/>
            <a:endCxn id="12" idx="1"/>
          </p:cNvCxnSpPr>
          <p:nvPr/>
        </p:nvCxnSpPr>
        <p:spPr>
          <a:xfrm>
            <a:off x="7759700" y="5695950"/>
            <a:ext cx="457200" cy="0"/>
          </a:xfrm>
          <a:prstGeom prst="straightConnector1">
            <a:avLst/>
          </a:prstGeom>
          <a:ln w="19050">
            <a:solidFill>
              <a:srgbClr val="74E6CF"/>
            </a:solidFill>
            <a:tailEnd type="arrow" w="med" len="med"/>
          </a:ln>
        </p:spPr>
      </p:cxnSp>
    </p:spTree>
    <p:extLst>
      <p:ext uri="{BB962C8B-B14F-4D97-AF65-F5344CB8AC3E}">
        <ns4:creationId val="13142101"/>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1" nodeType="clickEffect">
                            <p:stCondLst>
                              <p:cond delay="0"/>
                            </p:stCondLst>
                            <p:childTnLst>
                              <p:set>
                                <p:cBhvr>
                                  <p:cTn id="5" dur="1" fill="hold">
                                    <p:stCondLst>
                                      <p:cond delay="0"/>
                                    </p:stCondLst>
                                  </p:cTn>
                                  <p:tgtEl>
                                    <p:spTgt spid="7"/>
                                  </p:tgtEl>
                                  <p:attrNameLst>
                                    <p:attrName>style.visibility</p:attrName>
                                  </p:attrNameLst>
                                </p:cBhvr>
                                <p:to>
                                  <p:strVal val="visible"/>
                                </p:to>
                              </p:set>
                              <p:animEffect transition="in" filter="fade">
                                <p:cBhvr>
                                  <p:cTn id="6" dur="350"/>
                                  <p:tgtEl>
                                    <p:spTgt spid="7"/>
                                  </p:tgtEl>
                                </p:cBhvr>
                              </p:animEffect>
                            </p:childTnLst>
                          </p:cTn>
                        </p:par>
                      </p:childTnLst>
                    </p:cTn>
                  </p:par>
                  <p:par>
                    <p:cTn id="7" fill="hold">
                      <p:stCondLst>
                        <p:cond delay="indefinite"/>
                      </p:stCondLst>
                      <p:childTnLst>
                        <p:par>
                          <p:cTn id="8" presetID="10" presetClass="entr" presetSubtype="0" fill="hold" grpId="2" nodeType="click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350"/>
                                  <p:tgtEl>
                                    <p:spTgt spid="8"/>
                                  </p:tgtEl>
                                </p:cBhvr>
                              </p:animEffect>
                            </p:childTnLst>
                          </p:cTn>
                        </p:par>
                        <p:par>
                          <p:cTn id="11" presetID="10" presetClass="entr" presetSubtype="0" fill="hold" grpId="2" nodeType="click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350"/>
                                  <p:tgtEl>
                                    <p:spTgt spid="9"/>
                                  </p:tgtEl>
                                </p:cBhvr>
                              </p:animEffect>
                            </p:childTnLst>
                          </p:cTn>
                        </p:par>
                      </p:childTnLst>
                    </p:cTn>
                  </p:par>
                  <p:par>
                    <p:cTn id="14" fill="hold">
                      <p:stCondLst>
                        <p:cond delay="indefinite"/>
                      </p:stCondLst>
                      <p:childTnLst>
                        <p:par>
                          <p:cTn id="15" presetID="10" presetClass="entr" presetSubtype="0" fill="hold" grpId="3"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350"/>
                                  <p:tgtEl>
                                    <p:spTgt spid="10"/>
                                  </p:tgtEl>
                                </p:cBhvr>
                              </p:animEffect>
                            </p:childTnLst>
                          </p:cTn>
                        </p:par>
                      </p:childTnLst>
                    </p:cTn>
                  </p:par>
                  <p:par>
                    <p:cTn id="18" fill="hold">
                      <p:stCondLst>
                        <p:cond delay="indefinite"/>
                      </p:stCondLst>
                      <p:childTnLst>
                        <p:par>
                          <p:cTn id="19" presetID="10" presetClass="entr" presetSubtype="0" fill="hold" grpId="4" nodeType="click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350"/>
                                  <p:tgtEl>
                                    <p:spTgt spid="11"/>
                                  </p:tgtEl>
                                </p:cBhvr>
                              </p:animEffect>
                            </p:childTnLst>
                          </p:cTn>
                        </p:par>
                        <p:par>
                          <p:cTn id="22" presetID="10" presetClass="entr" presetSubtype="0" fill="hold" grpId="4" nodeType="clickEffect">
                            <p:stCondLst>
                              <p:cond delay="0"/>
                            </p:stCondLst>
                            <p:childTnLst>
                              <p:set>
                                <p:cBhvr>
                                  <p:cTn id="23" dur="1" fill="hold">
                                    <p:stCondLst>
                                      <p:cond delay="0"/>
                                    </p:stCondLst>
                                  </p:cTn>
                                  <p:tgtEl>
                                    <p:spTgt spid="27"/>
                                  </p:tgtEl>
                                  <p:attrNameLst>
                                    <p:attrName>style.visibility</p:attrName>
                                  </p:attrNameLst>
                                </p:cBhvr>
                                <p:to>
                                  <p:strVal val="visible"/>
                                </p:to>
                              </p:set>
                              <p:animEffect transition="in" filter="fade">
                                <p:cBhvr>
                                  <p:cTn id="24" dur="350"/>
                                  <p:tgtEl>
                                    <p:spTgt spid="27"/>
                                  </p:tgtEl>
                                </p:cBhvr>
                              </p:animEffect>
                            </p:childTnLst>
                          </p:cTn>
                        </p:par>
                      </p:childTnLst>
                    </p:cTn>
                  </p:par>
                  <p:par>
                    <p:cTn id="25" fill="hold">
                      <p:stCondLst>
                        <p:cond delay="indefinite"/>
                      </p:stCondLst>
                      <p:childTnLst>
                        <p:par>
                          <p:cTn id="26" presetID="10" presetClass="entr" presetSubtype="0" fill="hold" grpId="5" nodeType="click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350"/>
                                  <p:tgtEl>
                                    <p:spTgt spid="12"/>
                                  </p:tgtEl>
                                </p:cBhvr>
                              </p:animEffect>
                            </p:childTnLst>
                          </p:cTn>
                        </p:par>
                        <p:par>
                          <p:cTn id="29" presetID="10" presetClass="entr" presetSubtype="0" fill="hold" grpId="5" nodeType="clickEffect">
                            <p:stCondLst>
                              <p:cond delay="0"/>
                            </p:stCondLst>
                            <p:childTnLst>
                              <p:set>
                                <p:cBhvr>
                                  <p:cTn id="30" dur="1" fill="hold">
                                    <p:stCondLst>
                                      <p:cond delay="0"/>
                                    </p:stCondLst>
                                  </p:cTn>
                                  <p:tgtEl>
                                    <p:spTgt spid="28"/>
                                  </p:tgtEl>
                                  <p:attrNameLst>
                                    <p:attrName>style.visibility</p:attrName>
                                  </p:attrNameLst>
                                </p:cBhvr>
                                <p:to>
                                  <p:strVal val="visible"/>
                                </p:to>
                              </p:set>
                              <p:animEffect transition="in" filter="fade">
                                <p:cBhvr>
                                  <p:cTn id="31" dur="350"/>
                                  <p:tgtEl>
                                    <p:spTgt spid="28"/>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7" grpId="1" uiExpand="1"/>
      <p:bldP spid="8" grpId="2" uiExpand="1"/>
      <p:bldP spid="9" grpId="2" uiExpand="1"/>
      <p:bldP spid="10" grpId="3" uiExpand="1"/>
      <p:bldP spid="11" grpId="4" uiExpand="1"/>
      <p:bldP spid="27" grpId="4" uiExpand="1"/>
      <p:bldP spid="12" grpId="5" uiExpand="1"/>
      <p:bldP spid="28" grpId="5" uiExpand="1"/>
    </p:bldLst>
  </p:timing>
</p:sld>
</file>

<file path=ppt/slides/slide28.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6F7F4"/>
        </a:solidFill>
      </p:bgPr>
    </p:bg>
    <p:spTree>
      <p:nvGrpSpPr>
        <p:cNvPr id="1" name=""/>
        <p:cNvGrpSpPr/>
        <p:nvPr/>
      </p:nvGrpSpPr>
      <p:grpSpPr>
        <a:xfrm/>
      </p:grpSpPr>
      <p:sp>
        <p:nvSpPr>
          <p:cNvPr id="18" name="fixed">
            <a:extLst>
              <a:ext uri="{FF2B5EF4-FFF2-40B4-BE49-F238E27FC236}">
                <ns2:creationId id="{50169409-952D-4A7F-845E-8201E8AEAA99}"/>
              </a:ext>
            </a:extLst>
          </p:cNvPr>
          <p:cNvSpPr>
            <a:spLocks noGrp="1"/>
          </p:cNvSpPr>
          <p:nvPr/>
        </p:nvSpPr>
        <p:spPr>
          <a:xfrm>
            <a:off x="609600" y="400050"/>
            <a:ext cx="7620000" cy="381000"/>
          </a:xfrm>
          <a:prstGeom prst="rect">
            <a:avLst/>
          </a:prstGeom>
          <a:noFill/>
          <a:ln w="0">
            <a:noFill/>
          </a:ln>
        </p:spPr>
        <p:txBody>
          <a:bodyPr>
            <a:noAutofit/>
          </a:bodyPr>
          <a:lstStyle/>
          <a:p>
            <a:pPr algn="l">
              <a:defRPr sz="1875" b="1">
                <a:solidFill>
                  <a:srgbClr val="087F8C"/>
                </a:solidFill>
                <a:latin typeface="Times New Roman"/>
                <a:ea typeface="Times New Roman"/>
                <a:cs typeface="Times New Roman"/>
              </a:defRPr>
            </a:pPr>
            <a:r>
              <a:rPr sz="1875" b="1">
                <a:solidFill>
                  <a:srgbClr val="087F8C"/>
                </a:solidFill>
                <a:latin typeface="Times New Roman"/>
                <a:ea typeface="Times New Roman"/>
                <a:cs typeface="Times New Roman"/>
              </a:rPr>
              <a:t>MODULE 06 / WORKING AND EXAMPLE</a:t>
            </a:r>
          </a:p>
        </p:txBody>
      </p:sp>
      <p:sp>
        <p:nvSpPr>
          <p:cNvPr id="2" name="fixed">
            <a:extLst>
              <a:ext uri="{FF2B5EF4-FFF2-40B4-BE49-F238E27FC236}">
                <ns2:creationId id="{E7E4C36C-65AF-4CD3-866C-8798D72B1C41}"/>
              </a:ext>
            </a:extLst>
          </p:cNvPr>
          <p:cNvSpPr>
            <a:spLocks noGrp="1"/>
          </p:cNvSpPr>
          <p:nvPr/>
        </p:nvSpPr>
        <p:spPr>
          <a:xfrm>
            <a:off x="609600" y="971550"/>
            <a:ext cx="8191500" cy="1171575"/>
          </a:xfrm>
          <a:prstGeom prst="rect">
            <a:avLst/>
          </a:prstGeom>
          <a:noFill/>
          <a:ln w="0">
            <a:noFill/>
          </a:ln>
        </p:spPr>
        <p:txBody>
          <a:bodyPr>
            <a:noAutofit/>
          </a:bodyPr>
          <a:lstStyle/>
          <a:p>
            <a:pPr algn="l">
              <a:defRPr sz="3750" b="1">
                <a:solidFill>
                  <a:srgbClr val="172F3A"/>
                </a:solidFill>
                <a:latin typeface="Times New Roman"/>
                <a:ea typeface="Times New Roman"/>
                <a:cs typeface="Times New Roman"/>
              </a:defRPr>
            </a:pPr>
            <a:r>
              <a:rPr sz="3750" b="1">
                <a:solidFill>
                  <a:srgbClr val="172F3A"/>
                </a:solidFill>
                <a:latin typeface="Times New Roman"/>
                <a:ea typeface="Times New Roman"/>
                <a:cs typeface="Times New Roman"/>
              </a:rPr>
              <a:t>Dashboard workflow and intervention example</a:t>
            </a:r>
          </a:p>
        </p:txBody>
      </p:sp>
      <p:sp>
        <p:nvSpPr>
          <p:cNvPr id="3" name="fixed">
            <a:extLst>
              <a:ext uri="{FF2B5EF4-FFF2-40B4-BE49-F238E27FC236}">
                <ns2:creationId id="{4F2E86E7-4C53-46AF-8564-78379D64D993}"/>
              </a:ext>
            </a:extLst>
          </p:cNvPr>
          <p:cNvSpPr>
            <a:spLocks noGrp="1"/>
          </p:cNvSpPr>
          <p:nvPr/>
        </p:nvSpPr>
        <p:spPr>
          <a:xfrm>
            <a:off x="9029700" y="457200"/>
            <a:ext cx="2571750" cy="381000"/>
          </a:xfrm>
          <a:prstGeom prst="rect">
            <a:avLst/>
          </a:prstGeom>
          <a:noFill/>
          <a:ln w="0">
            <a:noFill/>
          </a:ln>
        </p:spPr>
        <p:txBody>
          <a:bodyPr>
            <a:noAutofit/>
          </a:bodyPr>
          <a:lstStyle/>
          <a:p>
            <a:pPr algn="r">
              <a:defRPr sz="1800" b="1">
                <a:solidFill>
                  <a:srgbClr val="087F8C"/>
                </a:solidFill>
                <a:latin typeface="Times New Roman"/>
                <a:ea typeface="Times New Roman"/>
                <a:cs typeface="Times New Roman"/>
              </a:defRPr>
            </a:pPr>
            <a:r>
              <a:rPr sz="1800" b="1">
                <a:solidFill>
                  <a:srgbClr val="087F8C"/>
                </a:solidFill>
                <a:latin typeface="Times New Roman"/>
                <a:ea typeface="Times New Roman"/>
                <a:cs typeface="Times New Roman"/>
              </a:rPr>
              <a:t>COMPLETED</a:t>
            </a:r>
          </a:p>
        </p:txBody>
      </p:sp>
      <p:sp>
        <p:nvSpPr>
          <p:cNvPr id="4" name="fixed">
            <a:extLst>
              <a:ext uri="{FF2B5EF4-FFF2-40B4-BE49-F238E27FC236}">
                <ns2:creationId id="{D70F61BF-39BB-4B88-B8C4-EB05E8144C4F}"/>
              </a:ext>
            </a:extLst>
          </p:cNvPr>
          <p:cNvSpPr>
            <a:spLocks noGrp="1"/>
          </p:cNvSpPr>
          <p:nvPr/>
        </p:nvSpPr>
        <p:spPr>
          <a:xfrm>
            <a:off x="9029700" y="828675"/>
            <a:ext cx="2571750" cy="304800"/>
          </a:xfrm>
          <a:prstGeom prst="rect">
            <a:avLst/>
          </a:prstGeom>
          <a:noFill/>
          <a:ln w="0">
            <a:noFill/>
          </a:ln>
        </p:spPr>
        <p:txBody>
          <a:bodyPr>
            <a:noAutofit/>
          </a:bodyPr>
          <a:lstStyle/>
          <a:p>
            <a:pPr algn="r">
              <a:defRPr sz="1425" b="0">
                <a:solidFill>
                  <a:srgbClr val="4C6471"/>
                </a:solidFill>
                <a:latin typeface="Times New Roman"/>
                <a:ea typeface="Times New Roman"/>
                <a:cs typeface="Times New Roman"/>
              </a:defRPr>
            </a:pPr>
            <a:r>
              <a:rPr sz="1425" b="0">
                <a:solidFill>
                  <a:srgbClr val="4C6471"/>
                </a:solidFill>
                <a:latin typeface="Times New Roman"/>
                <a:ea typeface="Times New Roman"/>
                <a:cs typeface="Times New Roman"/>
              </a:rPr>
              <a:t>Implementation status</a:t>
            </a:r>
          </a:p>
        </p:txBody>
      </p:sp>
      <p:sp>
        <p:nvSpPr>
          <p:cNvPr id="5" name="fixed">
            <a:extLst>
              <a:ext uri="{FF2B5EF4-FFF2-40B4-BE49-F238E27FC236}">
                <ns2:creationId id="{769E768E-2D83-427B-BF60-84AEFED68E48}"/>
              </a:ext>
            </a:extLst>
          </p:cNvPr>
          <p:cNvSpPr>
            <a:spLocks noGrp="1"/>
          </p:cNvSpPr>
          <p:nvPr/>
        </p:nvSpPr>
        <p:spPr>
          <a:xfrm>
            <a:off x="11029950" y="6334125"/>
            <a:ext cx="523875" cy="285750"/>
          </a:xfrm>
          <a:prstGeom prst="rect">
            <a:avLst/>
          </a:prstGeom>
          <a:noFill/>
          <a:ln w="0">
            <a:noFill/>
          </a:ln>
        </p:spPr>
        <p:txBody>
          <a:bodyPr>
            <a:noAutofit/>
          </a:bodyPr>
          <a:lstStyle/>
          <a:p>
            <a:pPr algn="r">
              <a:defRPr sz="1500" b="0">
                <a:solidFill>
                  <a:srgbClr val="4C6471"/>
                </a:solidFill>
                <a:latin typeface="Times New Roman"/>
                <a:ea typeface="Times New Roman"/>
                <a:cs typeface="Times New Roman"/>
              </a:defRPr>
            </a:pPr>
            <a:r>
              <a:rPr sz="1500" b="0">
                <a:solidFill>
                  <a:srgbClr val="4C6471"/>
                </a:solidFill>
                <a:latin typeface="Times New Roman"/>
                <a:ea typeface="Times New Roman"/>
                <a:cs typeface="Times New Roman"/>
              </a:rPr>
              <a:t>28</a:t>
            </a:r>
          </a:p>
        </p:txBody>
      </p:sp>
      <p:sp>
        <p:nvSpPr>
          <p:cNvPr id="6" name="reveal-1">
            <a:extLst>
              <a:ext uri="{FF2B5EF4-FFF2-40B4-BE49-F238E27FC236}">
                <ns2:creationId id="{CA417DD0-FC4B-4755-B2E1-5F8E343773F8}"/>
              </a:ext>
            </a:extLst>
          </p:cNvPr>
          <p:cNvSpPr>
            <a:spLocks noGrp="1"/>
          </p:cNvSpPr>
          <p:nvPr/>
        </p:nvSpPr>
        <p:spPr>
          <a:xfrm>
            <a:off x="609600" y="2381250"/>
            <a:ext cx="2395538"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Live Monitoring</a:t>
            </a:r>
          </a:p>
        </p:txBody>
      </p:sp>
      <p:sp>
        <p:nvSpPr>
          <p:cNvPr id="7" name="reveal-2">
            <a:extLst>
              <a:ext uri="{FF2B5EF4-FFF2-40B4-BE49-F238E27FC236}">
                <ns2:creationId id="{1EA97DE2-B2A5-46A5-88E8-29B1BECAE9A0}"/>
              </a:ext>
            </a:extLst>
          </p:cNvPr>
          <p:cNvSpPr>
            <a:spLocks noGrp="1"/>
          </p:cNvSpPr>
          <p:nvPr/>
        </p:nvSpPr>
        <p:spPr>
          <a:xfrm>
            <a:off x="3462338" y="2381250"/>
            <a:ext cx="2395538"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Selected exam candidates</a:t>
            </a:r>
          </a:p>
        </p:txBody>
      </p:sp>
      <p:sp>
        <p:nvSpPr>
          <p:cNvPr id="8" name="reveal-3">
            <a:extLst>
              <a:ext uri="{FF2B5EF4-FFF2-40B4-BE49-F238E27FC236}">
                <ns2:creationId id="{C839C555-44BD-4DFF-8DC2-1514EC4EA9FE}"/>
              </a:ext>
            </a:extLst>
          </p:cNvPr>
          <p:cNvSpPr>
            <a:spLocks noGrp="1"/>
          </p:cNvSpPr>
          <p:nvPr/>
        </p:nvSpPr>
        <p:spPr>
          <a:xfrm>
            <a:off x="6315075" y="2381250"/>
            <a:ext cx="2395538"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Alert and evidence</a:t>
            </a:r>
          </a:p>
        </p:txBody>
      </p:sp>
      <p:sp>
        <p:nvSpPr>
          <p:cNvPr id="9" name="reveal-4">
            <a:extLst>
              <a:ext uri="{FF2B5EF4-FFF2-40B4-BE49-F238E27FC236}">
                <ns2:creationId id="{09291DA4-EC6A-4175-A49A-4B684695AD18}"/>
              </a:ext>
            </a:extLst>
          </p:cNvPr>
          <p:cNvSpPr>
            <a:spLocks noGrp="1"/>
          </p:cNvSpPr>
          <p:nvPr/>
        </p:nvSpPr>
        <p:spPr>
          <a:xfrm>
            <a:off x="9167813" y="2381250"/>
            <a:ext cx="2395538"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Review / warning</a:t>
            </a:r>
          </a:p>
        </p:txBody>
      </p:sp>
      <p:cxnSp>
        <p:nvCxnSpPr>
          <p:cNvPr id="27" name="reveal-2"/>
          <p:cNvCxnSpPr>
            <a:stCxn id="6" idx="3"/>
            <a:endCxn id="7" idx="1"/>
          </p:cNvCxnSpPr>
          <p:nvPr/>
        </p:nvCxnSpPr>
        <p:spPr>
          <a:xfrm>
            <a:off x="3005138" y="2857500"/>
            <a:ext cx="457200" cy="0"/>
          </a:xfrm>
          <a:prstGeom prst="straightConnector1">
            <a:avLst/>
          </a:prstGeom>
          <a:ln w="19050">
            <a:solidFill>
              <a:srgbClr val="087F8C"/>
            </a:solidFill>
            <a:tailEnd type="arrow" w="med" len="med"/>
          </a:ln>
        </p:spPr>
      </p:cxnSp>
      <p:cxnSp>
        <p:nvCxnSpPr>
          <p:cNvPr id="28" name="reveal-3"/>
          <p:cNvCxnSpPr>
            <a:stCxn id="7" idx="3"/>
            <a:endCxn id="8" idx="1"/>
          </p:cNvCxnSpPr>
          <p:nvPr/>
        </p:nvCxnSpPr>
        <p:spPr>
          <a:xfrm>
            <a:off x="5857876" y="2857500"/>
            <a:ext cx="457199" cy="0"/>
          </a:xfrm>
          <a:prstGeom prst="straightConnector1">
            <a:avLst/>
          </a:prstGeom>
          <a:ln w="19050">
            <a:solidFill>
              <a:srgbClr val="087F8C"/>
            </a:solidFill>
            <a:tailEnd type="arrow" w="med" len="med"/>
          </a:ln>
        </p:spPr>
      </p:cxnSp>
      <p:cxnSp>
        <p:nvCxnSpPr>
          <p:cNvPr id="29" name="reveal-4"/>
          <p:cNvCxnSpPr>
            <a:stCxn id="8" idx="3"/>
            <a:endCxn id="9" idx="1"/>
          </p:cNvCxnSpPr>
          <p:nvPr/>
        </p:nvCxnSpPr>
        <p:spPr>
          <a:xfrm>
            <a:off x="8710613" y="2857500"/>
            <a:ext cx="457200" cy="0"/>
          </a:xfrm>
          <a:prstGeom prst="straightConnector1">
            <a:avLst/>
          </a:prstGeom>
          <a:ln w="19050">
            <a:solidFill>
              <a:srgbClr val="087F8C"/>
            </a:solidFill>
            <a:tailEnd type="arrow" w="med" len="med"/>
          </a:ln>
        </p:spPr>
      </p:cxnSp>
      <p:sp>
        <p:nvSpPr>
          <p:cNvPr id="13" name="reveal-5">
            <a:extLst>
              <a:ext uri="{FF2B5EF4-FFF2-40B4-BE49-F238E27FC236}">
                <ns2:creationId id="{88B74E66-8E4A-4623-AF71-8DA402C44E8F}"/>
              </a:ext>
            </a:extLst>
          </p:cNvPr>
          <p:cNvSpPr>
            <a:spLocks noGrp="1"/>
          </p:cNvSpPr>
          <p:nvPr/>
        </p:nvSpPr>
        <p:spPr>
          <a:xfrm>
            <a:off x="609600" y="3924300"/>
            <a:ext cx="5095875" cy="476250"/>
          </a:xfrm>
          <a:prstGeom prst="rect">
            <a:avLst/>
          </a:prstGeom>
          <a:noFill/>
          <a:ln w="0">
            <a:noFill/>
          </a:ln>
        </p:spPr>
        <p:txBody>
          <a:bodyPr>
            <a:noAutofit/>
          </a:bodyPr>
          <a:lstStyle/>
          <a:p>
            <a:pPr algn="l">
              <a:defRPr sz="2550" b="1">
                <a:solidFill>
                  <a:srgbClr val="087F8C"/>
                </a:solidFill>
                <a:latin typeface="Times New Roman"/>
                <a:ea typeface="Times New Roman"/>
                <a:cs typeface="Times New Roman"/>
              </a:defRPr>
            </a:pPr>
            <a:r>
              <a:rPr sz="2550" b="1">
                <a:solidFill>
                  <a:srgbClr val="087F8C"/>
                </a:solidFill>
                <a:latin typeface="Times New Roman"/>
                <a:ea typeface="Times New Roman"/>
                <a:cs typeface="Times New Roman"/>
              </a:rPr>
              <a:t>Example: review a phone event</a:t>
            </a:r>
          </a:p>
        </p:txBody>
      </p:sp>
      <p:sp>
        <p:nvSpPr>
          <p:cNvPr id="14" name="reveal-5">
            <a:extLst>
              <a:ext uri="{FF2B5EF4-FFF2-40B4-BE49-F238E27FC236}">
                <ns2:creationId id="{A0A487CE-1800-423C-87AC-D9753B75B42A}"/>
              </a:ext>
            </a:extLst>
          </p:cNvPr>
          <p:cNvSpPr>
            <a:spLocks noGrp="1"/>
          </p:cNvSpPr>
          <p:nvPr/>
        </p:nvSpPr>
        <p:spPr>
          <a:xfrm>
            <a:off x="609600" y="4552950"/>
            <a:ext cx="5095875" cy="1619250"/>
          </a:xfrm>
          <a:prstGeom prst="rect">
            <a:avLst/>
          </a:prstGeom>
          <a:noFill/>
          <a:ln w="0">
            <a:noFill/>
          </a:ln>
        </p:spPr>
        <p:txBody>
          <a:bodyPr>
            <a:noAutofit/>
          </a:bodyPr>
          <a:lstStyle/>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Open the candidate’s evidence.</a:t>
            </a:r>
          </a:p>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Confirm or dismiss the event.</a:t>
            </a:r>
          </a:p>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Send a warning if intervention is appropriate.</a:t>
            </a:r>
          </a:p>
        </p:txBody>
      </p:sp>
      <p:sp>
        <p:nvSpPr>
          <p:cNvPr id="15" name="reveal-6">
            <a:extLst>
              <a:ext uri="{FF2B5EF4-FFF2-40B4-BE49-F238E27FC236}">
                <ns2:creationId id="{7C7ED089-E16A-4AF1-8E84-5903A4EE9481}"/>
              </a:ext>
            </a:extLst>
          </p:cNvPr>
          <p:cNvSpPr>
            <a:spLocks noGrp="1"/>
          </p:cNvSpPr>
          <p:nvPr/>
        </p:nvSpPr>
        <p:spPr>
          <a:xfrm>
            <a:off x="6381750" y="3924300"/>
            <a:ext cx="5095875" cy="476250"/>
          </a:xfrm>
          <a:prstGeom prst="rect">
            <a:avLst/>
          </a:prstGeom>
          <a:noFill/>
          <a:ln w="0">
            <a:noFill/>
          </a:ln>
        </p:spPr>
        <p:txBody>
          <a:bodyPr>
            <a:noAutofit/>
          </a:bodyPr>
          <a:lstStyle/>
          <a:p>
            <a:pPr algn="l">
              <a:defRPr sz="2550" b="1">
                <a:solidFill>
                  <a:srgbClr val="087F8C"/>
                </a:solidFill>
                <a:latin typeface="Times New Roman"/>
                <a:ea typeface="Times New Roman"/>
                <a:cs typeface="Times New Roman"/>
              </a:defRPr>
            </a:pPr>
            <a:r>
              <a:rPr sz="2550" b="1">
                <a:solidFill>
                  <a:srgbClr val="087F8C"/>
                </a:solidFill>
                <a:latin typeface="Times New Roman"/>
                <a:ea typeface="Times New Roman"/>
                <a:cs typeface="Times New Roman"/>
              </a:rPr>
              <a:t>Navigation and ownership</a:t>
            </a:r>
          </a:p>
        </p:txBody>
      </p:sp>
      <p:sp>
        <p:nvSpPr>
          <p:cNvPr id="16" name="reveal-6">
            <a:extLst>
              <a:ext uri="{FF2B5EF4-FFF2-40B4-BE49-F238E27FC236}">
                <ns2:creationId id="{B6F20730-EF90-4048-BAD9-A2C167B95614}"/>
              </a:ext>
            </a:extLst>
          </p:cNvPr>
          <p:cNvSpPr>
            <a:spLocks noGrp="1"/>
          </p:cNvSpPr>
          <p:nvPr/>
        </p:nvSpPr>
        <p:spPr>
          <a:xfrm>
            <a:off x="6381750" y="4552950"/>
            <a:ext cx="5095875" cy="1619250"/>
          </a:xfrm>
          <a:prstGeom prst="rect">
            <a:avLst/>
          </a:prstGeom>
          <a:noFill/>
          <a:ln w="0">
            <a:noFill/>
          </a:ln>
        </p:spPr>
        <p:txBody>
          <a:bodyPr>
            <a:noAutofit/>
          </a:bodyPr>
          <a:lstStyle/>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Exams manages active and completed exams.</a:t>
            </a:r>
          </a:p>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History contains past summaries.</a:t>
            </a:r>
          </a:p>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Teachers receive their own exams’ events.</a:t>
            </a:r>
          </a:p>
        </p:txBody>
      </p:sp>
      <p:sp>
        <p:nvSpPr>
          <p:cNvPr id="17" name="fixed">
            <a:extLst>
              <a:ext uri="{FF2B5EF4-FFF2-40B4-BE49-F238E27FC236}">
                <ns2:creationId id="{66BE11A0-0C99-42D2-9222-794A4A392AF9}"/>
              </a:ext>
            </a:extLst>
          </p:cNvPr>
          <p:cNvSpPr>
            <a:spLocks noGrp="1"/>
          </p:cNvSpPr>
          <p:nvPr/>
        </p:nvSpPr>
        <p:spPr>
          <a:xfrm>
            <a:off x="609600" y="5953125"/>
            <a:ext cx="10668000" cy="457200"/>
          </a:xfrm>
          <a:prstGeom prst="rect">
            <a:avLst/>
          </a:prstGeom>
          <a:noFill/>
          <a:ln w="0">
            <a:noFill/>
          </a:ln>
        </p:spPr>
        <p:txBody>
          <a:bodyPr>
            <a:noAutofit/>
          </a:bodyPr>
          <a:lstStyle/>
          <a:p>
            <a:pPr algn="l">
              <a:defRPr sz="1725" b="0">
                <a:solidFill>
                  <a:srgbClr val="4C6471"/>
                </a:solidFill>
                <a:latin typeface="Times New Roman"/>
                <a:ea typeface="Times New Roman"/>
                <a:cs typeface="Times New Roman"/>
              </a:defRPr>
            </a:pPr>
            <a:r>
              <a:rPr sz="1725" b="0">
                <a:solidFill>
                  <a:srgbClr val="4C6471"/>
                </a:solidFill>
                <a:latin typeface="Times New Roman"/>
                <a:ea typeface="Times New Roman"/>
                <a:cs typeface="Times New Roman"/>
              </a:rPr>
              <a:t>Clearing candidate filters keeps the selected exam boundary.</a:t>
            </a:r>
          </a:p>
        </p:txBody>
      </p:sp>
    </p:spTree>
    <p:extLst>
      <p:ext uri="{BB962C8B-B14F-4D97-AF65-F5344CB8AC3E}">
        <ns3:creationId val="78419018"/>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1" nodeType="click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350"/>
                                  <p:tgtEl>
                                    <p:spTgt spid="6"/>
                                  </p:tgtEl>
                                </p:cBhvr>
                              </p:animEffect>
                            </p:childTnLst>
                          </p:cTn>
                        </p:par>
                      </p:childTnLst>
                    </p:cTn>
                  </p:par>
                  <p:par>
                    <p:cTn id="7" fill="hold">
                      <p:stCondLst>
                        <p:cond delay="indefinite"/>
                      </p:stCondLst>
                      <p:childTnLst>
                        <p:par>
                          <p:cTn id="8" presetID="10" presetClass="entr" presetSubtype="0" fill="hold" grpId="2" nodeType="click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350"/>
                                  <p:tgtEl>
                                    <p:spTgt spid="7"/>
                                  </p:tgtEl>
                                </p:cBhvr>
                              </p:animEffect>
                            </p:childTnLst>
                          </p:cTn>
                        </p:par>
                        <p:par>
                          <p:cTn id="11" presetID="10" presetClass="entr" presetSubtype="0" fill="hold" grpId="2" nodeType="clickEffect">
                            <p:stCondLst>
                              <p:cond delay="0"/>
                            </p:stCondLst>
                            <p:childTnLst>
                              <p:set>
                                <p:cBhvr>
                                  <p:cTn id="12" dur="1" fill="hold">
                                    <p:stCondLst>
                                      <p:cond delay="0"/>
                                    </p:stCondLst>
                                  </p:cTn>
                                  <p:tgtEl>
                                    <p:spTgt spid="27"/>
                                  </p:tgtEl>
                                  <p:attrNameLst>
                                    <p:attrName>style.visibility</p:attrName>
                                  </p:attrNameLst>
                                </p:cBhvr>
                                <p:to>
                                  <p:strVal val="visible"/>
                                </p:to>
                              </p:set>
                              <p:animEffect transition="in" filter="fade">
                                <p:cBhvr>
                                  <p:cTn id="13" dur="350"/>
                                  <p:tgtEl>
                                    <p:spTgt spid="27"/>
                                  </p:tgtEl>
                                </p:cBhvr>
                              </p:animEffect>
                            </p:childTnLst>
                          </p:cTn>
                        </p:par>
                      </p:childTnLst>
                    </p:cTn>
                  </p:par>
                  <p:par>
                    <p:cTn id="14" fill="hold">
                      <p:stCondLst>
                        <p:cond delay="indefinite"/>
                      </p:stCondLst>
                      <p:childTnLst>
                        <p:par>
                          <p:cTn id="15" presetID="10" presetClass="entr" presetSubtype="0" fill="hold" grpId="3"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350"/>
                                  <p:tgtEl>
                                    <p:spTgt spid="8"/>
                                  </p:tgtEl>
                                </p:cBhvr>
                              </p:animEffect>
                            </p:childTnLst>
                          </p:cTn>
                        </p:par>
                        <p:par>
                          <p:cTn id="18" presetID="10" presetClass="entr" presetSubtype="0" fill="hold" grpId="3" nodeType="clickEffect">
                            <p:stCondLst>
                              <p:cond delay="0"/>
                            </p:stCondLst>
                            <p:childTnLst>
                              <p:set>
                                <p:cBhvr>
                                  <p:cTn id="19" dur="1" fill="hold">
                                    <p:stCondLst>
                                      <p:cond delay="0"/>
                                    </p:stCondLst>
                                  </p:cTn>
                                  <p:tgtEl>
                                    <p:spTgt spid="28"/>
                                  </p:tgtEl>
                                  <p:attrNameLst>
                                    <p:attrName>style.visibility</p:attrName>
                                  </p:attrNameLst>
                                </p:cBhvr>
                                <p:to>
                                  <p:strVal val="visible"/>
                                </p:to>
                              </p:set>
                              <p:animEffect transition="in" filter="fade">
                                <p:cBhvr>
                                  <p:cTn id="20" dur="350"/>
                                  <p:tgtEl>
                                    <p:spTgt spid="28"/>
                                  </p:tgtEl>
                                </p:cBhvr>
                              </p:animEffect>
                            </p:childTnLst>
                          </p:cTn>
                        </p:par>
                      </p:childTnLst>
                    </p:cTn>
                  </p:par>
                  <p:par>
                    <p:cTn id="21" fill="hold">
                      <p:stCondLst>
                        <p:cond delay="indefinite"/>
                      </p:stCondLst>
                      <p:childTnLst>
                        <p:par>
                          <p:cTn id="22" presetID="10" presetClass="entr" presetSubtype="0" fill="hold" grpId="4" nodeType="click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350"/>
                                  <p:tgtEl>
                                    <p:spTgt spid="9"/>
                                  </p:tgtEl>
                                </p:cBhvr>
                              </p:animEffect>
                            </p:childTnLst>
                          </p:cTn>
                        </p:par>
                        <p:par>
                          <p:cTn id="25" presetID="10" presetClass="entr" presetSubtype="0" fill="hold" grpId="4" nodeType="clickEffect">
                            <p:stCondLst>
                              <p:cond delay="0"/>
                            </p:stCondLst>
                            <p:childTnLst>
                              <p:set>
                                <p:cBhvr>
                                  <p:cTn id="26" dur="1" fill="hold">
                                    <p:stCondLst>
                                      <p:cond delay="0"/>
                                    </p:stCondLst>
                                  </p:cTn>
                                  <p:tgtEl>
                                    <p:spTgt spid="29"/>
                                  </p:tgtEl>
                                  <p:attrNameLst>
                                    <p:attrName>style.visibility</p:attrName>
                                  </p:attrNameLst>
                                </p:cBhvr>
                                <p:to>
                                  <p:strVal val="visible"/>
                                </p:to>
                              </p:set>
                              <p:animEffect transition="in" filter="fade">
                                <p:cBhvr>
                                  <p:cTn id="27" dur="350"/>
                                  <p:tgtEl>
                                    <p:spTgt spid="29"/>
                                  </p:tgtEl>
                                </p:cBhvr>
                              </p:animEffect>
                            </p:childTnLst>
                          </p:cTn>
                        </p:par>
                      </p:childTnLst>
                    </p:cTn>
                  </p:par>
                  <p:par>
                    <p:cTn id="28" fill="hold">
                      <p:stCondLst>
                        <p:cond delay="indefinite"/>
                      </p:stCondLst>
                      <p:childTnLst>
                        <p:par>
                          <p:cTn id="29" presetID="10" presetClass="entr" presetSubtype="0" fill="hold" grpId="5" nodeType="click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350"/>
                                  <p:tgtEl>
                                    <p:spTgt spid="13"/>
                                  </p:tgtEl>
                                </p:cBhvr>
                              </p:animEffect>
                            </p:childTnLst>
                          </p:cTn>
                        </p:par>
                        <p:par>
                          <p:cTn id="32" presetID="10" presetClass="entr" presetSubtype="0" fill="hold" grpId="5" nodeType="click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350"/>
                                  <p:tgtEl>
                                    <p:spTgt spid="14"/>
                                  </p:tgtEl>
                                </p:cBhvr>
                              </p:animEffect>
                            </p:childTnLst>
                          </p:cTn>
                        </p:par>
                      </p:childTnLst>
                    </p:cTn>
                  </p:par>
                  <p:par>
                    <p:cTn id="35" fill="hold">
                      <p:stCondLst>
                        <p:cond delay="indefinite"/>
                      </p:stCondLst>
                      <p:childTnLst>
                        <p:par>
                          <p:cTn id="36" presetID="10" presetClass="entr" presetSubtype="0" fill="hold" grpId="6" nodeType="clickEffect">
                            <p:stCondLst>
                              <p:cond delay="0"/>
                            </p:stCondLst>
                            <p:childTnLst>
                              <p:set>
                                <p:cBhvr>
                                  <p:cTn id="37" dur="1" fill="hold">
                                    <p:stCondLst>
                                      <p:cond delay="0"/>
                                    </p:stCondLst>
                                  </p:cTn>
                                  <p:tgtEl>
                                    <p:spTgt spid="15"/>
                                  </p:tgtEl>
                                  <p:attrNameLst>
                                    <p:attrName>style.visibility</p:attrName>
                                  </p:attrNameLst>
                                </p:cBhvr>
                                <p:to>
                                  <p:strVal val="visible"/>
                                </p:to>
                              </p:set>
                              <p:animEffect transition="in" filter="fade">
                                <p:cBhvr>
                                  <p:cTn id="38" dur="350"/>
                                  <p:tgtEl>
                                    <p:spTgt spid="15"/>
                                  </p:tgtEl>
                                </p:cBhvr>
                              </p:animEffect>
                            </p:childTnLst>
                          </p:cTn>
                        </p:par>
                        <p:par>
                          <p:cTn id="39" presetID="10" presetClass="entr" presetSubtype="0" fill="hold" grpId="6"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fade">
                                <p:cBhvr>
                                  <p:cTn id="41" dur="350"/>
                                  <p:tgtEl>
                                    <p:spTgt spid="16"/>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6" grpId="1" uiExpand="1"/>
      <p:bldP spid="7" grpId="2" uiExpand="1"/>
      <p:bldP spid="27" grpId="2" uiExpand="1"/>
      <p:bldP spid="8" grpId="3" uiExpand="1"/>
      <p:bldP spid="28" grpId="3" uiExpand="1"/>
      <p:bldP spid="9" grpId="4" uiExpand="1"/>
      <p:bldP spid="29" grpId="4" uiExpand="1"/>
      <p:bldP spid="13" grpId="5" uiExpand="1"/>
      <p:bldP spid="14" grpId="5" uiExpand="1"/>
      <p:bldP spid="15" grpId="6" uiExpand="1"/>
      <p:bldP spid="16" grpId="6" uiExpand="1"/>
    </p:bldLst>
  </p:timing>
</p:sld>
</file>

<file path=ppt/slides/slide29.xml><?xml version="1.0" encoding="utf-8"?>
<p:sld xmlns:a="http://schemas.openxmlformats.org/drawingml/2006/main" xmlns:ns3="http://schemas.microsoft.com/office/drawing/2014/main" xmlns:ns4="http://schemas.microsoft.com/office/powerpoint/2010/main" xmlns:p="http://schemas.openxmlformats.org/presentationml/2006/main" xmlns:r="http://schemas.openxmlformats.org/officeDocument/2006/relationships">
  <p:cSld>
    <p:bg>
      <p:bgPr>
        <a:solidFill>
          <a:srgbClr val="081321"/>
        </a:solidFill>
      </p:bgPr>
    </p:bg>
    <p:spTree>
      <p:nvGrpSpPr>
        <p:cNvPr id="1" name=""/>
        <p:cNvGrpSpPr/>
        <p:nvPr/>
      </p:nvGrpSpPr>
      <p:grpSpPr>
        <a:xfrm/>
      </p:grpSpPr>
      <p:pic>
        <p:nvPicPr>
          <p:cNvPr id="15" name=""/>
          <p:cNvPicPr>
            <a:picLocks noChangeAspect="1"/>
          </p:cNvPicPr>
          <p:nvPr/>
        </p:nvPicPr>
        <p:blipFill>
          <a:blip r:embed="R9ba5353ec1b74ce8"/>
          <a:srcRect l="0" t="27" r="0" b="27"/>
          <a:stretch>
            <a:fillRect l="0" t="0" r="0" b="0"/>
          </a:stretch>
        </p:blipFill>
        <p:spPr>
          <a:xfrm>
            <a:off x="0" y="0"/>
            <a:ext cx="12192000" cy="6858000"/>
          </a:xfrm>
          <a:prstGeom prst="rect">
            <a:avLst/>
          </a:prstGeom>
        </p:spPr>
      </p:pic>
      <p:sp>
        <p:nvSpPr>
          <p:cNvPr id="2" name="fixed">
            <a:extLst>
              <a:ext uri="{FF2B5EF4-FFF2-40B4-BE49-F238E27FC236}">
                <ns3:creationId id="{08327206-6BE0-4DA8-B22E-FC32D163DABF}"/>
              </a:ext>
            </a:extLst>
          </p:cNvPr>
          <p:cNvSpPr>
            <a:spLocks noGrp="1"/>
          </p:cNvSpPr>
          <p:nvPr/>
        </p:nvSpPr>
        <p:spPr>
          <a:xfrm>
            <a:off x="609600" y="400050"/>
            <a:ext cx="7620000" cy="381000"/>
          </a:xfrm>
          <a:prstGeom prst="rect">
            <a:avLst/>
          </a:prstGeom>
          <a:noFill/>
          <a:ln w="0">
            <a:noFill/>
          </a:ln>
        </p:spPr>
        <p:txBody>
          <a:bodyPr>
            <a:noAutofit/>
          </a:bodyPr>
          <a:lstStyle/>
          <a:p>
            <a:pPr algn="l">
              <a:defRPr sz="1875" b="1">
                <a:solidFill>
                  <a:srgbClr val="E9BF78"/>
                </a:solidFill>
                <a:latin typeface="Times New Roman"/>
                <a:ea typeface="Times New Roman"/>
                <a:cs typeface="Times New Roman"/>
              </a:defRPr>
            </a:pPr>
            <a:r>
              <a:rPr sz="1875" b="1">
                <a:solidFill>
                  <a:srgbClr val="E9BF78"/>
                </a:solidFill>
                <a:latin typeface="Times New Roman"/>
                <a:ea typeface="Times New Roman"/>
                <a:cs typeface="Times New Roman"/>
              </a:rPr>
              <a:t>MODULE 07</a:t>
            </a:r>
          </a:p>
        </p:txBody>
      </p:sp>
      <p:sp>
        <p:nvSpPr>
          <p:cNvPr id="3" name="fixed">
            <a:extLst>
              <a:ext uri="{FF2B5EF4-FFF2-40B4-BE49-F238E27FC236}">
                <ns3:creationId id="{07D4A406-CF61-4CD3-9AF6-8717717937FB}"/>
              </a:ext>
            </a:extLst>
          </p:cNvPr>
          <p:cNvSpPr>
            <a:spLocks noGrp="1"/>
          </p:cNvSpPr>
          <p:nvPr/>
        </p:nvSpPr>
        <p:spPr>
          <a:xfrm>
            <a:off x="609600" y="971550"/>
            <a:ext cx="8191500" cy="1171575"/>
          </a:xfrm>
          <a:prstGeom prst="rect">
            <a:avLst/>
          </a:prstGeom>
          <a:noFill/>
          <a:ln w="0">
            <a:noFill/>
          </a:ln>
        </p:spPr>
        <p:txBody>
          <a:bodyPr>
            <a:noAutofit/>
          </a:bodyPr>
          <a:lstStyle/>
          <a:p>
            <a:pPr algn="l">
              <a:defRPr sz="3750" b="1">
                <a:solidFill>
                  <a:srgbClr val="FFFFFF"/>
                </a:solidFill>
                <a:latin typeface="Times New Roman"/>
                <a:ea typeface="Times New Roman"/>
                <a:cs typeface="Times New Roman"/>
              </a:defRPr>
            </a:pPr>
            <a:r>
              <a:rPr sz="3750" b="1">
                <a:solidFill>
                  <a:srgbClr val="FFFFFF"/>
                </a:solidFill>
                <a:latin typeface="Times New Roman"/>
                <a:ea typeface="Times New Roman"/>
                <a:cs typeface="Times New Roman"/>
              </a:rPr>
              <a:t>Answer submission</a:t>
            </a:r>
          </a:p>
        </p:txBody>
      </p:sp>
      <p:sp>
        <p:nvSpPr>
          <p:cNvPr id="4" name="fixed">
            <a:extLst>
              <a:ext uri="{FF2B5EF4-FFF2-40B4-BE49-F238E27FC236}">
                <ns3:creationId id="{A8E4209F-92B1-4747-8312-F411C50EBF50}"/>
              </a:ext>
            </a:extLst>
          </p:cNvPr>
          <p:cNvSpPr>
            <a:spLocks noGrp="1"/>
          </p:cNvSpPr>
          <p:nvPr/>
        </p:nvSpPr>
        <p:spPr>
          <a:xfrm>
            <a:off x="9029700" y="457200"/>
            <a:ext cx="2571750" cy="381000"/>
          </a:xfrm>
          <a:prstGeom prst="rect">
            <a:avLst/>
          </a:prstGeom>
          <a:noFill/>
          <a:ln w="0">
            <a:noFill/>
          </a:ln>
        </p:spPr>
        <p:txBody>
          <a:bodyPr>
            <a:noAutofit/>
          </a:bodyPr>
          <a:lstStyle/>
          <a:p>
            <a:pPr algn="r">
              <a:defRPr sz="1800" b="1">
                <a:solidFill>
                  <a:srgbClr val="74E6CF"/>
                </a:solidFill>
                <a:latin typeface="Times New Roman"/>
                <a:ea typeface="Times New Roman"/>
                <a:cs typeface="Times New Roman"/>
              </a:defRPr>
            </a:pPr>
            <a:r>
              <a:rPr sz="1800" b="1">
                <a:solidFill>
                  <a:srgbClr val="74E6CF"/>
                </a:solidFill>
                <a:latin typeface="Times New Roman"/>
                <a:ea typeface="Times New Roman"/>
                <a:cs typeface="Times New Roman"/>
              </a:rPr>
              <a:t>COMPLETED</a:t>
            </a:r>
          </a:p>
        </p:txBody>
      </p:sp>
      <p:sp>
        <p:nvSpPr>
          <p:cNvPr id="5" name="fixed">
            <a:extLst>
              <a:ext uri="{FF2B5EF4-FFF2-40B4-BE49-F238E27FC236}">
                <ns3:creationId id="{8C7BEECC-7346-443A-A975-7FF2524BB521}"/>
              </a:ext>
            </a:extLst>
          </p:cNvPr>
          <p:cNvSpPr>
            <a:spLocks noGrp="1"/>
          </p:cNvSpPr>
          <p:nvPr/>
        </p:nvSpPr>
        <p:spPr>
          <a:xfrm>
            <a:off x="9029700" y="828675"/>
            <a:ext cx="2571750" cy="304800"/>
          </a:xfrm>
          <a:prstGeom prst="rect">
            <a:avLst/>
          </a:prstGeom>
          <a:noFill/>
          <a:ln w="0">
            <a:noFill/>
          </a:ln>
        </p:spPr>
        <p:txBody>
          <a:bodyPr>
            <a:noAutofit/>
          </a:bodyPr>
          <a:lstStyle/>
          <a:p>
            <a:pPr algn="r">
              <a:defRPr sz="1425" b="0">
                <a:solidFill>
                  <a:srgbClr val="C5D9DE"/>
                </a:solidFill>
                <a:latin typeface="Times New Roman"/>
                <a:ea typeface="Times New Roman"/>
                <a:cs typeface="Times New Roman"/>
              </a:defRPr>
            </a:pPr>
            <a:r>
              <a:rPr sz="1425" b="0">
                <a:solidFill>
                  <a:srgbClr val="C5D9DE"/>
                </a:solidFill>
                <a:latin typeface="Times New Roman"/>
                <a:ea typeface="Times New Roman"/>
                <a:cs typeface="Times New Roman"/>
              </a:rPr>
              <a:t>Implementation status</a:t>
            </a:r>
          </a:p>
        </p:txBody>
      </p:sp>
      <p:sp>
        <p:nvSpPr>
          <p:cNvPr id="6" name="fixed">
            <a:extLst>
              <a:ext uri="{FF2B5EF4-FFF2-40B4-BE49-F238E27FC236}">
                <ns3:creationId id="{43221A09-2E67-43D9-921A-EE61EF3AF336}"/>
              </a:ext>
            </a:extLst>
          </p:cNvPr>
          <p:cNvSpPr>
            <a:spLocks noGrp="1"/>
          </p:cNvSpPr>
          <p:nvPr/>
        </p:nvSpPr>
        <p:spPr>
          <a:xfrm>
            <a:off x="11029950" y="6334125"/>
            <a:ext cx="523875" cy="285750"/>
          </a:xfrm>
          <a:prstGeom prst="rect">
            <a:avLst/>
          </a:prstGeom>
          <a:noFill/>
          <a:ln w="0">
            <a:noFill/>
          </a:ln>
        </p:spPr>
        <p:txBody>
          <a:bodyPr>
            <a:noAutofit/>
          </a:bodyPr>
          <a:lstStyle/>
          <a:p>
            <a:pPr algn="r">
              <a:defRPr sz="1500" b="0">
                <a:solidFill>
                  <a:srgbClr val="B6CCD3"/>
                </a:solidFill>
                <a:latin typeface="Times New Roman"/>
                <a:ea typeface="Times New Roman"/>
                <a:cs typeface="Times New Roman"/>
              </a:defRPr>
            </a:pPr>
            <a:r>
              <a:rPr sz="1500" b="0">
                <a:solidFill>
                  <a:srgbClr val="B6CCD3"/>
                </a:solidFill>
                <a:latin typeface="Times New Roman"/>
                <a:ea typeface="Times New Roman"/>
                <a:cs typeface="Times New Roman"/>
              </a:rPr>
              <a:t>29</a:t>
            </a:r>
          </a:p>
        </p:txBody>
      </p:sp>
      <p:sp>
        <p:nvSpPr>
          <p:cNvPr id="7" name="reveal-1">
            <a:extLst>
              <a:ext uri="{FF2B5EF4-FFF2-40B4-BE49-F238E27FC236}">
                <ns3:creationId id="{A846CF2D-4F27-4AA0-AA47-C7B344392EA3}"/>
              </a:ext>
            </a:extLst>
          </p:cNvPr>
          <p:cNvSpPr>
            <a:spLocks noGrp="1"/>
          </p:cNvSpPr>
          <p:nvPr/>
        </p:nvSpPr>
        <p:spPr>
          <a:xfrm>
            <a:off x="609600" y="2533650"/>
            <a:ext cx="7620000" cy="1181100"/>
          </a:xfrm>
          <a:prstGeom prst="rect">
            <a:avLst/>
          </a:prstGeom>
          <a:noFill/>
          <a:ln w="0">
            <a:noFill/>
          </a:ln>
        </p:spPr>
        <p:txBody>
          <a:bodyPr>
            <a:noAutofit/>
          </a:bodyPr>
          <a:lstStyle/>
          <a:p>
            <a:pPr algn="l">
              <a:defRPr sz="2700" b="0">
                <a:solidFill>
                  <a:srgbClr val="FFFFFF"/>
                </a:solidFill>
                <a:latin typeface="Times New Roman"/>
                <a:ea typeface="Times New Roman"/>
                <a:cs typeface="Times New Roman"/>
              </a:defRPr>
            </a:pPr>
            <a:r>
              <a:rPr sz="2700" b="0">
                <a:solidFill>
                  <a:srgbClr val="FFFFFF"/>
                </a:solidFill>
                <a:latin typeface="Times New Roman"/>
                <a:ea typeface="Times New Roman"/>
                <a:cs typeface="Times New Roman"/>
              </a:rPr>
              <a:t>Keep the exam paper, answer workspace and submission linked to the candidate session.</a:t>
            </a:r>
          </a:p>
        </p:txBody>
      </p:sp>
      <p:sp>
        <p:nvSpPr>
          <p:cNvPr id="8" name="reveal-2">
            <a:extLst>
              <a:ext uri="{FF2B5EF4-FFF2-40B4-BE49-F238E27FC236}">
                <ns3:creationId id="{81E8EB31-599B-45DE-988C-A04DBF1434BD}"/>
              </a:ext>
            </a:extLst>
          </p:cNvPr>
          <p:cNvSpPr>
            <a:spLocks noGrp="1"/>
          </p:cNvSpPr>
          <p:nvPr/>
        </p:nvSpPr>
        <p:spPr>
          <a:xfrm>
            <a:off x="609600" y="3867150"/>
            <a:ext cx="7334250" cy="323850"/>
          </a:xfrm>
          <a:prstGeom prst="rect">
            <a:avLst/>
          </a:prstGeom>
          <a:noFill/>
          <a:ln w="0">
            <a:noFill/>
          </a:ln>
        </p:spPr>
        <p:txBody>
          <a:bodyPr>
            <a:noAutofit/>
          </a:bodyPr>
          <a:lstStyle/>
          <a:p>
            <a:pPr algn="l">
              <a:defRPr sz="1725" b="1">
                <a:solidFill>
                  <a:srgbClr val="E9BF78"/>
                </a:solidFill>
                <a:latin typeface="Times New Roman"/>
                <a:ea typeface="Times New Roman"/>
                <a:cs typeface="Times New Roman"/>
              </a:defRPr>
            </a:pPr>
            <a:r>
              <a:rPr sz="1725" b="1">
                <a:solidFill>
                  <a:srgbClr val="E9BF78"/>
                </a:solidFill>
                <a:latin typeface="Times New Roman"/>
                <a:ea typeface="Times New Roman"/>
                <a:cs typeface="Times New Roman"/>
              </a:rPr>
              <a:t>MAIN COMPONENTS</a:t>
            </a:r>
          </a:p>
        </p:txBody>
      </p:sp>
      <p:sp>
        <p:nvSpPr>
          <p:cNvPr id="9" name="reveal-2">
            <a:extLst>
              <a:ext uri="{FF2B5EF4-FFF2-40B4-BE49-F238E27FC236}">
                <ns3:creationId id="{E6012864-AABB-4AC4-B7C2-AC6EBBE1643B}"/>
              </a:ext>
            </a:extLst>
          </p:cNvPr>
          <p:cNvSpPr>
            <a:spLocks noGrp="1"/>
          </p:cNvSpPr>
          <p:nvPr/>
        </p:nvSpPr>
        <p:spPr>
          <a:xfrm>
            <a:off x="609600" y="4267200"/>
            <a:ext cx="7905750" cy="600075"/>
          </a:xfrm>
          <a:prstGeom prst="rect">
            <a:avLst/>
          </a:prstGeom>
          <a:noFill/>
          <a:ln w="0">
            <a:noFill/>
          </a:ln>
        </p:spPr>
        <p:txBody>
          <a:bodyPr>
            <a:noAutofit/>
          </a:bodyPr>
          <a:lstStyle/>
          <a:p>
            <a:pPr algn="l">
              <a:defRPr sz="2175" b="0">
                <a:solidFill>
                  <a:srgbClr val="D8E6E9"/>
                </a:solidFill>
                <a:latin typeface="Times New Roman"/>
                <a:ea typeface="Times New Roman"/>
                <a:cs typeface="Times New Roman"/>
              </a:defRPr>
            </a:pPr>
            <a:r>
              <a:rPr sz="2175" b="0">
                <a:solidFill>
                  <a:srgbClr val="D8E6E9"/>
                </a:solidFill>
                <a:latin typeface="Times New Roman"/>
                <a:ea typeface="Times New Roman"/>
                <a:cs typeface="Times New Roman"/>
              </a:rPr>
              <a:t>Paper viewer  /  local typed drafts  /  multipart upload</a:t>
            </a:r>
          </a:p>
        </p:txBody>
      </p:sp>
      <p:sp>
        <p:nvSpPr>
          <p:cNvPr id="10" name="reveal-3">
            <a:extLst>
              <a:ext uri="{FF2B5EF4-FFF2-40B4-BE49-F238E27FC236}">
                <ns3:creationId id="{2AA5682F-5B61-4CF7-90A5-836E73259281}"/>
              </a:ext>
            </a:extLst>
          </p:cNvPr>
          <p:cNvSpPr>
            <a:spLocks noGrp="1"/>
          </p:cNvSpPr>
          <p:nvPr/>
        </p:nvSpPr>
        <p:spPr>
          <a:xfrm>
            <a:off x="609600" y="5219700"/>
            <a:ext cx="3346450" cy="952500"/>
          </a:xfrm>
          <a:prstGeom prst="rect">
            <a:avLst/>
          </a:prstGeom>
          <a:solidFill>
            <a:srgbClr val="123342"/>
          </a:solidFill>
          <a:ln w="9525">
            <a:solidFill>
              <a:srgbClr val="466D77"/>
            </a:solidFill>
          </a:ln>
        </p:spPr>
        <p:txBody>
          <a:bodyPr anchor="ctr"/>
          <a:lstStyle/>
          <a:p>
            <a:pPr algn="ctr">
              <a:defRPr sz="2025" b="1">
                <a:solidFill>
                  <a:srgbClr val="FFFFFF"/>
                </a:solidFill>
                <a:latin typeface="Times New Roman"/>
                <a:ea typeface="Times New Roman"/>
                <a:cs typeface="Times New Roman"/>
              </a:defRPr>
            </a:pPr>
            <a:r>
              <a:rPr sz="2025" b="1">
                <a:solidFill>
                  <a:srgbClr val="FFFFFF"/>
                </a:solidFill>
                <a:latin typeface="Times New Roman"/>
                <a:ea typeface="Times New Roman"/>
                <a:cs typeface="Times New Roman"/>
              </a:rPr>
              <a:t>Exam paper</a:t>
            </a:r>
          </a:p>
        </p:txBody>
      </p:sp>
      <p:sp>
        <p:nvSpPr>
          <p:cNvPr id="11" name="reveal-4">
            <a:extLst>
              <a:ext uri="{FF2B5EF4-FFF2-40B4-BE49-F238E27FC236}">
                <ns3:creationId id="{C22DCB24-9873-433D-858F-C391039749C5}"/>
              </a:ext>
            </a:extLst>
          </p:cNvPr>
          <p:cNvSpPr>
            <a:spLocks noGrp="1"/>
          </p:cNvSpPr>
          <p:nvPr/>
        </p:nvSpPr>
        <p:spPr>
          <a:xfrm>
            <a:off x="4413250" y="5219700"/>
            <a:ext cx="3346450" cy="952500"/>
          </a:xfrm>
          <a:prstGeom prst="rect">
            <a:avLst/>
          </a:prstGeom>
          <a:solidFill>
            <a:srgbClr val="123342"/>
          </a:solidFill>
          <a:ln w="9525">
            <a:solidFill>
              <a:srgbClr val="466D77"/>
            </a:solidFill>
          </a:ln>
        </p:spPr>
        <p:txBody>
          <a:bodyPr anchor="ctr"/>
          <a:lstStyle/>
          <a:p>
            <a:pPr algn="ctr">
              <a:defRPr sz="2025" b="1">
                <a:solidFill>
                  <a:srgbClr val="FFFFFF"/>
                </a:solidFill>
                <a:latin typeface="Times New Roman"/>
                <a:ea typeface="Times New Roman"/>
                <a:cs typeface="Times New Roman"/>
              </a:defRPr>
            </a:pPr>
            <a:r>
              <a:rPr sz="2025" b="1">
                <a:solidFill>
                  <a:srgbClr val="FFFFFF"/>
                </a:solidFill>
                <a:latin typeface="Times New Roman"/>
                <a:ea typeface="Times New Roman"/>
                <a:cs typeface="Times New Roman"/>
              </a:rPr>
              <a:t>Candidate answer</a:t>
            </a:r>
          </a:p>
        </p:txBody>
      </p:sp>
      <p:sp>
        <p:nvSpPr>
          <p:cNvPr id="12" name="reveal-5">
            <a:extLst>
              <a:ext uri="{FF2B5EF4-FFF2-40B4-BE49-F238E27FC236}">
                <ns3:creationId id="{D71FC52F-9A5E-4167-B637-90FC4A1F1D10}"/>
              </a:ext>
            </a:extLst>
          </p:cNvPr>
          <p:cNvSpPr>
            <a:spLocks noGrp="1"/>
          </p:cNvSpPr>
          <p:nvPr/>
        </p:nvSpPr>
        <p:spPr>
          <a:xfrm>
            <a:off x="8216900" y="5219700"/>
            <a:ext cx="3346450" cy="952500"/>
          </a:xfrm>
          <a:prstGeom prst="rect">
            <a:avLst/>
          </a:prstGeom>
          <a:solidFill>
            <a:srgbClr val="123342"/>
          </a:solidFill>
          <a:ln w="9525">
            <a:solidFill>
              <a:srgbClr val="466D77"/>
            </a:solidFill>
          </a:ln>
        </p:spPr>
        <p:txBody>
          <a:bodyPr anchor="ctr"/>
          <a:lstStyle/>
          <a:p>
            <a:pPr algn="ctr">
              <a:defRPr sz="2025" b="1">
                <a:solidFill>
                  <a:srgbClr val="FFFFFF"/>
                </a:solidFill>
                <a:latin typeface="Times New Roman"/>
                <a:ea typeface="Times New Roman"/>
                <a:cs typeface="Times New Roman"/>
              </a:defRPr>
            </a:pPr>
            <a:r>
              <a:rPr sz="2025" b="1">
                <a:solidFill>
                  <a:srgbClr val="FFFFFF"/>
                </a:solidFill>
                <a:latin typeface="Times New Roman"/>
                <a:ea typeface="Times New Roman"/>
                <a:cs typeface="Times New Roman"/>
              </a:rPr>
              <a:t>Session-linked submission</a:t>
            </a:r>
          </a:p>
        </p:txBody>
      </p:sp>
      <p:cxnSp>
        <p:nvCxnSpPr>
          <p:cNvPr id="27" name="reveal-4"/>
          <p:cNvCxnSpPr>
            <a:stCxn id="10" idx="3"/>
            <a:endCxn id="11" idx="1"/>
          </p:cNvCxnSpPr>
          <p:nvPr/>
        </p:nvCxnSpPr>
        <p:spPr>
          <a:xfrm>
            <a:off x="3956050" y="5695950"/>
            <a:ext cx="457200" cy="0"/>
          </a:xfrm>
          <a:prstGeom prst="straightConnector1">
            <a:avLst/>
          </a:prstGeom>
          <a:ln w="19050">
            <a:solidFill>
              <a:srgbClr val="74E6CF"/>
            </a:solidFill>
            <a:tailEnd type="arrow" w="med" len="med"/>
          </a:ln>
        </p:spPr>
      </p:cxnSp>
      <p:cxnSp>
        <p:nvCxnSpPr>
          <p:cNvPr id="28" name="reveal-5"/>
          <p:cNvCxnSpPr>
            <a:stCxn id="11" idx="3"/>
            <a:endCxn id="12" idx="1"/>
          </p:cNvCxnSpPr>
          <p:nvPr/>
        </p:nvCxnSpPr>
        <p:spPr>
          <a:xfrm>
            <a:off x="7759700" y="5695950"/>
            <a:ext cx="457200" cy="0"/>
          </a:xfrm>
          <a:prstGeom prst="straightConnector1">
            <a:avLst/>
          </a:prstGeom>
          <a:ln w="19050">
            <a:solidFill>
              <a:srgbClr val="74E6CF"/>
            </a:solidFill>
            <a:tailEnd type="arrow" w="med" len="med"/>
          </a:ln>
        </p:spPr>
      </p:cxnSp>
    </p:spTree>
    <p:extLst>
      <p:ext uri="{BB962C8B-B14F-4D97-AF65-F5344CB8AC3E}">
        <ns4:creationId val="1779774172"/>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1" nodeType="clickEffect">
                            <p:stCondLst>
                              <p:cond delay="0"/>
                            </p:stCondLst>
                            <p:childTnLst>
                              <p:set>
                                <p:cBhvr>
                                  <p:cTn id="5" dur="1" fill="hold">
                                    <p:stCondLst>
                                      <p:cond delay="0"/>
                                    </p:stCondLst>
                                  </p:cTn>
                                  <p:tgtEl>
                                    <p:spTgt spid="7"/>
                                  </p:tgtEl>
                                  <p:attrNameLst>
                                    <p:attrName>style.visibility</p:attrName>
                                  </p:attrNameLst>
                                </p:cBhvr>
                                <p:to>
                                  <p:strVal val="visible"/>
                                </p:to>
                              </p:set>
                              <p:animEffect transition="in" filter="fade">
                                <p:cBhvr>
                                  <p:cTn id="6" dur="350"/>
                                  <p:tgtEl>
                                    <p:spTgt spid="7"/>
                                  </p:tgtEl>
                                </p:cBhvr>
                              </p:animEffect>
                            </p:childTnLst>
                          </p:cTn>
                        </p:par>
                      </p:childTnLst>
                    </p:cTn>
                  </p:par>
                  <p:par>
                    <p:cTn id="7" fill="hold">
                      <p:stCondLst>
                        <p:cond delay="indefinite"/>
                      </p:stCondLst>
                      <p:childTnLst>
                        <p:par>
                          <p:cTn id="8" presetID="10" presetClass="entr" presetSubtype="0" fill="hold" grpId="2" nodeType="click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350"/>
                                  <p:tgtEl>
                                    <p:spTgt spid="8"/>
                                  </p:tgtEl>
                                </p:cBhvr>
                              </p:animEffect>
                            </p:childTnLst>
                          </p:cTn>
                        </p:par>
                        <p:par>
                          <p:cTn id="11" presetID="10" presetClass="entr" presetSubtype="0" fill="hold" grpId="2" nodeType="click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350"/>
                                  <p:tgtEl>
                                    <p:spTgt spid="9"/>
                                  </p:tgtEl>
                                </p:cBhvr>
                              </p:animEffect>
                            </p:childTnLst>
                          </p:cTn>
                        </p:par>
                      </p:childTnLst>
                    </p:cTn>
                  </p:par>
                  <p:par>
                    <p:cTn id="14" fill="hold">
                      <p:stCondLst>
                        <p:cond delay="indefinite"/>
                      </p:stCondLst>
                      <p:childTnLst>
                        <p:par>
                          <p:cTn id="15" presetID="10" presetClass="entr" presetSubtype="0" fill="hold" grpId="3"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350"/>
                                  <p:tgtEl>
                                    <p:spTgt spid="10"/>
                                  </p:tgtEl>
                                </p:cBhvr>
                              </p:animEffect>
                            </p:childTnLst>
                          </p:cTn>
                        </p:par>
                      </p:childTnLst>
                    </p:cTn>
                  </p:par>
                  <p:par>
                    <p:cTn id="18" fill="hold">
                      <p:stCondLst>
                        <p:cond delay="indefinite"/>
                      </p:stCondLst>
                      <p:childTnLst>
                        <p:par>
                          <p:cTn id="19" presetID="10" presetClass="entr" presetSubtype="0" fill="hold" grpId="4" nodeType="click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350"/>
                                  <p:tgtEl>
                                    <p:spTgt spid="11"/>
                                  </p:tgtEl>
                                </p:cBhvr>
                              </p:animEffect>
                            </p:childTnLst>
                          </p:cTn>
                        </p:par>
                        <p:par>
                          <p:cTn id="22" presetID="10" presetClass="entr" presetSubtype="0" fill="hold" grpId="4" nodeType="clickEffect">
                            <p:stCondLst>
                              <p:cond delay="0"/>
                            </p:stCondLst>
                            <p:childTnLst>
                              <p:set>
                                <p:cBhvr>
                                  <p:cTn id="23" dur="1" fill="hold">
                                    <p:stCondLst>
                                      <p:cond delay="0"/>
                                    </p:stCondLst>
                                  </p:cTn>
                                  <p:tgtEl>
                                    <p:spTgt spid="27"/>
                                  </p:tgtEl>
                                  <p:attrNameLst>
                                    <p:attrName>style.visibility</p:attrName>
                                  </p:attrNameLst>
                                </p:cBhvr>
                                <p:to>
                                  <p:strVal val="visible"/>
                                </p:to>
                              </p:set>
                              <p:animEffect transition="in" filter="fade">
                                <p:cBhvr>
                                  <p:cTn id="24" dur="350"/>
                                  <p:tgtEl>
                                    <p:spTgt spid="27"/>
                                  </p:tgtEl>
                                </p:cBhvr>
                              </p:animEffect>
                            </p:childTnLst>
                          </p:cTn>
                        </p:par>
                      </p:childTnLst>
                    </p:cTn>
                  </p:par>
                  <p:par>
                    <p:cTn id="25" fill="hold">
                      <p:stCondLst>
                        <p:cond delay="indefinite"/>
                      </p:stCondLst>
                      <p:childTnLst>
                        <p:par>
                          <p:cTn id="26" presetID="10" presetClass="entr" presetSubtype="0" fill="hold" grpId="5" nodeType="click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350"/>
                                  <p:tgtEl>
                                    <p:spTgt spid="12"/>
                                  </p:tgtEl>
                                </p:cBhvr>
                              </p:animEffect>
                            </p:childTnLst>
                          </p:cTn>
                        </p:par>
                        <p:par>
                          <p:cTn id="29" presetID="10" presetClass="entr" presetSubtype="0" fill="hold" grpId="5" nodeType="clickEffect">
                            <p:stCondLst>
                              <p:cond delay="0"/>
                            </p:stCondLst>
                            <p:childTnLst>
                              <p:set>
                                <p:cBhvr>
                                  <p:cTn id="30" dur="1" fill="hold">
                                    <p:stCondLst>
                                      <p:cond delay="0"/>
                                    </p:stCondLst>
                                  </p:cTn>
                                  <p:tgtEl>
                                    <p:spTgt spid="28"/>
                                  </p:tgtEl>
                                  <p:attrNameLst>
                                    <p:attrName>style.visibility</p:attrName>
                                  </p:attrNameLst>
                                </p:cBhvr>
                                <p:to>
                                  <p:strVal val="visible"/>
                                </p:to>
                              </p:set>
                              <p:animEffect transition="in" filter="fade">
                                <p:cBhvr>
                                  <p:cTn id="31" dur="350"/>
                                  <p:tgtEl>
                                    <p:spTgt spid="28"/>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7" grpId="1" uiExpand="1"/>
      <p:bldP spid="8" grpId="2" uiExpand="1"/>
      <p:bldP spid="9" grpId="2" uiExpand="1"/>
      <p:bldP spid="10" grpId="3" uiExpand="1"/>
      <p:bldP spid="11" grpId="4" uiExpand="1"/>
      <p:bldP spid="27" grpId="4" uiExpand="1"/>
      <p:bldP spid="12" grpId="5" uiExpand="1"/>
      <p:bldP spid="28" grpId="5" uiExpand="1"/>
    </p:bldLst>
  </p:timing>
</p:sld>
</file>

<file path=ppt/slides/slide30.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6F7F4"/>
        </a:solidFill>
      </p:bgPr>
    </p:bg>
    <p:spTree>
      <p:nvGrpSpPr>
        <p:cNvPr id="1" name=""/>
        <p:cNvGrpSpPr/>
        <p:nvPr/>
      </p:nvGrpSpPr>
      <p:grpSpPr>
        <a:xfrm/>
      </p:grpSpPr>
      <p:sp>
        <p:nvSpPr>
          <p:cNvPr id="18" name="fixed">
            <a:extLst>
              <a:ext uri="{FF2B5EF4-FFF2-40B4-BE49-F238E27FC236}">
                <ns2:creationId id="{107CB619-C0FF-4080-9E13-84B4FB1ACF8E}"/>
              </a:ext>
            </a:extLst>
          </p:cNvPr>
          <p:cNvSpPr>
            <a:spLocks noGrp="1"/>
          </p:cNvSpPr>
          <p:nvPr/>
        </p:nvSpPr>
        <p:spPr>
          <a:xfrm>
            <a:off x="609600" y="400050"/>
            <a:ext cx="7620000" cy="381000"/>
          </a:xfrm>
          <a:prstGeom prst="rect">
            <a:avLst/>
          </a:prstGeom>
          <a:noFill/>
          <a:ln w="0">
            <a:noFill/>
          </a:ln>
        </p:spPr>
        <p:txBody>
          <a:bodyPr>
            <a:noAutofit/>
          </a:bodyPr>
          <a:lstStyle/>
          <a:p>
            <a:pPr algn="l">
              <a:defRPr sz="1875" b="1">
                <a:solidFill>
                  <a:srgbClr val="087F8C"/>
                </a:solidFill>
                <a:latin typeface="Times New Roman"/>
                <a:ea typeface="Times New Roman"/>
                <a:cs typeface="Times New Roman"/>
              </a:defRPr>
            </a:pPr>
            <a:r>
              <a:rPr sz="1875" b="1">
                <a:solidFill>
                  <a:srgbClr val="087F8C"/>
                </a:solidFill>
                <a:latin typeface="Times New Roman"/>
                <a:ea typeface="Times New Roman"/>
                <a:cs typeface="Times New Roman"/>
              </a:rPr>
              <a:t>MODULE 07 / WORKING AND EXAMPLE</a:t>
            </a:r>
          </a:p>
        </p:txBody>
      </p:sp>
      <p:sp>
        <p:nvSpPr>
          <p:cNvPr id="2" name="fixed">
            <a:extLst>
              <a:ext uri="{FF2B5EF4-FFF2-40B4-BE49-F238E27FC236}">
                <ns2:creationId id="{96CF0777-5537-43B5-A162-49F2908F2F27}"/>
              </a:ext>
            </a:extLst>
          </p:cNvPr>
          <p:cNvSpPr>
            <a:spLocks noGrp="1"/>
          </p:cNvSpPr>
          <p:nvPr/>
        </p:nvSpPr>
        <p:spPr>
          <a:xfrm>
            <a:off x="609600" y="971550"/>
            <a:ext cx="8191500" cy="1171575"/>
          </a:xfrm>
          <a:prstGeom prst="rect">
            <a:avLst/>
          </a:prstGeom>
          <a:noFill/>
          <a:ln w="0">
            <a:noFill/>
          </a:ln>
        </p:spPr>
        <p:txBody>
          <a:bodyPr>
            <a:noAutofit/>
          </a:bodyPr>
          <a:lstStyle/>
          <a:p>
            <a:pPr algn="l">
              <a:defRPr sz="3750" b="1">
                <a:solidFill>
                  <a:srgbClr val="172F3A"/>
                </a:solidFill>
                <a:latin typeface="Times New Roman"/>
                <a:ea typeface="Times New Roman"/>
                <a:cs typeface="Times New Roman"/>
              </a:defRPr>
            </a:pPr>
            <a:r>
              <a:rPr sz="3750" b="1">
                <a:solidFill>
                  <a:srgbClr val="172F3A"/>
                </a:solidFill>
                <a:latin typeface="Times New Roman"/>
                <a:ea typeface="Times New Roman"/>
                <a:cs typeface="Times New Roman"/>
              </a:rPr>
              <a:t>Submission workflow and recovery example</a:t>
            </a:r>
          </a:p>
        </p:txBody>
      </p:sp>
      <p:sp>
        <p:nvSpPr>
          <p:cNvPr id="3" name="fixed">
            <a:extLst>
              <a:ext uri="{FF2B5EF4-FFF2-40B4-BE49-F238E27FC236}">
                <ns2:creationId id="{ACFA35D5-DDCD-4B76-B420-13A94207CE6E}"/>
              </a:ext>
            </a:extLst>
          </p:cNvPr>
          <p:cNvSpPr>
            <a:spLocks noGrp="1"/>
          </p:cNvSpPr>
          <p:nvPr/>
        </p:nvSpPr>
        <p:spPr>
          <a:xfrm>
            <a:off x="9029700" y="457200"/>
            <a:ext cx="2571750" cy="381000"/>
          </a:xfrm>
          <a:prstGeom prst="rect">
            <a:avLst/>
          </a:prstGeom>
          <a:noFill/>
          <a:ln w="0">
            <a:noFill/>
          </a:ln>
        </p:spPr>
        <p:txBody>
          <a:bodyPr>
            <a:noAutofit/>
          </a:bodyPr>
          <a:lstStyle/>
          <a:p>
            <a:pPr algn="r">
              <a:defRPr sz="1800" b="1">
                <a:solidFill>
                  <a:srgbClr val="087F8C"/>
                </a:solidFill>
                <a:latin typeface="Times New Roman"/>
                <a:ea typeface="Times New Roman"/>
                <a:cs typeface="Times New Roman"/>
              </a:defRPr>
            </a:pPr>
            <a:r>
              <a:rPr sz="1800" b="1">
                <a:solidFill>
                  <a:srgbClr val="087F8C"/>
                </a:solidFill>
                <a:latin typeface="Times New Roman"/>
                <a:ea typeface="Times New Roman"/>
                <a:cs typeface="Times New Roman"/>
              </a:rPr>
              <a:t>COMPLETED</a:t>
            </a:r>
          </a:p>
        </p:txBody>
      </p:sp>
      <p:sp>
        <p:nvSpPr>
          <p:cNvPr id="4" name="fixed">
            <a:extLst>
              <a:ext uri="{FF2B5EF4-FFF2-40B4-BE49-F238E27FC236}">
                <ns2:creationId id="{10281F61-5C83-45BE-84B5-2F288A44326B}"/>
              </a:ext>
            </a:extLst>
          </p:cNvPr>
          <p:cNvSpPr>
            <a:spLocks noGrp="1"/>
          </p:cNvSpPr>
          <p:nvPr/>
        </p:nvSpPr>
        <p:spPr>
          <a:xfrm>
            <a:off x="9029700" y="828675"/>
            <a:ext cx="2571750" cy="304800"/>
          </a:xfrm>
          <a:prstGeom prst="rect">
            <a:avLst/>
          </a:prstGeom>
          <a:noFill/>
          <a:ln w="0">
            <a:noFill/>
          </a:ln>
        </p:spPr>
        <p:txBody>
          <a:bodyPr>
            <a:noAutofit/>
          </a:bodyPr>
          <a:lstStyle/>
          <a:p>
            <a:pPr algn="r">
              <a:defRPr sz="1425" b="0">
                <a:solidFill>
                  <a:srgbClr val="4C6471"/>
                </a:solidFill>
                <a:latin typeface="Times New Roman"/>
                <a:ea typeface="Times New Roman"/>
                <a:cs typeface="Times New Roman"/>
              </a:defRPr>
            </a:pPr>
            <a:r>
              <a:rPr sz="1425" b="0">
                <a:solidFill>
                  <a:srgbClr val="4C6471"/>
                </a:solidFill>
                <a:latin typeface="Times New Roman"/>
                <a:ea typeface="Times New Roman"/>
                <a:cs typeface="Times New Roman"/>
              </a:rPr>
              <a:t>Implementation status</a:t>
            </a:r>
          </a:p>
        </p:txBody>
      </p:sp>
      <p:sp>
        <p:nvSpPr>
          <p:cNvPr id="5" name="fixed">
            <a:extLst>
              <a:ext uri="{FF2B5EF4-FFF2-40B4-BE49-F238E27FC236}">
                <ns2:creationId id="{0734B82F-6D01-4F3A-B8A1-CB88FD58C4B4}"/>
              </a:ext>
            </a:extLst>
          </p:cNvPr>
          <p:cNvSpPr>
            <a:spLocks noGrp="1"/>
          </p:cNvSpPr>
          <p:nvPr/>
        </p:nvSpPr>
        <p:spPr>
          <a:xfrm>
            <a:off x="11029950" y="6334125"/>
            <a:ext cx="523875" cy="285750"/>
          </a:xfrm>
          <a:prstGeom prst="rect">
            <a:avLst/>
          </a:prstGeom>
          <a:noFill/>
          <a:ln w="0">
            <a:noFill/>
          </a:ln>
        </p:spPr>
        <p:txBody>
          <a:bodyPr>
            <a:noAutofit/>
          </a:bodyPr>
          <a:lstStyle/>
          <a:p>
            <a:pPr algn="r">
              <a:defRPr sz="1500" b="0">
                <a:solidFill>
                  <a:srgbClr val="4C6471"/>
                </a:solidFill>
                <a:latin typeface="Times New Roman"/>
                <a:ea typeface="Times New Roman"/>
                <a:cs typeface="Times New Roman"/>
              </a:defRPr>
            </a:pPr>
            <a:r>
              <a:rPr sz="1500" b="0">
                <a:solidFill>
                  <a:srgbClr val="4C6471"/>
                </a:solidFill>
                <a:latin typeface="Times New Roman"/>
                <a:ea typeface="Times New Roman"/>
                <a:cs typeface="Times New Roman"/>
              </a:rPr>
              <a:t>30</a:t>
            </a:r>
          </a:p>
        </p:txBody>
      </p:sp>
      <p:sp>
        <p:nvSpPr>
          <p:cNvPr id="6" name="reveal-1">
            <a:extLst>
              <a:ext uri="{FF2B5EF4-FFF2-40B4-BE49-F238E27FC236}">
                <ns2:creationId id="{8C864B3C-B508-4962-9F6F-BBD5FAF47826}"/>
              </a:ext>
            </a:extLst>
          </p:cNvPr>
          <p:cNvSpPr>
            <a:spLocks noGrp="1"/>
          </p:cNvSpPr>
          <p:nvPr/>
        </p:nvSpPr>
        <p:spPr>
          <a:xfrm>
            <a:off x="609600" y="2381250"/>
            <a:ext cx="2395538"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Read the paper</a:t>
            </a:r>
          </a:p>
        </p:txBody>
      </p:sp>
      <p:sp>
        <p:nvSpPr>
          <p:cNvPr id="7" name="reveal-2">
            <a:extLst>
              <a:ext uri="{FF2B5EF4-FFF2-40B4-BE49-F238E27FC236}">
                <ns2:creationId id="{C12C8659-A597-4705-BBF2-45D2F4107B2A}"/>
              </a:ext>
            </a:extLst>
          </p:cNvPr>
          <p:cNvSpPr>
            <a:spLocks noGrp="1"/>
          </p:cNvSpPr>
          <p:nvPr/>
        </p:nvSpPr>
        <p:spPr>
          <a:xfrm>
            <a:off x="3462338" y="2381250"/>
            <a:ext cx="2395538"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Type or attach answer</a:t>
            </a:r>
          </a:p>
        </p:txBody>
      </p:sp>
      <p:sp>
        <p:nvSpPr>
          <p:cNvPr id="8" name="reveal-3">
            <a:extLst>
              <a:ext uri="{FF2B5EF4-FFF2-40B4-BE49-F238E27FC236}">
                <ns2:creationId id="{FA789DAA-F1AF-4833-BCF8-2393742E4EDB}"/>
              </a:ext>
            </a:extLst>
          </p:cNvPr>
          <p:cNvSpPr>
            <a:spLocks noGrp="1"/>
          </p:cNvSpPr>
          <p:nvPr/>
        </p:nvSpPr>
        <p:spPr>
          <a:xfrm>
            <a:off x="6315075" y="2381250"/>
            <a:ext cx="2395538"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Submit with session ID</a:t>
            </a:r>
          </a:p>
        </p:txBody>
      </p:sp>
      <p:sp>
        <p:nvSpPr>
          <p:cNvPr id="9" name="reveal-4">
            <a:extLst>
              <a:ext uri="{FF2B5EF4-FFF2-40B4-BE49-F238E27FC236}">
                <ns2:creationId id="{E4334250-37ED-4EAD-98F1-E4DC0A5D53F9}"/>
              </a:ext>
            </a:extLst>
          </p:cNvPr>
          <p:cNvSpPr>
            <a:spLocks noGrp="1"/>
          </p:cNvSpPr>
          <p:nvPr/>
        </p:nvSpPr>
        <p:spPr>
          <a:xfrm>
            <a:off x="9167813" y="2381250"/>
            <a:ext cx="2395538"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Teacher opens answer</a:t>
            </a:r>
          </a:p>
        </p:txBody>
      </p:sp>
      <p:cxnSp>
        <p:nvCxnSpPr>
          <p:cNvPr id="27" name="reveal-2"/>
          <p:cNvCxnSpPr>
            <a:stCxn id="6" idx="3"/>
            <a:endCxn id="7" idx="1"/>
          </p:cNvCxnSpPr>
          <p:nvPr/>
        </p:nvCxnSpPr>
        <p:spPr>
          <a:xfrm>
            <a:off x="3005138" y="2857500"/>
            <a:ext cx="457200" cy="0"/>
          </a:xfrm>
          <a:prstGeom prst="straightConnector1">
            <a:avLst/>
          </a:prstGeom>
          <a:ln w="19050">
            <a:solidFill>
              <a:srgbClr val="087F8C"/>
            </a:solidFill>
            <a:tailEnd type="arrow" w="med" len="med"/>
          </a:ln>
        </p:spPr>
      </p:cxnSp>
      <p:cxnSp>
        <p:nvCxnSpPr>
          <p:cNvPr id="28" name="reveal-3"/>
          <p:cNvCxnSpPr>
            <a:stCxn id="7" idx="3"/>
            <a:endCxn id="8" idx="1"/>
          </p:cNvCxnSpPr>
          <p:nvPr/>
        </p:nvCxnSpPr>
        <p:spPr>
          <a:xfrm>
            <a:off x="5857876" y="2857500"/>
            <a:ext cx="457199" cy="0"/>
          </a:xfrm>
          <a:prstGeom prst="straightConnector1">
            <a:avLst/>
          </a:prstGeom>
          <a:ln w="19050">
            <a:solidFill>
              <a:srgbClr val="087F8C"/>
            </a:solidFill>
            <a:tailEnd type="arrow" w="med" len="med"/>
          </a:ln>
        </p:spPr>
      </p:cxnSp>
      <p:cxnSp>
        <p:nvCxnSpPr>
          <p:cNvPr id="29" name="reveal-4"/>
          <p:cNvCxnSpPr>
            <a:stCxn id="8" idx="3"/>
            <a:endCxn id="9" idx="1"/>
          </p:cNvCxnSpPr>
          <p:nvPr/>
        </p:nvCxnSpPr>
        <p:spPr>
          <a:xfrm>
            <a:off x="8710613" y="2857500"/>
            <a:ext cx="457200" cy="0"/>
          </a:xfrm>
          <a:prstGeom prst="straightConnector1">
            <a:avLst/>
          </a:prstGeom>
          <a:ln w="19050">
            <a:solidFill>
              <a:srgbClr val="087F8C"/>
            </a:solidFill>
            <a:tailEnd type="arrow" w="med" len="med"/>
          </a:ln>
        </p:spPr>
      </p:cxnSp>
      <p:sp>
        <p:nvSpPr>
          <p:cNvPr id="13" name="reveal-5">
            <a:extLst>
              <a:ext uri="{FF2B5EF4-FFF2-40B4-BE49-F238E27FC236}">
                <ns2:creationId id="{8FD57566-573F-4566-BA73-CD3CA23442F5}"/>
              </a:ext>
            </a:extLst>
          </p:cNvPr>
          <p:cNvSpPr>
            <a:spLocks noGrp="1"/>
          </p:cNvSpPr>
          <p:nvPr/>
        </p:nvSpPr>
        <p:spPr>
          <a:xfrm>
            <a:off x="609600" y="3924300"/>
            <a:ext cx="5095875" cy="476250"/>
          </a:xfrm>
          <a:prstGeom prst="rect">
            <a:avLst/>
          </a:prstGeom>
          <a:noFill/>
          <a:ln w="0">
            <a:noFill/>
          </a:ln>
        </p:spPr>
        <p:txBody>
          <a:bodyPr>
            <a:noAutofit/>
          </a:bodyPr>
          <a:lstStyle/>
          <a:p>
            <a:pPr algn="l">
              <a:defRPr sz="2550" b="1">
                <a:solidFill>
                  <a:srgbClr val="087F8C"/>
                </a:solidFill>
                <a:latin typeface="Times New Roman"/>
                <a:ea typeface="Times New Roman"/>
                <a:cs typeface="Times New Roman"/>
              </a:defRPr>
            </a:pPr>
            <a:r>
              <a:rPr sz="2550" b="1">
                <a:solidFill>
                  <a:srgbClr val="087F8C"/>
                </a:solidFill>
                <a:latin typeface="Times New Roman"/>
                <a:ea typeface="Times New Roman"/>
                <a:cs typeface="Times New Roman"/>
              </a:rPr>
              <a:t>Typed-answer example</a:t>
            </a:r>
          </a:p>
        </p:txBody>
      </p:sp>
      <p:sp>
        <p:nvSpPr>
          <p:cNvPr id="14" name="reveal-5">
            <a:extLst>
              <a:ext uri="{FF2B5EF4-FFF2-40B4-BE49-F238E27FC236}">
                <ns2:creationId id="{334EFAE3-74CC-4067-A9D4-49DC470A9C6E}"/>
              </a:ext>
            </a:extLst>
          </p:cNvPr>
          <p:cNvSpPr>
            <a:spLocks noGrp="1"/>
          </p:cNvSpPr>
          <p:nvPr/>
        </p:nvSpPr>
        <p:spPr>
          <a:xfrm>
            <a:off x="609600" y="4552950"/>
            <a:ext cx="5095875" cy="1619250"/>
          </a:xfrm>
          <a:prstGeom prst="rect">
            <a:avLst/>
          </a:prstGeom>
          <a:noFill/>
          <a:ln w="0">
            <a:noFill/>
          </a:ln>
        </p:spPr>
        <p:txBody>
          <a:bodyPr>
            <a:noAutofit/>
          </a:bodyPr>
          <a:lstStyle/>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The app restarts during answer writing.</a:t>
            </a:r>
          </a:p>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The local typed draft can be restored.</a:t>
            </a:r>
          </a:p>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The candidate reviews it before submission.</a:t>
            </a:r>
          </a:p>
        </p:txBody>
      </p:sp>
      <p:sp>
        <p:nvSpPr>
          <p:cNvPr id="15" name="reveal-6">
            <a:extLst>
              <a:ext uri="{FF2B5EF4-FFF2-40B4-BE49-F238E27FC236}">
                <ns2:creationId id="{73E5991E-593E-4995-9B53-AE0BD4EF0821}"/>
              </a:ext>
            </a:extLst>
          </p:cNvPr>
          <p:cNvSpPr>
            <a:spLocks noGrp="1"/>
          </p:cNvSpPr>
          <p:nvPr/>
        </p:nvSpPr>
        <p:spPr>
          <a:xfrm>
            <a:off x="6381750" y="3924300"/>
            <a:ext cx="5095875" cy="476250"/>
          </a:xfrm>
          <a:prstGeom prst="rect">
            <a:avLst/>
          </a:prstGeom>
          <a:noFill/>
          <a:ln w="0">
            <a:noFill/>
          </a:ln>
        </p:spPr>
        <p:txBody>
          <a:bodyPr>
            <a:noAutofit/>
          </a:bodyPr>
          <a:lstStyle/>
          <a:p>
            <a:pPr algn="l">
              <a:defRPr sz="2550" b="1">
                <a:solidFill>
                  <a:srgbClr val="087F8C"/>
                </a:solidFill>
                <a:latin typeface="Times New Roman"/>
                <a:ea typeface="Times New Roman"/>
                <a:cs typeface="Times New Roman"/>
              </a:defRPr>
            </a:pPr>
            <a:r>
              <a:rPr sz="2550" b="1">
                <a:solidFill>
                  <a:srgbClr val="087F8C"/>
                </a:solidFill>
                <a:latin typeface="Times New Roman"/>
                <a:ea typeface="Times New Roman"/>
                <a:cs typeface="Times New Roman"/>
              </a:rPr>
              <a:t>File-answer example</a:t>
            </a:r>
          </a:p>
        </p:txBody>
      </p:sp>
      <p:sp>
        <p:nvSpPr>
          <p:cNvPr id="16" name="reveal-6">
            <a:extLst>
              <a:ext uri="{FF2B5EF4-FFF2-40B4-BE49-F238E27FC236}">
                <ns2:creationId id="{A250DFEE-9765-4D0C-919D-051FC970400C}"/>
              </a:ext>
            </a:extLst>
          </p:cNvPr>
          <p:cNvSpPr>
            <a:spLocks noGrp="1"/>
          </p:cNvSpPr>
          <p:nvPr/>
        </p:nvSpPr>
        <p:spPr>
          <a:xfrm>
            <a:off x="6381750" y="4552950"/>
            <a:ext cx="5095875" cy="1619250"/>
          </a:xfrm>
          <a:prstGeom prst="rect">
            <a:avLst/>
          </a:prstGeom>
          <a:noFill/>
          <a:ln w="0">
            <a:noFill/>
          </a:ln>
        </p:spPr>
        <p:txBody>
          <a:bodyPr>
            <a:noAutofit/>
          </a:bodyPr>
          <a:lstStyle/>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The candidate selects an answer document.</a:t>
            </a:r>
          </a:p>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The server associates it with the session.</a:t>
            </a:r>
          </a:p>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After restart, the file must be selected again.</a:t>
            </a:r>
          </a:p>
        </p:txBody>
      </p:sp>
      <p:sp>
        <p:nvSpPr>
          <p:cNvPr id="17" name="fixed">
            <a:extLst>
              <a:ext uri="{FF2B5EF4-FFF2-40B4-BE49-F238E27FC236}">
                <ns2:creationId id="{5E9974A3-94FD-4F05-97C2-49D6E66B02F3}"/>
              </a:ext>
            </a:extLst>
          </p:cNvPr>
          <p:cNvSpPr>
            <a:spLocks noGrp="1"/>
          </p:cNvSpPr>
          <p:nvPr/>
        </p:nvSpPr>
        <p:spPr>
          <a:xfrm>
            <a:off x="609600" y="5953125"/>
            <a:ext cx="10668000" cy="457200"/>
          </a:xfrm>
          <a:prstGeom prst="rect">
            <a:avLst/>
          </a:prstGeom>
          <a:noFill/>
          <a:ln w="0">
            <a:noFill/>
          </a:ln>
        </p:spPr>
        <p:txBody>
          <a:bodyPr>
            <a:noAutofit/>
          </a:bodyPr>
          <a:lstStyle/>
          <a:p>
            <a:pPr algn="l">
              <a:defRPr sz="1725" b="0">
                <a:solidFill>
                  <a:srgbClr val="4C6471"/>
                </a:solidFill>
                <a:latin typeface="Times New Roman"/>
                <a:ea typeface="Times New Roman"/>
                <a:cs typeface="Times New Roman"/>
              </a:defRPr>
            </a:pPr>
            <a:r>
              <a:rPr sz="1725" b="0">
                <a:solidFill>
                  <a:srgbClr val="4C6471"/>
                </a:solidFill>
                <a:latin typeface="Times New Roman"/>
                <a:ea typeface="Times New Roman"/>
                <a:cs typeface="Times New Roman"/>
              </a:rPr>
              <a:t>An allowed reference file does not bypass pre-existing answer-file checks.</a:t>
            </a:r>
          </a:p>
        </p:txBody>
      </p:sp>
    </p:spTree>
    <p:extLst>
      <p:ext uri="{BB962C8B-B14F-4D97-AF65-F5344CB8AC3E}">
        <ns3:creationId val="731070089"/>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1" nodeType="click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350"/>
                                  <p:tgtEl>
                                    <p:spTgt spid="6"/>
                                  </p:tgtEl>
                                </p:cBhvr>
                              </p:animEffect>
                            </p:childTnLst>
                          </p:cTn>
                        </p:par>
                      </p:childTnLst>
                    </p:cTn>
                  </p:par>
                  <p:par>
                    <p:cTn id="7" fill="hold">
                      <p:stCondLst>
                        <p:cond delay="indefinite"/>
                      </p:stCondLst>
                      <p:childTnLst>
                        <p:par>
                          <p:cTn id="8" presetID="10" presetClass="entr" presetSubtype="0" fill="hold" grpId="2" nodeType="click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350"/>
                                  <p:tgtEl>
                                    <p:spTgt spid="7"/>
                                  </p:tgtEl>
                                </p:cBhvr>
                              </p:animEffect>
                            </p:childTnLst>
                          </p:cTn>
                        </p:par>
                        <p:par>
                          <p:cTn id="11" presetID="10" presetClass="entr" presetSubtype="0" fill="hold" grpId="2" nodeType="clickEffect">
                            <p:stCondLst>
                              <p:cond delay="0"/>
                            </p:stCondLst>
                            <p:childTnLst>
                              <p:set>
                                <p:cBhvr>
                                  <p:cTn id="12" dur="1" fill="hold">
                                    <p:stCondLst>
                                      <p:cond delay="0"/>
                                    </p:stCondLst>
                                  </p:cTn>
                                  <p:tgtEl>
                                    <p:spTgt spid="27"/>
                                  </p:tgtEl>
                                  <p:attrNameLst>
                                    <p:attrName>style.visibility</p:attrName>
                                  </p:attrNameLst>
                                </p:cBhvr>
                                <p:to>
                                  <p:strVal val="visible"/>
                                </p:to>
                              </p:set>
                              <p:animEffect transition="in" filter="fade">
                                <p:cBhvr>
                                  <p:cTn id="13" dur="350"/>
                                  <p:tgtEl>
                                    <p:spTgt spid="27"/>
                                  </p:tgtEl>
                                </p:cBhvr>
                              </p:animEffect>
                            </p:childTnLst>
                          </p:cTn>
                        </p:par>
                      </p:childTnLst>
                    </p:cTn>
                  </p:par>
                  <p:par>
                    <p:cTn id="14" fill="hold">
                      <p:stCondLst>
                        <p:cond delay="indefinite"/>
                      </p:stCondLst>
                      <p:childTnLst>
                        <p:par>
                          <p:cTn id="15" presetID="10" presetClass="entr" presetSubtype="0" fill="hold" grpId="3"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350"/>
                                  <p:tgtEl>
                                    <p:spTgt spid="8"/>
                                  </p:tgtEl>
                                </p:cBhvr>
                              </p:animEffect>
                            </p:childTnLst>
                          </p:cTn>
                        </p:par>
                        <p:par>
                          <p:cTn id="18" presetID="10" presetClass="entr" presetSubtype="0" fill="hold" grpId="3" nodeType="clickEffect">
                            <p:stCondLst>
                              <p:cond delay="0"/>
                            </p:stCondLst>
                            <p:childTnLst>
                              <p:set>
                                <p:cBhvr>
                                  <p:cTn id="19" dur="1" fill="hold">
                                    <p:stCondLst>
                                      <p:cond delay="0"/>
                                    </p:stCondLst>
                                  </p:cTn>
                                  <p:tgtEl>
                                    <p:spTgt spid="28"/>
                                  </p:tgtEl>
                                  <p:attrNameLst>
                                    <p:attrName>style.visibility</p:attrName>
                                  </p:attrNameLst>
                                </p:cBhvr>
                                <p:to>
                                  <p:strVal val="visible"/>
                                </p:to>
                              </p:set>
                              <p:animEffect transition="in" filter="fade">
                                <p:cBhvr>
                                  <p:cTn id="20" dur="350"/>
                                  <p:tgtEl>
                                    <p:spTgt spid="28"/>
                                  </p:tgtEl>
                                </p:cBhvr>
                              </p:animEffect>
                            </p:childTnLst>
                          </p:cTn>
                        </p:par>
                      </p:childTnLst>
                    </p:cTn>
                  </p:par>
                  <p:par>
                    <p:cTn id="21" fill="hold">
                      <p:stCondLst>
                        <p:cond delay="indefinite"/>
                      </p:stCondLst>
                      <p:childTnLst>
                        <p:par>
                          <p:cTn id="22" presetID="10" presetClass="entr" presetSubtype="0" fill="hold" grpId="4" nodeType="click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350"/>
                                  <p:tgtEl>
                                    <p:spTgt spid="9"/>
                                  </p:tgtEl>
                                </p:cBhvr>
                              </p:animEffect>
                            </p:childTnLst>
                          </p:cTn>
                        </p:par>
                        <p:par>
                          <p:cTn id="25" presetID="10" presetClass="entr" presetSubtype="0" fill="hold" grpId="4" nodeType="clickEffect">
                            <p:stCondLst>
                              <p:cond delay="0"/>
                            </p:stCondLst>
                            <p:childTnLst>
                              <p:set>
                                <p:cBhvr>
                                  <p:cTn id="26" dur="1" fill="hold">
                                    <p:stCondLst>
                                      <p:cond delay="0"/>
                                    </p:stCondLst>
                                  </p:cTn>
                                  <p:tgtEl>
                                    <p:spTgt spid="29"/>
                                  </p:tgtEl>
                                  <p:attrNameLst>
                                    <p:attrName>style.visibility</p:attrName>
                                  </p:attrNameLst>
                                </p:cBhvr>
                                <p:to>
                                  <p:strVal val="visible"/>
                                </p:to>
                              </p:set>
                              <p:animEffect transition="in" filter="fade">
                                <p:cBhvr>
                                  <p:cTn id="27" dur="350"/>
                                  <p:tgtEl>
                                    <p:spTgt spid="29"/>
                                  </p:tgtEl>
                                </p:cBhvr>
                              </p:animEffect>
                            </p:childTnLst>
                          </p:cTn>
                        </p:par>
                      </p:childTnLst>
                    </p:cTn>
                  </p:par>
                  <p:par>
                    <p:cTn id="28" fill="hold">
                      <p:stCondLst>
                        <p:cond delay="indefinite"/>
                      </p:stCondLst>
                      <p:childTnLst>
                        <p:par>
                          <p:cTn id="29" presetID="10" presetClass="entr" presetSubtype="0" fill="hold" grpId="5" nodeType="click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350"/>
                                  <p:tgtEl>
                                    <p:spTgt spid="13"/>
                                  </p:tgtEl>
                                </p:cBhvr>
                              </p:animEffect>
                            </p:childTnLst>
                          </p:cTn>
                        </p:par>
                        <p:par>
                          <p:cTn id="32" presetID="10" presetClass="entr" presetSubtype="0" fill="hold" grpId="5" nodeType="click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350"/>
                                  <p:tgtEl>
                                    <p:spTgt spid="14"/>
                                  </p:tgtEl>
                                </p:cBhvr>
                              </p:animEffect>
                            </p:childTnLst>
                          </p:cTn>
                        </p:par>
                      </p:childTnLst>
                    </p:cTn>
                  </p:par>
                  <p:par>
                    <p:cTn id="35" fill="hold">
                      <p:stCondLst>
                        <p:cond delay="indefinite"/>
                      </p:stCondLst>
                      <p:childTnLst>
                        <p:par>
                          <p:cTn id="36" presetID="10" presetClass="entr" presetSubtype="0" fill="hold" grpId="6" nodeType="clickEffect">
                            <p:stCondLst>
                              <p:cond delay="0"/>
                            </p:stCondLst>
                            <p:childTnLst>
                              <p:set>
                                <p:cBhvr>
                                  <p:cTn id="37" dur="1" fill="hold">
                                    <p:stCondLst>
                                      <p:cond delay="0"/>
                                    </p:stCondLst>
                                  </p:cTn>
                                  <p:tgtEl>
                                    <p:spTgt spid="15"/>
                                  </p:tgtEl>
                                  <p:attrNameLst>
                                    <p:attrName>style.visibility</p:attrName>
                                  </p:attrNameLst>
                                </p:cBhvr>
                                <p:to>
                                  <p:strVal val="visible"/>
                                </p:to>
                              </p:set>
                              <p:animEffect transition="in" filter="fade">
                                <p:cBhvr>
                                  <p:cTn id="38" dur="350"/>
                                  <p:tgtEl>
                                    <p:spTgt spid="15"/>
                                  </p:tgtEl>
                                </p:cBhvr>
                              </p:animEffect>
                            </p:childTnLst>
                          </p:cTn>
                        </p:par>
                        <p:par>
                          <p:cTn id="39" presetID="10" presetClass="entr" presetSubtype="0" fill="hold" grpId="6"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fade">
                                <p:cBhvr>
                                  <p:cTn id="41" dur="350"/>
                                  <p:tgtEl>
                                    <p:spTgt spid="16"/>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6" grpId="1" uiExpand="1"/>
      <p:bldP spid="7" grpId="2" uiExpand="1"/>
      <p:bldP spid="27" grpId="2" uiExpand="1"/>
      <p:bldP spid="8" grpId="3" uiExpand="1"/>
      <p:bldP spid="28" grpId="3" uiExpand="1"/>
      <p:bldP spid="9" grpId="4" uiExpand="1"/>
      <p:bldP spid="29" grpId="4" uiExpand="1"/>
      <p:bldP spid="13" grpId="5" uiExpand="1"/>
      <p:bldP spid="14" grpId="5" uiExpand="1"/>
      <p:bldP spid="15" grpId="6" uiExpand="1"/>
      <p:bldP spid="16" grpId="6" uiExpand="1"/>
    </p:bldLst>
  </p:timing>
</p:sld>
</file>

<file path=ppt/slides/slide31.xml><?xml version="1.0" encoding="utf-8"?>
<p:sld xmlns:a="http://schemas.openxmlformats.org/drawingml/2006/main" xmlns:ns3="http://schemas.microsoft.com/office/drawing/2014/main" xmlns:ns4="http://schemas.microsoft.com/office/powerpoint/2010/main" xmlns:p="http://schemas.openxmlformats.org/presentationml/2006/main" xmlns:r="http://schemas.openxmlformats.org/officeDocument/2006/relationships">
  <p:cSld>
    <p:bg>
      <p:bgPr>
        <a:solidFill>
          <a:srgbClr val="081321"/>
        </a:solidFill>
      </p:bgPr>
    </p:bg>
    <p:spTree>
      <p:nvGrpSpPr>
        <p:cNvPr id="1" name=""/>
        <p:cNvGrpSpPr/>
        <p:nvPr/>
      </p:nvGrpSpPr>
      <p:grpSpPr>
        <a:xfrm/>
      </p:grpSpPr>
      <p:pic>
        <p:nvPicPr>
          <p:cNvPr id="15" name=""/>
          <p:cNvPicPr>
            <a:picLocks noChangeAspect="1"/>
          </p:cNvPicPr>
          <p:nvPr/>
        </p:nvPicPr>
        <p:blipFill>
          <a:blip r:embed="R53e1721e2b0c49b8"/>
          <a:srcRect l="0" t="27" r="0" b="27"/>
          <a:stretch>
            <a:fillRect l="0" t="0" r="0" b="0"/>
          </a:stretch>
        </p:blipFill>
        <p:spPr>
          <a:xfrm>
            <a:off x="0" y="0"/>
            <a:ext cx="12192000" cy="6858000"/>
          </a:xfrm>
          <a:prstGeom prst="rect">
            <a:avLst/>
          </a:prstGeom>
        </p:spPr>
      </p:pic>
      <p:sp>
        <p:nvSpPr>
          <p:cNvPr id="2" name="fixed">
            <a:extLst>
              <a:ext uri="{FF2B5EF4-FFF2-40B4-BE49-F238E27FC236}">
                <ns3:creationId id="{628E0B31-A27E-43D5-ABAB-E661064A3F97}"/>
              </a:ext>
            </a:extLst>
          </p:cNvPr>
          <p:cNvSpPr>
            <a:spLocks noGrp="1"/>
          </p:cNvSpPr>
          <p:nvPr/>
        </p:nvSpPr>
        <p:spPr>
          <a:xfrm>
            <a:off x="609600" y="400050"/>
            <a:ext cx="7620000" cy="381000"/>
          </a:xfrm>
          <a:prstGeom prst="rect">
            <a:avLst/>
          </a:prstGeom>
          <a:noFill/>
          <a:ln w="0">
            <a:noFill/>
          </a:ln>
        </p:spPr>
        <p:txBody>
          <a:bodyPr>
            <a:noAutofit/>
          </a:bodyPr>
          <a:lstStyle/>
          <a:p>
            <a:pPr algn="l">
              <a:defRPr sz="1875" b="1">
                <a:solidFill>
                  <a:srgbClr val="E9BF78"/>
                </a:solidFill>
                <a:latin typeface="Times New Roman"/>
                <a:ea typeface="Times New Roman"/>
                <a:cs typeface="Times New Roman"/>
              </a:defRPr>
            </a:pPr>
            <a:r>
              <a:rPr sz="1875" b="1">
                <a:solidFill>
                  <a:srgbClr val="E9BF78"/>
                </a:solidFill>
                <a:latin typeface="Times New Roman"/>
                <a:ea typeface="Times New Roman"/>
                <a:cs typeface="Times New Roman"/>
              </a:rPr>
              <a:t>MODULE 08</a:t>
            </a:r>
          </a:p>
        </p:txBody>
      </p:sp>
      <p:sp>
        <p:nvSpPr>
          <p:cNvPr id="3" name="fixed">
            <a:extLst>
              <a:ext uri="{FF2B5EF4-FFF2-40B4-BE49-F238E27FC236}">
                <ns3:creationId id="{888F10D6-AEE0-4B9E-AC65-48CBC7055640}"/>
              </a:ext>
            </a:extLst>
          </p:cNvPr>
          <p:cNvSpPr>
            <a:spLocks noGrp="1"/>
          </p:cNvSpPr>
          <p:nvPr/>
        </p:nvSpPr>
        <p:spPr>
          <a:xfrm>
            <a:off x="609600" y="971550"/>
            <a:ext cx="8191500" cy="1171575"/>
          </a:xfrm>
          <a:prstGeom prst="rect">
            <a:avLst/>
          </a:prstGeom>
          <a:noFill/>
          <a:ln w="0">
            <a:noFill/>
          </a:ln>
        </p:spPr>
        <p:txBody>
          <a:bodyPr>
            <a:noAutofit/>
          </a:bodyPr>
          <a:lstStyle/>
          <a:p>
            <a:pPr algn="l">
              <a:defRPr sz="3750" b="1">
                <a:solidFill>
                  <a:srgbClr val="FFFFFF"/>
                </a:solidFill>
                <a:latin typeface="Times New Roman"/>
                <a:ea typeface="Times New Roman"/>
                <a:cs typeface="Times New Roman"/>
              </a:defRPr>
            </a:pPr>
            <a:r>
              <a:rPr sz="3750" b="1">
                <a:solidFill>
                  <a:srgbClr val="FFFFFF"/>
                </a:solidFill>
                <a:latin typeface="Times New Roman"/>
                <a:ea typeface="Times New Roman"/>
                <a:cs typeface="Times New Roman"/>
              </a:rPr>
              <a:t>Audit reporting</a:t>
            </a:r>
          </a:p>
        </p:txBody>
      </p:sp>
      <p:sp>
        <p:nvSpPr>
          <p:cNvPr id="4" name="fixed">
            <a:extLst>
              <a:ext uri="{FF2B5EF4-FFF2-40B4-BE49-F238E27FC236}">
                <ns3:creationId id="{4A21B431-690D-40C2-9322-6593B95E3580}"/>
              </a:ext>
            </a:extLst>
          </p:cNvPr>
          <p:cNvSpPr>
            <a:spLocks noGrp="1"/>
          </p:cNvSpPr>
          <p:nvPr/>
        </p:nvSpPr>
        <p:spPr>
          <a:xfrm>
            <a:off x="9029700" y="457200"/>
            <a:ext cx="2571750" cy="381000"/>
          </a:xfrm>
          <a:prstGeom prst="rect">
            <a:avLst/>
          </a:prstGeom>
          <a:noFill/>
          <a:ln w="0">
            <a:noFill/>
          </a:ln>
        </p:spPr>
        <p:txBody>
          <a:bodyPr>
            <a:noAutofit/>
          </a:bodyPr>
          <a:lstStyle/>
          <a:p>
            <a:pPr algn="r">
              <a:defRPr sz="1800" b="1">
                <a:solidFill>
                  <a:srgbClr val="74E6CF"/>
                </a:solidFill>
                <a:latin typeface="Times New Roman"/>
                <a:ea typeface="Times New Roman"/>
                <a:cs typeface="Times New Roman"/>
              </a:defRPr>
            </a:pPr>
            <a:r>
              <a:rPr sz="1800" b="1">
                <a:solidFill>
                  <a:srgbClr val="74E6CF"/>
                </a:solidFill>
                <a:latin typeface="Times New Roman"/>
                <a:ea typeface="Times New Roman"/>
                <a:cs typeface="Times New Roman"/>
              </a:rPr>
              <a:t>IMPLEMENTED</a:t>
            </a:r>
          </a:p>
        </p:txBody>
      </p:sp>
      <p:sp>
        <p:nvSpPr>
          <p:cNvPr id="5" name="fixed">
            <a:extLst>
              <a:ext uri="{FF2B5EF4-FFF2-40B4-BE49-F238E27FC236}">
                <ns3:creationId id="{EACA0788-D038-4D97-8A6A-CE42474A88FA}"/>
              </a:ext>
            </a:extLst>
          </p:cNvPr>
          <p:cNvSpPr>
            <a:spLocks noGrp="1"/>
          </p:cNvSpPr>
          <p:nvPr/>
        </p:nvSpPr>
        <p:spPr>
          <a:xfrm>
            <a:off x="9029700" y="828675"/>
            <a:ext cx="2571750" cy="304800"/>
          </a:xfrm>
          <a:prstGeom prst="rect">
            <a:avLst/>
          </a:prstGeom>
          <a:noFill/>
          <a:ln w="0">
            <a:noFill/>
          </a:ln>
        </p:spPr>
        <p:txBody>
          <a:bodyPr>
            <a:noAutofit/>
          </a:bodyPr>
          <a:lstStyle/>
          <a:p>
            <a:pPr algn="r">
              <a:defRPr sz="1425" b="0">
                <a:solidFill>
                  <a:srgbClr val="C5D9DE"/>
                </a:solidFill>
                <a:latin typeface="Times New Roman"/>
                <a:ea typeface="Times New Roman"/>
                <a:cs typeface="Times New Roman"/>
              </a:defRPr>
            </a:pPr>
            <a:r>
              <a:rPr sz="1425" b="0">
                <a:solidFill>
                  <a:srgbClr val="C5D9DE"/>
                </a:solidFill>
                <a:latin typeface="Times New Roman"/>
                <a:ea typeface="Times New Roman"/>
                <a:cs typeface="Times New Roman"/>
              </a:rPr>
              <a:t>Implementation status</a:t>
            </a:r>
          </a:p>
        </p:txBody>
      </p:sp>
      <p:sp>
        <p:nvSpPr>
          <p:cNvPr id="6" name="fixed">
            <a:extLst>
              <a:ext uri="{FF2B5EF4-FFF2-40B4-BE49-F238E27FC236}">
                <ns3:creationId id="{2AF4E251-4298-4ADF-8966-DFE2B749B1A4}"/>
              </a:ext>
            </a:extLst>
          </p:cNvPr>
          <p:cNvSpPr>
            <a:spLocks noGrp="1"/>
          </p:cNvSpPr>
          <p:nvPr/>
        </p:nvSpPr>
        <p:spPr>
          <a:xfrm>
            <a:off x="11029950" y="6334125"/>
            <a:ext cx="523875" cy="285750"/>
          </a:xfrm>
          <a:prstGeom prst="rect">
            <a:avLst/>
          </a:prstGeom>
          <a:noFill/>
          <a:ln w="0">
            <a:noFill/>
          </a:ln>
        </p:spPr>
        <p:txBody>
          <a:bodyPr>
            <a:noAutofit/>
          </a:bodyPr>
          <a:lstStyle/>
          <a:p>
            <a:pPr algn="r">
              <a:defRPr sz="1500" b="0">
                <a:solidFill>
                  <a:srgbClr val="B6CCD3"/>
                </a:solidFill>
                <a:latin typeface="Times New Roman"/>
                <a:ea typeface="Times New Roman"/>
                <a:cs typeface="Times New Roman"/>
              </a:defRPr>
            </a:pPr>
            <a:r>
              <a:rPr sz="1500" b="0">
                <a:solidFill>
                  <a:srgbClr val="B6CCD3"/>
                </a:solidFill>
                <a:latin typeface="Times New Roman"/>
                <a:ea typeface="Times New Roman"/>
                <a:cs typeface="Times New Roman"/>
              </a:rPr>
              <a:t>31</a:t>
            </a:r>
          </a:p>
        </p:txBody>
      </p:sp>
      <p:sp>
        <p:nvSpPr>
          <p:cNvPr id="7" name="reveal-1">
            <a:extLst>
              <a:ext uri="{FF2B5EF4-FFF2-40B4-BE49-F238E27FC236}">
                <ns3:creationId id="{26C92114-696B-43A4-B379-958E6987261B}"/>
              </a:ext>
            </a:extLst>
          </p:cNvPr>
          <p:cNvSpPr>
            <a:spLocks noGrp="1"/>
          </p:cNvSpPr>
          <p:nvPr/>
        </p:nvSpPr>
        <p:spPr>
          <a:xfrm>
            <a:off x="609600" y="2533650"/>
            <a:ext cx="7620000" cy="1181100"/>
          </a:xfrm>
          <a:prstGeom prst="rect">
            <a:avLst/>
          </a:prstGeom>
          <a:noFill/>
          <a:ln w="0">
            <a:noFill/>
          </a:ln>
        </p:spPr>
        <p:txBody>
          <a:bodyPr>
            <a:noAutofit/>
          </a:bodyPr>
          <a:lstStyle/>
          <a:p>
            <a:pPr algn="l">
              <a:defRPr sz="2700" b="0">
                <a:solidFill>
                  <a:srgbClr val="FFFFFF"/>
                </a:solidFill>
                <a:latin typeface="Times New Roman"/>
                <a:ea typeface="Times New Roman"/>
                <a:cs typeface="Times New Roman"/>
              </a:defRPr>
            </a:pPr>
            <a:r>
              <a:rPr sz="2700" b="0">
                <a:solidFill>
                  <a:srgbClr val="FFFFFF"/>
                </a:solidFill>
                <a:latin typeface="Times New Roman"/>
                <a:ea typeface="Times New Roman"/>
                <a:cs typeface="Times New Roman"/>
              </a:rPr>
              <a:t>Summarize a completed examination for review and institutional record keeping.</a:t>
            </a:r>
          </a:p>
        </p:txBody>
      </p:sp>
      <p:sp>
        <p:nvSpPr>
          <p:cNvPr id="8" name="reveal-2">
            <a:extLst>
              <a:ext uri="{FF2B5EF4-FFF2-40B4-BE49-F238E27FC236}">
                <ns3:creationId id="{8519AEF9-B591-4E20-BC69-B48B42A0FBB8}"/>
              </a:ext>
            </a:extLst>
          </p:cNvPr>
          <p:cNvSpPr>
            <a:spLocks noGrp="1"/>
          </p:cNvSpPr>
          <p:nvPr/>
        </p:nvSpPr>
        <p:spPr>
          <a:xfrm>
            <a:off x="609600" y="3867150"/>
            <a:ext cx="7334250" cy="323850"/>
          </a:xfrm>
          <a:prstGeom prst="rect">
            <a:avLst/>
          </a:prstGeom>
          <a:noFill/>
          <a:ln w="0">
            <a:noFill/>
          </a:ln>
        </p:spPr>
        <p:txBody>
          <a:bodyPr>
            <a:noAutofit/>
          </a:bodyPr>
          <a:lstStyle/>
          <a:p>
            <a:pPr algn="l">
              <a:defRPr sz="1725" b="1">
                <a:solidFill>
                  <a:srgbClr val="E9BF78"/>
                </a:solidFill>
                <a:latin typeface="Times New Roman"/>
                <a:ea typeface="Times New Roman"/>
                <a:cs typeface="Times New Roman"/>
              </a:defRPr>
            </a:pPr>
            <a:r>
              <a:rPr sz="1725" b="1">
                <a:solidFill>
                  <a:srgbClr val="E9BF78"/>
                </a:solidFill>
                <a:latin typeface="Times New Roman"/>
                <a:ea typeface="Times New Roman"/>
                <a:cs typeface="Times New Roman"/>
              </a:rPr>
              <a:t>MAIN COMPONENTS</a:t>
            </a:r>
          </a:p>
        </p:txBody>
      </p:sp>
      <p:sp>
        <p:nvSpPr>
          <p:cNvPr id="9" name="reveal-2">
            <a:extLst>
              <a:ext uri="{FF2B5EF4-FFF2-40B4-BE49-F238E27FC236}">
                <ns3:creationId id="{6109283E-C385-407A-BFEE-83EAA9F14F07}"/>
              </a:ext>
            </a:extLst>
          </p:cNvPr>
          <p:cNvSpPr>
            <a:spLocks noGrp="1"/>
          </p:cNvSpPr>
          <p:nvPr/>
        </p:nvSpPr>
        <p:spPr>
          <a:xfrm>
            <a:off x="609600" y="4267200"/>
            <a:ext cx="7905750" cy="600075"/>
          </a:xfrm>
          <a:prstGeom prst="rect">
            <a:avLst/>
          </a:prstGeom>
          <a:noFill/>
          <a:ln w="0">
            <a:noFill/>
          </a:ln>
        </p:spPr>
        <p:txBody>
          <a:bodyPr>
            <a:noAutofit/>
          </a:bodyPr>
          <a:lstStyle/>
          <a:p>
            <a:pPr algn="l">
              <a:defRPr sz="2175" b="0">
                <a:solidFill>
                  <a:srgbClr val="D8E6E9"/>
                </a:solidFill>
                <a:latin typeface="Times New Roman"/>
                <a:ea typeface="Times New Roman"/>
                <a:cs typeface="Times New Roman"/>
              </a:defRPr>
            </a:pPr>
            <a:r>
              <a:rPr sz="2175" b="0">
                <a:solidFill>
                  <a:srgbClr val="D8E6E9"/>
                </a:solidFill>
                <a:latin typeface="Times New Roman"/>
                <a:ea typeface="Times New Roman"/>
                <a:cs typeface="Times New Roman"/>
              </a:rPr>
              <a:t>ExamSummary  /  session statistics  /  CSV and browser PDF</a:t>
            </a:r>
          </a:p>
        </p:txBody>
      </p:sp>
      <p:sp>
        <p:nvSpPr>
          <p:cNvPr id="10" name="reveal-3">
            <a:extLst>
              <a:ext uri="{FF2B5EF4-FFF2-40B4-BE49-F238E27FC236}">
                <ns3:creationId id="{8E451392-29F3-40E9-9DC3-833D5A68BCEC}"/>
              </a:ext>
            </a:extLst>
          </p:cNvPr>
          <p:cNvSpPr>
            <a:spLocks noGrp="1"/>
          </p:cNvSpPr>
          <p:nvPr/>
        </p:nvSpPr>
        <p:spPr>
          <a:xfrm>
            <a:off x="609600" y="5219700"/>
            <a:ext cx="3346450" cy="952500"/>
          </a:xfrm>
          <a:prstGeom prst="rect">
            <a:avLst/>
          </a:prstGeom>
          <a:solidFill>
            <a:srgbClr val="123342"/>
          </a:solidFill>
          <a:ln w="9525">
            <a:solidFill>
              <a:srgbClr val="466D77"/>
            </a:solidFill>
          </a:ln>
        </p:spPr>
        <p:txBody>
          <a:bodyPr anchor="ctr"/>
          <a:lstStyle/>
          <a:p>
            <a:pPr algn="ctr">
              <a:defRPr sz="2025" b="1">
                <a:solidFill>
                  <a:srgbClr val="FFFFFF"/>
                </a:solidFill>
                <a:latin typeface="Times New Roman"/>
                <a:ea typeface="Times New Roman"/>
                <a:cs typeface="Times New Roman"/>
              </a:defRPr>
            </a:pPr>
            <a:r>
              <a:rPr sz="2025" b="1">
                <a:solidFill>
                  <a:srgbClr val="FFFFFF"/>
                </a:solidFill>
                <a:latin typeface="Times New Roman"/>
                <a:ea typeface="Times New Roman"/>
                <a:cs typeface="Times New Roman"/>
              </a:rPr>
              <a:t>Completed exam</a:t>
            </a:r>
          </a:p>
        </p:txBody>
      </p:sp>
      <p:sp>
        <p:nvSpPr>
          <p:cNvPr id="11" name="reveal-4">
            <a:extLst>
              <a:ext uri="{FF2B5EF4-FFF2-40B4-BE49-F238E27FC236}">
                <ns3:creationId id="{4420E14B-DFC5-489A-980F-80B8EA6BE74C}"/>
              </a:ext>
            </a:extLst>
          </p:cNvPr>
          <p:cNvSpPr>
            <a:spLocks noGrp="1"/>
          </p:cNvSpPr>
          <p:nvPr/>
        </p:nvSpPr>
        <p:spPr>
          <a:xfrm>
            <a:off x="4413250" y="5219700"/>
            <a:ext cx="3346450" cy="952500"/>
          </a:xfrm>
          <a:prstGeom prst="rect">
            <a:avLst/>
          </a:prstGeom>
          <a:solidFill>
            <a:srgbClr val="123342"/>
          </a:solidFill>
          <a:ln w="9525">
            <a:solidFill>
              <a:srgbClr val="466D77"/>
            </a:solidFill>
          </a:ln>
        </p:spPr>
        <p:txBody>
          <a:bodyPr anchor="ctr"/>
          <a:lstStyle/>
          <a:p>
            <a:pPr algn="ctr">
              <a:defRPr sz="2025" b="1">
                <a:solidFill>
                  <a:srgbClr val="FFFFFF"/>
                </a:solidFill>
                <a:latin typeface="Times New Roman"/>
                <a:ea typeface="Times New Roman"/>
                <a:cs typeface="Times New Roman"/>
              </a:defRPr>
            </a:pPr>
            <a:r>
              <a:rPr sz="2025" b="1">
                <a:solidFill>
                  <a:srgbClr val="FFFFFF"/>
                </a:solidFill>
                <a:latin typeface="Times New Roman"/>
                <a:ea typeface="Times New Roman"/>
                <a:cs typeface="Times New Roman"/>
              </a:rPr>
              <a:t>Summary and breakdowns</a:t>
            </a:r>
          </a:p>
        </p:txBody>
      </p:sp>
      <p:sp>
        <p:nvSpPr>
          <p:cNvPr id="12" name="reveal-5">
            <a:extLst>
              <a:ext uri="{FF2B5EF4-FFF2-40B4-BE49-F238E27FC236}">
                <ns3:creationId id="{4CB28B96-8697-4092-AD09-BF18C46F4FF3}"/>
              </a:ext>
            </a:extLst>
          </p:cNvPr>
          <p:cNvSpPr>
            <a:spLocks noGrp="1"/>
          </p:cNvSpPr>
          <p:nvPr/>
        </p:nvSpPr>
        <p:spPr>
          <a:xfrm>
            <a:off x="8216900" y="5219700"/>
            <a:ext cx="3346450" cy="952500"/>
          </a:xfrm>
          <a:prstGeom prst="rect">
            <a:avLst/>
          </a:prstGeom>
          <a:solidFill>
            <a:srgbClr val="123342"/>
          </a:solidFill>
          <a:ln w="9525">
            <a:solidFill>
              <a:srgbClr val="466D77"/>
            </a:solidFill>
          </a:ln>
        </p:spPr>
        <p:txBody>
          <a:bodyPr anchor="ctr"/>
          <a:lstStyle/>
          <a:p>
            <a:pPr algn="ctr">
              <a:defRPr sz="2025" b="1">
                <a:solidFill>
                  <a:srgbClr val="FFFFFF"/>
                </a:solidFill>
                <a:latin typeface="Times New Roman"/>
                <a:ea typeface="Times New Roman"/>
                <a:cs typeface="Times New Roman"/>
              </a:defRPr>
            </a:pPr>
            <a:r>
              <a:rPr sz="2025" b="1">
                <a:solidFill>
                  <a:srgbClr val="FFFFFF"/>
                </a:solidFill>
                <a:latin typeface="Times New Roman"/>
                <a:ea typeface="Times New Roman"/>
                <a:cs typeface="Times New Roman"/>
              </a:rPr>
              <a:t>Review and export</a:t>
            </a:r>
          </a:p>
        </p:txBody>
      </p:sp>
      <p:cxnSp>
        <p:nvCxnSpPr>
          <p:cNvPr id="27" name="reveal-4"/>
          <p:cNvCxnSpPr>
            <a:stCxn id="10" idx="3"/>
            <a:endCxn id="11" idx="1"/>
          </p:cNvCxnSpPr>
          <p:nvPr/>
        </p:nvCxnSpPr>
        <p:spPr>
          <a:xfrm>
            <a:off x="3956050" y="5695950"/>
            <a:ext cx="457200" cy="0"/>
          </a:xfrm>
          <a:prstGeom prst="straightConnector1">
            <a:avLst/>
          </a:prstGeom>
          <a:ln w="19050">
            <a:solidFill>
              <a:srgbClr val="74E6CF"/>
            </a:solidFill>
            <a:tailEnd type="arrow" w="med" len="med"/>
          </a:ln>
        </p:spPr>
      </p:cxnSp>
      <p:cxnSp>
        <p:nvCxnSpPr>
          <p:cNvPr id="28" name="reveal-5"/>
          <p:cNvCxnSpPr>
            <a:stCxn id="11" idx="3"/>
            <a:endCxn id="12" idx="1"/>
          </p:cNvCxnSpPr>
          <p:nvPr/>
        </p:nvCxnSpPr>
        <p:spPr>
          <a:xfrm>
            <a:off x="7759700" y="5695950"/>
            <a:ext cx="457200" cy="0"/>
          </a:xfrm>
          <a:prstGeom prst="straightConnector1">
            <a:avLst/>
          </a:prstGeom>
          <a:ln w="19050">
            <a:solidFill>
              <a:srgbClr val="74E6CF"/>
            </a:solidFill>
            <a:tailEnd type="arrow" w="med" len="med"/>
          </a:ln>
        </p:spPr>
      </p:cxnSp>
    </p:spTree>
    <p:extLst>
      <p:ext uri="{BB962C8B-B14F-4D97-AF65-F5344CB8AC3E}">
        <ns4:creationId val="1534185269"/>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1" nodeType="clickEffect">
                            <p:stCondLst>
                              <p:cond delay="0"/>
                            </p:stCondLst>
                            <p:childTnLst>
                              <p:set>
                                <p:cBhvr>
                                  <p:cTn id="5" dur="1" fill="hold">
                                    <p:stCondLst>
                                      <p:cond delay="0"/>
                                    </p:stCondLst>
                                  </p:cTn>
                                  <p:tgtEl>
                                    <p:spTgt spid="7"/>
                                  </p:tgtEl>
                                  <p:attrNameLst>
                                    <p:attrName>style.visibility</p:attrName>
                                  </p:attrNameLst>
                                </p:cBhvr>
                                <p:to>
                                  <p:strVal val="visible"/>
                                </p:to>
                              </p:set>
                              <p:animEffect transition="in" filter="fade">
                                <p:cBhvr>
                                  <p:cTn id="6" dur="350"/>
                                  <p:tgtEl>
                                    <p:spTgt spid="7"/>
                                  </p:tgtEl>
                                </p:cBhvr>
                              </p:animEffect>
                            </p:childTnLst>
                          </p:cTn>
                        </p:par>
                      </p:childTnLst>
                    </p:cTn>
                  </p:par>
                  <p:par>
                    <p:cTn id="7" fill="hold">
                      <p:stCondLst>
                        <p:cond delay="indefinite"/>
                      </p:stCondLst>
                      <p:childTnLst>
                        <p:par>
                          <p:cTn id="8" presetID="10" presetClass="entr" presetSubtype="0" fill="hold" grpId="2" nodeType="click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350"/>
                                  <p:tgtEl>
                                    <p:spTgt spid="8"/>
                                  </p:tgtEl>
                                </p:cBhvr>
                              </p:animEffect>
                            </p:childTnLst>
                          </p:cTn>
                        </p:par>
                        <p:par>
                          <p:cTn id="11" presetID="10" presetClass="entr" presetSubtype="0" fill="hold" grpId="2" nodeType="click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350"/>
                                  <p:tgtEl>
                                    <p:spTgt spid="9"/>
                                  </p:tgtEl>
                                </p:cBhvr>
                              </p:animEffect>
                            </p:childTnLst>
                          </p:cTn>
                        </p:par>
                      </p:childTnLst>
                    </p:cTn>
                  </p:par>
                  <p:par>
                    <p:cTn id="14" fill="hold">
                      <p:stCondLst>
                        <p:cond delay="indefinite"/>
                      </p:stCondLst>
                      <p:childTnLst>
                        <p:par>
                          <p:cTn id="15" presetID="10" presetClass="entr" presetSubtype="0" fill="hold" grpId="3"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350"/>
                                  <p:tgtEl>
                                    <p:spTgt spid="10"/>
                                  </p:tgtEl>
                                </p:cBhvr>
                              </p:animEffect>
                            </p:childTnLst>
                          </p:cTn>
                        </p:par>
                      </p:childTnLst>
                    </p:cTn>
                  </p:par>
                  <p:par>
                    <p:cTn id="18" fill="hold">
                      <p:stCondLst>
                        <p:cond delay="indefinite"/>
                      </p:stCondLst>
                      <p:childTnLst>
                        <p:par>
                          <p:cTn id="19" presetID="10" presetClass="entr" presetSubtype="0" fill="hold" grpId="4" nodeType="click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350"/>
                                  <p:tgtEl>
                                    <p:spTgt spid="11"/>
                                  </p:tgtEl>
                                </p:cBhvr>
                              </p:animEffect>
                            </p:childTnLst>
                          </p:cTn>
                        </p:par>
                        <p:par>
                          <p:cTn id="22" presetID="10" presetClass="entr" presetSubtype="0" fill="hold" grpId="4" nodeType="clickEffect">
                            <p:stCondLst>
                              <p:cond delay="0"/>
                            </p:stCondLst>
                            <p:childTnLst>
                              <p:set>
                                <p:cBhvr>
                                  <p:cTn id="23" dur="1" fill="hold">
                                    <p:stCondLst>
                                      <p:cond delay="0"/>
                                    </p:stCondLst>
                                  </p:cTn>
                                  <p:tgtEl>
                                    <p:spTgt spid="27"/>
                                  </p:tgtEl>
                                  <p:attrNameLst>
                                    <p:attrName>style.visibility</p:attrName>
                                  </p:attrNameLst>
                                </p:cBhvr>
                                <p:to>
                                  <p:strVal val="visible"/>
                                </p:to>
                              </p:set>
                              <p:animEffect transition="in" filter="fade">
                                <p:cBhvr>
                                  <p:cTn id="24" dur="350"/>
                                  <p:tgtEl>
                                    <p:spTgt spid="27"/>
                                  </p:tgtEl>
                                </p:cBhvr>
                              </p:animEffect>
                            </p:childTnLst>
                          </p:cTn>
                        </p:par>
                      </p:childTnLst>
                    </p:cTn>
                  </p:par>
                  <p:par>
                    <p:cTn id="25" fill="hold">
                      <p:stCondLst>
                        <p:cond delay="indefinite"/>
                      </p:stCondLst>
                      <p:childTnLst>
                        <p:par>
                          <p:cTn id="26" presetID="10" presetClass="entr" presetSubtype="0" fill="hold" grpId="5" nodeType="click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350"/>
                                  <p:tgtEl>
                                    <p:spTgt spid="12"/>
                                  </p:tgtEl>
                                </p:cBhvr>
                              </p:animEffect>
                            </p:childTnLst>
                          </p:cTn>
                        </p:par>
                        <p:par>
                          <p:cTn id="29" presetID="10" presetClass="entr" presetSubtype="0" fill="hold" grpId="5" nodeType="clickEffect">
                            <p:stCondLst>
                              <p:cond delay="0"/>
                            </p:stCondLst>
                            <p:childTnLst>
                              <p:set>
                                <p:cBhvr>
                                  <p:cTn id="30" dur="1" fill="hold">
                                    <p:stCondLst>
                                      <p:cond delay="0"/>
                                    </p:stCondLst>
                                  </p:cTn>
                                  <p:tgtEl>
                                    <p:spTgt spid="28"/>
                                  </p:tgtEl>
                                  <p:attrNameLst>
                                    <p:attrName>style.visibility</p:attrName>
                                  </p:attrNameLst>
                                </p:cBhvr>
                                <p:to>
                                  <p:strVal val="visible"/>
                                </p:to>
                              </p:set>
                              <p:animEffect transition="in" filter="fade">
                                <p:cBhvr>
                                  <p:cTn id="31" dur="350"/>
                                  <p:tgtEl>
                                    <p:spTgt spid="28"/>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7" grpId="1" uiExpand="1"/>
      <p:bldP spid="8" grpId="2" uiExpand="1"/>
      <p:bldP spid="9" grpId="2" uiExpand="1"/>
      <p:bldP spid="10" grpId="3" uiExpand="1"/>
      <p:bldP spid="11" grpId="4" uiExpand="1"/>
      <p:bldP spid="27" grpId="4" uiExpand="1"/>
      <p:bldP spid="12" grpId="5" uiExpand="1"/>
      <p:bldP spid="28" grpId="5" uiExpand="1"/>
    </p:bldLst>
  </p:timing>
</p:sld>
</file>

<file path=ppt/slides/slide32.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6F7F4"/>
        </a:solidFill>
      </p:bgPr>
    </p:bg>
    <p:spTree>
      <p:nvGrpSpPr>
        <p:cNvPr id="1" name=""/>
        <p:cNvGrpSpPr/>
        <p:nvPr/>
      </p:nvGrpSpPr>
      <p:grpSpPr>
        <a:xfrm/>
      </p:grpSpPr>
      <p:sp>
        <p:nvSpPr>
          <p:cNvPr id="13" name="fixed">
            <a:extLst>
              <a:ext uri="{FF2B5EF4-FFF2-40B4-BE49-F238E27FC236}">
                <ns2:creationId id="{DC9B8BF1-7ADD-4206-97E2-69B90335190D}"/>
              </a:ext>
            </a:extLst>
          </p:cNvPr>
          <p:cNvSpPr>
            <a:spLocks noGrp="1"/>
          </p:cNvSpPr>
          <p:nvPr/>
        </p:nvSpPr>
        <p:spPr>
          <a:xfrm>
            <a:off x="609600" y="400050"/>
            <a:ext cx="7620000" cy="381000"/>
          </a:xfrm>
          <a:prstGeom prst="rect">
            <a:avLst/>
          </a:prstGeom>
          <a:noFill/>
          <a:ln w="0">
            <a:noFill/>
          </a:ln>
        </p:spPr>
        <p:txBody>
          <a:bodyPr>
            <a:noAutofit/>
          </a:bodyPr>
          <a:lstStyle/>
          <a:p>
            <a:pPr algn="l">
              <a:defRPr sz="1875" b="1">
                <a:solidFill>
                  <a:srgbClr val="087F8C"/>
                </a:solidFill>
                <a:latin typeface="Times New Roman"/>
                <a:ea typeface="Times New Roman"/>
                <a:cs typeface="Times New Roman"/>
              </a:defRPr>
            </a:pPr>
            <a:r>
              <a:rPr sz="1875" b="1">
                <a:solidFill>
                  <a:srgbClr val="087F8C"/>
                </a:solidFill>
                <a:latin typeface="Times New Roman"/>
                <a:ea typeface="Times New Roman"/>
                <a:cs typeface="Times New Roman"/>
              </a:rPr>
              <a:t>MODULE 08 / WORKING AND EXAMPLE</a:t>
            </a:r>
          </a:p>
        </p:txBody>
      </p:sp>
      <p:sp>
        <p:nvSpPr>
          <p:cNvPr id="2" name="fixed">
            <a:extLst>
              <a:ext uri="{FF2B5EF4-FFF2-40B4-BE49-F238E27FC236}">
                <ns2:creationId id="{7E69E320-8014-4590-80F3-CA1C0BE61B3D}"/>
              </a:ext>
            </a:extLst>
          </p:cNvPr>
          <p:cNvSpPr>
            <a:spLocks noGrp="1"/>
          </p:cNvSpPr>
          <p:nvPr/>
        </p:nvSpPr>
        <p:spPr>
          <a:xfrm>
            <a:off x="609600" y="971550"/>
            <a:ext cx="8191500" cy="1171575"/>
          </a:xfrm>
          <a:prstGeom prst="rect">
            <a:avLst/>
          </a:prstGeom>
          <a:noFill/>
          <a:ln w="0">
            <a:noFill/>
          </a:ln>
        </p:spPr>
        <p:txBody>
          <a:bodyPr>
            <a:noAutofit/>
          </a:bodyPr>
          <a:lstStyle/>
          <a:p>
            <a:pPr algn="l">
              <a:defRPr sz="3750" b="1">
                <a:solidFill>
                  <a:srgbClr val="172F3A"/>
                </a:solidFill>
                <a:latin typeface="Times New Roman"/>
                <a:ea typeface="Times New Roman"/>
                <a:cs typeface="Times New Roman"/>
              </a:defRPr>
            </a:pPr>
            <a:r>
              <a:rPr sz="3750" b="1">
                <a:solidFill>
                  <a:srgbClr val="172F3A"/>
                </a:solidFill>
                <a:latin typeface="Times New Roman"/>
                <a:ea typeface="Times New Roman"/>
                <a:cs typeface="Times New Roman"/>
              </a:rPr>
              <a:t>Reporting example and export coverage</a:t>
            </a:r>
          </a:p>
        </p:txBody>
      </p:sp>
      <p:sp>
        <p:nvSpPr>
          <p:cNvPr id="3" name="fixed">
            <a:extLst>
              <a:ext uri="{FF2B5EF4-FFF2-40B4-BE49-F238E27FC236}">
                <ns2:creationId id="{F24B0C7F-BD04-444E-9152-4C5C89DC9F43}"/>
              </a:ext>
            </a:extLst>
          </p:cNvPr>
          <p:cNvSpPr>
            <a:spLocks noGrp="1"/>
          </p:cNvSpPr>
          <p:nvPr/>
        </p:nvSpPr>
        <p:spPr>
          <a:xfrm>
            <a:off x="9029700" y="457200"/>
            <a:ext cx="2571750" cy="381000"/>
          </a:xfrm>
          <a:prstGeom prst="rect">
            <a:avLst/>
          </a:prstGeom>
          <a:noFill/>
          <a:ln w="0">
            <a:noFill/>
          </a:ln>
        </p:spPr>
        <p:txBody>
          <a:bodyPr>
            <a:noAutofit/>
          </a:bodyPr>
          <a:lstStyle/>
          <a:p>
            <a:pPr algn="r">
              <a:defRPr sz="1800" b="1">
                <a:solidFill>
                  <a:srgbClr val="087F8C"/>
                </a:solidFill>
                <a:latin typeface="Times New Roman"/>
                <a:ea typeface="Times New Roman"/>
                <a:cs typeface="Times New Roman"/>
              </a:defRPr>
            </a:pPr>
            <a:r>
              <a:rPr sz="1800" b="1">
                <a:solidFill>
                  <a:srgbClr val="087F8C"/>
                </a:solidFill>
                <a:latin typeface="Times New Roman"/>
                <a:ea typeface="Times New Roman"/>
                <a:cs typeface="Times New Roman"/>
              </a:rPr>
              <a:t>IMPLEMENTED</a:t>
            </a:r>
          </a:p>
        </p:txBody>
      </p:sp>
      <p:sp>
        <p:nvSpPr>
          <p:cNvPr id="4" name="fixed">
            <a:extLst>
              <a:ext uri="{FF2B5EF4-FFF2-40B4-BE49-F238E27FC236}">
                <ns2:creationId id="{1F18B15C-5F9B-44B5-A1FB-1D22B771FAA3}"/>
              </a:ext>
            </a:extLst>
          </p:cNvPr>
          <p:cNvSpPr>
            <a:spLocks noGrp="1"/>
          </p:cNvSpPr>
          <p:nvPr/>
        </p:nvSpPr>
        <p:spPr>
          <a:xfrm>
            <a:off x="9029700" y="828675"/>
            <a:ext cx="2571750" cy="304800"/>
          </a:xfrm>
          <a:prstGeom prst="rect">
            <a:avLst/>
          </a:prstGeom>
          <a:noFill/>
          <a:ln w="0">
            <a:noFill/>
          </a:ln>
        </p:spPr>
        <p:txBody>
          <a:bodyPr>
            <a:noAutofit/>
          </a:bodyPr>
          <a:lstStyle/>
          <a:p>
            <a:pPr algn="r">
              <a:defRPr sz="1425" b="0">
                <a:solidFill>
                  <a:srgbClr val="4C6471"/>
                </a:solidFill>
                <a:latin typeface="Times New Roman"/>
                <a:ea typeface="Times New Roman"/>
                <a:cs typeface="Times New Roman"/>
              </a:defRPr>
            </a:pPr>
            <a:r>
              <a:rPr sz="1425" b="0">
                <a:solidFill>
                  <a:srgbClr val="4C6471"/>
                </a:solidFill>
                <a:latin typeface="Times New Roman"/>
                <a:ea typeface="Times New Roman"/>
                <a:cs typeface="Times New Roman"/>
              </a:rPr>
              <a:t>Implementation status</a:t>
            </a:r>
          </a:p>
        </p:txBody>
      </p:sp>
      <p:sp>
        <p:nvSpPr>
          <p:cNvPr id="5" name="fixed">
            <a:extLst>
              <a:ext uri="{FF2B5EF4-FFF2-40B4-BE49-F238E27FC236}">
                <ns2:creationId id="{EE1C5080-40F7-43B2-8BDC-284DF2D6BA48}"/>
              </a:ext>
            </a:extLst>
          </p:cNvPr>
          <p:cNvSpPr>
            <a:spLocks noGrp="1"/>
          </p:cNvSpPr>
          <p:nvPr/>
        </p:nvSpPr>
        <p:spPr>
          <a:xfrm>
            <a:off x="11029950" y="6334125"/>
            <a:ext cx="523875" cy="285750"/>
          </a:xfrm>
          <a:prstGeom prst="rect">
            <a:avLst/>
          </a:prstGeom>
          <a:noFill/>
          <a:ln w="0">
            <a:noFill/>
          </a:ln>
        </p:spPr>
        <p:txBody>
          <a:bodyPr>
            <a:noAutofit/>
          </a:bodyPr>
          <a:lstStyle/>
          <a:p>
            <a:pPr algn="r">
              <a:defRPr sz="1500" b="0">
                <a:solidFill>
                  <a:srgbClr val="4C6471"/>
                </a:solidFill>
                <a:latin typeface="Times New Roman"/>
                <a:ea typeface="Times New Roman"/>
                <a:cs typeface="Times New Roman"/>
              </a:defRPr>
            </a:pPr>
            <a:r>
              <a:rPr sz="1500" b="0">
                <a:solidFill>
                  <a:srgbClr val="4C6471"/>
                </a:solidFill>
                <a:latin typeface="Times New Roman"/>
                <a:ea typeface="Times New Roman"/>
                <a:cs typeface="Times New Roman"/>
              </a:rPr>
              <a:t>32</a:t>
            </a:r>
          </a:p>
        </p:txBody>
      </p:sp>
      <p:graphicFrame>
        <p:nvGraphicFramePr>
          <p:cNvPr id="18" name=""/>
          <p:cNvGraphicFramePr/>
          <p:nvPr/>
        </p:nvGraphicFramePr>
        <p:xfrm>
          <a:off x="609600" y="2238375"/>
          <a:ext cx="10953750" cy="2209800"/>
        </p:xfrm>
        <a:graphic>
          <a:graphicData uri="http://schemas.openxmlformats.org/drawingml/2006/table">
            <a:tbl>
              <a:tblPr/>
              <a:tblGrid>
                <a:gridCol w="5429250"/>
                <a:gridCol w="2857500"/>
                <a:gridCol w="2667000"/>
              </a:tblGrid>
              <a:tr h="552450">
                <a:tc>
                  <a:txBody>
                    <a:bodyPr/>
                    <a:lstStyle/>
                    <a:p>
                      <a:r>
                        <a:rPr sz="2175" b="1">
                          <a:solidFill>
                            <a:srgbClr val="FFFFFF"/>
                          </a:solidFill>
                          <a:latin typeface="Times New Roman"/>
                          <a:ea typeface="Times New Roman"/>
                          <a:cs typeface="Times New Roman"/>
                        </a:rPr>
                        <a:t>ILLUSTRATIVE SESSION</a:t>
                      </a:r>
                    </a:p>
                  </a:txBody>
                  <a:tcPr marL="91440" marR="91440" marT="45720" marB="45720">
                    <a:solidFill>
                      <a:srgbClr val="172F3A"/>
                    </a:solidFill>
                  </a:tcPr>
                </a:tc>
                <a:tc>
                  <a:txBody>
                    <a:bodyPr/>
                    <a:lstStyle/>
                    <a:p>
                      <a:r>
                        <a:rPr sz="2175" b="1">
                          <a:solidFill>
                            <a:srgbClr val="FFFFFF"/>
                          </a:solidFill>
                          <a:latin typeface="Times New Roman"/>
                          <a:ea typeface="Times New Roman"/>
                          <a:cs typeface="Times New Roman"/>
                        </a:rPr>
                        <a:t>FINAL PRIORITY</a:t>
                      </a:r>
                    </a:p>
                  </a:txBody>
                  <a:tcPr marL="91440" marR="91440" marT="45720" marB="45720">
                    <a:solidFill>
                      <a:srgbClr val="172F3A"/>
                    </a:solidFill>
                  </a:tcPr>
                </a:tc>
                <a:tc>
                  <a:txBody>
                    <a:bodyPr/>
                    <a:lstStyle/>
                    <a:p>
                      <a:r>
                        <a:rPr sz="2175" b="1">
                          <a:solidFill>
                            <a:srgbClr val="FFFFFF"/>
                          </a:solidFill>
                          <a:latin typeface="Times New Roman"/>
                          <a:ea typeface="Times New Roman"/>
                          <a:cs typeface="Times New Roman"/>
                        </a:rPr>
                        <a:t>SUBMISSION</a:t>
                      </a:r>
                    </a:p>
                  </a:txBody>
                  <a:tcPr marL="91440" marR="91440" marT="45720" marB="45720">
                    <a:solidFill>
                      <a:srgbClr val="172F3A"/>
                    </a:solidFill>
                  </a:tcPr>
                </a:tc>
              </a:tr>
              <a:tr h="552450">
                <a:tc>
                  <a:txBody>
                    <a:bodyPr/>
                    <a:lstStyle/>
                    <a:p>
                      <a:r>
                        <a:rPr sz="2175" b="0">
                          <a:solidFill>
                            <a:srgbClr val="172F3A"/>
                          </a:solidFill>
                          <a:latin typeface="Times New Roman"/>
                          <a:ea typeface="Times New Roman"/>
                          <a:cs typeface="Times New Roman"/>
                        </a:rPr>
                        <a:t>Candidate A</a:t>
                      </a:r>
                    </a:p>
                  </a:txBody>
                  <a:tcPr marL="91440" marR="91440" marT="45720" marB="45720">
                    <a:solidFill>
                      <a:srgbClr val="E7EEEA"/>
                    </a:solidFill>
                  </a:tcPr>
                </a:tc>
                <a:tc>
                  <a:txBody>
                    <a:bodyPr/>
                    <a:lstStyle/>
                    <a:p>
                      <a:r>
                        <a:rPr sz="2175" b="0">
                          <a:solidFill>
                            <a:srgbClr val="172F3A"/>
                          </a:solidFill>
                          <a:latin typeface="Times New Roman"/>
                          <a:ea typeface="Times New Roman"/>
                          <a:cs typeface="Times New Roman"/>
                        </a:rPr>
                        <a:t>32 / 100</a:t>
                      </a:r>
                    </a:p>
                  </a:txBody>
                  <a:tcPr marL="91440" marR="91440" marT="45720" marB="45720">
                    <a:solidFill>
                      <a:srgbClr val="E7EEEA"/>
                    </a:solidFill>
                  </a:tcPr>
                </a:tc>
                <a:tc>
                  <a:txBody>
                    <a:bodyPr/>
                    <a:lstStyle/>
                    <a:p>
                      <a:r>
                        <a:rPr sz="2175" b="0">
                          <a:solidFill>
                            <a:srgbClr val="172F3A"/>
                          </a:solidFill>
                          <a:latin typeface="Times New Roman"/>
                          <a:ea typeface="Times New Roman"/>
                          <a:cs typeface="Times New Roman"/>
                        </a:rPr>
                        <a:t>Submitted</a:t>
                      </a:r>
                    </a:p>
                  </a:txBody>
                  <a:tcPr marL="91440" marR="91440" marT="45720" marB="45720">
                    <a:solidFill>
                      <a:srgbClr val="E7EEEA"/>
                    </a:solidFill>
                  </a:tcPr>
                </a:tc>
              </a:tr>
              <a:tr h="552450">
                <a:tc>
                  <a:txBody>
                    <a:bodyPr/>
                    <a:lstStyle/>
                    <a:p>
                      <a:r>
                        <a:rPr sz="2175" b="0">
                          <a:solidFill>
                            <a:srgbClr val="172F3A"/>
                          </a:solidFill>
                          <a:latin typeface="Times New Roman"/>
                          <a:ea typeface="Times New Roman"/>
                          <a:cs typeface="Times New Roman"/>
                        </a:rPr>
                        <a:t>Candidate B</a:t>
                      </a:r>
                    </a:p>
                  </a:txBody>
                  <a:tcPr marL="91440" marR="91440" marT="45720" marB="45720">
                    <a:solidFill>
                      <a:srgbClr val="F6F7F4"/>
                    </a:solidFill>
                  </a:tcPr>
                </a:tc>
                <a:tc>
                  <a:txBody>
                    <a:bodyPr/>
                    <a:lstStyle/>
                    <a:p>
                      <a:r>
                        <a:rPr sz="2175" b="0">
                          <a:solidFill>
                            <a:srgbClr val="172F3A"/>
                          </a:solidFill>
                          <a:latin typeface="Times New Roman"/>
                          <a:ea typeface="Times New Roman"/>
                          <a:cs typeface="Times New Roman"/>
                        </a:rPr>
                        <a:t>0 / 100</a:t>
                      </a:r>
                    </a:p>
                  </a:txBody>
                  <a:tcPr marL="91440" marR="91440" marT="45720" marB="45720">
                    <a:solidFill>
                      <a:srgbClr val="F6F7F4"/>
                    </a:solidFill>
                  </a:tcPr>
                </a:tc>
                <a:tc>
                  <a:txBody>
                    <a:bodyPr/>
                    <a:lstStyle/>
                    <a:p>
                      <a:r>
                        <a:rPr sz="2175" b="0">
                          <a:solidFill>
                            <a:srgbClr val="172F3A"/>
                          </a:solidFill>
                          <a:latin typeface="Times New Roman"/>
                          <a:ea typeface="Times New Roman"/>
                          <a:cs typeface="Times New Roman"/>
                        </a:rPr>
                        <a:t>Submitted</a:t>
                      </a:r>
                    </a:p>
                  </a:txBody>
                  <a:tcPr marL="91440" marR="91440" marT="45720" marB="45720">
                    <a:solidFill>
                      <a:srgbClr val="F6F7F4"/>
                    </a:solidFill>
                  </a:tcPr>
                </a:tc>
              </a:tr>
              <a:tr h="552450">
                <a:tc>
                  <a:txBody>
                    <a:bodyPr/>
                    <a:lstStyle/>
                    <a:p>
                      <a:r>
                        <a:rPr sz="2175" b="0">
                          <a:solidFill>
                            <a:srgbClr val="172F3A"/>
                          </a:solidFill>
                          <a:latin typeface="Times New Roman"/>
                          <a:ea typeface="Times New Roman"/>
                          <a:cs typeface="Times New Roman"/>
                        </a:rPr>
                        <a:t>Candidate C</a:t>
                      </a:r>
                    </a:p>
                  </a:txBody>
                  <a:tcPr marL="91440" marR="91440" marT="45720" marB="45720">
                    <a:solidFill>
                      <a:srgbClr val="E7EEEA"/>
                    </a:solidFill>
                  </a:tcPr>
                </a:tc>
                <a:tc>
                  <a:txBody>
                    <a:bodyPr/>
                    <a:lstStyle/>
                    <a:p>
                      <a:r>
                        <a:rPr sz="2175" b="0">
                          <a:solidFill>
                            <a:srgbClr val="172F3A"/>
                          </a:solidFill>
                          <a:latin typeface="Times New Roman"/>
                          <a:ea typeface="Times New Roman"/>
                          <a:cs typeface="Times New Roman"/>
                        </a:rPr>
                        <a:t>21 / 100</a:t>
                      </a:r>
                    </a:p>
                  </a:txBody>
                  <a:tcPr marL="91440" marR="91440" marT="45720" marB="45720">
                    <a:solidFill>
                      <a:srgbClr val="E7EEEA"/>
                    </a:solidFill>
                  </a:tcPr>
                </a:tc>
                <a:tc>
                  <a:txBody>
                    <a:bodyPr/>
                    <a:lstStyle/>
                    <a:p>
                      <a:r>
                        <a:rPr sz="2175" b="0">
                          <a:solidFill>
                            <a:srgbClr val="172F3A"/>
                          </a:solidFill>
                          <a:latin typeface="Times New Roman"/>
                          <a:ea typeface="Times New Roman"/>
                          <a:cs typeface="Times New Roman"/>
                        </a:rPr>
                        <a:t>Not submitted</a:t>
                      </a:r>
                    </a:p>
                  </a:txBody>
                  <a:tcPr marL="91440" marR="91440" marT="45720" marB="45720">
                    <a:solidFill>
                      <a:srgbClr val="E7EEEA"/>
                    </a:solidFill>
                  </a:tcPr>
                </a:tc>
              </a:tr>
            </a:tbl>
          </a:graphicData>
        </a:graphic>
      </p:graphicFrame>
      <p:sp>
        <p:nvSpPr>
          <p:cNvPr id="7" name="reveal-1">
            <a:extLst>
              <a:ext uri="{FF2B5EF4-FFF2-40B4-BE49-F238E27FC236}">
                <ns2:creationId id="{A6A648F5-6687-43EF-9462-0C804F120249}"/>
              </a:ext>
            </a:extLst>
          </p:cNvPr>
          <p:cNvSpPr>
            <a:spLocks noGrp="1"/>
          </p:cNvSpPr>
          <p:nvPr/>
        </p:nvSpPr>
        <p:spPr>
          <a:xfrm>
            <a:off x="609600" y="4857750"/>
            <a:ext cx="3346450"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Session summary</a:t>
            </a:r>
          </a:p>
        </p:txBody>
      </p:sp>
      <p:sp>
        <p:nvSpPr>
          <p:cNvPr id="8" name="reveal-2">
            <a:extLst>
              <a:ext uri="{FF2B5EF4-FFF2-40B4-BE49-F238E27FC236}">
                <ns2:creationId id="{1BAAC037-DDF5-4525-948C-4390C4B22584}"/>
              </a:ext>
            </a:extLst>
          </p:cNvPr>
          <p:cNvSpPr>
            <a:spLocks noGrp="1"/>
          </p:cNvSpPr>
          <p:nvPr/>
        </p:nvSpPr>
        <p:spPr>
          <a:xfrm>
            <a:off x="4413250" y="4857750"/>
            <a:ext cx="3346450"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CSV export</a:t>
            </a:r>
          </a:p>
        </p:txBody>
      </p:sp>
      <p:sp>
        <p:nvSpPr>
          <p:cNvPr id="9" name="reveal-3">
            <a:extLst>
              <a:ext uri="{FF2B5EF4-FFF2-40B4-BE49-F238E27FC236}">
                <ns2:creationId id="{683DA510-FB3B-427C-9311-C98D57B1E3C0}"/>
              </a:ext>
            </a:extLst>
          </p:cNvPr>
          <p:cNvSpPr>
            <a:spLocks noGrp="1"/>
          </p:cNvSpPr>
          <p:nvPr/>
        </p:nvSpPr>
        <p:spPr>
          <a:xfrm>
            <a:off x="8216900" y="4857750"/>
            <a:ext cx="3346450"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Browser Save PDF</a:t>
            </a:r>
          </a:p>
        </p:txBody>
      </p:sp>
      <p:cxnSp>
        <p:nvCxnSpPr>
          <p:cNvPr id="22" name="reveal-2"/>
          <p:cNvCxnSpPr>
            <a:stCxn id="7" idx="3"/>
            <a:endCxn id="8" idx="1"/>
          </p:cNvCxnSpPr>
          <p:nvPr/>
        </p:nvCxnSpPr>
        <p:spPr>
          <a:xfrm>
            <a:off x="3956050" y="5334000"/>
            <a:ext cx="457200" cy="0"/>
          </a:xfrm>
          <a:prstGeom prst="straightConnector1">
            <a:avLst/>
          </a:prstGeom>
          <a:ln w="19050">
            <a:solidFill>
              <a:srgbClr val="087F8C"/>
            </a:solidFill>
            <a:tailEnd type="arrow" w="med" len="med"/>
          </a:ln>
        </p:spPr>
      </p:cxnSp>
      <p:cxnSp>
        <p:nvCxnSpPr>
          <p:cNvPr id="23" name="reveal-3"/>
          <p:cNvCxnSpPr>
            <a:stCxn id="8" idx="3"/>
            <a:endCxn id="9" idx="1"/>
          </p:cNvCxnSpPr>
          <p:nvPr/>
        </p:nvCxnSpPr>
        <p:spPr>
          <a:xfrm>
            <a:off x="7759700" y="5334000"/>
            <a:ext cx="457200" cy="0"/>
          </a:xfrm>
          <a:prstGeom prst="straightConnector1">
            <a:avLst/>
          </a:prstGeom>
          <a:ln w="19050">
            <a:solidFill>
              <a:srgbClr val="087F8C"/>
            </a:solidFill>
            <a:tailEnd type="arrow" w="med" len="med"/>
          </a:ln>
        </p:spPr>
      </p:cxnSp>
      <p:sp>
        <p:nvSpPr>
          <p:cNvPr id="12" name="fixed">
            <a:extLst>
              <a:ext uri="{FF2B5EF4-FFF2-40B4-BE49-F238E27FC236}">
                <ns2:creationId id="{38F63090-6B6E-4861-836C-0AC344FD0342}"/>
              </a:ext>
            </a:extLst>
          </p:cNvPr>
          <p:cNvSpPr>
            <a:spLocks noGrp="1"/>
          </p:cNvSpPr>
          <p:nvPr/>
        </p:nvSpPr>
        <p:spPr>
          <a:xfrm>
            <a:off x="609600" y="5953125"/>
            <a:ext cx="10668000" cy="457200"/>
          </a:xfrm>
          <a:prstGeom prst="rect">
            <a:avLst/>
          </a:prstGeom>
          <a:noFill/>
          <a:ln w="0">
            <a:noFill/>
          </a:ln>
        </p:spPr>
        <p:txBody>
          <a:bodyPr>
            <a:noAutofit/>
          </a:bodyPr>
          <a:lstStyle/>
          <a:p>
            <a:pPr algn="l">
              <a:defRPr sz="1725" b="0">
                <a:solidFill>
                  <a:srgbClr val="4C6471"/>
                </a:solidFill>
                <a:latin typeface="Times New Roman"/>
                <a:ea typeface="Times New Roman"/>
                <a:cs typeface="Times New Roman"/>
              </a:defRPr>
            </a:pPr>
            <a:r>
              <a:rPr sz="1725" b="0">
                <a:solidFill>
                  <a:srgbClr val="4C6471"/>
                </a:solidFill>
                <a:latin typeface="Times New Roman"/>
                <a:ea typeface="Times New Roman"/>
                <a:cs typeface="Times New Roman"/>
              </a:rPr>
              <a:t>Detailed evidence remains available separately. A combined logs-and-images export is still open.</a:t>
            </a:r>
          </a:p>
        </p:txBody>
      </p:sp>
    </p:spTree>
    <p:extLst>
      <p:ext uri="{BB962C8B-B14F-4D97-AF65-F5344CB8AC3E}">
        <ns3:creationId val="396225230"/>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1" nodeType="clickEffect">
                            <p:stCondLst>
                              <p:cond delay="0"/>
                            </p:stCondLst>
                            <p:childTnLst>
                              <p:set>
                                <p:cBhvr>
                                  <p:cTn id="5" dur="1" fill="hold">
                                    <p:stCondLst>
                                      <p:cond delay="0"/>
                                    </p:stCondLst>
                                  </p:cTn>
                                  <p:tgtEl>
                                    <p:spTgt spid="7"/>
                                  </p:tgtEl>
                                  <p:attrNameLst>
                                    <p:attrName>style.visibility</p:attrName>
                                  </p:attrNameLst>
                                </p:cBhvr>
                                <p:to>
                                  <p:strVal val="visible"/>
                                </p:to>
                              </p:set>
                              <p:animEffect transition="in" filter="fade">
                                <p:cBhvr>
                                  <p:cTn id="6" dur="350"/>
                                  <p:tgtEl>
                                    <p:spTgt spid="7"/>
                                  </p:tgtEl>
                                </p:cBhvr>
                              </p:animEffect>
                            </p:childTnLst>
                          </p:cTn>
                        </p:par>
                      </p:childTnLst>
                    </p:cTn>
                  </p:par>
                  <p:par>
                    <p:cTn id="7" fill="hold">
                      <p:stCondLst>
                        <p:cond delay="indefinite"/>
                      </p:stCondLst>
                      <p:childTnLst>
                        <p:par>
                          <p:cTn id="8" presetID="10" presetClass="entr" presetSubtype="0" fill="hold" grpId="2" nodeType="click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350"/>
                                  <p:tgtEl>
                                    <p:spTgt spid="8"/>
                                  </p:tgtEl>
                                </p:cBhvr>
                              </p:animEffect>
                            </p:childTnLst>
                          </p:cTn>
                        </p:par>
                        <p:par>
                          <p:cTn id="11" presetID="10" presetClass="entr" presetSubtype="0" fill="hold" grpId="2" nodeType="clickEffect">
                            <p:stCondLst>
                              <p:cond delay="0"/>
                            </p:stCondLst>
                            <p:childTnLst>
                              <p:set>
                                <p:cBhvr>
                                  <p:cTn id="12" dur="1" fill="hold">
                                    <p:stCondLst>
                                      <p:cond delay="0"/>
                                    </p:stCondLst>
                                  </p:cTn>
                                  <p:tgtEl>
                                    <p:spTgt spid="22"/>
                                  </p:tgtEl>
                                  <p:attrNameLst>
                                    <p:attrName>style.visibility</p:attrName>
                                  </p:attrNameLst>
                                </p:cBhvr>
                                <p:to>
                                  <p:strVal val="visible"/>
                                </p:to>
                              </p:set>
                              <p:animEffect transition="in" filter="fade">
                                <p:cBhvr>
                                  <p:cTn id="13" dur="350"/>
                                  <p:tgtEl>
                                    <p:spTgt spid="22"/>
                                  </p:tgtEl>
                                </p:cBhvr>
                              </p:animEffect>
                            </p:childTnLst>
                          </p:cTn>
                        </p:par>
                      </p:childTnLst>
                    </p:cTn>
                  </p:par>
                  <p:par>
                    <p:cTn id="14" fill="hold">
                      <p:stCondLst>
                        <p:cond delay="indefinite"/>
                      </p:stCondLst>
                      <p:childTnLst>
                        <p:par>
                          <p:cTn id="15" presetID="10" presetClass="entr" presetSubtype="0" fill="hold" grpId="3"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350"/>
                                  <p:tgtEl>
                                    <p:spTgt spid="9"/>
                                  </p:tgtEl>
                                </p:cBhvr>
                              </p:animEffect>
                            </p:childTnLst>
                          </p:cTn>
                        </p:par>
                        <p:par>
                          <p:cTn id="18" presetID="10" presetClass="entr" presetSubtype="0" fill="hold" grpId="3" nodeType="clickEffect">
                            <p:stCondLst>
                              <p:cond delay="0"/>
                            </p:stCondLst>
                            <p:childTnLst>
                              <p:set>
                                <p:cBhvr>
                                  <p:cTn id="19" dur="1" fill="hold">
                                    <p:stCondLst>
                                      <p:cond delay="0"/>
                                    </p:stCondLst>
                                  </p:cTn>
                                  <p:tgtEl>
                                    <p:spTgt spid="23"/>
                                  </p:tgtEl>
                                  <p:attrNameLst>
                                    <p:attrName>style.visibility</p:attrName>
                                  </p:attrNameLst>
                                </p:cBhvr>
                                <p:to>
                                  <p:strVal val="visible"/>
                                </p:to>
                              </p:set>
                              <p:animEffect transition="in" filter="fade">
                                <p:cBhvr>
                                  <p:cTn id="20" dur="350"/>
                                  <p:tgtEl>
                                    <p:spTgt spid="23"/>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7" grpId="1" uiExpand="1"/>
      <p:bldP spid="8" grpId="2" uiExpand="1"/>
      <p:bldP spid="22" grpId="2" uiExpand="1"/>
      <p:bldP spid="9" grpId="3" uiExpand="1"/>
      <p:bldP spid="23" grpId="3" uiExpand="1"/>
    </p:bldLst>
  </p:timing>
</p:sld>
</file>

<file path=ppt/slides/slide33.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6F7F4"/>
        </a:solidFill>
      </p:bgPr>
    </p:bg>
    <p:spTree>
      <p:nvGrpSpPr>
        <p:cNvPr id="1" name=""/>
        <p:cNvGrpSpPr/>
        <p:nvPr/>
      </p:nvGrpSpPr>
      <p:grpSpPr>
        <a:xfrm/>
      </p:grpSpPr>
      <p:sp>
        <p:nvSpPr>
          <p:cNvPr id="18" name="fixed">
            <a:extLst>
              <a:ext uri="{FF2B5EF4-FFF2-40B4-BE49-F238E27FC236}">
                <ns2:creationId id="{1EA6E066-02F7-4452-955D-BDEB2A4B751F}"/>
              </a:ext>
            </a:extLst>
          </p:cNvPr>
          <p:cNvSpPr>
            <a:spLocks noGrp="1"/>
          </p:cNvSpPr>
          <p:nvPr/>
        </p:nvSpPr>
        <p:spPr>
          <a:xfrm>
            <a:off x="609600" y="400050"/>
            <a:ext cx="7620000" cy="381000"/>
          </a:xfrm>
          <a:prstGeom prst="rect">
            <a:avLst/>
          </a:prstGeom>
          <a:noFill/>
          <a:ln w="0">
            <a:noFill/>
          </a:ln>
        </p:spPr>
        <p:txBody>
          <a:bodyPr>
            <a:noAutofit/>
          </a:bodyPr>
          <a:lstStyle/>
          <a:p>
            <a:pPr algn="l">
              <a:defRPr sz="1875" b="1">
                <a:solidFill>
                  <a:srgbClr val="087F8C"/>
                </a:solidFill>
                <a:latin typeface="Times New Roman"/>
                <a:ea typeface="Times New Roman"/>
                <a:cs typeface="Times New Roman"/>
              </a:defRPr>
            </a:pPr>
            <a:r>
              <a:rPr sz="1875" b="1">
                <a:solidFill>
                  <a:srgbClr val="087F8C"/>
                </a:solidFill>
                <a:latin typeface="Times New Roman"/>
                <a:ea typeface="Times New Roman"/>
                <a:cs typeface="Times New Roman"/>
              </a:rPr>
              <a:t>ADDITIONAL MANAGEMENT MODULE</a:t>
            </a:r>
          </a:p>
        </p:txBody>
      </p:sp>
      <p:sp>
        <p:nvSpPr>
          <p:cNvPr id="2" name="fixed">
            <a:extLst>
              <a:ext uri="{FF2B5EF4-FFF2-40B4-BE49-F238E27FC236}">
                <ns2:creationId id="{426FCE1F-A4A7-4E26-9F7C-2D79171AB2F7}"/>
              </a:ext>
            </a:extLst>
          </p:cNvPr>
          <p:cNvSpPr>
            <a:spLocks noGrp="1"/>
          </p:cNvSpPr>
          <p:nvPr/>
        </p:nvSpPr>
        <p:spPr>
          <a:xfrm>
            <a:off x="609600" y="971550"/>
            <a:ext cx="8191500" cy="1171575"/>
          </a:xfrm>
          <a:prstGeom prst="rect">
            <a:avLst/>
          </a:prstGeom>
          <a:noFill/>
          <a:ln w="0">
            <a:noFill/>
          </a:ln>
        </p:spPr>
        <p:txBody>
          <a:bodyPr>
            <a:noAutofit/>
          </a:bodyPr>
          <a:lstStyle/>
          <a:p>
            <a:pPr algn="l">
              <a:defRPr sz="3750" b="1">
                <a:solidFill>
                  <a:srgbClr val="172F3A"/>
                </a:solidFill>
                <a:latin typeface="Times New Roman"/>
                <a:ea typeface="Times New Roman"/>
                <a:cs typeface="Times New Roman"/>
              </a:defRPr>
            </a:pPr>
            <a:r>
              <a:rPr sz="3750" b="1">
                <a:solidFill>
                  <a:srgbClr val="172F3A"/>
                </a:solidFill>
                <a:latin typeface="Times New Roman"/>
                <a:ea typeface="Times New Roman"/>
                <a:cs typeface="Times New Roman"/>
              </a:rPr>
              <a:t>Administration and asset management</a:t>
            </a:r>
          </a:p>
        </p:txBody>
      </p:sp>
      <p:sp>
        <p:nvSpPr>
          <p:cNvPr id="3" name="fixed">
            <a:extLst>
              <a:ext uri="{FF2B5EF4-FFF2-40B4-BE49-F238E27FC236}">
                <ns2:creationId id="{5A0D6483-4229-4649-942F-9923AC1331B3}"/>
              </a:ext>
            </a:extLst>
          </p:cNvPr>
          <p:cNvSpPr>
            <a:spLocks noGrp="1"/>
          </p:cNvSpPr>
          <p:nvPr/>
        </p:nvSpPr>
        <p:spPr>
          <a:xfrm>
            <a:off x="9029700" y="457200"/>
            <a:ext cx="2571750" cy="381000"/>
          </a:xfrm>
          <a:prstGeom prst="rect">
            <a:avLst/>
          </a:prstGeom>
          <a:noFill/>
          <a:ln w="0">
            <a:noFill/>
          </a:ln>
        </p:spPr>
        <p:txBody>
          <a:bodyPr>
            <a:noAutofit/>
          </a:bodyPr>
          <a:lstStyle/>
          <a:p>
            <a:pPr algn="r">
              <a:defRPr sz="1800" b="1">
                <a:solidFill>
                  <a:srgbClr val="087F8C"/>
                </a:solidFill>
                <a:latin typeface="Times New Roman"/>
                <a:ea typeface="Times New Roman"/>
                <a:cs typeface="Times New Roman"/>
              </a:defRPr>
            </a:pPr>
            <a:r>
              <a:rPr sz="1800" b="1">
                <a:solidFill>
                  <a:srgbClr val="087F8C"/>
                </a:solidFill>
                <a:latin typeface="Times New Roman"/>
                <a:ea typeface="Times New Roman"/>
                <a:cs typeface="Times New Roman"/>
              </a:rPr>
              <a:t>COMPLETED</a:t>
            </a:r>
          </a:p>
        </p:txBody>
      </p:sp>
      <p:sp>
        <p:nvSpPr>
          <p:cNvPr id="4" name="fixed">
            <a:extLst>
              <a:ext uri="{FF2B5EF4-FFF2-40B4-BE49-F238E27FC236}">
                <ns2:creationId id="{B4803A16-C045-4547-A81E-F40DC6CBF058}"/>
              </a:ext>
            </a:extLst>
          </p:cNvPr>
          <p:cNvSpPr>
            <a:spLocks noGrp="1"/>
          </p:cNvSpPr>
          <p:nvPr/>
        </p:nvSpPr>
        <p:spPr>
          <a:xfrm>
            <a:off x="9029700" y="828675"/>
            <a:ext cx="2571750" cy="304800"/>
          </a:xfrm>
          <a:prstGeom prst="rect">
            <a:avLst/>
          </a:prstGeom>
          <a:noFill/>
          <a:ln w="0">
            <a:noFill/>
          </a:ln>
        </p:spPr>
        <p:txBody>
          <a:bodyPr>
            <a:noAutofit/>
          </a:bodyPr>
          <a:lstStyle/>
          <a:p>
            <a:pPr algn="r">
              <a:defRPr sz="1425" b="0">
                <a:solidFill>
                  <a:srgbClr val="4C6471"/>
                </a:solidFill>
                <a:latin typeface="Times New Roman"/>
                <a:ea typeface="Times New Roman"/>
                <a:cs typeface="Times New Roman"/>
              </a:defRPr>
            </a:pPr>
            <a:r>
              <a:rPr sz="1425" b="0">
                <a:solidFill>
                  <a:srgbClr val="4C6471"/>
                </a:solidFill>
                <a:latin typeface="Times New Roman"/>
                <a:ea typeface="Times New Roman"/>
                <a:cs typeface="Times New Roman"/>
              </a:rPr>
              <a:t>Implementation status</a:t>
            </a:r>
          </a:p>
        </p:txBody>
      </p:sp>
      <p:sp>
        <p:nvSpPr>
          <p:cNvPr id="5" name="fixed">
            <a:extLst>
              <a:ext uri="{FF2B5EF4-FFF2-40B4-BE49-F238E27FC236}">
                <ns2:creationId id="{28813AFF-1183-4290-9C14-573DEE340A03}"/>
              </a:ext>
            </a:extLst>
          </p:cNvPr>
          <p:cNvSpPr>
            <a:spLocks noGrp="1"/>
          </p:cNvSpPr>
          <p:nvPr/>
        </p:nvSpPr>
        <p:spPr>
          <a:xfrm>
            <a:off x="11029950" y="6334125"/>
            <a:ext cx="523875" cy="285750"/>
          </a:xfrm>
          <a:prstGeom prst="rect">
            <a:avLst/>
          </a:prstGeom>
          <a:noFill/>
          <a:ln w="0">
            <a:noFill/>
          </a:ln>
        </p:spPr>
        <p:txBody>
          <a:bodyPr>
            <a:noAutofit/>
          </a:bodyPr>
          <a:lstStyle/>
          <a:p>
            <a:pPr algn="r">
              <a:defRPr sz="1500" b="0">
                <a:solidFill>
                  <a:srgbClr val="4C6471"/>
                </a:solidFill>
                <a:latin typeface="Times New Roman"/>
                <a:ea typeface="Times New Roman"/>
                <a:cs typeface="Times New Roman"/>
              </a:defRPr>
            </a:pPr>
            <a:r>
              <a:rPr sz="1500" b="0">
                <a:solidFill>
                  <a:srgbClr val="4C6471"/>
                </a:solidFill>
                <a:latin typeface="Times New Roman"/>
                <a:ea typeface="Times New Roman"/>
                <a:cs typeface="Times New Roman"/>
              </a:rPr>
              <a:t>33</a:t>
            </a:r>
          </a:p>
        </p:txBody>
      </p:sp>
      <p:sp>
        <p:nvSpPr>
          <p:cNvPr id="6" name="reveal-1">
            <a:extLst>
              <a:ext uri="{FF2B5EF4-FFF2-40B4-BE49-F238E27FC236}">
                <ns2:creationId id="{8391FBA5-3609-4E78-B6C7-CD6578E4E6D9}"/>
              </a:ext>
            </a:extLst>
          </p:cNvPr>
          <p:cNvSpPr>
            <a:spLocks noGrp="1"/>
          </p:cNvSpPr>
          <p:nvPr/>
        </p:nvSpPr>
        <p:spPr>
          <a:xfrm>
            <a:off x="609600" y="2381250"/>
            <a:ext cx="2395538"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Administrator access</a:t>
            </a:r>
          </a:p>
        </p:txBody>
      </p:sp>
      <p:sp>
        <p:nvSpPr>
          <p:cNvPr id="7" name="reveal-2">
            <a:extLst>
              <a:ext uri="{FF2B5EF4-FFF2-40B4-BE49-F238E27FC236}">
                <ns2:creationId id="{02618847-A597-46B6-B3C3-19D36B709A6A}"/>
              </a:ext>
            </a:extLst>
          </p:cNvPr>
          <p:cNvSpPr>
            <a:spLocks noGrp="1"/>
          </p:cNvSpPr>
          <p:nvPr/>
        </p:nvSpPr>
        <p:spPr>
          <a:xfrm>
            <a:off x="3462338" y="2381250"/>
            <a:ext cx="2395538"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Users and roles</a:t>
            </a:r>
          </a:p>
        </p:txBody>
      </p:sp>
      <p:sp>
        <p:nvSpPr>
          <p:cNvPr id="8" name="reveal-3">
            <a:extLst>
              <a:ext uri="{FF2B5EF4-FFF2-40B4-BE49-F238E27FC236}">
                <ns2:creationId id="{B66A712E-7719-493E-B59C-06E8E4CCC160}"/>
              </a:ext>
            </a:extLst>
          </p:cNvPr>
          <p:cNvSpPr>
            <a:spLocks noGrp="1"/>
          </p:cNvSpPr>
          <p:nvPr/>
        </p:nvSpPr>
        <p:spPr>
          <a:xfrm>
            <a:off x="6315075" y="2381250"/>
            <a:ext cx="2395538"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Assets and audit logs</a:t>
            </a:r>
          </a:p>
        </p:txBody>
      </p:sp>
      <p:sp>
        <p:nvSpPr>
          <p:cNvPr id="9" name="reveal-4">
            <a:extLst>
              <a:ext uri="{FF2B5EF4-FFF2-40B4-BE49-F238E27FC236}">
                <ns2:creationId id="{EFF60AB2-B810-421D-A852-2AE936E3A730}"/>
              </a:ext>
            </a:extLst>
          </p:cNvPr>
          <p:cNvSpPr>
            <a:spLocks noGrp="1"/>
          </p:cNvSpPr>
          <p:nvPr/>
        </p:nvSpPr>
        <p:spPr>
          <a:xfrm>
            <a:off x="9167813" y="2381250"/>
            <a:ext cx="2395538"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Management decisions</a:t>
            </a:r>
          </a:p>
        </p:txBody>
      </p:sp>
      <p:cxnSp>
        <p:nvCxnSpPr>
          <p:cNvPr id="27" name="reveal-2"/>
          <p:cNvCxnSpPr>
            <a:stCxn id="6" idx="3"/>
            <a:endCxn id="7" idx="1"/>
          </p:cNvCxnSpPr>
          <p:nvPr/>
        </p:nvCxnSpPr>
        <p:spPr>
          <a:xfrm>
            <a:off x="3005138" y="2857500"/>
            <a:ext cx="457200" cy="0"/>
          </a:xfrm>
          <a:prstGeom prst="straightConnector1">
            <a:avLst/>
          </a:prstGeom>
          <a:ln w="19050">
            <a:solidFill>
              <a:srgbClr val="087F8C"/>
            </a:solidFill>
            <a:tailEnd type="arrow" w="med" len="med"/>
          </a:ln>
        </p:spPr>
      </p:cxnSp>
      <p:cxnSp>
        <p:nvCxnSpPr>
          <p:cNvPr id="28" name="reveal-3"/>
          <p:cNvCxnSpPr>
            <a:stCxn id="7" idx="3"/>
            <a:endCxn id="8" idx="1"/>
          </p:cNvCxnSpPr>
          <p:nvPr/>
        </p:nvCxnSpPr>
        <p:spPr>
          <a:xfrm>
            <a:off x="5857876" y="2857500"/>
            <a:ext cx="457199" cy="0"/>
          </a:xfrm>
          <a:prstGeom prst="straightConnector1">
            <a:avLst/>
          </a:prstGeom>
          <a:ln w="19050">
            <a:solidFill>
              <a:srgbClr val="087F8C"/>
            </a:solidFill>
            <a:tailEnd type="arrow" w="med" len="med"/>
          </a:ln>
        </p:spPr>
      </p:cxnSp>
      <p:cxnSp>
        <p:nvCxnSpPr>
          <p:cNvPr id="29" name="reveal-4"/>
          <p:cNvCxnSpPr>
            <a:stCxn id="8" idx="3"/>
            <a:endCxn id="9" idx="1"/>
          </p:cNvCxnSpPr>
          <p:nvPr/>
        </p:nvCxnSpPr>
        <p:spPr>
          <a:xfrm>
            <a:off x="8710613" y="2857500"/>
            <a:ext cx="457200" cy="0"/>
          </a:xfrm>
          <a:prstGeom prst="straightConnector1">
            <a:avLst/>
          </a:prstGeom>
          <a:ln w="19050">
            <a:solidFill>
              <a:srgbClr val="087F8C"/>
            </a:solidFill>
            <a:tailEnd type="arrow" w="med" len="med"/>
          </a:ln>
        </p:spPr>
      </p:cxnSp>
      <p:sp>
        <p:nvSpPr>
          <p:cNvPr id="13" name="reveal-5">
            <a:extLst>
              <a:ext uri="{FF2B5EF4-FFF2-40B4-BE49-F238E27FC236}">
                <ns2:creationId id="{1FF4F15C-7751-4181-8C9B-E0C2D1F0E31A}"/>
              </a:ext>
            </a:extLst>
          </p:cNvPr>
          <p:cNvSpPr>
            <a:spLocks noGrp="1"/>
          </p:cNvSpPr>
          <p:nvPr/>
        </p:nvSpPr>
        <p:spPr>
          <a:xfrm>
            <a:off x="609600" y="3924300"/>
            <a:ext cx="5095875" cy="476250"/>
          </a:xfrm>
          <a:prstGeom prst="rect">
            <a:avLst/>
          </a:prstGeom>
          <a:noFill/>
          <a:ln w="0">
            <a:noFill/>
          </a:ln>
        </p:spPr>
        <p:txBody>
          <a:bodyPr>
            <a:noAutofit/>
          </a:bodyPr>
          <a:lstStyle/>
          <a:p>
            <a:pPr algn="l">
              <a:defRPr sz="2550" b="1">
                <a:solidFill>
                  <a:srgbClr val="087F8C"/>
                </a:solidFill>
                <a:latin typeface="Times New Roman"/>
                <a:ea typeface="Times New Roman"/>
                <a:cs typeface="Times New Roman"/>
              </a:defRPr>
            </a:pPr>
            <a:r>
              <a:rPr sz="2550" b="1">
                <a:solidFill>
                  <a:srgbClr val="087F8C"/>
                </a:solidFill>
                <a:latin typeface="Times New Roman"/>
                <a:ea typeface="Times New Roman"/>
                <a:cs typeface="Times New Roman"/>
              </a:rPr>
              <a:t>Working components</a:t>
            </a:r>
          </a:p>
        </p:txBody>
      </p:sp>
      <p:sp>
        <p:nvSpPr>
          <p:cNvPr id="14" name="reveal-5">
            <a:extLst>
              <a:ext uri="{FF2B5EF4-FFF2-40B4-BE49-F238E27FC236}">
                <ns2:creationId id="{4D5416A5-1A7F-4B8A-B435-FF652F00B5F1}"/>
              </a:ext>
            </a:extLst>
          </p:cNvPr>
          <p:cNvSpPr>
            <a:spLocks noGrp="1"/>
          </p:cNvSpPr>
          <p:nvPr/>
        </p:nvSpPr>
        <p:spPr>
          <a:xfrm>
            <a:off x="609600" y="4552950"/>
            <a:ext cx="5095875" cy="1619250"/>
          </a:xfrm>
          <a:prstGeom prst="rect">
            <a:avLst/>
          </a:prstGeom>
          <a:noFill/>
          <a:ln w="0">
            <a:noFill/>
          </a:ln>
        </p:spPr>
        <p:txBody>
          <a:bodyPr>
            <a:noAutofit/>
          </a:bodyPr>
          <a:lstStyle/>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Role-based administration</a:t>
            </a:r>
          </a:p>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User management and asset inventory</a:t>
            </a:r>
          </a:p>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Management audit history</a:t>
            </a:r>
          </a:p>
        </p:txBody>
      </p:sp>
      <p:sp>
        <p:nvSpPr>
          <p:cNvPr id="15" name="reveal-6">
            <a:extLst>
              <a:ext uri="{FF2B5EF4-FFF2-40B4-BE49-F238E27FC236}">
                <ns2:creationId id="{5DC28E9A-6306-4B1E-B793-00F11B6F1EC6}"/>
              </a:ext>
            </a:extLst>
          </p:cNvPr>
          <p:cNvSpPr>
            <a:spLocks noGrp="1"/>
          </p:cNvSpPr>
          <p:nvPr/>
        </p:nvSpPr>
        <p:spPr>
          <a:xfrm>
            <a:off x="6381750" y="3924300"/>
            <a:ext cx="5095875" cy="476250"/>
          </a:xfrm>
          <a:prstGeom prst="rect">
            <a:avLst/>
          </a:prstGeom>
          <a:noFill/>
          <a:ln w="0">
            <a:noFill/>
          </a:ln>
        </p:spPr>
        <p:txBody>
          <a:bodyPr>
            <a:noAutofit/>
          </a:bodyPr>
          <a:lstStyle/>
          <a:p>
            <a:pPr algn="l">
              <a:defRPr sz="2550" b="1">
                <a:solidFill>
                  <a:srgbClr val="087F8C"/>
                </a:solidFill>
                <a:latin typeface="Times New Roman"/>
                <a:ea typeface="Times New Roman"/>
                <a:cs typeface="Times New Roman"/>
              </a:defRPr>
            </a:pPr>
            <a:r>
              <a:rPr sz="2550" b="1">
                <a:solidFill>
                  <a:srgbClr val="087F8C"/>
                </a:solidFill>
                <a:latin typeface="Times New Roman"/>
                <a:ea typeface="Times New Roman"/>
                <a:cs typeface="Times New Roman"/>
              </a:rPr>
              <a:t>Example</a:t>
            </a:r>
          </a:p>
        </p:txBody>
      </p:sp>
      <p:sp>
        <p:nvSpPr>
          <p:cNvPr id="16" name="reveal-6">
            <a:extLst>
              <a:ext uri="{FF2B5EF4-FFF2-40B4-BE49-F238E27FC236}">
                <ns2:creationId id="{211CF470-C227-4090-9E04-4D012C67944F}"/>
              </a:ext>
            </a:extLst>
          </p:cNvPr>
          <p:cNvSpPr>
            <a:spLocks noGrp="1"/>
          </p:cNvSpPr>
          <p:nvPr/>
        </p:nvSpPr>
        <p:spPr>
          <a:xfrm>
            <a:off x="6381750" y="4552950"/>
            <a:ext cx="5095875" cy="1619250"/>
          </a:xfrm>
          <a:prstGeom prst="rect">
            <a:avLst/>
          </a:prstGeom>
          <a:noFill/>
          <a:ln w="0">
            <a:noFill/>
          </a:ln>
        </p:spPr>
        <p:txBody>
          <a:bodyPr>
            <a:noAutofit/>
          </a:bodyPr>
          <a:lstStyle/>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An administrator reviews uploaded assets</a:t>
            </a:r>
          </a:p>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and account activity while a teacher reviews</a:t>
            </a:r>
          </a:p>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only the examinations they own.</a:t>
            </a:r>
          </a:p>
        </p:txBody>
      </p:sp>
      <p:sp>
        <p:nvSpPr>
          <p:cNvPr id="17" name="fixed">
            <a:extLst>
              <a:ext uri="{FF2B5EF4-FFF2-40B4-BE49-F238E27FC236}">
                <ns2:creationId id="{C4A0EE47-0397-471C-B332-3C25398A026E}"/>
              </a:ext>
            </a:extLst>
          </p:cNvPr>
          <p:cNvSpPr>
            <a:spLocks noGrp="1"/>
          </p:cNvSpPr>
          <p:nvPr/>
        </p:nvSpPr>
        <p:spPr>
          <a:xfrm>
            <a:off x="609600" y="5953125"/>
            <a:ext cx="10668000" cy="457200"/>
          </a:xfrm>
          <a:prstGeom prst="rect">
            <a:avLst/>
          </a:prstGeom>
          <a:noFill/>
          <a:ln w="0">
            <a:noFill/>
          </a:ln>
        </p:spPr>
        <p:txBody>
          <a:bodyPr>
            <a:noAutofit/>
          </a:bodyPr>
          <a:lstStyle/>
          <a:p>
            <a:pPr algn="l">
              <a:defRPr sz="1725" b="0">
                <a:solidFill>
                  <a:srgbClr val="4C6471"/>
                </a:solidFill>
                <a:latin typeface="Times New Roman"/>
                <a:ea typeface="Times New Roman"/>
                <a:cs typeface="Times New Roman"/>
              </a:defRPr>
            </a:pPr>
            <a:r>
              <a:rPr sz="1725" b="0">
                <a:solidFill>
                  <a:srgbClr val="4C6471"/>
                </a:solidFill>
                <a:latin typeface="Times New Roman"/>
                <a:ea typeface="Times New Roman"/>
                <a:cs typeface="Times New Roman"/>
              </a:rPr>
              <a:t>Teacher monitoring and administrator management serve separate responsibilities.</a:t>
            </a:r>
          </a:p>
        </p:txBody>
      </p:sp>
    </p:spTree>
    <p:extLst>
      <p:ext uri="{BB962C8B-B14F-4D97-AF65-F5344CB8AC3E}">
        <ns3:creationId val="1689558095"/>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1" nodeType="click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350"/>
                                  <p:tgtEl>
                                    <p:spTgt spid="6"/>
                                  </p:tgtEl>
                                </p:cBhvr>
                              </p:animEffect>
                            </p:childTnLst>
                          </p:cTn>
                        </p:par>
                      </p:childTnLst>
                    </p:cTn>
                  </p:par>
                  <p:par>
                    <p:cTn id="7" fill="hold">
                      <p:stCondLst>
                        <p:cond delay="indefinite"/>
                      </p:stCondLst>
                      <p:childTnLst>
                        <p:par>
                          <p:cTn id="8" presetID="10" presetClass="entr" presetSubtype="0" fill="hold" grpId="2" nodeType="click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350"/>
                                  <p:tgtEl>
                                    <p:spTgt spid="7"/>
                                  </p:tgtEl>
                                </p:cBhvr>
                              </p:animEffect>
                            </p:childTnLst>
                          </p:cTn>
                        </p:par>
                        <p:par>
                          <p:cTn id="11" presetID="10" presetClass="entr" presetSubtype="0" fill="hold" grpId="2" nodeType="clickEffect">
                            <p:stCondLst>
                              <p:cond delay="0"/>
                            </p:stCondLst>
                            <p:childTnLst>
                              <p:set>
                                <p:cBhvr>
                                  <p:cTn id="12" dur="1" fill="hold">
                                    <p:stCondLst>
                                      <p:cond delay="0"/>
                                    </p:stCondLst>
                                  </p:cTn>
                                  <p:tgtEl>
                                    <p:spTgt spid="27"/>
                                  </p:tgtEl>
                                  <p:attrNameLst>
                                    <p:attrName>style.visibility</p:attrName>
                                  </p:attrNameLst>
                                </p:cBhvr>
                                <p:to>
                                  <p:strVal val="visible"/>
                                </p:to>
                              </p:set>
                              <p:animEffect transition="in" filter="fade">
                                <p:cBhvr>
                                  <p:cTn id="13" dur="350"/>
                                  <p:tgtEl>
                                    <p:spTgt spid="27"/>
                                  </p:tgtEl>
                                </p:cBhvr>
                              </p:animEffect>
                            </p:childTnLst>
                          </p:cTn>
                        </p:par>
                      </p:childTnLst>
                    </p:cTn>
                  </p:par>
                  <p:par>
                    <p:cTn id="14" fill="hold">
                      <p:stCondLst>
                        <p:cond delay="indefinite"/>
                      </p:stCondLst>
                      <p:childTnLst>
                        <p:par>
                          <p:cTn id="15" presetID="10" presetClass="entr" presetSubtype="0" fill="hold" grpId="3"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350"/>
                                  <p:tgtEl>
                                    <p:spTgt spid="8"/>
                                  </p:tgtEl>
                                </p:cBhvr>
                              </p:animEffect>
                            </p:childTnLst>
                          </p:cTn>
                        </p:par>
                        <p:par>
                          <p:cTn id="18" presetID="10" presetClass="entr" presetSubtype="0" fill="hold" grpId="3" nodeType="clickEffect">
                            <p:stCondLst>
                              <p:cond delay="0"/>
                            </p:stCondLst>
                            <p:childTnLst>
                              <p:set>
                                <p:cBhvr>
                                  <p:cTn id="19" dur="1" fill="hold">
                                    <p:stCondLst>
                                      <p:cond delay="0"/>
                                    </p:stCondLst>
                                  </p:cTn>
                                  <p:tgtEl>
                                    <p:spTgt spid="28"/>
                                  </p:tgtEl>
                                  <p:attrNameLst>
                                    <p:attrName>style.visibility</p:attrName>
                                  </p:attrNameLst>
                                </p:cBhvr>
                                <p:to>
                                  <p:strVal val="visible"/>
                                </p:to>
                              </p:set>
                              <p:animEffect transition="in" filter="fade">
                                <p:cBhvr>
                                  <p:cTn id="20" dur="350"/>
                                  <p:tgtEl>
                                    <p:spTgt spid="28"/>
                                  </p:tgtEl>
                                </p:cBhvr>
                              </p:animEffect>
                            </p:childTnLst>
                          </p:cTn>
                        </p:par>
                      </p:childTnLst>
                    </p:cTn>
                  </p:par>
                  <p:par>
                    <p:cTn id="21" fill="hold">
                      <p:stCondLst>
                        <p:cond delay="indefinite"/>
                      </p:stCondLst>
                      <p:childTnLst>
                        <p:par>
                          <p:cTn id="22" presetID="10" presetClass="entr" presetSubtype="0" fill="hold" grpId="4" nodeType="click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350"/>
                                  <p:tgtEl>
                                    <p:spTgt spid="9"/>
                                  </p:tgtEl>
                                </p:cBhvr>
                              </p:animEffect>
                            </p:childTnLst>
                          </p:cTn>
                        </p:par>
                        <p:par>
                          <p:cTn id="25" presetID="10" presetClass="entr" presetSubtype="0" fill="hold" grpId="4" nodeType="clickEffect">
                            <p:stCondLst>
                              <p:cond delay="0"/>
                            </p:stCondLst>
                            <p:childTnLst>
                              <p:set>
                                <p:cBhvr>
                                  <p:cTn id="26" dur="1" fill="hold">
                                    <p:stCondLst>
                                      <p:cond delay="0"/>
                                    </p:stCondLst>
                                  </p:cTn>
                                  <p:tgtEl>
                                    <p:spTgt spid="29"/>
                                  </p:tgtEl>
                                  <p:attrNameLst>
                                    <p:attrName>style.visibility</p:attrName>
                                  </p:attrNameLst>
                                </p:cBhvr>
                                <p:to>
                                  <p:strVal val="visible"/>
                                </p:to>
                              </p:set>
                              <p:animEffect transition="in" filter="fade">
                                <p:cBhvr>
                                  <p:cTn id="27" dur="350"/>
                                  <p:tgtEl>
                                    <p:spTgt spid="29"/>
                                  </p:tgtEl>
                                </p:cBhvr>
                              </p:animEffect>
                            </p:childTnLst>
                          </p:cTn>
                        </p:par>
                      </p:childTnLst>
                    </p:cTn>
                  </p:par>
                  <p:par>
                    <p:cTn id="28" fill="hold">
                      <p:stCondLst>
                        <p:cond delay="indefinite"/>
                      </p:stCondLst>
                      <p:childTnLst>
                        <p:par>
                          <p:cTn id="29" presetID="10" presetClass="entr" presetSubtype="0" fill="hold" grpId="5" nodeType="click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350"/>
                                  <p:tgtEl>
                                    <p:spTgt spid="13"/>
                                  </p:tgtEl>
                                </p:cBhvr>
                              </p:animEffect>
                            </p:childTnLst>
                          </p:cTn>
                        </p:par>
                        <p:par>
                          <p:cTn id="32" presetID="10" presetClass="entr" presetSubtype="0" fill="hold" grpId="5" nodeType="click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350"/>
                                  <p:tgtEl>
                                    <p:spTgt spid="14"/>
                                  </p:tgtEl>
                                </p:cBhvr>
                              </p:animEffect>
                            </p:childTnLst>
                          </p:cTn>
                        </p:par>
                      </p:childTnLst>
                    </p:cTn>
                  </p:par>
                  <p:par>
                    <p:cTn id="35" fill="hold">
                      <p:stCondLst>
                        <p:cond delay="indefinite"/>
                      </p:stCondLst>
                      <p:childTnLst>
                        <p:par>
                          <p:cTn id="36" presetID="10" presetClass="entr" presetSubtype="0" fill="hold" grpId="6" nodeType="clickEffect">
                            <p:stCondLst>
                              <p:cond delay="0"/>
                            </p:stCondLst>
                            <p:childTnLst>
                              <p:set>
                                <p:cBhvr>
                                  <p:cTn id="37" dur="1" fill="hold">
                                    <p:stCondLst>
                                      <p:cond delay="0"/>
                                    </p:stCondLst>
                                  </p:cTn>
                                  <p:tgtEl>
                                    <p:spTgt spid="15"/>
                                  </p:tgtEl>
                                  <p:attrNameLst>
                                    <p:attrName>style.visibility</p:attrName>
                                  </p:attrNameLst>
                                </p:cBhvr>
                                <p:to>
                                  <p:strVal val="visible"/>
                                </p:to>
                              </p:set>
                              <p:animEffect transition="in" filter="fade">
                                <p:cBhvr>
                                  <p:cTn id="38" dur="350"/>
                                  <p:tgtEl>
                                    <p:spTgt spid="15"/>
                                  </p:tgtEl>
                                </p:cBhvr>
                              </p:animEffect>
                            </p:childTnLst>
                          </p:cTn>
                        </p:par>
                        <p:par>
                          <p:cTn id="39" presetID="10" presetClass="entr" presetSubtype="0" fill="hold" grpId="6"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fade">
                                <p:cBhvr>
                                  <p:cTn id="41" dur="350"/>
                                  <p:tgtEl>
                                    <p:spTgt spid="16"/>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6" grpId="1" uiExpand="1"/>
      <p:bldP spid="7" grpId="2" uiExpand="1"/>
      <p:bldP spid="27" grpId="2" uiExpand="1"/>
      <p:bldP spid="8" grpId="3" uiExpand="1"/>
      <p:bldP spid="28" grpId="3" uiExpand="1"/>
      <p:bldP spid="9" grpId="4" uiExpand="1"/>
      <p:bldP spid="29" grpId="4" uiExpand="1"/>
      <p:bldP spid="13" grpId="5" uiExpand="1"/>
      <p:bldP spid="14" grpId="5" uiExpand="1"/>
      <p:bldP spid="15" grpId="6" uiExpand="1"/>
      <p:bldP spid="16" grpId="6" uiExpand="1"/>
    </p:bldLst>
  </p:timing>
</p:sld>
</file>

<file path=ppt/slides/slide34.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6F7F4"/>
        </a:solidFill>
      </p:bgPr>
    </p:bg>
    <p:spTree>
      <p:nvGrpSpPr>
        <p:cNvPr id="1" name=""/>
        <p:cNvGrpSpPr/>
        <p:nvPr/>
      </p:nvGrpSpPr>
      <p:grpSpPr>
        <a:xfrm/>
      </p:grpSpPr>
      <p:sp>
        <p:nvSpPr>
          <p:cNvPr id="21" name="fixed">
            <a:extLst>
              <a:ext uri="{FF2B5EF4-FFF2-40B4-BE49-F238E27FC236}">
                <ns2:creationId id="{BEAACB83-ACB6-42C1-910C-EC865CB69631}"/>
              </a:ext>
            </a:extLst>
          </p:cNvPr>
          <p:cNvSpPr>
            <a:spLocks noGrp="1"/>
          </p:cNvSpPr>
          <p:nvPr/>
        </p:nvSpPr>
        <p:spPr>
          <a:xfrm>
            <a:off x="609600" y="523875"/>
            <a:ext cx="10906125" cy="1066800"/>
          </a:xfrm>
          <a:prstGeom prst="rect">
            <a:avLst/>
          </a:prstGeom>
          <a:noFill/>
          <a:ln w="0">
            <a:noFill/>
          </a:ln>
        </p:spPr>
        <p:txBody>
          <a:bodyPr>
            <a:noAutofit/>
          </a:bodyPr>
          <a:lstStyle/>
          <a:p>
            <a:pPr algn="l">
              <a:defRPr sz="3750" b="1">
                <a:solidFill>
                  <a:srgbClr val="172F3A"/>
                </a:solidFill>
                <a:latin typeface="Times New Roman"/>
                <a:ea typeface="Times New Roman"/>
                <a:cs typeface="Times New Roman"/>
              </a:defRPr>
            </a:pPr>
            <a:r>
              <a:rPr sz="3750" b="1">
                <a:solidFill>
                  <a:srgbClr val="172F3A"/>
                </a:solidFill>
                <a:latin typeface="Times New Roman"/>
                <a:ea typeface="Times New Roman"/>
                <a:cs typeface="Times New Roman"/>
              </a:rPr>
              <a:t>Integrated event sequence</a:t>
            </a:r>
          </a:p>
        </p:txBody>
      </p:sp>
      <p:sp>
        <p:nvSpPr>
          <p:cNvPr id="2" name="fixed">
            <a:extLst>
              <a:ext uri="{FF2B5EF4-FFF2-40B4-BE49-F238E27FC236}">
                <ns2:creationId id="{879F2DCD-F6E7-4EE9-9391-1C658FB732AC}"/>
              </a:ext>
            </a:extLst>
          </p:cNvPr>
          <p:cNvSpPr>
            <a:spLocks noGrp="1"/>
          </p:cNvSpPr>
          <p:nvPr/>
        </p:nvSpPr>
        <p:spPr>
          <a:xfrm>
            <a:off x="11029950" y="6334125"/>
            <a:ext cx="523875" cy="285750"/>
          </a:xfrm>
          <a:prstGeom prst="rect">
            <a:avLst/>
          </a:prstGeom>
          <a:noFill/>
          <a:ln w="0">
            <a:noFill/>
          </a:ln>
        </p:spPr>
        <p:txBody>
          <a:bodyPr>
            <a:noAutofit/>
          </a:bodyPr>
          <a:lstStyle/>
          <a:p>
            <a:pPr algn="r">
              <a:defRPr sz="1500" b="0">
                <a:solidFill>
                  <a:srgbClr val="4C6471"/>
                </a:solidFill>
                <a:latin typeface="Times New Roman"/>
                <a:ea typeface="Times New Roman"/>
                <a:cs typeface="Times New Roman"/>
              </a:defRPr>
            </a:pPr>
            <a:r>
              <a:rPr sz="1500" b="0">
                <a:solidFill>
                  <a:srgbClr val="4C6471"/>
                </a:solidFill>
                <a:latin typeface="Times New Roman"/>
                <a:ea typeface="Times New Roman"/>
                <a:cs typeface="Times New Roman"/>
              </a:rPr>
              <a:t>34</a:t>
            </a:r>
          </a:p>
        </p:txBody>
      </p:sp>
      <p:sp>
        <p:nvSpPr>
          <p:cNvPr id="3" name="reveal-1">
            <a:extLst>
              <a:ext uri="{FF2B5EF4-FFF2-40B4-BE49-F238E27FC236}">
                <ns2:creationId id="{7AB99D6D-0DAA-484A-97FA-075BA745CD85}"/>
              </a:ext>
            </a:extLst>
          </p:cNvPr>
          <p:cNvSpPr>
            <a:spLocks noGrp="1"/>
          </p:cNvSpPr>
          <p:nvPr/>
        </p:nvSpPr>
        <p:spPr>
          <a:xfrm>
            <a:off x="609600" y="1752600"/>
            <a:ext cx="2381250" cy="619125"/>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Python</a:t>
            </a:r>
          </a:p>
        </p:txBody>
      </p:sp>
      <p:sp>
        <p:nvSpPr>
          <p:cNvPr id="4" name="reveal-1">
            <a:extLst>
              <a:ext uri="{FF2B5EF4-FFF2-40B4-BE49-F238E27FC236}">
                <ns2:creationId id="{76C049D9-C72B-4DF1-8D3E-5C3FAB03B3A7}"/>
              </a:ext>
            </a:extLst>
          </p:cNvPr>
          <p:cNvSpPr>
            <a:spLocks noGrp="1"/>
          </p:cNvSpPr>
          <p:nvPr/>
        </p:nvSpPr>
        <p:spPr>
          <a:xfrm>
            <a:off x="3467100" y="1752600"/>
            <a:ext cx="2381250" cy="619125"/>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Electron</a:t>
            </a:r>
          </a:p>
        </p:txBody>
      </p:sp>
      <p:sp>
        <p:nvSpPr>
          <p:cNvPr id="5" name="reveal-1">
            <a:extLst>
              <a:ext uri="{FF2B5EF4-FFF2-40B4-BE49-F238E27FC236}">
                <ns2:creationId id="{39174E0E-04DB-413B-9C20-E5EF4D14225E}"/>
              </a:ext>
            </a:extLst>
          </p:cNvPr>
          <p:cNvSpPr>
            <a:spLocks noGrp="1"/>
          </p:cNvSpPr>
          <p:nvPr/>
        </p:nvSpPr>
        <p:spPr>
          <a:xfrm>
            <a:off x="6324600" y="1752600"/>
            <a:ext cx="2381250" cy="619125"/>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Express / MongoDB</a:t>
            </a:r>
          </a:p>
        </p:txBody>
      </p:sp>
      <p:sp>
        <p:nvSpPr>
          <p:cNvPr id="6" name="reveal-1">
            <a:extLst>
              <a:ext uri="{FF2B5EF4-FFF2-40B4-BE49-F238E27FC236}">
                <ns2:creationId id="{19213A33-8E6B-488F-BAC7-E6BA8815BC30}"/>
              </a:ext>
            </a:extLst>
          </p:cNvPr>
          <p:cNvSpPr>
            <a:spLocks noGrp="1"/>
          </p:cNvSpPr>
          <p:nvPr/>
        </p:nvSpPr>
        <p:spPr>
          <a:xfrm>
            <a:off x="9182100" y="1752600"/>
            <a:ext cx="2381250" cy="619125"/>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Examiner</a:t>
            </a:r>
          </a:p>
        </p:txBody>
      </p:sp>
      <p:sp>
        <p:nvSpPr>
          <p:cNvPr id="7" name="fixed">
            <a:extLst>
              <a:ext uri="{FF2B5EF4-FFF2-40B4-BE49-F238E27FC236}">
                <ns2:creationId id="{D29646CD-92CC-4C81-8CDC-DC2C8961EC9F}"/>
              </a:ext>
            </a:extLst>
          </p:cNvPr>
          <p:cNvSpPr>
            <a:spLocks noGrp="1"/>
          </p:cNvSpPr>
          <p:nvPr/>
        </p:nvSpPr>
        <p:spPr>
          <a:xfrm>
            <a:off x="1800225" y="2447925"/>
            <a:ext cx="0" cy="3619500"/>
          </a:xfrm>
          <a:prstGeom prst="line">
            <a:avLst/>
          </a:prstGeom>
          <a:noFill/>
          <a:ln w="9525">
            <a:solidFill>
              <a:srgbClr val="B4C9CB"/>
            </a:solidFill>
            <a:prstDash val="dash"/>
          </a:ln>
        </p:spPr>
      </p:sp>
      <p:sp>
        <p:nvSpPr>
          <p:cNvPr id="8" name="fixed">
            <a:extLst>
              <a:ext uri="{FF2B5EF4-FFF2-40B4-BE49-F238E27FC236}">
                <ns2:creationId id="{CF9B7524-260A-485A-B317-602A783A6D93}"/>
              </a:ext>
            </a:extLst>
          </p:cNvPr>
          <p:cNvSpPr>
            <a:spLocks noGrp="1"/>
          </p:cNvSpPr>
          <p:nvPr/>
        </p:nvSpPr>
        <p:spPr>
          <a:xfrm>
            <a:off x="4657725" y="2447925"/>
            <a:ext cx="0" cy="3619500"/>
          </a:xfrm>
          <a:prstGeom prst="line">
            <a:avLst/>
          </a:prstGeom>
          <a:noFill/>
          <a:ln w="9525">
            <a:solidFill>
              <a:srgbClr val="B4C9CB"/>
            </a:solidFill>
            <a:prstDash val="dash"/>
          </a:ln>
        </p:spPr>
      </p:sp>
      <p:sp>
        <p:nvSpPr>
          <p:cNvPr id="9" name="fixed">
            <a:extLst>
              <a:ext uri="{FF2B5EF4-FFF2-40B4-BE49-F238E27FC236}">
                <ns2:creationId id="{8BF542E2-3402-4953-96E1-D256E6783AD6}"/>
              </a:ext>
            </a:extLst>
          </p:cNvPr>
          <p:cNvSpPr>
            <a:spLocks noGrp="1"/>
          </p:cNvSpPr>
          <p:nvPr/>
        </p:nvSpPr>
        <p:spPr>
          <a:xfrm>
            <a:off x="7515225" y="2447925"/>
            <a:ext cx="0" cy="3619500"/>
          </a:xfrm>
          <a:prstGeom prst="line">
            <a:avLst/>
          </a:prstGeom>
          <a:noFill/>
          <a:ln w="9525">
            <a:solidFill>
              <a:srgbClr val="B4C9CB"/>
            </a:solidFill>
            <a:prstDash val="dash"/>
          </a:ln>
        </p:spPr>
      </p:sp>
      <p:sp>
        <p:nvSpPr>
          <p:cNvPr id="10" name="fixed">
            <a:extLst>
              <a:ext uri="{FF2B5EF4-FFF2-40B4-BE49-F238E27FC236}">
                <ns2:creationId id="{06C94435-79D6-4C6A-A793-DE10AEC66B24}"/>
              </a:ext>
            </a:extLst>
          </p:cNvPr>
          <p:cNvSpPr>
            <a:spLocks noGrp="1"/>
          </p:cNvSpPr>
          <p:nvPr/>
        </p:nvSpPr>
        <p:spPr>
          <a:xfrm>
            <a:off x="10372725" y="2447925"/>
            <a:ext cx="0" cy="3619500"/>
          </a:xfrm>
          <a:prstGeom prst="line">
            <a:avLst/>
          </a:prstGeom>
          <a:noFill/>
          <a:ln w="9525">
            <a:solidFill>
              <a:srgbClr val="B4C9CB"/>
            </a:solidFill>
            <a:prstDash val="dash"/>
          </a:ln>
        </p:spPr>
      </p:sp>
      <p:sp>
        <p:nvSpPr>
          <p:cNvPr id="11" name="reveal-2">
            <a:extLst>
              <a:ext uri="{FF2B5EF4-FFF2-40B4-BE49-F238E27FC236}">
                <ns2:creationId id="{931564D2-6E0C-4B20-AF81-A91AACD510C3}"/>
              </a:ext>
            </a:extLst>
          </p:cNvPr>
          <p:cNvSpPr>
            <a:spLocks noGrp="1"/>
          </p:cNvSpPr>
          <p:nvPr/>
        </p:nvSpPr>
        <p:spPr>
          <a:xfrm>
            <a:off x="1800225" y="3076575"/>
            <a:ext cx="2857500" cy="104775"/>
          </a:xfrm>
          <a:prstGeom prst="rightArrow">
            <a:avLst/>
          </a:prstGeom>
          <a:solidFill>
            <a:srgbClr val="087F8C"/>
          </a:solidFill>
          <a:ln w="0">
            <a:noFill/>
          </a:ln>
        </p:spPr>
      </p:sp>
      <p:sp>
        <p:nvSpPr>
          <p:cNvPr id="12" name="reveal-2">
            <a:extLst>
              <a:ext uri="{FF2B5EF4-FFF2-40B4-BE49-F238E27FC236}">
                <ns2:creationId id="{F1F97979-B213-4314-92D4-BAC24697ABB7}"/>
              </a:ext>
            </a:extLst>
          </p:cNvPr>
          <p:cNvSpPr>
            <a:spLocks noGrp="1"/>
          </p:cNvSpPr>
          <p:nvPr/>
        </p:nvSpPr>
        <p:spPr>
          <a:xfrm>
            <a:off x="1847850" y="2714625"/>
            <a:ext cx="2857500" cy="381000"/>
          </a:xfrm>
          <a:prstGeom prst="rect">
            <a:avLst/>
          </a:prstGeom>
          <a:noFill/>
          <a:ln w="0">
            <a:noFill/>
          </a:ln>
        </p:spPr>
        <p:txBody>
          <a:bodyPr>
            <a:noAutofit/>
          </a:bodyPr>
          <a:lstStyle/>
          <a:p>
            <a:pPr algn="l">
              <a:defRPr sz="1875" b="0">
                <a:solidFill>
                  <a:srgbClr val="172F3A"/>
                </a:solidFill>
                <a:latin typeface="Times New Roman"/>
                <a:ea typeface="Times New Roman"/>
                <a:cs typeface="Times New Roman"/>
              </a:defRPr>
            </a:pPr>
            <a:r>
              <a:rPr sz="1875" b="0">
                <a:solidFill>
                  <a:srgbClr val="172F3A"/>
                </a:solidFill>
                <a:latin typeface="Times New Roman"/>
                <a:ea typeface="Times New Roman"/>
                <a:cs typeface="Times New Roman"/>
              </a:rPr>
              <a:t>Persist and deliver</a:t>
            </a:r>
          </a:p>
        </p:txBody>
      </p:sp>
      <p:sp>
        <p:nvSpPr>
          <p:cNvPr id="13" name="reveal-3">
            <a:extLst>
              <a:ext uri="{FF2B5EF4-FFF2-40B4-BE49-F238E27FC236}">
                <ns2:creationId id="{2642A9B5-E0AB-4CC2-A964-B97B2C967754}"/>
              </a:ext>
            </a:extLst>
          </p:cNvPr>
          <p:cNvSpPr>
            <a:spLocks noGrp="1"/>
          </p:cNvSpPr>
          <p:nvPr/>
        </p:nvSpPr>
        <p:spPr>
          <a:xfrm>
            <a:off x="4657725" y="3790950"/>
            <a:ext cx="2857500" cy="104775"/>
          </a:xfrm>
          <a:prstGeom prst="rightArrow">
            <a:avLst/>
          </a:prstGeom>
          <a:solidFill>
            <a:srgbClr val="087F8C"/>
          </a:solidFill>
          <a:ln w="0">
            <a:noFill/>
          </a:ln>
        </p:spPr>
      </p:sp>
      <p:sp>
        <p:nvSpPr>
          <p:cNvPr id="14" name="reveal-3">
            <a:extLst>
              <a:ext uri="{FF2B5EF4-FFF2-40B4-BE49-F238E27FC236}">
                <ns2:creationId id="{15E0CC49-F477-4FD8-83F3-5726D740B77C}"/>
              </a:ext>
            </a:extLst>
          </p:cNvPr>
          <p:cNvSpPr>
            <a:spLocks noGrp="1"/>
          </p:cNvSpPr>
          <p:nvPr/>
        </p:nvSpPr>
        <p:spPr>
          <a:xfrm>
            <a:off x="4705350" y="3429000"/>
            <a:ext cx="2857500" cy="381000"/>
          </a:xfrm>
          <a:prstGeom prst="rect">
            <a:avLst/>
          </a:prstGeom>
          <a:noFill/>
          <a:ln w="0">
            <a:noFill/>
          </a:ln>
        </p:spPr>
        <p:txBody>
          <a:bodyPr>
            <a:noAutofit/>
          </a:bodyPr>
          <a:lstStyle/>
          <a:p>
            <a:pPr algn="l">
              <a:defRPr sz="1875" b="0">
                <a:solidFill>
                  <a:srgbClr val="172F3A"/>
                </a:solidFill>
                <a:latin typeface="Times New Roman"/>
                <a:ea typeface="Times New Roman"/>
                <a:cs typeface="Times New Roman"/>
              </a:defRPr>
            </a:pPr>
            <a:r>
              <a:rPr sz="1875" b="0">
                <a:solidFill>
                  <a:srgbClr val="172F3A"/>
                </a:solidFill>
                <a:latin typeface="Times New Roman"/>
                <a:ea typeface="Times New Roman"/>
                <a:cs typeface="Times New Roman"/>
              </a:rPr>
              <a:t>Queue and POST</a:t>
            </a:r>
          </a:p>
        </p:txBody>
      </p:sp>
      <p:sp>
        <p:nvSpPr>
          <p:cNvPr id="15" name="reveal-4">
            <a:extLst>
              <a:ext uri="{FF2B5EF4-FFF2-40B4-BE49-F238E27FC236}">
                <ns2:creationId id="{B76C6C70-2EC3-42FA-B940-7C9DC25B8CD4}"/>
              </a:ext>
            </a:extLst>
          </p:cNvPr>
          <p:cNvSpPr>
            <a:spLocks noGrp="1"/>
          </p:cNvSpPr>
          <p:nvPr/>
        </p:nvSpPr>
        <p:spPr>
          <a:xfrm>
            <a:off x="4657725" y="4505325"/>
            <a:ext cx="2857500" cy="104775"/>
          </a:xfrm>
          <a:prstGeom prst="leftArrow">
            <a:avLst/>
          </a:prstGeom>
          <a:solidFill>
            <a:srgbClr val="087F8C"/>
          </a:solidFill>
          <a:ln w="0">
            <a:noFill/>
          </a:ln>
        </p:spPr>
      </p:sp>
      <p:sp>
        <p:nvSpPr>
          <p:cNvPr id="16" name="reveal-4">
            <a:extLst>
              <a:ext uri="{FF2B5EF4-FFF2-40B4-BE49-F238E27FC236}">
                <ns2:creationId id="{0BC30ED0-D6A1-4D0F-8C44-37D84025BAE7}"/>
              </a:ext>
            </a:extLst>
          </p:cNvPr>
          <p:cNvSpPr>
            <a:spLocks noGrp="1"/>
          </p:cNvSpPr>
          <p:nvPr/>
        </p:nvSpPr>
        <p:spPr>
          <a:xfrm>
            <a:off x="4705350" y="4143375"/>
            <a:ext cx="2857500" cy="381000"/>
          </a:xfrm>
          <a:prstGeom prst="rect">
            <a:avLst/>
          </a:prstGeom>
          <a:noFill/>
          <a:ln w="0">
            <a:noFill/>
          </a:ln>
        </p:spPr>
        <p:txBody>
          <a:bodyPr>
            <a:noAutofit/>
          </a:bodyPr>
          <a:lstStyle/>
          <a:p>
            <a:pPr algn="l">
              <a:defRPr sz="1875" b="0">
                <a:solidFill>
                  <a:srgbClr val="172F3A"/>
                </a:solidFill>
                <a:latin typeface="Times New Roman"/>
                <a:ea typeface="Times New Roman"/>
                <a:cs typeface="Times New Roman"/>
              </a:defRPr>
            </a:pPr>
            <a:r>
              <a:rPr sz="1875" b="0">
                <a:solidFill>
                  <a:srgbClr val="172F3A"/>
                </a:solidFill>
                <a:latin typeface="Times New Roman"/>
                <a:ea typeface="Times New Roman"/>
                <a:cs typeface="Times New Roman"/>
              </a:rPr>
              <a:t>Commit, then HTTP 201</a:t>
            </a:r>
          </a:p>
        </p:txBody>
      </p:sp>
      <p:sp>
        <p:nvSpPr>
          <p:cNvPr id="17" name="reveal-5">
            <a:extLst>
              <a:ext uri="{FF2B5EF4-FFF2-40B4-BE49-F238E27FC236}">
                <ns2:creationId id="{C8A536DC-3464-4112-A867-E52EA26C313B}"/>
              </a:ext>
            </a:extLst>
          </p:cNvPr>
          <p:cNvSpPr>
            <a:spLocks noGrp="1"/>
          </p:cNvSpPr>
          <p:nvPr/>
        </p:nvSpPr>
        <p:spPr>
          <a:xfrm>
            <a:off x="7515225" y="5219700"/>
            <a:ext cx="2857500" cy="104775"/>
          </a:xfrm>
          <a:prstGeom prst="rightArrow">
            <a:avLst/>
          </a:prstGeom>
          <a:solidFill>
            <a:srgbClr val="087F8C"/>
          </a:solidFill>
          <a:ln w="0">
            <a:noFill/>
          </a:ln>
        </p:spPr>
      </p:sp>
      <p:sp>
        <p:nvSpPr>
          <p:cNvPr id="18" name="reveal-5">
            <a:extLst>
              <a:ext uri="{FF2B5EF4-FFF2-40B4-BE49-F238E27FC236}">
                <ns2:creationId id="{12F9C950-BAC0-4CB3-89FA-9D50F1A1ADB7}"/>
              </a:ext>
            </a:extLst>
          </p:cNvPr>
          <p:cNvSpPr>
            <a:spLocks noGrp="1"/>
          </p:cNvSpPr>
          <p:nvPr/>
        </p:nvSpPr>
        <p:spPr>
          <a:xfrm>
            <a:off x="7562850" y="4857750"/>
            <a:ext cx="2857500" cy="381000"/>
          </a:xfrm>
          <a:prstGeom prst="rect">
            <a:avLst/>
          </a:prstGeom>
          <a:noFill/>
          <a:ln w="0">
            <a:noFill/>
          </a:ln>
        </p:spPr>
        <p:txBody>
          <a:bodyPr>
            <a:noAutofit/>
          </a:bodyPr>
          <a:lstStyle/>
          <a:p>
            <a:pPr algn="l">
              <a:defRPr sz="1875" b="0">
                <a:solidFill>
                  <a:srgbClr val="172F3A"/>
                </a:solidFill>
                <a:latin typeface="Times New Roman"/>
                <a:ea typeface="Times New Roman"/>
                <a:cs typeface="Times New Roman"/>
              </a:defRPr>
            </a:pPr>
            <a:r>
              <a:rPr sz="1875" b="0">
                <a:solidFill>
                  <a:srgbClr val="172F3A"/>
                </a:solidFill>
                <a:latin typeface="Times New Roman"/>
                <a:ea typeface="Times New Roman"/>
                <a:cs typeface="Times New Roman"/>
              </a:rPr>
              <a:t>Authorized live update</a:t>
            </a:r>
          </a:p>
        </p:txBody>
      </p:sp>
      <p:sp>
        <p:nvSpPr>
          <p:cNvPr id="19" name="reveal-6">
            <a:extLst>
              <a:ext uri="{FF2B5EF4-FFF2-40B4-BE49-F238E27FC236}">
                <ns2:creationId id="{267B6A39-4267-4F28-ABC9-6911A0640848}"/>
              </a:ext>
            </a:extLst>
          </p:cNvPr>
          <p:cNvSpPr>
            <a:spLocks noGrp="1"/>
          </p:cNvSpPr>
          <p:nvPr/>
        </p:nvSpPr>
        <p:spPr>
          <a:xfrm>
            <a:off x="7515225" y="5934075"/>
            <a:ext cx="2857500" cy="104775"/>
          </a:xfrm>
          <a:prstGeom prst="leftArrow">
            <a:avLst/>
          </a:prstGeom>
          <a:solidFill>
            <a:srgbClr val="087F8C"/>
          </a:solidFill>
          <a:ln w="0">
            <a:noFill/>
          </a:ln>
        </p:spPr>
      </p:sp>
      <p:sp>
        <p:nvSpPr>
          <p:cNvPr id="20" name="reveal-6">
            <a:extLst>
              <a:ext uri="{FF2B5EF4-FFF2-40B4-BE49-F238E27FC236}">
                <ns2:creationId id="{A04AF63C-7C1D-49EA-B2C1-EED59E0F77BE}"/>
              </a:ext>
            </a:extLst>
          </p:cNvPr>
          <p:cNvSpPr>
            <a:spLocks noGrp="1"/>
          </p:cNvSpPr>
          <p:nvPr/>
        </p:nvSpPr>
        <p:spPr>
          <a:xfrm>
            <a:off x="7562850" y="5572125"/>
            <a:ext cx="2857500" cy="381000"/>
          </a:xfrm>
          <a:prstGeom prst="rect">
            <a:avLst/>
          </a:prstGeom>
          <a:noFill/>
          <a:ln w="0">
            <a:noFill/>
          </a:ln>
        </p:spPr>
        <p:txBody>
          <a:bodyPr>
            <a:noAutofit/>
          </a:bodyPr>
          <a:lstStyle/>
          <a:p>
            <a:pPr algn="l">
              <a:defRPr sz="1875" b="0">
                <a:solidFill>
                  <a:srgbClr val="172F3A"/>
                </a:solidFill>
                <a:latin typeface="Times New Roman"/>
                <a:ea typeface="Times New Roman"/>
                <a:cs typeface="Times New Roman"/>
              </a:defRPr>
            </a:pPr>
            <a:r>
              <a:rPr sz="1875" b="0">
                <a:solidFill>
                  <a:srgbClr val="172F3A"/>
                </a:solidFill>
                <a:latin typeface="Times New Roman"/>
                <a:ea typeface="Times New Roman"/>
                <a:cs typeface="Times New Roman"/>
              </a:rPr>
              <a:t>Confirm / dismiss</a:t>
            </a:r>
          </a:p>
        </p:txBody>
      </p:sp>
    </p:spTree>
    <p:extLst>
      <p:ext uri="{BB962C8B-B14F-4D97-AF65-F5344CB8AC3E}">
        <ns3:creationId val="539452581"/>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1" nodeType="click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350"/>
                                  <p:tgtEl>
                                    <p:spTgt spid="3"/>
                                  </p:tgtEl>
                                </p:cBhvr>
                              </p:animEffect>
                            </p:childTnLst>
                          </p:cTn>
                        </p:par>
                        <p:par>
                          <p:cTn id="7" presetID="10" presetClass="entr" presetSubtype="0" fill="hold" grpId="1" nodeType="clickEffect">
                            <p:stCondLst>
                              <p:cond delay="0"/>
                            </p:stCondLst>
                            <p:childTnLst>
                              <p:set>
                                <p:cBhvr>
                                  <p:cTn id="8" dur="1" fill="hold">
                                    <p:stCondLst>
                                      <p:cond delay="0"/>
                                    </p:stCondLst>
                                  </p:cTn>
                                  <p:tgtEl>
                                    <p:spTgt spid="4"/>
                                  </p:tgtEl>
                                  <p:attrNameLst>
                                    <p:attrName>style.visibility</p:attrName>
                                  </p:attrNameLst>
                                </p:cBhvr>
                                <p:to>
                                  <p:strVal val="visible"/>
                                </p:to>
                              </p:set>
                              <p:animEffect transition="in" filter="fade">
                                <p:cBhvr>
                                  <p:cTn id="9" dur="350"/>
                                  <p:tgtEl>
                                    <p:spTgt spid="4"/>
                                  </p:tgtEl>
                                </p:cBhvr>
                              </p:animEffect>
                            </p:childTnLst>
                          </p:cTn>
                        </p:par>
                        <p:par>
                          <p:cTn id="10" presetID="10" presetClass="entr" presetSubtype="0" fill="hold" grpId="1"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350"/>
                                  <p:tgtEl>
                                    <p:spTgt spid="5"/>
                                  </p:tgtEl>
                                </p:cBhvr>
                              </p:animEffect>
                            </p:childTnLst>
                          </p:cTn>
                        </p:par>
                        <p:par>
                          <p:cTn id="13" presetID="10" presetClass="entr" presetSubtype="0" fill="hold" grpId="1"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350"/>
                                  <p:tgtEl>
                                    <p:spTgt spid="6"/>
                                  </p:tgtEl>
                                </p:cBhvr>
                              </p:animEffect>
                            </p:childTnLst>
                          </p:cTn>
                        </p:par>
                      </p:childTnLst>
                    </p:cTn>
                  </p:par>
                  <p:par>
                    <p:cTn id="16" fill="hold">
                      <p:stCondLst>
                        <p:cond delay="indefinite"/>
                      </p:stCondLst>
                      <p:childTnLst>
                        <p:par>
                          <p:cTn id="17" presetID="10" presetClass="entr" presetSubtype="0" fill="hold" grpId="2" nodeType="click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350"/>
                                  <p:tgtEl>
                                    <p:spTgt spid="11"/>
                                  </p:tgtEl>
                                </p:cBhvr>
                              </p:animEffect>
                            </p:childTnLst>
                          </p:cTn>
                        </p:par>
                        <p:par>
                          <p:cTn id="20" presetID="10" presetClass="entr" presetSubtype="0" fill="hold" grpId="2"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350"/>
                                  <p:tgtEl>
                                    <p:spTgt spid="12"/>
                                  </p:tgtEl>
                                </p:cBhvr>
                              </p:animEffect>
                            </p:childTnLst>
                          </p:cTn>
                        </p:par>
                      </p:childTnLst>
                    </p:cTn>
                  </p:par>
                  <p:par>
                    <p:cTn id="23" fill="hold">
                      <p:stCondLst>
                        <p:cond delay="indefinite"/>
                      </p:stCondLst>
                      <p:childTnLst>
                        <p:par>
                          <p:cTn id="24" presetID="10" presetClass="entr" presetSubtype="0" fill="hold" grpId="3" nodeType="click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fade">
                                <p:cBhvr>
                                  <p:cTn id="26" dur="350"/>
                                  <p:tgtEl>
                                    <p:spTgt spid="13"/>
                                  </p:tgtEl>
                                </p:cBhvr>
                              </p:animEffect>
                            </p:childTnLst>
                          </p:cTn>
                        </p:par>
                        <p:par>
                          <p:cTn id="27" presetID="10" presetClass="entr" presetSubtype="0" fill="hold" grpId="3" nodeType="click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fade">
                                <p:cBhvr>
                                  <p:cTn id="29" dur="350"/>
                                  <p:tgtEl>
                                    <p:spTgt spid="14"/>
                                  </p:tgtEl>
                                </p:cBhvr>
                              </p:animEffect>
                            </p:childTnLst>
                          </p:cTn>
                        </p:par>
                      </p:childTnLst>
                    </p:cTn>
                  </p:par>
                  <p:par>
                    <p:cTn id="30" fill="hold">
                      <p:stCondLst>
                        <p:cond delay="indefinite"/>
                      </p:stCondLst>
                      <p:childTnLst>
                        <p:par>
                          <p:cTn id="31" presetID="10" presetClass="entr" presetSubtype="0" fill="hold" grpId="4" nodeType="click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350"/>
                                  <p:tgtEl>
                                    <p:spTgt spid="15"/>
                                  </p:tgtEl>
                                </p:cBhvr>
                              </p:animEffect>
                            </p:childTnLst>
                          </p:cTn>
                        </p:par>
                        <p:par>
                          <p:cTn id="34" presetID="10" presetClass="entr" presetSubtype="0" fill="hold" grpId="4" nodeType="click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fade">
                                <p:cBhvr>
                                  <p:cTn id="36" dur="350"/>
                                  <p:tgtEl>
                                    <p:spTgt spid="16"/>
                                  </p:tgtEl>
                                </p:cBhvr>
                              </p:animEffect>
                            </p:childTnLst>
                          </p:cTn>
                        </p:par>
                      </p:childTnLst>
                    </p:cTn>
                  </p:par>
                  <p:par>
                    <p:cTn id="37" fill="hold">
                      <p:stCondLst>
                        <p:cond delay="indefinite"/>
                      </p:stCondLst>
                      <p:childTnLst>
                        <p:par>
                          <p:cTn id="38" presetID="10" presetClass="entr" presetSubtype="0" fill="hold" grpId="5" nodeType="clickEffect">
                            <p:stCondLst>
                              <p:cond delay="0"/>
                            </p:stCondLst>
                            <p:childTnLst>
                              <p:set>
                                <p:cBhvr>
                                  <p:cTn id="39" dur="1" fill="hold">
                                    <p:stCondLst>
                                      <p:cond delay="0"/>
                                    </p:stCondLst>
                                  </p:cTn>
                                  <p:tgtEl>
                                    <p:spTgt spid="17"/>
                                  </p:tgtEl>
                                  <p:attrNameLst>
                                    <p:attrName>style.visibility</p:attrName>
                                  </p:attrNameLst>
                                </p:cBhvr>
                                <p:to>
                                  <p:strVal val="visible"/>
                                </p:to>
                              </p:set>
                              <p:animEffect transition="in" filter="fade">
                                <p:cBhvr>
                                  <p:cTn id="40" dur="350"/>
                                  <p:tgtEl>
                                    <p:spTgt spid="17"/>
                                  </p:tgtEl>
                                </p:cBhvr>
                              </p:animEffect>
                            </p:childTnLst>
                          </p:cTn>
                        </p:par>
                        <p:par>
                          <p:cTn id="41" presetID="10" presetClass="entr" presetSubtype="0" fill="hold" grpId="5" nodeType="clickEffect">
                            <p:stCondLst>
                              <p:cond delay="0"/>
                            </p:stCondLst>
                            <p:childTnLst>
                              <p:set>
                                <p:cBhvr>
                                  <p:cTn id="42" dur="1" fill="hold">
                                    <p:stCondLst>
                                      <p:cond delay="0"/>
                                    </p:stCondLst>
                                  </p:cTn>
                                  <p:tgtEl>
                                    <p:spTgt spid="18"/>
                                  </p:tgtEl>
                                  <p:attrNameLst>
                                    <p:attrName>style.visibility</p:attrName>
                                  </p:attrNameLst>
                                </p:cBhvr>
                                <p:to>
                                  <p:strVal val="visible"/>
                                </p:to>
                              </p:set>
                              <p:animEffect transition="in" filter="fade">
                                <p:cBhvr>
                                  <p:cTn id="43" dur="350"/>
                                  <p:tgtEl>
                                    <p:spTgt spid="18"/>
                                  </p:tgtEl>
                                </p:cBhvr>
                              </p:animEffect>
                            </p:childTnLst>
                          </p:cTn>
                        </p:par>
                      </p:childTnLst>
                    </p:cTn>
                  </p:par>
                  <p:par>
                    <p:cTn id="44" fill="hold">
                      <p:stCondLst>
                        <p:cond delay="indefinite"/>
                      </p:stCondLst>
                      <p:childTnLst>
                        <p:par>
                          <p:cTn id="45" presetID="10" presetClass="entr" presetSubtype="0" fill="hold" grpId="6" nodeType="click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fade">
                                <p:cBhvr>
                                  <p:cTn id="47" dur="350"/>
                                  <p:tgtEl>
                                    <p:spTgt spid="19"/>
                                  </p:tgtEl>
                                </p:cBhvr>
                              </p:animEffect>
                            </p:childTnLst>
                          </p:cTn>
                        </p:par>
                        <p:par>
                          <p:cTn id="48" presetID="10" presetClass="entr" presetSubtype="0" fill="hold" grpId="6" nodeType="clickEffect">
                            <p:stCondLst>
                              <p:cond delay="0"/>
                            </p:stCondLst>
                            <p:childTnLst>
                              <p:set>
                                <p:cBhvr>
                                  <p:cTn id="49" dur="1" fill="hold">
                                    <p:stCondLst>
                                      <p:cond delay="0"/>
                                    </p:stCondLst>
                                  </p:cTn>
                                  <p:tgtEl>
                                    <p:spTgt spid="20"/>
                                  </p:tgtEl>
                                  <p:attrNameLst>
                                    <p:attrName>style.visibility</p:attrName>
                                  </p:attrNameLst>
                                </p:cBhvr>
                                <p:to>
                                  <p:strVal val="visible"/>
                                </p:to>
                              </p:set>
                              <p:animEffect transition="in" filter="fade">
                                <p:cBhvr>
                                  <p:cTn id="50" dur="350"/>
                                  <p:tgtEl>
                                    <p:spTgt spid="20"/>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3" grpId="1" uiExpand="1"/>
      <p:bldP spid="4" grpId="1" uiExpand="1"/>
      <p:bldP spid="5" grpId="1" uiExpand="1"/>
      <p:bldP spid="6" grpId="1" uiExpand="1"/>
      <p:bldP spid="11" grpId="2" uiExpand="1"/>
      <p:bldP spid="12" grpId="2" uiExpand="1"/>
      <p:bldP spid="13" grpId="3" uiExpand="1"/>
      <p:bldP spid="14" grpId="3" uiExpand="1"/>
      <p:bldP spid="15" grpId="4" uiExpand="1"/>
      <p:bldP spid="16" grpId="4" uiExpand="1"/>
      <p:bldP spid="17" grpId="5" uiExpand="1"/>
      <p:bldP spid="18" grpId="5" uiExpand="1"/>
      <p:bldP spid="19" grpId="6" uiExpand="1"/>
      <p:bldP spid="20" grpId="6" uiExpand="1"/>
    </p:bldLst>
  </p:timing>
</p:sld>
</file>

<file path=ppt/slides/slide35.xml><?xml version="1.0" encoding="utf-8"?>
<p:sld xmlns:a="http://schemas.openxmlformats.org/drawingml/2006/main" xmlns:ns2="http://schemas.microsoft.com/office/drawing/2014/main" xmlns:ns3="http://schemas.openxmlformats.org/drawingml/2006/chart" xmlns:ns5="http://schemas.microsoft.com/office/powerpoint/2010/main" xmlns:p="http://schemas.openxmlformats.org/presentationml/2006/main" xmlns:r="http://schemas.openxmlformats.org/officeDocument/2006/relationships">
  <p:cSld>
    <p:bg>
      <p:bgPr>
        <a:solidFill>
          <a:srgbClr val="F6F7F4"/>
        </a:solidFill>
      </p:bgPr>
    </p:bg>
    <p:spTree>
      <p:nvGrpSpPr>
        <p:cNvPr id="1" name=""/>
        <p:cNvGrpSpPr/>
        <p:nvPr/>
      </p:nvGrpSpPr>
      <p:grpSpPr>
        <a:xfrm/>
      </p:grpSpPr>
      <p:sp>
        <p:nvSpPr>
          <p:cNvPr id="9" name="fixed">
            <a:extLst>
              <a:ext uri="{FF2B5EF4-FFF2-40B4-BE49-F238E27FC236}">
                <ns2:creationId id="{EF512D1D-B72E-425B-AA33-C680EE2F76E7}"/>
              </a:ext>
            </a:extLst>
          </p:cNvPr>
          <p:cNvSpPr>
            <a:spLocks noGrp="1"/>
          </p:cNvSpPr>
          <p:nvPr/>
        </p:nvSpPr>
        <p:spPr>
          <a:xfrm>
            <a:off x="609600" y="523875"/>
            <a:ext cx="10906125" cy="1066800"/>
          </a:xfrm>
          <a:prstGeom prst="rect">
            <a:avLst/>
          </a:prstGeom>
          <a:noFill/>
          <a:ln w="0">
            <a:noFill/>
          </a:ln>
        </p:spPr>
        <p:txBody>
          <a:bodyPr>
            <a:noAutofit/>
          </a:bodyPr>
          <a:lstStyle/>
          <a:p>
            <a:pPr algn="l">
              <a:defRPr sz="3750" b="1">
                <a:solidFill>
                  <a:srgbClr val="172F3A"/>
                </a:solidFill>
                <a:latin typeface="Times New Roman"/>
                <a:ea typeface="Times New Roman"/>
                <a:cs typeface="Times New Roman"/>
              </a:defRPr>
            </a:pPr>
            <a:r>
              <a:rPr sz="3750" b="1">
                <a:solidFill>
                  <a:srgbClr val="172F3A"/>
                </a:solidFill>
                <a:latin typeface="Times New Roman"/>
                <a:ea typeface="Times New Roman"/>
                <a:cs typeface="Times New Roman"/>
              </a:rPr>
              <a:t>Reported load test: 50 candidate workers</a:t>
            </a:r>
          </a:p>
        </p:txBody>
      </p:sp>
      <p:sp>
        <p:nvSpPr>
          <p:cNvPr id="2" name="fixed">
            <a:extLst>
              <a:ext uri="{FF2B5EF4-FFF2-40B4-BE49-F238E27FC236}">
                <ns2:creationId id="{DE8B7D1C-754D-47EE-AE71-B383CB1F8B1F}"/>
              </a:ext>
            </a:extLst>
          </p:cNvPr>
          <p:cNvSpPr>
            <a:spLocks noGrp="1"/>
          </p:cNvSpPr>
          <p:nvPr/>
        </p:nvSpPr>
        <p:spPr>
          <a:xfrm>
            <a:off x="11029950" y="6334125"/>
            <a:ext cx="523875" cy="285750"/>
          </a:xfrm>
          <a:prstGeom prst="rect">
            <a:avLst/>
          </a:prstGeom>
          <a:noFill/>
          <a:ln w="0">
            <a:noFill/>
          </a:ln>
        </p:spPr>
        <p:txBody>
          <a:bodyPr>
            <a:noAutofit/>
          </a:bodyPr>
          <a:lstStyle/>
          <a:p>
            <a:pPr algn="r">
              <a:defRPr sz="1500" b="0">
                <a:solidFill>
                  <a:srgbClr val="4C6471"/>
                </a:solidFill>
                <a:latin typeface="Times New Roman"/>
                <a:ea typeface="Times New Roman"/>
                <a:cs typeface="Times New Roman"/>
              </a:defRPr>
            </a:pPr>
            <a:r>
              <a:rPr sz="1500" b="0">
                <a:solidFill>
                  <a:srgbClr val="4C6471"/>
                </a:solidFill>
                <a:latin typeface="Times New Roman"/>
                <a:ea typeface="Times New Roman"/>
                <a:cs typeface="Times New Roman"/>
              </a:rPr>
              <a:t>35</a:t>
            </a:r>
          </a:p>
        </p:txBody>
      </p:sp>
      <p:graphicFrame>
        <p:nvGraphicFramePr>
          <p:cNvPr id="11" name="Chart"/>
          <p:cNvGraphicFramePr/>
          <p:nvPr/>
        </p:nvGraphicFramePr>
        <p:xfrm>
          <a:off x="609600" y="2095500"/>
          <a:ext cx="7143750" cy="3429000"/>
        </p:xfrm>
        <a:graphic>
          <a:graphicData uri="http://schemas.openxmlformats.org/drawingml/2006/chart">
            <ns3:chart r:id="R42290abc56e042f3"/>
          </a:graphicData>
        </a:graphic>
      </p:graphicFrame>
      <p:sp>
        <p:nvSpPr>
          <p:cNvPr id="4" name="reveal-1">
            <a:extLst>
              <a:ext uri="{FF2B5EF4-FFF2-40B4-BE49-F238E27FC236}">
                <ns2:creationId id="{086C0D40-86DC-4EE2-9EFC-131BEE9FA040}"/>
              </a:ext>
            </a:extLst>
          </p:cNvPr>
          <p:cNvSpPr>
            <a:spLocks noGrp="1"/>
          </p:cNvSpPr>
          <p:nvPr/>
        </p:nvSpPr>
        <p:spPr>
          <a:xfrm>
            <a:off x="8239125" y="2162175"/>
            <a:ext cx="3333750" cy="1019175"/>
          </a:xfrm>
          <a:prstGeom prst="rect">
            <a:avLst/>
          </a:prstGeom>
          <a:noFill/>
          <a:ln w="0">
            <a:noFill/>
          </a:ln>
        </p:spPr>
        <p:txBody>
          <a:bodyPr>
            <a:noAutofit/>
          </a:bodyPr>
          <a:lstStyle/>
          <a:p>
            <a:pPr algn="l">
              <a:defRPr sz="6150" b="1">
                <a:solidFill>
                  <a:srgbClr val="087F8C"/>
                </a:solidFill>
                <a:latin typeface="Times New Roman"/>
                <a:ea typeface="Times New Roman"/>
                <a:cs typeface="Times New Roman"/>
              </a:defRPr>
            </a:pPr>
            <a:r>
              <a:rPr sz="6150" b="1">
                <a:solidFill>
                  <a:srgbClr val="087F8C"/>
                </a:solidFill>
                <a:latin typeface="Times New Roman"/>
                <a:ea typeface="Times New Roman"/>
                <a:cs typeface="Times New Roman"/>
              </a:rPr>
              <a:t>10.1×</a:t>
            </a:r>
          </a:p>
        </p:txBody>
      </p:sp>
      <p:sp>
        <p:nvSpPr>
          <p:cNvPr id="5" name="reveal-1">
            <a:extLst>
              <a:ext uri="{FF2B5EF4-FFF2-40B4-BE49-F238E27FC236}">
                <ns2:creationId id="{A5F0A560-AE6E-41CE-8FAF-0D391538E8D7}"/>
              </a:ext>
            </a:extLst>
          </p:cNvPr>
          <p:cNvSpPr>
            <a:spLocks noGrp="1"/>
          </p:cNvSpPr>
          <p:nvPr/>
        </p:nvSpPr>
        <p:spPr>
          <a:xfrm>
            <a:off x="8239125" y="3286125"/>
            <a:ext cx="3238500" cy="809625"/>
          </a:xfrm>
          <a:prstGeom prst="rect">
            <a:avLst/>
          </a:prstGeom>
          <a:noFill/>
          <a:ln w="0">
            <a:noFill/>
          </a:ln>
        </p:spPr>
        <p:txBody>
          <a:bodyPr>
            <a:noAutofit/>
          </a:bodyPr>
          <a:lstStyle/>
          <a:p>
            <a:pPr algn="l">
              <a:defRPr sz="2325" b="0">
                <a:solidFill>
                  <a:srgbClr val="4C6471"/>
                </a:solidFill>
                <a:latin typeface="Times New Roman"/>
                <a:ea typeface="Times New Roman"/>
                <a:cs typeface="Times New Roman"/>
              </a:defRPr>
            </a:pPr>
            <a:r>
              <a:rPr sz="2325" b="0">
                <a:solidFill>
                  <a:srgbClr val="4C6471"/>
                </a:solidFill>
                <a:latin typeface="Times New Roman"/>
                <a:ea typeface="Times New Roman"/>
                <a:cs typeface="Times New Roman"/>
              </a:rPr>
              <a:t>lower mean HTTP latency</a:t>
            </a:r>
          </a:p>
        </p:txBody>
      </p:sp>
      <p:sp>
        <p:nvSpPr>
          <p:cNvPr id="6" name="reveal-2">
            <a:extLst>
              <a:ext uri="{FF2B5EF4-FFF2-40B4-BE49-F238E27FC236}">
                <ns2:creationId id="{578CB365-9B0A-48EB-81CC-D399CD47E7CD}"/>
              </a:ext>
            </a:extLst>
          </p:cNvPr>
          <p:cNvSpPr>
            <a:spLocks noGrp="1"/>
          </p:cNvSpPr>
          <p:nvPr/>
        </p:nvSpPr>
        <p:spPr>
          <a:xfrm>
            <a:off x="8239125" y="4267200"/>
            <a:ext cx="3333750" cy="828675"/>
          </a:xfrm>
          <a:prstGeom prst="rect">
            <a:avLst/>
          </a:prstGeom>
          <a:noFill/>
          <a:ln w="0">
            <a:noFill/>
          </a:ln>
        </p:spPr>
        <p:txBody>
          <a:bodyPr>
            <a:noAutofit/>
          </a:bodyPr>
          <a:lstStyle/>
          <a:p>
            <a:pPr algn="l">
              <a:defRPr sz="4950" b="1">
                <a:solidFill>
                  <a:srgbClr val="172F3A"/>
                </a:solidFill>
                <a:latin typeface="Times New Roman"/>
                <a:ea typeface="Times New Roman"/>
                <a:cs typeface="Times New Roman"/>
              </a:defRPr>
            </a:pPr>
            <a:r>
              <a:rPr sz="4950" b="1">
                <a:solidFill>
                  <a:srgbClr val="172F3A"/>
                </a:solidFill>
                <a:latin typeface="Times New Roman"/>
                <a:ea typeface="Times New Roman"/>
                <a:cs typeface="Times New Roman"/>
              </a:rPr>
              <a:t>100%</a:t>
            </a:r>
          </a:p>
        </p:txBody>
      </p:sp>
      <p:sp>
        <p:nvSpPr>
          <p:cNvPr id="7" name="reveal-2">
            <a:extLst>
              <a:ext uri="{FF2B5EF4-FFF2-40B4-BE49-F238E27FC236}">
                <ns2:creationId id="{183BC8A1-C2EC-442A-B301-37F186D32E9D}"/>
              </a:ext>
            </a:extLst>
          </p:cNvPr>
          <p:cNvSpPr>
            <a:spLocks noGrp="1"/>
          </p:cNvSpPr>
          <p:nvPr/>
        </p:nvSpPr>
        <p:spPr>
          <a:xfrm>
            <a:off x="8239125" y="5153025"/>
            <a:ext cx="3238500" cy="685800"/>
          </a:xfrm>
          <a:prstGeom prst="rect">
            <a:avLst/>
          </a:prstGeom>
          <a:noFill/>
          <a:ln w="0">
            <a:noFill/>
          </a:ln>
        </p:spPr>
        <p:txBody>
          <a:bodyPr>
            <a:noAutofit/>
          </a:bodyPr>
          <a:lstStyle/>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request success in the</a:t>
            </a:r>
          </a:p>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reported after-run</a:t>
            </a:r>
          </a:p>
        </p:txBody>
      </p:sp>
      <p:sp>
        <p:nvSpPr>
          <p:cNvPr id="8" name="fixed">
            <a:extLst>
              <a:ext uri="{FF2B5EF4-FFF2-40B4-BE49-F238E27FC236}">
                <ns2:creationId id="{9C3D1318-8B94-4F46-BF97-7A567BE6077F}"/>
              </a:ext>
            </a:extLst>
          </p:cNvPr>
          <p:cNvSpPr>
            <a:spLocks noGrp="1"/>
          </p:cNvSpPr>
          <p:nvPr/>
        </p:nvSpPr>
        <p:spPr>
          <a:xfrm>
            <a:off x="609600" y="5953125"/>
            <a:ext cx="10668000" cy="457200"/>
          </a:xfrm>
          <a:prstGeom prst="rect">
            <a:avLst/>
          </a:prstGeom>
          <a:noFill/>
          <a:ln w="0">
            <a:noFill/>
          </a:ln>
        </p:spPr>
        <p:txBody>
          <a:bodyPr>
            <a:noAutofit/>
          </a:bodyPr>
          <a:lstStyle/>
          <a:p>
            <a:pPr algn="l">
              <a:defRPr sz="1725" b="0">
                <a:solidFill>
                  <a:srgbClr val="4C6471"/>
                </a:solidFill>
                <a:latin typeface="Times New Roman"/>
                <a:ea typeface="Times New Roman"/>
                <a:cs typeface="Times New Roman"/>
              </a:defRPr>
            </a:pPr>
            <a:r>
              <a:rPr sz="1725" b="0">
                <a:solidFill>
                  <a:srgbClr val="4C6471"/>
                </a:solidFill>
                <a:latin typeface="Times New Roman"/>
                <a:ea typeface="Times New Roman"/>
                <a:cs typeface="Times New Roman"/>
              </a:rPr>
              <a:t>Reported short synthetic HTTP trial. AI accuracy and end-to-end delivery were not measured.</a:t>
            </a:r>
          </a:p>
        </p:txBody>
      </p:sp>
    </p:spTree>
    <p:extLst>
      <p:ext uri="{BB962C8B-B14F-4D97-AF65-F5344CB8AC3E}">
        <ns5:creationId val="178548636"/>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1" nodeType="clickEffect">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fade">
                                <p:cBhvr>
                                  <p:cTn id="6" dur="350"/>
                                  <p:tgtEl>
                                    <p:spTgt spid="4"/>
                                  </p:tgtEl>
                                </p:cBhvr>
                              </p:animEffect>
                            </p:childTnLst>
                          </p:cTn>
                        </p:par>
                        <p:par>
                          <p:cTn id="7" presetID="10" presetClass="entr" presetSubtype="0" fill="hold" grpId="1" nodeType="clickEffect">
                            <p:stCondLst>
                              <p:cond delay="0"/>
                            </p:stCondLst>
                            <p:childTnLst>
                              <p:set>
                                <p:cBhvr>
                                  <p:cTn id="8" dur="1" fill="hold">
                                    <p:stCondLst>
                                      <p:cond delay="0"/>
                                    </p:stCondLst>
                                  </p:cTn>
                                  <p:tgtEl>
                                    <p:spTgt spid="5"/>
                                  </p:tgtEl>
                                  <p:attrNameLst>
                                    <p:attrName>style.visibility</p:attrName>
                                  </p:attrNameLst>
                                </p:cBhvr>
                                <p:to>
                                  <p:strVal val="visible"/>
                                </p:to>
                              </p:set>
                              <p:animEffect transition="in" filter="fade">
                                <p:cBhvr>
                                  <p:cTn id="9" dur="350"/>
                                  <p:tgtEl>
                                    <p:spTgt spid="5"/>
                                  </p:tgtEl>
                                </p:cBhvr>
                              </p:animEffect>
                            </p:childTnLst>
                          </p:cTn>
                        </p:par>
                      </p:childTnLst>
                    </p:cTn>
                  </p:par>
                  <p:par>
                    <p:cTn id="10" fill="hold">
                      <p:stCondLst>
                        <p:cond delay="indefinite"/>
                      </p:stCondLst>
                      <p:childTnLst>
                        <p:par>
                          <p:cTn id="11" presetID="10" presetClass="entr" presetSubtype="0" fill="hold" grpId="2"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350"/>
                                  <p:tgtEl>
                                    <p:spTgt spid="6"/>
                                  </p:tgtEl>
                                </p:cBhvr>
                              </p:animEffect>
                            </p:childTnLst>
                          </p:cTn>
                        </p:par>
                        <p:par>
                          <p:cTn id="14" presetID="10" presetClass="entr" presetSubtype="0" fill="hold" grpId="2"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350"/>
                                  <p:tgtEl>
                                    <p:spTgt spid="7"/>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4" grpId="1" uiExpand="1"/>
      <p:bldP spid="5" grpId="1" uiExpand="1"/>
      <p:bldP spid="6" grpId="2" uiExpand="1"/>
      <p:bldP spid="7" grpId="2" uiExpand="1"/>
    </p:bldLst>
  </p:timing>
</p:sld>
</file>

<file path=ppt/slides/slide36.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6F7F4"/>
        </a:solidFill>
      </p:bgPr>
    </p:bg>
    <p:spTree>
      <p:nvGrpSpPr>
        <p:cNvPr id="1" name=""/>
        <p:cNvGrpSpPr/>
        <p:nvPr/>
      </p:nvGrpSpPr>
      <p:grpSpPr>
        <a:xfrm/>
      </p:grpSpPr>
      <p:sp>
        <p:nvSpPr>
          <p:cNvPr id="16" name="fixed">
            <a:extLst>
              <a:ext uri="{FF2B5EF4-FFF2-40B4-BE49-F238E27FC236}">
                <ns2:creationId id="{5EAA697D-9881-4DE2-A028-DB693D5BCEB4}"/>
              </a:ext>
            </a:extLst>
          </p:cNvPr>
          <p:cNvSpPr>
            <a:spLocks noGrp="1"/>
          </p:cNvSpPr>
          <p:nvPr/>
        </p:nvSpPr>
        <p:spPr>
          <a:xfrm>
            <a:off x="609600" y="523875"/>
            <a:ext cx="10906125" cy="1066800"/>
          </a:xfrm>
          <a:prstGeom prst="rect">
            <a:avLst/>
          </a:prstGeom>
          <a:noFill/>
          <a:ln w="0">
            <a:noFill/>
          </a:ln>
        </p:spPr>
        <p:txBody>
          <a:bodyPr>
            <a:noAutofit/>
          </a:bodyPr>
          <a:lstStyle/>
          <a:p>
            <a:pPr algn="l">
              <a:defRPr sz="3750" b="1">
                <a:solidFill>
                  <a:srgbClr val="172F3A"/>
                </a:solidFill>
                <a:latin typeface="Times New Roman"/>
                <a:ea typeface="Times New Roman"/>
                <a:cs typeface="Times New Roman"/>
              </a:defRPr>
            </a:pPr>
            <a:r>
              <a:rPr sz="3750" b="1">
                <a:solidFill>
                  <a:srgbClr val="172F3A"/>
                </a:solidFill>
                <a:latin typeface="Times New Roman"/>
                <a:ea typeface="Times New Roman"/>
                <a:cs typeface="Times New Roman"/>
              </a:rPr>
              <a:t>Ingestion performance improvement</a:t>
            </a:r>
          </a:p>
        </p:txBody>
      </p:sp>
      <p:sp>
        <p:nvSpPr>
          <p:cNvPr id="2" name="fixed">
            <a:extLst>
              <a:ext uri="{FF2B5EF4-FFF2-40B4-BE49-F238E27FC236}">
                <ns2:creationId id="{68E85FFF-763B-49C9-B28B-64A336BD23D9}"/>
              </a:ext>
            </a:extLst>
          </p:cNvPr>
          <p:cNvSpPr>
            <a:spLocks noGrp="1"/>
          </p:cNvSpPr>
          <p:nvPr/>
        </p:nvSpPr>
        <p:spPr>
          <a:xfrm>
            <a:off x="11029950" y="6334125"/>
            <a:ext cx="523875" cy="285750"/>
          </a:xfrm>
          <a:prstGeom prst="rect">
            <a:avLst/>
          </a:prstGeom>
          <a:noFill/>
          <a:ln w="0">
            <a:noFill/>
          </a:ln>
        </p:spPr>
        <p:txBody>
          <a:bodyPr>
            <a:noAutofit/>
          </a:bodyPr>
          <a:lstStyle/>
          <a:p>
            <a:pPr algn="r">
              <a:defRPr sz="1500" b="0">
                <a:solidFill>
                  <a:srgbClr val="4C6471"/>
                </a:solidFill>
                <a:latin typeface="Times New Roman"/>
                <a:ea typeface="Times New Roman"/>
                <a:cs typeface="Times New Roman"/>
              </a:defRPr>
            </a:pPr>
            <a:r>
              <a:rPr sz="1500" b="0">
                <a:solidFill>
                  <a:srgbClr val="4C6471"/>
                </a:solidFill>
                <a:latin typeface="Times New Roman"/>
                <a:ea typeface="Times New Roman"/>
                <a:cs typeface="Times New Roman"/>
              </a:rPr>
              <a:t>36</a:t>
            </a:r>
          </a:p>
        </p:txBody>
      </p:sp>
      <p:sp>
        <p:nvSpPr>
          <p:cNvPr id="3" name="reveal-1">
            <a:extLst>
              <a:ext uri="{FF2B5EF4-FFF2-40B4-BE49-F238E27FC236}">
                <ns2:creationId id="{1E90510B-6E56-41FE-9BFE-CC8D99FE95AC}"/>
              </a:ext>
            </a:extLst>
          </p:cNvPr>
          <p:cNvSpPr>
            <a:spLocks noGrp="1"/>
          </p:cNvSpPr>
          <p:nvPr/>
        </p:nvSpPr>
        <p:spPr>
          <a:xfrm>
            <a:off x="609600" y="1895475"/>
            <a:ext cx="10477500" cy="428625"/>
          </a:xfrm>
          <a:prstGeom prst="rect">
            <a:avLst/>
          </a:prstGeom>
          <a:noFill/>
          <a:ln w="0">
            <a:noFill/>
          </a:ln>
        </p:spPr>
        <p:txBody>
          <a:bodyPr>
            <a:noAutofit/>
          </a:bodyPr>
          <a:lstStyle/>
          <a:p>
            <a:pPr algn="l">
              <a:defRPr sz="2475" b="1">
                <a:solidFill>
                  <a:srgbClr val="4C6471"/>
                </a:solidFill>
                <a:latin typeface="Times New Roman"/>
                <a:ea typeface="Times New Roman"/>
                <a:cs typeface="Times New Roman"/>
              </a:defRPr>
            </a:pPr>
            <a:r>
              <a:rPr sz="2475" b="1">
                <a:solidFill>
                  <a:srgbClr val="4C6471"/>
                </a:solidFill>
                <a:latin typeface="Times New Roman"/>
                <a:ea typeface="Times New Roman"/>
                <a:cs typeface="Times New Roman"/>
              </a:rPr>
              <a:t>Earlier response path</a:t>
            </a:r>
          </a:p>
        </p:txBody>
      </p:sp>
      <p:sp>
        <p:nvSpPr>
          <p:cNvPr id="4" name="reveal-2">
            <a:extLst>
              <a:ext uri="{FF2B5EF4-FFF2-40B4-BE49-F238E27FC236}">
                <ns2:creationId id="{230A9112-3BCD-42AF-B483-4D8B46BAC250}"/>
              </a:ext>
            </a:extLst>
          </p:cNvPr>
          <p:cNvSpPr>
            <a:spLocks noGrp="1"/>
          </p:cNvSpPr>
          <p:nvPr/>
        </p:nvSpPr>
        <p:spPr>
          <a:xfrm>
            <a:off x="609600" y="2505075"/>
            <a:ext cx="3346450"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Save violation</a:t>
            </a:r>
          </a:p>
        </p:txBody>
      </p:sp>
      <p:sp>
        <p:nvSpPr>
          <p:cNvPr id="5" name="reveal-3">
            <a:extLst>
              <a:ext uri="{FF2B5EF4-FFF2-40B4-BE49-F238E27FC236}">
                <ns2:creationId id="{EA00D89E-4512-4168-98C4-30132BDE42C4}"/>
              </a:ext>
            </a:extLst>
          </p:cNvPr>
          <p:cNvSpPr>
            <a:spLocks noGrp="1"/>
          </p:cNvSpPr>
          <p:nvPr/>
        </p:nvSpPr>
        <p:spPr>
          <a:xfrm>
            <a:off x="4413250" y="2505075"/>
            <a:ext cx="3346450"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Calculate risk</a:t>
            </a:r>
          </a:p>
        </p:txBody>
      </p:sp>
      <p:sp>
        <p:nvSpPr>
          <p:cNvPr id="6" name="reveal-4">
            <a:extLst>
              <a:ext uri="{FF2B5EF4-FFF2-40B4-BE49-F238E27FC236}">
                <ns2:creationId id="{90F7FB57-0BB6-427A-8A8D-4133538825D2}"/>
              </a:ext>
            </a:extLst>
          </p:cNvPr>
          <p:cNvSpPr>
            <a:spLocks noGrp="1"/>
          </p:cNvSpPr>
          <p:nvPr/>
        </p:nvSpPr>
        <p:spPr>
          <a:xfrm>
            <a:off x="8216900" y="2505075"/>
            <a:ext cx="3346450"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Broadcast and respond</a:t>
            </a:r>
          </a:p>
        </p:txBody>
      </p:sp>
      <p:cxnSp>
        <p:nvCxnSpPr>
          <p:cNvPr id="22" name="reveal-3"/>
          <p:cNvCxnSpPr>
            <a:stCxn id="4" idx="3"/>
            <a:endCxn id="5" idx="1"/>
          </p:cNvCxnSpPr>
          <p:nvPr/>
        </p:nvCxnSpPr>
        <p:spPr>
          <a:xfrm>
            <a:off x="3956050" y="2981325"/>
            <a:ext cx="457200" cy="0"/>
          </a:xfrm>
          <a:prstGeom prst="straightConnector1">
            <a:avLst/>
          </a:prstGeom>
          <a:ln w="19050">
            <a:solidFill>
              <a:srgbClr val="087F8C"/>
            </a:solidFill>
            <a:tailEnd type="arrow" w="med" len="med"/>
          </a:ln>
        </p:spPr>
      </p:cxnSp>
      <p:cxnSp>
        <p:nvCxnSpPr>
          <p:cNvPr id="23" name="reveal-4"/>
          <p:cNvCxnSpPr>
            <a:stCxn id="5" idx="3"/>
            <a:endCxn id="6" idx="1"/>
          </p:cNvCxnSpPr>
          <p:nvPr/>
        </p:nvCxnSpPr>
        <p:spPr>
          <a:xfrm>
            <a:off x="7759700" y="2981325"/>
            <a:ext cx="457200" cy="0"/>
          </a:xfrm>
          <a:prstGeom prst="straightConnector1">
            <a:avLst/>
          </a:prstGeom>
          <a:ln w="19050">
            <a:solidFill>
              <a:srgbClr val="087F8C"/>
            </a:solidFill>
            <a:tailEnd type="arrow" w="med" len="med"/>
          </a:ln>
        </p:spPr>
      </p:cxnSp>
      <p:sp>
        <p:nvSpPr>
          <p:cNvPr id="9" name="reveal-5">
            <a:extLst>
              <a:ext uri="{FF2B5EF4-FFF2-40B4-BE49-F238E27FC236}">
                <ns2:creationId id="{469CCEF7-D089-4BAB-BF04-DE9935002F21}"/>
              </a:ext>
            </a:extLst>
          </p:cNvPr>
          <p:cNvSpPr>
            <a:spLocks noGrp="1"/>
          </p:cNvSpPr>
          <p:nvPr/>
        </p:nvSpPr>
        <p:spPr>
          <a:xfrm>
            <a:off x="609600" y="3810000"/>
            <a:ext cx="10477500" cy="428625"/>
          </a:xfrm>
          <a:prstGeom prst="rect">
            <a:avLst/>
          </a:prstGeom>
          <a:noFill/>
          <a:ln w="0">
            <a:noFill/>
          </a:ln>
        </p:spPr>
        <p:txBody>
          <a:bodyPr>
            <a:noAutofit/>
          </a:bodyPr>
          <a:lstStyle/>
          <a:p>
            <a:pPr algn="l">
              <a:defRPr sz="2475" b="1">
                <a:solidFill>
                  <a:srgbClr val="087F8C"/>
                </a:solidFill>
                <a:latin typeface="Times New Roman"/>
                <a:ea typeface="Times New Roman"/>
                <a:cs typeface="Times New Roman"/>
              </a:defRPr>
            </a:pPr>
            <a:r>
              <a:rPr sz="2475" b="1">
                <a:solidFill>
                  <a:srgbClr val="087F8C"/>
                </a:solidFill>
                <a:latin typeface="Times New Roman"/>
                <a:ea typeface="Times New Roman"/>
                <a:cs typeface="Times New Roman"/>
              </a:rPr>
              <a:t>Current response path</a:t>
            </a:r>
          </a:p>
        </p:txBody>
      </p:sp>
      <p:sp>
        <p:nvSpPr>
          <p:cNvPr id="10" name="reveal-6">
            <a:extLst>
              <a:ext uri="{FF2B5EF4-FFF2-40B4-BE49-F238E27FC236}">
                <ns2:creationId id="{A9803662-A795-40BC-8725-502A4317484B}"/>
              </a:ext>
            </a:extLst>
          </p:cNvPr>
          <p:cNvSpPr>
            <a:spLocks noGrp="1"/>
          </p:cNvSpPr>
          <p:nvPr/>
        </p:nvSpPr>
        <p:spPr>
          <a:xfrm>
            <a:off x="609600" y="4429125"/>
            <a:ext cx="3346450"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Save violation</a:t>
            </a:r>
          </a:p>
        </p:txBody>
      </p:sp>
      <p:sp>
        <p:nvSpPr>
          <p:cNvPr id="11" name="reveal-7">
            <a:extLst>
              <a:ext uri="{FF2B5EF4-FFF2-40B4-BE49-F238E27FC236}">
                <ns2:creationId id="{9BB258ED-6CA0-47AF-B688-524E8E4E1BF7}"/>
              </a:ext>
            </a:extLst>
          </p:cNvPr>
          <p:cNvSpPr>
            <a:spLocks noGrp="1"/>
          </p:cNvSpPr>
          <p:nvPr/>
        </p:nvSpPr>
        <p:spPr>
          <a:xfrm>
            <a:off x="4413250" y="4429125"/>
            <a:ext cx="3346450"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Return HTTP 201</a:t>
            </a:r>
          </a:p>
        </p:txBody>
      </p:sp>
      <p:sp>
        <p:nvSpPr>
          <p:cNvPr id="12" name="reveal-8">
            <a:extLst>
              <a:ext uri="{FF2B5EF4-FFF2-40B4-BE49-F238E27FC236}">
                <ns2:creationId id="{58C08B0D-8996-4A53-A553-E50CBDC81DD0}"/>
              </a:ext>
            </a:extLst>
          </p:cNvPr>
          <p:cNvSpPr>
            <a:spLocks noGrp="1"/>
          </p:cNvSpPr>
          <p:nvPr/>
        </p:nvSpPr>
        <p:spPr>
          <a:xfrm>
            <a:off x="8216900" y="4429125"/>
            <a:ext cx="3346450"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Defer live update / score</a:t>
            </a:r>
          </a:p>
        </p:txBody>
      </p:sp>
      <p:cxnSp>
        <p:nvCxnSpPr>
          <p:cNvPr id="28" name="reveal-7"/>
          <p:cNvCxnSpPr>
            <a:stCxn id="10" idx="3"/>
            <a:endCxn id="11" idx="1"/>
          </p:cNvCxnSpPr>
          <p:nvPr/>
        </p:nvCxnSpPr>
        <p:spPr>
          <a:xfrm>
            <a:off x="3956050" y="4905375"/>
            <a:ext cx="457200" cy="0"/>
          </a:xfrm>
          <a:prstGeom prst="straightConnector1">
            <a:avLst/>
          </a:prstGeom>
          <a:ln w="19050">
            <a:solidFill>
              <a:srgbClr val="087F8C"/>
            </a:solidFill>
            <a:tailEnd type="arrow" w="med" len="med"/>
          </a:ln>
        </p:spPr>
      </p:cxnSp>
      <p:cxnSp>
        <p:nvCxnSpPr>
          <p:cNvPr id="29" name="reveal-8"/>
          <p:cNvCxnSpPr>
            <a:stCxn id="11" idx="3"/>
            <a:endCxn id="12" idx="1"/>
          </p:cNvCxnSpPr>
          <p:nvPr/>
        </p:nvCxnSpPr>
        <p:spPr>
          <a:xfrm>
            <a:off x="7759700" y="4905375"/>
            <a:ext cx="457200" cy="0"/>
          </a:xfrm>
          <a:prstGeom prst="straightConnector1">
            <a:avLst/>
          </a:prstGeom>
          <a:ln w="19050">
            <a:solidFill>
              <a:srgbClr val="087F8C"/>
            </a:solidFill>
            <a:tailEnd type="arrow" w="med" len="med"/>
          </a:ln>
        </p:spPr>
      </p:cxnSp>
      <p:sp>
        <p:nvSpPr>
          <p:cNvPr id="15" name="fixed">
            <a:extLst>
              <a:ext uri="{FF2B5EF4-FFF2-40B4-BE49-F238E27FC236}">
                <ns2:creationId id="{415548AE-5D86-4AEE-BBD2-B28299E678C8}"/>
              </a:ext>
            </a:extLst>
          </p:cNvPr>
          <p:cNvSpPr>
            <a:spLocks noGrp="1"/>
          </p:cNvSpPr>
          <p:nvPr/>
        </p:nvSpPr>
        <p:spPr>
          <a:xfrm>
            <a:off x="609600" y="5953125"/>
            <a:ext cx="10668000" cy="457200"/>
          </a:xfrm>
          <a:prstGeom prst="rect">
            <a:avLst/>
          </a:prstGeom>
          <a:noFill/>
          <a:ln w="0">
            <a:noFill/>
          </a:ln>
        </p:spPr>
        <p:txBody>
          <a:bodyPr>
            <a:noAutofit/>
          </a:bodyPr>
          <a:lstStyle/>
          <a:p>
            <a:pPr algn="l">
              <a:defRPr sz="1725" b="0">
                <a:solidFill>
                  <a:srgbClr val="4C6471"/>
                </a:solidFill>
                <a:latin typeface="Times New Roman"/>
                <a:ea typeface="Times New Roman"/>
                <a:cs typeface="Times New Roman"/>
              </a:defRPr>
            </a:pPr>
            <a:r>
              <a:rPr sz="1725" b="0">
                <a:solidFill>
                  <a:srgbClr val="4C6471"/>
                </a:solidFill>
                <a:latin typeface="Times New Roman"/>
                <a:ea typeface="Times New Roman"/>
                <a:cs typeface="Times New Roman"/>
              </a:rPr>
              <a:t>A faster HTTP acknowledgement does not establish guaranteed examiner delivery latency.</a:t>
            </a:r>
          </a:p>
        </p:txBody>
      </p:sp>
    </p:spTree>
    <p:extLst>
      <p:ext uri="{BB962C8B-B14F-4D97-AF65-F5344CB8AC3E}">
        <ns3:creationId val="171160385"/>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1" nodeType="click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350"/>
                                  <p:tgtEl>
                                    <p:spTgt spid="3"/>
                                  </p:tgtEl>
                                </p:cBhvr>
                              </p:animEffect>
                            </p:childTnLst>
                          </p:cTn>
                        </p:par>
                      </p:childTnLst>
                    </p:cTn>
                  </p:par>
                  <p:par>
                    <p:cTn id="7" fill="hold">
                      <p:stCondLst>
                        <p:cond delay="indefinite"/>
                      </p:stCondLst>
                      <p:childTnLst>
                        <p:par>
                          <p:cTn id="8" presetID="10" presetClass="entr" presetSubtype="0" fill="hold" grpId="2" nodeType="click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350"/>
                                  <p:tgtEl>
                                    <p:spTgt spid="4"/>
                                  </p:tgtEl>
                                </p:cBhvr>
                              </p:animEffect>
                            </p:childTnLst>
                          </p:cTn>
                        </p:par>
                      </p:childTnLst>
                    </p:cTn>
                  </p:par>
                  <p:par>
                    <p:cTn id="11" fill="hold">
                      <p:stCondLst>
                        <p:cond delay="indefinite"/>
                      </p:stCondLst>
                      <p:childTnLst>
                        <p:par>
                          <p:cTn id="12" presetID="10" presetClass="entr" presetSubtype="0" fill="hold" grpId="3"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350"/>
                                  <p:tgtEl>
                                    <p:spTgt spid="5"/>
                                  </p:tgtEl>
                                </p:cBhvr>
                              </p:animEffect>
                            </p:childTnLst>
                          </p:cTn>
                        </p:par>
                        <p:par>
                          <p:cTn id="15" presetID="10" presetClass="entr" presetSubtype="0" fill="hold" grpId="3"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fade">
                                <p:cBhvr>
                                  <p:cTn id="17" dur="350"/>
                                  <p:tgtEl>
                                    <p:spTgt spid="22"/>
                                  </p:tgtEl>
                                </p:cBhvr>
                              </p:animEffect>
                            </p:childTnLst>
                          </p:cTn>
                        </p:par>
                      </p:childTnLst>
                    </p:cTn>
                  </p:par>
                  <p:par>
                    <p:cTn id="18" fill="hold">
                      <p:stCondLst>
                        <p:cond delay="indefinite"/>
                      </p:stCondLst>
                      <p:childTnLst>
                        <p:par>
                          <p:cTn id="19" presetID="10" presetClass="entr" presetSubtype="0" fill="hold" grpId="4"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350"/>
                                  <p:tgtEl>
                                    <p:spTgt spid="6"/>
                                  </p:tgtEl>
                                </p:cBhvr>
                              </p:animEffect>
                            </p:childTnLst>
                          </p:cTn>
                        </p:par>
                        <p:par>
                          <p:cTn id="22" presetID="10" presetClass="entr" presetSubtype="0" fill="hold" grpId="4"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350"/>
                                  <p:tgtEl>
                                    <p:spTgt spid="23"/>
                                  </p:tgtEl>
                                </p:cBhvr>
                              </p:animEffect>
                            </p:childTnLst>
                          </p:cTn>
                        </p:par>
                      </p:childTnLst>
                    </p:cTn>
                  </p:par>
                  <p:par>
                    <p:cTn id="25" fill="hold">
                      <p:stCondLst>
                        <p:cond delay="indefinite"/>
                      </p:stCondLst>
                      <p:childTnLst>
                        <p:par>
                          <p:cTn id="26" presetID="10" presetClass="entr" presetSubtype="0" fill="hold" grpId="5" nodeType="click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350"/>
                                  <p:tgtEl>
                                    <p:spTgt spid="9"/>
                                  </p:tgtEl>
                                </p:cBhvr>
                              </p:animEffect>
                            </p:childTnLst>
                          </p:cTn>
                        </p:par>
                      </p:childTnLst>
                    </p:cTn>
                  </p:par>
                  <p:par>
                    <p:cTn id="29" fill="hold">
                      <p:stCondLst>
                        <p:cond delay="indefinite"/>
                      </p:stCondLst>
                      <p:childTnLst>
                        <p:par>
                          <p:cTn id="30" presetID="10" presetClass="entr" presetSubtype="0" fill="hold" grpId="6"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350"/>
                                  <p:tgtEl>
                                    <p:spTgt spid="10"/>
                                  </p:tgtEl>
                                </p:cBhvr>
                              </p:animEffect>
                            </p:childTnLst>
                          </p:cTn>
                        </p:par>
                      </p:childTnLst>
                    </p:cTn>
                  </p:par>
                  <p:par>
                    <p:cTn id="33" fill="hold">
                      <p:stCondLst>
                        <p:cond delay="indefinite"/>
                      </p:stCondLst>
                      <p:childTnLst>
                        <p:par>
                          <p:cTn id="34" presetID="10" presetClass="entr" presetSubtype="0" fill="hold" grpId="7" nodeType="clickEffect">
                            <p:stCondLst>
                              <p:cond delay="0"/>
                            </p:stCondLst>
                            <p:childTnLst>
                              <p:set>
                                <p:cBhvr>
                                  <p:cTn id="35" dur="1" fill="hold">
                                    <p:stCondLst>
                                      <p:cond delay="0"/>
                                    </p:stCondLst>
                                  </p:cTn>
                                  <p:tgtEl>
                                    <p:spTgt spid="11"/>
                                  </p:tgtEl>
                                  <p:attrNameLst>
                                    <p:attrName>style.visibility</p:attrName>
                                  </p:attrNameLst>
                                </p:cBhvr>
                                <p:to>
                                  <p:strVal val="visible"/>
                                </p:to>
                              </p:set>
                              <p:animEffect transition="in" filter="fade">
                                <p:cBhvr>
                                  <p:cTn id="36" dur="350"/>
                                  <p:tgtEl>
                                    <p:spTgt spid="11"/>
                                  </p:tgtEl>
                                </p:cBhvr>
                              </p:animEffect>
                            </p:childTnLst>
                          </p:cTn>
                        </p:par>
                        <p:par>
                          <p:cTn id="37" presetID="10" presetClass="entr" presetSubtype="0" fill="hold" grpId="7" nodeType="clickEffect">
                            <p:stCondLst>
                              <p:cond delay="0"/>
                            </p:stCondLst>
                            <p:childTnLst>
                              <p:set>
                                <p:cBhvr>
                                  <p:cTn id="38" dur="1" fill="hold">
                                    <p:stCondLst>
                                      <p:cond delay="0"/>
                                    </p:stCondLst>
                                  </p:cTn>
                                  <p:tgtEl>
                                    <p:spTgt spid="28"/>
                                  </p:tgtEl>
                                  <p:attrNameLst>
                                    <p:attrName>style.visibility</p:attrName>
                                  </p:attrNameLst>
                                </p:cBhvr>
                                <p:to>
                                  <p:strVal val="visible"/>
                                </p:to>
                              </p:set>
                              <p:animEffect transition="in" filter="fade">
                                <p:cBhvr>
                                  <p:cTn id="39" dur="350"/>
                                  <p:tgtEl>
                                    <p:spTgt spid="28"/>
                                  </p:tgtEl>
                                </p:cBhvr>
                              </p:animEffect>
                            </p:childTnLst>
                          </p:cTn>
                        </p:par>
                      </p:childTnLst>
                    </p:cTn>
                  </p:par>
                  <p:par>
                    <p:cTn id="40" fill="hold">
                      <p:stCondLst>
                        <p:cond delay="indefinite"/>
                      </p:stCondLst>
                      <p:childTnLst>
                        <p:par>
                          <p:cTn id="41" presetID="10" presetClass="entr" presetSubtype="0" fill="hold" grpId="8" nodeType="clickEffect">
                            <p:stCondLst>
                              <p:cond delay="0"/>
                            </p:stCondLst>
                            <p:childTnLst>
                              <p:set>
                                <p:cBhvr>
                                  <p:cTn id="42" dur="1" fill="hold">
                                    <p:stCondLst>
                                      <p:cond delay="0"/>
                                    </p:stCondLst>
                                  </p:cTn>
                                  <p:tgtEl>
                                    <p:spTgt spid="12"/>
                                  </p:tgtEl>
                                  <p:attrNameLst>
                                    <p:attrName>style.visibility</p:attrName>
                                  </p:attrNameLst>
                                </p:cBhvr>
                                <p:to>
                                  <p:strVal val="visible"/>
                                </p:to>
                              </p:set>
                              <p:animEffect transition="in" filter="fade">
                                <p:cBhvr>
                                  <p:cTn id="43" dur="350"/>
                                  <p:tgtEl>
                                    <p:spTgt spid="12"/>
                                  </p:tgtEl>
                                </p:cBhvr>
                              </p:animEffect>
                            </p:childTnLst>
                          </p:cTn>
                        </p:par>
                        <p:par>
                          <p:cTn id="44" presetID="10" presetClass="entr" presetSubtype="0" fill="hold" grpId="8" nodeType="clickEffect">
                            <p:stCondLst>
                              <p:cond delay="0"/>
                            </p:stCondLst>
                            <p:childTnLst>
                              <p:set>
                                <p:cBhvr>
                                  <p:cTn id="45" dur="1" fill="hold">
                                    <p:stCondLst>
                                      <p:cond delay="0"/>
                                    </p:stCondLst>
                                  </p:cTn>
                                  <p:tgtEl>
                                    <p:spTgt spid="29"/>
                                  </p:tgtEl>
                                  <p:attrNameLst>
                                    <p:attrName>style.visibility</p:attrName>
                                  </p:attrNameLst>
                                </p:cBhvr>
                                <p:to>
                                  <p:strVal val="visible"/>
                                </p:to>
                              </p:set>
                              <p:animEffect transition="in" filter="fade">
                                <p:cBhvr>
                                  <p:cTn id="46" dur="350"/>
                                  <p:tgtEl>
                                    <p:spTgt spid="29"/>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3" grpId="1" uiExpand="1"/>
      <p:bldP spid="4" grpId="2" uiExpand="1"/>
      <p:bldP spid="5" grpId="3" uiExpand="1"/>
      <p:bldP spid="22" grpId="3" uiExpand="1"/>
      <p:bldP spid="6" grpId="4" uiExpand="1"/>
      <p:bldP spid="23" grpId="4" uiExpand="1"/>
      <p:bldP spid="9" grpId="5" uiExpand="1"/>
      <p:bldP spid="10" grpId="6" uiExpand="1"/>
      <p:bldP spid="11" grpId="7" uiExpand="1"/>
      <p:bldP spid="28" grpId="7" uiExpand="1"/>
      <p:bldP spid="12" grpId="8" uiExpand="1"/>
      <p:bldP spid="29" grpId="8" uiExpand="1"/>
    </p:bldLst>
  </p:timing>
</p:sld>
</file>

<file path=ppt/slides/slide37.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6F7F4"/>
        </a:solidFill>
      </p:bgPr>
    </p:bg>
    <p:spTree>
      <p:nvGrpSpPr>
        <p:cNvPr id="1" name=""/>
        <p:cNvGrpSpPr/>
        <p:nvPr/>
      </p:nvGrpSpPr>
      <p:grpSpPr>
        <a:xfrm/>
      </p:grpSpPr>
      <p:sp>
        <p:nvSpPr>
          <p:cNvPr id="5" name="fixed">
            <a:extLst>
              <a:ext uri="{FF2B5EF4-FFF2-40B4-BE49-F238E27FC236}">
                <ns2:creationId id="{70DD0616-50B9-4898-9C8C-AFC6C1AEE83C}"/>
              </a:ext>
            </a:extLst>
          </p:cNvPr>
          <p:cNvSpPr>
            <a:spLocks noGrp="1"/>
          </p:cNvSpPr>
          <p:nvPr/>
        </p:nvSpPr>
        <p:spPr>
          <a:xfrm>
            <a:off x="609600" y="523875"/>
            <a:ext cx="10906125" cy="1066800"/>
          </a:xfrm>
          <a:prstGeom prst="rect">
            <a:avLst/>
          </a:prstGeom>
          <a:noFill/>
          <a:ln w="0">
            <a:noFill/>
          </a:ln>
        </p:spPr>
        <p:txBody>
          <a:bodyPr>
            <a:noAutofit/>
          </a:bodyPr>
          <a:lstStyle/>
          <a:p>
            <a:pPr algn="l">
              <a:defRPr sz="3750" b="1">
                <a:solidFill>
                  <a:srgbClr val="172F3A"/>
                </a:solidFill>
                <a:latin typeface="Times New Roman"/>
                <a:ea typeface="Times New Roman"/>
                <a:cs typeface="Times New Roman"/>
              </a:defRPr>
            </a:pPr>
            <a:r>
              <a:rPr sz="3750" b="1">
                <a:solidFill>
                  <a:srgbClr val="172F3A"/>
                </a:solidFill>
                <a:latin typeface="Times New Roman"/>
                <a:ea typeface="Times New Roman"/>
                <a:cs typeface="Times New Roman"/>
              </a:rPr>
              <a:t>Implementation progress by module</a:t>
            </a:r>
          </a:p>
        </p:txBody>
      </p:sp>
      <p:sp>
        <p:nvSpPr>
          <p:cNvPr id="2" name="fixed">
            <a:extLst>
              <a:ext uri="{FF2B5EF4-FFF2-40B4-BE49-F238E27FC236}">
                <ns2:creationId id="{F6FE9D43-5384-45FE-82DC-06590CBD7C43}"/>
              </a:ext>
            </a:extLst>
          </p:cNvPr>
          <p:cNvSpPr>
            <a:spLocks noGrp="1"/>
          </p:cNvSpPr>
          <p:nvPr/>
        </p:nvSpPr>
        <p:spPr>
          <a:xfrm>
            <a:off x="11029950" y="6334125"/>
            <a:ext cx="523875" cy="285750"/>
          </a:xfrm>
          <a:prstGeom prst="rect">
            <a:avLst/>
          </a:prstGeom>
          <a:noFill/>
          <a:ln w="0">
            <a:noFill/>
          </a:ln>
        </p:spPr>
        <p:txBody>
          <a:bodyPr>
            <a:noAutofit/>
          </a:bodyPr>
          <a:lstStyle/>
          <a:p>
            <a:pPr algn="r">
              <a:defRPr sz="1500" b="0">
                <a:solidFill>
                  <a:srgbClr val="4C6471"/>
                </a:solidFill>
                <a:latin typeface="Times New Roman"/>
                <a:ea typeface="Times New Roman"/>
                <a:cs typeface="Times New Roman"/>
              </a:defRPr>
            </a:pPr>
            <a:r>
              <a:rPr sz="1500" b="0">
                <a:solidFill>
                  <a:srgbClr val="4C6471"/>
                </a:solidFill>
                <a:latin typeface="Times New Roman"/>
                <a:ea typeface="Times New Roman"/>
                <a:cs typeface="Times New Roman"/>
              </a:rPr>
              <a:t>37</a:t>
            </a:r>
          </a:p>
        </p:txBody>
      </p:sp>
      <p:graphicFrame>
        <p:nvGraphicFramePr>
          <p:cNvPr id="7" name=""/>
          <p:cNvGraphicFramePr/>
          <p:nvPr/>
        </p:nvGraphicFramePr>
        <p:xfrm>
          <a:off x="609600" y="1657350"/>
          <a:ext cx="10953750" cy="4267200"/>
        </p:xfrm>
        <a:graphic>
          <a:graphicData uri="http://schemas.openxmlformats.org/drawingml/2006/table">
            <a:tbl>
              <a:tblPr/>
              <a:tblGrid>
                <a:gridCol w="5143500"/>
                <a:gridCol w="5810250"/>
              </a:tblGrid>
              <a:tr h="474133">
                <a:tc>
                  <a:txBody>
                    <a:bodyPr/>
                    <a:lstStyle/>
                    <a:p>
                      <a:r>
                        <a:rPr sz="1950" b="1">
                          <a:solidFill>
                            <a:srgbClr val="FFFFFF"/>
                          </a:solidFill>
                          <a:latin typeface="Times New Roman"/>
                          <a:ea typeface="Times New Roman"/>
                          <a:cs typeface="Times New Roman"/>
                        </a:rPr>
                        <a:t>MODULE</a:t>
                      </a:r>
                    </a:p>
                  </a:txBody>
                  <a:tcPr marL="91440" marR="91440" marT="45720" marB="45720">
                    <a:solidFill>
                      <a:srgbClr val="172F3A"/>
                    </a:solidFill>
                  </a:tcPr>
                </a:tc>
                <a:tc>
                  <a:txBody>
                    <a:bodyPr/>
                    <a:lstStyle/>
                    <a:p>
                      <a:r>
                        <a:rPr sz="1950" b="1">
                          <a:solidFill>
                            <a:srgbClr val="FFFFFF"/>
                          </a:solidFill>
                          <a:latin typeface="Times New Roman"/>
                          <a:ea typeface="Times New Roman"/>
                          <a:cs typeface="Times New Roman"/>
                        </a:rPr>
                        <a:t>STATUS</a:t>
                      </a:r>
                    </a:p>
                  </a:txBody>
                  <a:tcPr marL="91440" marR="91440" marT="45720" marB="45720">
                    <a:solidFill>
                      <a:srgbClr val="172F3A"/>
                    </a:solidFill>
                  </a:tcPr>
                </a:tc>
              </a:tr>
              <a:tr h="474133">
                <a:tc>
                  <a:txBody>
                    <a:bodyPr/>
                    <a:lstStyle/>
                    <a:p>
                      <a:r>
                        <a:rPr sz="1950" b="0">
                          <a:solidFill>
                            <a:srgbClr val="172F3A"/>
                          </a:solidFill>
                          <a:latin typeface="Times New Roman"/>
                          <a:ea typeface="Times New Roman"/>
                          <a:cs typeface="Times New Roman"/>
                        </a:rPr>
                        <a:t>1  Secure environment</a:t>
                      </a:r>
                    </a:p>
                  </a:txBody>
                  <a:tcPr marL="91440" marR="91440" marT="45720" marB="45720">
                    <a:solidFill>
                      <a:srgbClr val="E7EEEA"/>
                    </a:solidFill>
                  </a:tcPr>
                </a:tc>
                <a:tc>
                  <a:txBody>
                    <a:bodyPr/>
                    <a:lstStyle/>
                    <a:p>
                      <a:r>
                        <a:rPr sz="1950" b="0">
                          <a:solidFill>
                            <a:srgbClr val="172F3A"/>
                          </a:solidFill>
                          <a:latin typeface="Times New Roman"/>
                          <a:ea typeface="Times New Roman"/>
                          <a:cs typeface="Times New Roman"/>
                        </a:rPr>
                        <a:t>Completed implementation</a:t>
                      </a:r>
                    </a:p>
                  </a:txBody>
                  <a:tcPr marL="91440" marR="91440" marT="45720" marB="45720">
                    <a:solidFill>
                      <a:srgbClr val="E7EEEA"/>
                    </a:solidFill>
                  </a:tcPr>
                </a:tc>
              </a:tr>
              <a:tr h="474133">
                <a:tc>
                  <a:txBody>
                    <a:bodyPr/>
                    <a:lstStyle/>
                    <a:p>
                      <a:r>
                        <a:rPr sz="1950" b="0">
                          <a:solidFill>
                            <a:srgbClr val="172F3A"/>
                          </a:solidFill>
                          <a:latin typeface="Times New Roman"/>
                          <a:ea typeface="Times New Roman"/>
                          <a:cs typeface="Times New Roman"/>
                        </a:rPr>
                        <a:t>2  AI monitoring</a:t>
                      </a:r>
                    </a:p>
                  </a:txBody>
                  <a:tcPr marL="91440" marR="91440" marT="45720" marB="45720">
                    <a:solidFill>
                      <a:srgbClr val="F6F7F4"/>
                    </a:solidFill>
                  </a:tcPr>
                </a:tc>
                <a:tc>
                  <a:txBody>
                    <a:bodyPr/>
                    <a:lstStyle/>
                    <a:p>
                      <a:r>
                        <a:rPr sz="1950" b="0">
                          <a:solidFill>
                            <a:srgbClr val="172F3A"/>
                          </a:solidFill>
                          <a:latin typeface="Times New Roman"/>
                          <a:ea typeface="Times New Roman"/>
                          <a:cs typeface="Times New Roman"/>
                        </a:rPr>
                        <a:t>Implemented, exact scope gaps remain</a:t>
                      </a:r>
                    </a:p>
                  </a:txBody>
                  <a:tcPr marL="91440" marR="91440" marT="45720" marB="45720">
                    <a:solidFill>
                      <a:srgbClr val="F6F7F4"/>
                    </a:solidFill>
                  </a:tcPr>
                </a:tc>
              </a:tr>
              <a:tr h="474133">
                <a:tc>
                  <a:txBody>
                    <a:bodyPr/>
                    <a:lstStyle/>
                    <a:p>
                      <a:r>
                        <a:rPr sz="1950" b="0">
                          <a:solidFill>
                            <a:srgbClr val="172F3A"/>
                          </a:solidFill>
                          <a:latin typeface="Times New Roman"/>
                          <a:ea typeface="Times New Roman"/>
                          <a:cs typeface="Times New Roman"/>
                        </a:rPr>
                        <a:t>3  Evidence capture</a:t>
                      </a:r>
                    </a:p>
                  </a:txBody>
                  <a:tcPr marL="91440" marR="91440" marT="45720" marB="45720">
                    <a:solidFill>
                      <a:srgbClr val="E7EEEA"/>
                    </a:solidFill>
                  </a:tcPr>
                </a:tc>
                <a:tc>
                  <a:txBody>
                    <a:bodyPr/>
                    <a:lstStyle/>
                    <a:p>
                      <a:r>
                        <a:rPr sz="1950" b="0">
                          <a:solidFill>
                            <a:srgbClr val="172F3A"/>
                          </a:solidFill>
                          <a:latin typeface="Times New Roman"/>
                          <a:ea typeface="Times New Roman"/>
                          <a:cs typeface="Times New Roman"/>
                        </a:rPr>
                        <a:t>Completed implementation</a:t>
                      </a:r>
                    </a:p>
                  </a:txBody>
                  <a:tcPr marL="91440" marR="91440" marT="45720" marB="45720">
                    <a:solidFill>
                      <a:srgbClr val="E7EEEA"/>
                    </a:solidFill>
                  </a:tcPr>
                </a:tc>
              </a:tr>
              <a:tr h="474133">
                <a:tc>
                  <a:txBody>
                    <a:bodyPr/>
                    <a:lstStyle/>
                    <a:p>
                      <a:r>
                        <a:rPr sz="1950" b="0">
                          <a:solidFill>
                            <a:srgbClr val="172F3A"/>
                          </a:solidFill>
                          <a:latin typeface="Times New Roman"/>
                          <a:ea typeface="Times New Roman"/>
                          <a:cs typeface="Times New Roman"/>
                        </a:rPr>
                        <a:t>4  System self-check</a:t>
                      </a:r>
                    </a:p>
                  </a:txBody>
                  <a:tcPr marL="91440" marR="91440" marT="45720" marB="45720">
                    <a:solidFill>
                      <a:srgbClr val="F6F7F4"/>
                    </a:solidFill>
                  </a:tcPr>
                </a:tc>
                <a:tc>
                  <a:txBody>
                    <a:bodyPr/>
                    <a:lstStyle/>
                    <a:p>
                      <a:r>
                        <a:rPr sz="1950" b="0">
                          <a:solidFill>
                            <a:srgbClr val="172F3A"/>
                          </a:solidFill>
                          <a:latin typeface="Times New Roman"/>
                          <a:ea typeface="Times New Roman"/>
                          <a:cs typeface="Times New Roman"/>
                        </a:rPr>
                        <a:t>Completed implementation</a:t>
                      </a:r>
                    </a:p>
                  </a:txBody>
                  <a:tcPr marL="91440" marR="91440" marT="45720" marB="45720">
                    <a:solidFill>
                      <a:srgbClr val="F6F7F4"/>
                    </a:solidFill>
                  </a:tcPr>
                </a:tc>
              </a:tr>
              <a:tr h="474133">
                <a:tc>
                  <a:txBody>
                    <a:bodyPr/>
                    <a:lstStyle/>
                    <a:p>
                      <a:r>
                        <a:rPr sz="1950" b="0">
                          <a:solidFill>
                            <a:srgbClr val="172F3A"/>
                          </a:solidFill>
                          <a:latin typeface="Times New Roman"/>
                          <a:ea typeface="Times New Roman"/>
                          <a:cs typeface="Times New Roman"/>
                        </a:rPr>
                        <a:t>5  Severity scoring</a:t>
                      </a:r>
                    </a:p>
                  </a:txBody>
                  <a:tcPr marL="91440" marR="91440" marT="45720" marB="45720">
                    <a:solidFill>
                      <a:srgbClr val="E7EEEA"/>
                    </a:solidFill>
                  </a:tcPr>
                </a:tc>
                <a:tc>
                  <a:txBody>
                    <a:bodyPr/>
                    <a:lstStyle/>
                    <a:p>
                      <a:r>
                        <a:rPr sz="1950" b="0">
                          <a:solidFill>
                            <a:srgbClr val="172F3A"/>
                          </a:solidFill>
                          <a:latin typeface="Times New Roman"/>
                          <a:ea typeface="Times New Roman"/>
                          <a:cs typeface="Times New Roman"/>
                        </a:rPr>
                        <a:t>Completed implementation</a:t>
                      </a:r>
                    </a:p>
                  </a:txBody>
                  <a:tcPr marL="91440" marR="91440" marT="45720" marB="45720">
                    <a:solidFill>
                      <a:srgbClr val="E7EEEA"/>
                    </a:solidFill>
                  </a:tcPr>
                </a:tc>
              </a:tr>
              <a:tr h="474133">
                <a:tc>
                  <a:txBody>
                    <a:bodyPr/>
                    <a:lstStyle/>
                    <a:p>
                      <a:r>
                        <a:rPr sz="1950" b="0">
                          <a:solidFill>
                            <a:srgbClr val="172F3A"/>
                          </a:solidFill>
                          <a:latin typeface="Times New Roman"/>
                          <a:ea typeface="Times New Roman"/>
                          <a:cs typeface="Times New Roman"/>
                        </a:rPr>
                        <a:t>6  Examiner dashboard</a:t>
                      </a:r>
                    </a:p>
                  </a:txBody>
                  <a:tcPr marL="91440" marR="91440" marT="45720" marB="45720">
                    <a:solidFill>
                      <a:srgbClr val="F6F7F4"/>
                    </a:solidFill>
                  </a:tcPr>
                </a:tc>
                <a:tc>
                  <a:txBody>
                    <a:bodyPr/>
                    <a:lstStyle/>
                    <a:p>
                      <a:r>
                        <a:rPr sz="1950" b="0">
                          <a:solidFill>
                            <a:srgbClr val="172F3A"/>
                          </a:solidFill>
                          <a:latin typeface="Times New Roman"/>
                          <a:ea typeface="Times New Roman"/>
                          <a:cs typeface="Times New Roman"/>
                        </a:rPr>
                        <a:t>Completed implementation</a:t>
                      </a:r>
                    </a:p>
                  </a:txBody>
                  <a:tcPr marL="91440" marR="91440" marT="45720" marB="45720">
                    <a:solidFill>
                      <a:srgbClr val="F6F7F4"/>
                    </a:solidFill>
                  </a:tcPr>
                </a:tc>
              </a:tr>
              <a:tr h="474133">
                <a:tc>
                  <a:txBody>
                    <a:bodyPr/>
                    <a:lstStyle/>
                    <a:p>
                      <a:r>
                        <a:rPr sz="1950" b="0">
                          <a:solidFill>
                            <a:srgbClr val="172F3A"/>
                          </a:solidFill>
                          <a:latin typeface="Times New Roman"/>
                          <a:ea typeface="Times New Roman"/>
                          <a:cs typeface="Times New Roman"/>
                        </a:rPr>
                        <a:t>7  Answer submission</a:t>
                      </a:r>
                    </a:p>
                  </a:txBody>
                  <a:tcPr marL="91440" marR="91440" marT="45720" marB="45720">
                    <a:solidFill>
                      <a:srgbClr val="E7EEEA"/>
                    </a:solidFill>
                  </a:tcPr>
                </a:tc>
                <a:tc>
                  <a:txBody>
                    <a:bodyPr/>
                    <a:lstStyle/>
                    <a:p>
                      <a:r>
                        <a:rPr sz="1950" b="0">
                          <a:solidFill>
                            <a:srgbClr val="172F3A"/>
                          </a:solidFill>
                          <a:latin typeface="Times New Roman"/>
                          <a:ea typeface="Times New Roman"/>
                          <a:cs typeface="Times New Roman"/>
                        </a:rPr>
                        <a:t>Completed implementation</a:t>
                      </a:r>
                    </a:p>
                  </a:txBody>
                  <a:tcPr marL="91440" marR="91440" marT="45720" marB="45720">
                    <a:solidFill>
                      <a:srgbClr val="E7EEEA"/>
                    </a:solidFill>
                  </a:tcPr>
                </a:tc>
              </a:tr>
              <a:tr h="474133">
                <a:tc>
                  <a:txBody>
                    <a:bodyPr/>
                    <a:lstStyle/>
                    <a:p>
                      <a:r>
                        <a:rPr sz="1950" b="0">
                          <a:solidFill>
                            <a:srgbClr val="172F3A"/>
                          </a:solidFill>
                          <a:latin typeface="Times New Roman"/>
                          <a:ea typeface="Times New Roman"/>
                          <a:cs typeface="Times New Roman"/>
                        </a:rPr>
                        <a:t>8  Audit reporting</a:t>
                      </a:r>
                    </a:p>
                  </a:txBody>
                  <a:tcPr marL="91440" marR="91440" marT="45720" marB="45720">
                    <a:solidFill>
                      <a:srgbClr val="F6F7F4"/>
                    </a:solidFill>
                  </a:tcPr>
                </a:tc>
                <a:tc>
                  <a:txBody>
                    <a:bodyPr/>
                    <a:lstStyle/>
                    <a:p>
                      <a:r>
                        <a:rPr sz="1950" b="0">
                          <a:solidFill>
                            <a:srgbClr val="172F3A"/>
                          </a:solidFill>
                          <a:latin typeface="Times New Roman"/>
                          <a:ea typeface="Times New Roman"/>
                          <a:cs typeface="Times New Roman"/>
                        </a:rPr>
                        <a:t>Implemented, combined export remains</a:t>
                      </a:r>
                    </a:p>
                  </a:txBody>
                  <a:tcPr marL="91440" marR="91440" marT="45720" marB="45720">
                    <a:solidFill>
                      <a:srgbClr val="F6F7F4"/>
                    </a:solidFill>
                  </a:tcPr>
                </a:tc>
              </a:tr>
            </a:tbl>
          </a:graphicData>
        </a:graphic>
      </p:graphicFrame>
      <p:sp>
        <p:nvSpPr>
          <p:cNvPr id="4" name="fixed">
            <a:extLst>
              <a:ext uri="{FF2B5EF4-FFF2-40B4-BE49-F238E27FC236}">
                <ns2:creationId id="{2EA3FB93-4E36-45EB-8C5A-C35B0102D0C8}"/>
              </a:ext>
            </a:extLst>
          </p:cNvPr>
          <p:cNvSpPr>
            <a:spLocks noGrp="1"/>
          </p:cNvSpPr>
          <p:nvPr/>
        </p:nvSpPr>
        <p:spPr>
          <a:xfrm>
            <a:off x="609600" y="5953125"/>
            <a:ext cx="10668000" cy="457200"/>
          </a:xfrm>
          <a:prstGeom prst="rect">
            <a:avLst/>
          </a:prstGeom>
          <a:noFill/>
          <a:ln w="0">
            <a:noFill/>
          </a:ln>
        </p:spPr>
        <p:txBody>
          <a:bodyPr>
            <a:noAutofit/>
          </a:bodyPr>
          <a:lstStyle/>
          <a:p>
            <a:pPr algn="l">
              <a:defRPr sz="1725" b="0">
                <a:solidFill>
                  <a:srgbClr val="4C6471"/>
                </a:solidFill>
                <a:latin typeface="Times New Roman"/>
                <a:ea typeface="Times New Roman"/>
                <a:cs typeface="Times New Roman"/>
              </a:defRPr>
            </a:pPr>
            <a:r>
              <a:rPr sz="1725" b="0">
                <a:solidFill>
                  <a:srgbClr val="4C6471"/>
                </a:solidFill>
                <a:latin typeface="Times New Roman"/>
                <a:ea typeface="Times New Roman"/>
                <a:cs typeface="Times New Roman"/>
              </a:rPr>
              <a:t>25 detector regression checks passed. Real-device and full-demo acceptance remain essential.</a:t>
            </a:r>
          </a:p>
        </p:txBody>
      </p:sp>
    </p:spTree>
    <p:extLst>
      <p:ext uri="{BB962C8B-B14F-4D97-AF65-F5344CB8AC3E}">
        <ns3:creationId val="2058106867"/>
      </p:ext>
    </p:extLst>
  </p:cSld>
  <p:transition spd="med" advClick="1">
    <p:fade/>
  </p:transition>
</p:sld>
</file>

<file path=ppt/slides/slide38.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6F7F4"/>
        </a:solidFill>
      </p:bgPr>
    </p:bg>
    <p:spTree>
      <p:nvGrpSpPr>
        <p:cNvPr id="1" name=""/>
        <p:cNvGrpSpPr/>
        <p:nvPr/>
      </p:nvGrpSpPr>
      <p:grpSpPr>
        <a:xfrm/>
      </p:grpSpPr>
      <p:sp>
        <p:nvSpPr>
          <p:cNvPr id="8" name="fixed">
            <a:extLst>
              <a:ext uri="{FF2B5EF4-FFF2-40B4-BE49-F238E27FC236}">
                <ns2:creationId id="{0DDA0715-105A-4F69-AA51-0C37EC6FE758}"/>
              </a:ext>
            </a:extLst>
          </p:cNvPr>
          <p:cNvSpPr>
            <a:spLocks noGrp="1"/>
          </p:cNvSpPr>
          <p:nvPr/>
        </p:nvSpPr>
        <p:spPr>
          <a:xfrm>
            <a:off x="609600" y="523875"/>
            <a:ext cx="10906125" cy="1066800"/>
          </a:xfrm>
          <a:prstGeom prst="rect">
            <a:avLst/>
          </a:prstGeom>
          <a:noFill/>
          <a:ln w="0">
            <a:noFill/>
          </a:ln>
        </p:spPr>
        <p:txBody>
          <a:bodyPr>
            <a:noAutofit/>
          </a:bodyPr>
          <a:lstStyle/>
          <a:p>
            <a:pPr algn="l">
              <a:defRPr sz="3750" b="1">
                <a:solidFill>
                  <a:srgbClr val="172F3A"/>
                </a:solidFill>
                <a:latin typeface="Times New Roman"/>
                <a:ea typeface="Times New Roman"/>
                <a:cs typeface="Times New Roman"/>
              </a:defRPr>
            </a:pPr>
            <a:r>
              <a:rPr sz="3750" b="1">
                <a:solidFill>
                  <a:srgbClr val="172F3A"/>
                </a:solidFill>
                <a:latin typeface="Times New Roman"/>
                <a:ea typeface="Times New Roman"/>
                <a:cs typeface="Times New Roman"/>
              </a:rPr>
              <a:t>Remaining validation and scope work</a:t>
            </a:r>
          </a:p>
        </p:txBody>
      </p:sp>
      <p:sp>
        <p:nvSpPr>
          <p:cNvPr id="2" name="fixed">
            <a:extLst>
              <a:ext uri="{FF2B5EF4-FFF2-40B4-BE49-F238E27FC236}">
                <ns2:creationId id="{057E2306-AC59-496F-A3C7-A064A6522195}"/>
              </a:ext>
            </a:extLst>
          </p:cNvPr>
          <p:cNvSpPr>
            <a:spLocks noGrp="1"/>
          </p:cNvSpPr>
          <p:nvPr/>
        </p:nvSpPr>
        <p:spPr>
          <a:xfrm>
            <a:off x="11029950" y="6334125"/>
            <a:ext cx="523875" cy="285750"/>
          </a:xfrm>
          <a:prstGeom prst="rect">
            <a:avLst/>
          </a:prstGeom>
          <a:noFill/>
          <a:ln w="0">
            <a:noFill/>
          </a:ln>
        </p:spPr>
        <p:txBody>
          <a:bodyPr>
            <a:noAutofit/>
          </a:bodyPr>
          <a:lstStyle/>
          <a:p>
            <a:pPr algn="r">
              <a:defRPr sz="1500" b="0">
                <a:solidFill>
                  <a:srgbClr val="4C6471"/>
                </a:solidFill>
                <a:latin typeface="Times New Roman"/>
                <a:ea typeface="Times New Roman"/>
                <a:cs typeface="Times New Roman"/>
              </a:defRPr>
            </a:pPr>
            <a:r>
              <a:rPr sz="1500" b="0">
                <a:solidFill>
                  <a:srgbClr val="4C6471"/>
                </a:solidFill>
                <a:latin typeface="Times New Roman"/>
                <a:ea typeface="Times New Roman"/>
                <a:cs typeface="Times New Roman"/>
              </a:rPr>
              <a:t>38</a:t>
            </a:r>
          </a:p>
        </p:txBody>
      </p:sp>
      <p:sp>
        <p:nvSpPr>
          <p:cNvPr id="3" name="reveal-1">
            <a:extLst>
              <a:ext uri="{FF2B5EF4-FFF2-40B4-BE49-F238E27FC236}">
                <ns2:creationId id="{EE8FC05C-11CE-4E3D-A57E-97C94AE3CC2D}"/>
              </a:ext>
            </a:extLst>
          </p:cNvPr>
          <p:cNvSpPr>
            <a:spLocks noGrp="1"/>
          </p:cNvSpPr>
          <p:nvPr/>
        </p:nvSpPr>
        <p:spPr>
          <a:xfrm>
            <a:off x="609600" y="1971675"/>
            <a:ext cx="5095875" cy="476250"/>
          </a:xfrm>
          <a:prstGeom prst="rect">
            <a:avLst/>
          </a:prstGeom>
          <a:noFill/>
          <a:ln w="0">
            <a:noFill/>
          </a:ln>
        </p:spPr>
        <p:txBody>
          <a:bodyPr>
            <a:noAutofit/>
          </a:bodyPr>
          <a:lstStyle/>
          <a:p>
            <a:pPr algn="l">
              <a:defRPr sz="2550" b="1">
                <a:solidFill>
                  <a:srgbClr val="087F8C"/>
                </a:solidFill>
                <a:latin typeface="Times New Roman"/>
                <a:ea typeface="Times New Roman"/>
                <a:cs typeface="Times New Roman"/>
              </a:defRPr>
            </a:pPr>
            <a:r>
              <a:rPr sz="2550" b="1">
                <a:solidFill>
                  <a:srgbClr val="087F8C"/>
                </a:solidFill>
                <a:latin typeface="Times New Roman"/>
                <a:ea typeface="Times New Roman"/>
                <a:cs typeface="Times New Roman"/>
              </a:rPr>
              <a:t>Measurement</a:t>
            </a:r>
          </a:p>
        </p:txBody>
      </p:sp>
      <p:sp>
        <p:nvSpPr>
          <p:cNvPr id="4" name="reveal-1">
            <a:extLst>
              <a:ext uri="{FF2B5EF4-FFF2-40B4-BE49-F238E27FC236}">
                <ns2:creationId id="{6AA7815A-A136-4FB0-90B3-56C556D1FE45}"/>
              </a:ext>
            </a:extLst>
          </p:cNvPr>
          <p:cNvSpPr>
            <a:spLocks noGrp="1"/>
          </p:cNvSpPr>
          <p:nvPr/>
        </p:nvSpPr>
        <p:spPr>
          <a:xfrm>
            <a:off x="609600" y="2600325"/>
            <a:ext cx="5095875" cy="1619250"/>
          </a:xfrm>
          <a:prstGeom prst="rect">
            <a:avLst/>
          </a:prstGeom>
          <a:noFill/>
          <a:ln w="0">
            <a:noFill/>
          </a:ln>
        </p:spPr>
        <p:txBody>
          <a:bodyPr>
            <a:noAutofit/>
          </a:bodyPr>
          <a:lstStyle/>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False alerts and missed detections</a:t>
            </a:r>
          </a:p>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Detection-to-dashboard latency</a:t>
            </a:r>
          </a:p>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Repeated longer load tests</a:t>
            </a:r>
          </a:p>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Lighting and microphone changes</a:t>
            </a:r>
          </a:p>
        </p:txBody>
      </p:sp>
      <p:sp>
        <p:nvSpPr>
          <p:cNvPr id="5" name="reveal-2">
            <a:extLst>
              <a:ext uri="{FF2B5EF4-FFF2-40B4-BE49-F238E27FC236}">
                <ns2:creationId id="{D310029A-BE7F-48A7-9259-C7068D9B3BC8}"/>
              </a:ext>
            </a:extLst>
          </p:cNvPr>
          <p:cNvSpPr>
            <a:spLocks noGrp="1"/>
          </p:cNvSpPr>
          <p:nvPr/>
        </p:nvSpPr>
        <p:spPr>
          <a:xfrm>
            <a:off x="6381750" y="1971675"/>
            <a:ext cx="5095875" cy="476250"/>
          </a:xfrm>
          <a:prstGeom prst="rect">
            <a:avLst/>
          </a:prstGeom>
          <a:noFill/>
          <a:ln w="0">
            <a:noFill/>
          </a:ln>
        </p:spPr>
        <p:txBody>
          <a:bodyPr>
            <a:noAutofit/>
          </a:bodyPr>
          <a:lstStyle/>
          <a:p>
            <a:pPr algn="l">
              <a:defRPr sz="2550" b="1">
                <a:solidFill>
                  <a:srgbClr val="087F8C"/>
                </a:solidFill>
                <a:latin typeface="Times New Roman"/>
                <a:ea typeface="Times New Roman"/>
                <a:cs typeface="Times New Roman"/>
              </a:defRPr>
            </a:pPr>
            <a:r>
              <a:rPr sz="2550" b="1">
                <a:solidFill>
                  <a:srgbClr val="087F8C"/>
                </a:solidFill>
                <a:latin typeface="Times New Roman"/>
                <a:ea typeface="Times New Roman"/>
                <a:cs typeface="Times New Roman"/>
              </a:rPr>
              <a:t>Remaining scope alignment</a:t>
            </a:r>
          </a:p>
        </p:txBody>
      </p:sp>
      <p:sp>
        <p:nvSpPr>
          <p:cNvPr id="6" name="reveal-2">
            <a:extLst>
              <a:ext uri="{FF2B5EF4-FFF2-40B4-BE49-F238E27FC236}">
                <ns2:creationId id="{85E96288-9370-445B-8C75-46FC30F18053}"/>
              </a:ext>
            </a:extLst>
          </p:cNvPr>
          <p:cNvSpPr>
            <a:spLocks noGrp="1"/>
          </p:cNvSpPr>
          <p:nvPr/>
        </p:nvSpPr>
        <p:spPr>
          <a:xfrm>
            <a:off x="6381750" y="2600325"/>
            <a:ext cx="5095875" cy="1619250"/>
          </a:xfrm>
          <a:prstGeom prst="rect">
            <a:avLst/>
          </a:prstGeom>
          <a:noFill/>
          <a:ln w="0">
            <a:noFill/>
          </a:ln>
        </p:spPr>
        <p:txBody>
          <a:bodyPr>
            <a:noAutofit/>
          </a:bodyPr>
          <a:lstStyle/>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Headphones or approved scope adjustment</a:t>
            </a:r>
          </a:p>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Model and quantization documentation</a:t>
            </a:r>
          </a:p>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Combined evidence export</a:t>
            </a:r>
          </a:p>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Retention and expiry policy</a:t>
            </a:r>
          </a:p>
        </p:txBody>
      </p:sp>
      <p:sp>
        <p:nvSpPr>
          <p:cNvPr id="7" name="reveal-3">
            <a:extLst>
              <a:ext uri="{FF2B5EF4-FFF2-40B4-BE49-F238E27FC236}">
                <ns2:creationId id="{9358871B-14FC-4A20-B539-86A9BF09DA24}"/>
              </a:ext>
            </a:extLst>
          </p:cNvPr>
          <p:cNvSpPr>
            <a:spLocks noGrp="1"/>
          </p:cNvSpPr>
          <p:nvPr/>
        </p:nvSpPr>
        <p:spPr>
          <a:xfrm>
            <a:off x="609600" y="5229225"/>
            <a:ext cx="10668000" cy="771525"/>
          </a:xfrm>
          <a:prstGeom prst="rect">
            <a:avLst/>
          </a:prstGeom>
          <a:noFill/>
          <a:ln w="0">
            <a:noFill/>
          </a:ln>
        </p:spPr>
        <p:txBody>
          <a:bodyPr>
            <a:noAutofit/>
          </a:bodyPr>
          <a:lstStyle/>
          <a:p>
            <a:pPr algn="l">
              <a:defRPr sz="2550" b="1">
                <a:solidFill>
                  <a:srgbClr val="087F8C"/>
                </a:solidFill>
                <a:latin typeface="Times New Roman"/>
                <a:ea typeface="Times New Roman"/>
                <a:cs typeface="Times New Roman"/>
              </a:defRPr>
            </a:pPr>
            <a:r>
              <a:rPr sz="2550" b="1">
                <a:solidFill>
                  <a:srgbClr val="087F8C"/>
                </a:solidFill>
                <a:latin typeface="Times New Roman"/>
                <a:ea typeface="Times New Roman"/>
                <a:cs typeface="Times New Roman"/>
              </a:rPr>
              <a:t>The immediate priority is a rehearsed, dependable end-to-end demonstration</a:t>
            </a:r>
          </a:p>
        </p:txBody>
      </p:sp>
    </p:spTree>
    <p:extLst>
      <p:ext uri="{BB962C8B-B14F-4D97-AF65-F5344CB8AC3E}">
        <ns3:creationId val="1568720217"/>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1" nodeType="click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350"/>
                                  <p:tgtEl>
                                    <p:spTgt spid="3"/>
                                  </p:tgtEl>
                                </p:cBhvr>
                              </p:animEffect>
                            </p:childTnLst>
                          </p:cTn>
                        </p:par>
                        <p:par>
                          <p:cTn id="7" presetID="10" presetClass="entr" presetSubtype="0" fill="hold" grpId="1" nodeType="clickEffect">
                            <p:stCondLst>
                              <p:cond delay="0"/>
                            </p:stCondLst>
                            <p:childTnLst>
                              <p:set>
                                <p:cBhvr>
                                  <p:cTn id="8" dur="1" fill="hold">
                                    <p:stCondLst>
                                      <p:cond delay="0"/>
                                    </p:stCondLst>
                                  </p:cTn>
                                  <p:tgtEl>
                                    <p:spTgt spid="4"/>
                                  </p:tgtEl>
                                  <p:attrNameLst>
                                    <p:attrName>style.visibility</p:attrName>
                                  </p:attrNameLst>
                                </p:cBhvr>
                                <p:to>
                                  <p:strVal val="visible"/>
                                </p:to>
                              </p:set>
                              <p:animEffect transition="in" filter="fade">
                                <p:cBhvr>
                                  <p:cTn id="9" dur="350"/>
                                  <p:tgtEl>
                                    <p:spTgt spid="4"/>
                                  </p:tgtEl>
                                </p:cBhvr>
                              </p:animEffect>
                            </p:childTnLst>
                          </p:cTn>
                        </p:par>
                      </p:childTnLst>
                    </p:cTn>
                  </p:par>
                  <p:par>
                    <p:cTn id="10" fill="hold">
                      <p:stCondLst>
                        <p:cond delay="indefinite"/>
                      </p:stCondLst>
                      <p:childTnLst>
                        <p:par>
                          <p:cTn id="11" presetID="10" presetClass="entr" presetSubtype="0" fill="hold" grpId="2"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350"/>
                                  <p:tgtEl>
                                    <p:spTgt spid="5"/>
                                  </p:tgtEl>
                                </p:cBhvr>
                              </p:animEffect>
                            </p:childTnLst>
                          </p:cTn>
                        </p:par>
                        <p:par>
                          <p:cTn id="14" presetID="10" presetClass="entr" presetSubtype="0" fill="hold" grpId="2" nodeType="click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350"/>
                                  <p:tgtEl>
                                    <p:spTgt spid="6"/>
                                  </p:tgtEl>
                                </p:cBhvr>
                              </p:animEffect>
                            </p:childTnLst>
                          </p:cTn>
                        </p:par>
                      </p:childTnLst>
                    </p:cTn>
                  </p:par>
                  <p:par>
                    <p:cTn id="17" fill="hold">
                      <p:stCondLst>
                        <p:cond delay="indefinite"/>
                      </p:stCondLst>
                      <p:childTnLst>
                        <p:par>
                          <p:cTn id="18" presetID="10" presetClass="entr" presetSubtype="0" fill="hold" grpId="3"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350"/>
                                  <p:tgtEl>
                                    <p:spTgt spid="7"/>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3" grpId="1" uiExpand="1"/>
      <p:bldP spid="4" grpId="1" uiExpand="1"/>
      <p:bldP spid="5" grpId="2" uiExpand="1"/>
      <p:bldP spid="6" grpId="2" uiExpand="1"/>
      <p:bldP spid="7" grpId="3" uiExpand="1"/>
    </p:bldLst>
  </p:timing>
</p:sld>
</file>

<file path=ppt/slides/slide39.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6F7F4"/>
        </a:solidFill>
      </p:bgPr>
    </p:bg>
    <p:spTree>
      <p:nvGrpSpPr>
        <p:cNvPr id="1" name=""/>
        <p:cNvGrpSpPr/>
        <p:nvPr/>
      </p:nvGrpSpPr>
      <p:grpSpPr>
        <a:xfrm/>
      </p:grpSpPr>
      <p:sp>
        <p:nvSpPr>
          <p:cNvPr id="8" name="fixed">
            <a:extLst>
              <a:ext uri="{FF2B5EF4-FFF2-40B4-BE49-F238E27FC236}">
                <ns2:creationId id="{504C8F71-2C39-4CB6-B21D-C084A913E9CC}"/>
              </a:ext>
            </a:extLst>
          </p:cNvPr>
          <p:cNvSpPr>
            <a:spLocks noGrp="1"/>
          </p:cNvSpPr>
          <p:nvPr/>
        </p:nvSpPr>
        <p:spPr>
          <a:xfrm>
            <a:off x="609600" y="523875"/>
            <a:ext cx="10906125" cy="1066800"/>
          </a:xfrm>
          <a:prstGeom prst="rect">
            <a:avLst/>
          </a:prstGeom>
          <a:noFill/>
          <a:ln w="0">
            <a:noFill/>
          </a:ln>
        </p:spPr>
        <p:txBody>
          <a:bodyPr>
            <a:noAutofit/>
          </a:bodyPr>
          <a:lstStyle/>
          <a:p>
            <a:pPr algn="l">
              <a:defRPr sz="3750" b="1">
                <a:solidFill>
                  <a:srgbClr val="172F3A"/>
                </a:solidFill>
                <a:latin typeface="Times New Roman"/>
                <a:ea typeface="Times New Roman"/>
                <a:cs typeface="Times New Roman"/>
              </a:defRPr>
            </a:pPr>
            <a:r>
              <a:rPr sz="3750" b="1">
                <a:solidFill>
                  <a:srgbClr val="172F3A"/>
                </a:solidFill>
                <a:latin typeface="Times New Roman"/>
                <a:ea typeface="Times New Roman"/>
                <a:cs typeface="Times New Roman"/>
              </a:rPr>
              <a:t>Technology and implementation references</a:t>
            </a:r>
          </a:p>
        </p:txBody>
      </p:sp>
      <p:sp>
        <p:nvSpPr>
          <p:cNvPr id="2" name="fixed">
            <a:extLst>
              <a:ext uri="{FF2B5EF4-FFF2-40B4-BE49-F238E27FC236}">
                <ns2:creationId id="{A86DCC7D-EFE3-419A-850D-DB4B5DD72A9F}"/>
              </a:ext>
            </a:extLst>
          </p:cNvPr>
          <p:cNvSpPr>
            <a:spLocks noGrp="1"/>
          </p:cNvSpPr>
          <p:nvPr/>
        </p:nvSpPr>
        <p:spPr>
          <a:xfrm>
            <a:off x="11029950" y="6334125"/>
            <a:ext cx="523875" cy="285750"/>
          </a:xfrm>
          <a:prstGeom prst="rect">
            <a:avLst/>
          </a:prstGeom>
          <a:noFill/>
          <a:ln w="0">
            <a:noFill/>
          </a:ln>
        </p:spPr>
        <p:txBody>
          <a:bodyPr>
            <a:noAutofit/>
          </a:bodyPr>
          <a:lstStyle/>
          <a:p>
            <a:pPr algn="r">
              <a:defRPr sz="1500" b="0">
                <a:solidFill>
                  <a:srgbClr val="4C6471"/>
                </a:solidFill>
                <a:latin typeface="Times New Roman"/>
                <a:ea typeface="Times New Roman"/>
                <a:cs typeface="Times New Roman"/>
              </a:defRPr>
            </a:pPr>
            <a:r>
              <a:rPr sz="1500" b="0">
                <a:solidFill>
                  <a:srgbClr val="4C6471"/>
                </a:solidFill>
                <a:latin typeface="Times New Roman"/>
                <a:ea typeface="Times New Roman"/>
                <a:cs typeface="Times New Roman"/>
              </a:rPr>
              <a:t>39</a:t>
            </a:r>
          </a:p>
        </p:txBody>
      </p:sp>
      <p:sp>
        <p:nvSpPr>
          <p:cNvPr id="3" name="reveal-1">
            <a:extLst>
              <a:ext uri="{FF2B5EF4-FFF2-40B4-BE49-F238E27FC236}">
                <ns2:creationId id="{C104E1BF-7045-4D56-A242-D511B2C3A0CE}"/>
              </a:ext>
            </a:extLst>
          </p:cNvPr>
          <p:cNvSpPr>
            <a:spLocks noGrp="1"/>
          </p:cNvSpPr>
          <p:nvPr/>
        </p:nvSpPr>
        <p:spPr>
          <a:xfrm>
            <a:off x="609600" y="2009775"/>
            <a:ext cx="5095875" cy="476250"/>
          </a:xfrm>
          <a:prstGeom prst="rect">
            <a:avLst/>
          </a:prstGeom>
          <a:noFill/>
          <a:ln w="0">
            <a:noFill/>
          </a:ln>
        </p:spPr>
        <p:txBody>
          <a:bodyPr>
            <a:noAutofit/>
          </a:bodyPr>
          <a:lstStyle/>
          <a:p>
            <a:pPr algn="l">
              <a:defRPr sz="2550" b="1">
                <a:solidFill>
                  <a:srgbClr val="087F8C"/>
                </a:solidFill>
                <a:latin typeface="Times New Roman"/>
                <a:ea typeface="Times New Roman"/>
                <a:cs typeface="Times New Roman"/>
              </a:defRPr>
            </a:pPr>
            <a:r>
              <a:rPr sz="2550" b="1">
                <a:solidFill>
                  <a:srgbClr val="087F8C"/>
                </a:solidFill>
                <a:latin typeface="Times New Roman"/>
                <a:ea typeface="Times New Roman"/>
                <a:cs typeface="Times New Roman"/>
              </a:rPr>
              <a:t>Vision</a:t>
            </a:r>
          </a:p>
        </p:txBody>
      </p:sp>
      <p:sp>
        <p:nvSpPr>
          <p:cNvPr id="4" name="reveal-1">
            <a:extLst>
              <a:ext uri="{FF2B5EF4-FFF2-40B4-BE49-F238E27FC236}">
                <ns2:creationId id="{CA01CDA8-8A16-4F95-A9D4-DB739DD1C9F1}"/>
              </a:ext>
            </a:extLst>
          </p:cNvPr>
          <p:cNvSpPr>
            <a:spLocks noGrp="1"/>
          </p:cNvSpPr>
          <p:nvPr/>
        </p:nvSpPr>
        <p:spPr>
          <a:xfrm>
            <a:off x="609600" y="2638425"/>
            <a:ext cx="5095875" cy="1619250"/>
          </a:xfrm>
          <a:prstGeom prst="rect">
            <a:avLst/>
          </a:prstGeom>
          <a:noFill/>
          <a:ln w="0">
            <a:noFill/>
          </a:ln>
        </p:spPr>
        <p:txBody>
          <a:bodyPr>
            <a:noAutofit/>
          </a:bodyPr>
          <a:lstStyle/>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Google MediaPipe Face Landmarker</a:t>
            </a:r>
          </a:p>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OpenCV solvePnP</a:t>
            </a:r>
          </a:p>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Ultralytics YOLO26</a:t>
            </a:r>
          </a:p>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ONNX Runtime</a:t>
            </a:r>
          </a:p>
        </p:txBody>
      </p:sp>
      <p:sp>
        <p:nvSpPr>
          <p:cNvPr id="5" name="reveal-2">
            <a:extLst>
              <a:ext uri="{FF2B5EF4-FFF2-40B4-BE49-F238E27FC236}">
                <ns2:creationId id="{11C22BDF-11F7-4E80-889B-4DD679BB57A5}"/>
              </a:ext>
            </a:extLst>
          </p:cNvPr>
          <p:cNvSpPr>
            <a:spLocks noGrp="1"/>
          </p:cNvSpPr>
          <p:nvPr/>
        </p:nvSpPr>
        <p:spPr>
          <a:xfrm>
            <a:off x="6381750" y="2009775"/>
            <a:ext cx="5095875" cy="476250"/>
          </a:xfrm>
          <a:prstGeom prst="rect">
            <a:avLst/>
          </a:prstGeom>
          <a:noFill/>
          <a:ln w="0">
            <a:noFill/>
          </a:ln>
        </p:spPr>
        <p:txBody>
          <a:bodyPr>
            <a:noAutofit/>
          </a:bodyPr>
          <a:lstStyle/>
          <a:p>
            <a:pPr algn="l">
              <a:defRPr sz="2550" b="1">
                <a:solidFill>
                  <a:srgbClr val="087F8C"/>
                </a:solidFill>
                <a:latin typeface="Times New Roman"/>
                <a:ea typeface="Times New Roman"/>
                <a:cs typeface="Times New Roman"/>
              </a:defRPr>
            </a:pPr>
            <a:r>
              <a:rPr sz="2550" b="1">
                <a:solidFill>
                  <a:srgbClr val="087F8C"/>
                </a:solidFill>
                <a:latin typeface="Times New Roman"/>
                <a:ea typeface="Times New Roman"/>
                <a:cs typeface="Times New Roman"/>
              </a:rPr>
              <a:t>Voice and system controls</a:t>
            </a:r>
          </a:p>
        </p:txBody>
      </p:sp>
      <p:sp>
        <p:nvSpPr>
          <p:cNvPr id="6" name="reveal-2">
            <a:extLst>
              <a:ext uri="{FF2B5EF4-FFF2-40B4-BE49-F238E27FC236}">
                <ns2:creationId id="{F1B8E04A-E7F3-4FA6-8F57-D43F99B73A94}"/>
              </a:ext>
            </a:extLst>
          </p:cNvPr>
          <p:cNvSpPr>
            <a:spLocks noGrp="1"/>
          </p:cNvSpPr>
          <p:nvPr/>
        </p:nvSpPr>
        <p:spPr>
          <a:xfrm>
            <a:off x="6381750" y="2638425"/>
            <a:ext cx="5095875" cy="1619250"/>
          </a:xfrm>
          <a:prstGeom prst="rect">
            <a:avLst/>
          </a:prstGeom>
          <a:noFill/>
          <a:ln w="0">
            <a:noFill/>
          </a:ln>
        </p:spPr>
        <p:txBody>
          <a:bodyPr>
            <a:noAutofit/>
          </a:bodyPr>
          <a:lstStyle/>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Resemblyzer speaker embeddings</a:t>
            </a:r>
          </a:p>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WebRTC voice activity detection</a:t>
            </a:r>
          </a:p>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psutil process inspection</a:t>
            </a:r>
          </a:p>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Electron and Windows CIM</a:t>
            </a:r>
          </a:p>
        </p:txBody>
      </p:sp>
      <p:sp>
        <p:nvSpPr>
          <p:cNvPr id="7" name="fixed">
            <a:extLst>
              <a:ext uri="{FF2B5EF4-FFF2-40B4-BE49-F238E27FC236}">
                <ns2:creationId id="{ADA9BD57-40E9-4EE3-9052-05BCA229154A}"/>
              </a:ext>
            </a:extLst>
          </p:cNvPr>
          <p:cNvSpPr>
            <a:spLocks noGrp="1"/>
          </p:cNvSpPr>
          <p:nvPr/>
        </p:nvSpPr>
        <p:spPr>
          <a:xfrm>
            <a:off x="609600" y="5257800"/>
            <a:ext cx="10810875" cy="714375"/>
          </a:xfrm>
          <a:prstGeom prst="rect">
            <a:avLst/>
          </a:prstGeom>
          <a:noFill/>
          <a:ln w="0">
            <a:noFill/>
          </a:ln>
        </p:spPr>
        <p:txBody>
          <a:bodyPr>
            <a:noAutofit/>
          </a:bodyPr>
          <a:lstStyle/>
          <a:p>
            <a:pPr algn="l">
              <a:defRPr sz="2400" b="1">
                <a:solidFill>
                  <a:srgbClr val="172F3A"/>
                </a:solidFill>
                <a:latin typeface="Times New Roman"/>
                <a:ea typeface="Times New Roman"/>
                <a:cs typeface="Times New Roman"/>
              </a:defRPr>
            </a:pPr>
            <a:r>
              <a:rPr sz="2400" b="1">
                <a:solidFill>
                  <a:srgbClr val="172F3A"/>
                </a:solidFill>
                <a:latin typeface="Times New Roman"/>
                <a:ea typeface="Times New Roman"/>
                <a:cs typeface="Times New Roman"/>
              </a:rPr>
              <a:t>Primary documentation and project source paths are included in the speaker notes</a:t>
            </a:r>
          </a:p>
        </p:txBody>
      </p:sp>
    </p:spTree>
    <p:extLst>
      <p:ext uri="{BB962C8B-B14F-4D97-AF65-F5344CB8AC3E}">
        <ns3:creationId val="1630568587"/>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1" nodeType="click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350"/>
                                  <p:tgtEl>
                                    <p:spTgt spid="3"/>
                                  </p:tgtEl>
                                </p:cBhvr>
                              </p:animEffect>
                            </p:childTnLst>
                          </p:cTn>
                        </p:par>
                        <p:par>
                          <p:cTn id="7" presetID="10" presetClass="entr" presetSubtype="0" fill="hold" grpId="1" nodeType="clickEffect">
                            <p:stCondLst>
                              <p:cond delay="0"/>
                            </p:stCondLst>
                            <p:childTnLst>
                              <p:set>
                                <p:cBhvr>
                                  <p:cTn id="8" dur="1" fill="hold">
                                    <p:stCondLst>
                                      <p:cond delay="0"/>
                                    </p:stCondLst>
                                  </p:cTn>
                                  <p:tgtEl>
                                    <p:spTgt spid="4"/>
                                  </p:tgtEl>
                                  <p:attrNameLst>
                                    <p:attrName>style.visibility</p:attrName>
                                  </p:attrNameLst>
                                </p:cBhvr>
                                <p:to>
                                  <p:strVal val="visible"/>
                                </p:to>
                              </p:set>
                              <p:animEffect transition="in" filter="fade">
                                <p:cBhvr>
                                  <p:cTn id="9" dur="350"/>
                                  <p:tgtEl>
                                    <p:spTgt spid="4"/>
                                  </p:tgtEl>
                                </p:cBhvr>
                              </p:animEffect>
                            </p:childTnLst>
                          </p:cTn>
                        </p:par>
                      </p:childTnLst>
                    </p:cTn>
                  </p:par>
                  <p:par>
                    <p:cTn id="10" fill="hold">
                      <p:stCondLst>
                        <p:cond delay="indefinite"/>
                      </p:stCondLst>
                      <p:childTnLst>
                        <p:par>
                          <p:cTn id="11" presetID="10" presetClass="entr" presetSubtype="0" fill="hold" grpId="2"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350"/>
                                  <p:tgtEl>
                                    <p:spTgt spid="5"/>
                                  </p:tgtEl>
                                </p:cBhvr>
                              </p:animEffect>
                            </p:childTnLst>
                          </p:cTn>
                        </p:par>
                        <p:par>
                          <p:cTn id="14" presetID="10" presetClass="entr" presetSubtype="0" fill="hold" grpId="2" nodeType="click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350"/>
                                  <p:tgtEl>
                                    <p:spTgt spid="6"/>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3" grpId="1" uiExpand="1"/>
      <p:bldP spid="4" grpId="1" uiExpand="1"/>
      <p:bldP spid="5" grpId="2" uiExpand="1"/>
      <p:bldP spid="6" grpId="2" uiExpand="1"/>
    </p:bldLst>
  </p:timing>
</p:sld>
</file>

<file path=ppt/slides/slide40.xml><?xml version="1.0" encoding="utf-8"?>
<p:sld xmlns:a="http://schemas.openxmlformats.org/drawingml/2006/main" xmlns:ns3="http://schemas.microsoft.com/office/drawing/2014/main" xmlns:ns4="http://schemas.microsoft.com/office/powerpoint/2010/main" xmlns:p="http://schemas.openxmlformats.org/presentationml/2006/main" xmlns:r="http://schemas.openxmlformats.org/officeDocument/2006/relationships">
  <p:cSld>
    <p:bg>
      <p:bgPr>
        <a:solidFill>
          <a:srgbClr val="081321"/>
        </a:solidFill>
      </p:bgPr>
    </p:bg>
    <p:spTree>
      <p:nvGrpSpPr>
        <p:cNvPr id="1" name=""/>
        <p:cNvGrpSpPr/>
        <p:nvPr/>
      </p:nvGrpSpPr>
      <p:grpSpPr>
        <a:xfrm/>
      </p:grpSpPr>
      <p:pic>
        <p:nvPicPr>
          <p:cNvPr id="9" name=""/>
          <p:cNvPicPr>
            <a:picLocks noChangeAspect="1"/>
          </p:cNvPicPr>
          <p:nvPr/>
        </p:nvPicPr>
        <p:blipFill>
          <a:blip r:embed="R218881cf763b49b0"/>
          <a:srcRect l="0" t="27" r="0" b="27"/>
          <a:stretch>
            <a:fillRect l="0" t="0" r="0" b="0"/>
          </a:stretch>
        </p:blipFill>
        <p:spPr>
          <a:xfrm>
            <a:off x="0" y="0"/>
            <a:ext cx="12192000" cy="6858000"/>
          </a:xfrm>
          <a:prstGeom prst="rect">
            <a:avLst/>
          </a:prstGeom>
        </p:spPr>
      </p:pic>
      <p:sp>
        <p:nvSpPr>
          <p:cNvPr id="2" name="fixed">
            <a:extLst>
              <a:ext uri="{FF2B5EF4-FFF2-40B4-BE49-F238E27FC236}">
                <ns3:creationId id="{CA4AD057-18EC-44C7-816D-0719509985F2}"/>
              </a:ext>
            </a:extLst>
          </p:cNvPr>
          <p:cNvSpPr>
            <a:spLocks noGrp="1"/>
          </p:cNvSpPr>
          <p:nvPr/>
        </p:nvSpPr>
        <p:spPr>
          <a:xfrm>
            <a:off x="609600" y="523875"/>
            <a:ext cx="10906125" cy="1066800"/>
          </a:xfrm>
          <a:prstGeom prst="rect">
            <a:avLst/>
          </a:prstGeom>
          <a:noFill/>
          <a:ln w="0">
            <a:noFill/>
          </a:ln>
        </p:spPr>
        <p:txBody>
          <a:bodyPr>
            <a:noAutofit/>
          </a:bodyPr>
          <a:lstStyle/>
          <a:p>
            <a:pPr algn="l">
              <a:defRPr sz="3750" b="1">
                <a:solidFill>
                  <a:srgbClr val="FFFFFF"/>
                </a:solidFill>
                <a:latin typeface="Times New Roman"/>
                <a:ea typeface="Times New Roman"/>
                <a:cs typeface="Times New Roman"/>
              </a:defRPr>
            </a:pPr>
            <a:r>
              <a:rPr sz="3750" b="1">
                <a:solidFill>
                  <a:srgbClr val="FFFFFF"/>
                </a:solidFill>
                <a:latin typeface="Times New Roman"/>
                <a:ea typeface="Times New Roman"/>
                <a:cs typeface="Times New Roman"/>
              </a:rPr>
              <a:t>Live system demonstration</a:t>
            </a:r>
          </a:p>
        </p:txBody>
      </p:sp>
      <p:sp>
        <p:nvSpPr>
          <p:cNvPr id="3" name="fixed">
            <a:extLst>
              <a:ext uri="{FF2B5EF4-FFF2-40B4-BE49-F238E27FC236}">
                <ns3:creationId id="{2F7DC540-37B5-4C30-94A4-FE901FA23F89}"/>
              </a:ext>
            </a:extLst>
          </p:cNvPr>
          <p:cNvSpPr>
            <a:spLocks noGrp="1"/>
          </p:cNvSpPr>
          <p:nvPr/>
        </p:nvSpPr>
        <p:spPr>
          <a:xfrm>
            <a:off x="11029950" y="6334125"/>
            <a:ext cx="523875" cy="285750"/>
          </a:xfrm>
          <a:prstGeom prst="rect">
            <a:avLst/>
          </a:prstGeom>
          <a:noFill/>
          <a:ln w="0">
            <a:noFill/>
          </a:ln>
        </p:spPr>
        <p:txBody>
          <a:bodyPr>
            <a:noAutofit/>
          </a:bodyPr>
          <a:lstStyle/>
          <a:p>
            <a:pPr algn="r">
              <a:defRPr sz="1500" b="0">
                <a:solidFill>
                  <a:srgbClr val="B6CCD3"/>
                </a:solidFill>
                <a:latin typeface="Times New Roman"/>
                <a:ea typeface="Times New Roman"/>
                <a:cs typeface="Times New Roman"/>
              </a:defRPr>
            </a:pPr>
            <a:r>
              <a:rPr sz="1500" b="0">
                <a:solidFill>
                  <a:srgbClr val="B6CCD3"/>
                </a:solidFill>
                <a:latin typeface="Times New Roman"/>
                <a:ea typeface="Times New Roman"/>
                <a:cs typeface="Times New Roman"/>
              </a:rPr>
              <a:t>40</a:t>
            </a:r>
          </a:p>
        </p:txBody>
      </p:sp>
      <p:sp>
        <p:nvSpPr>
          <p:cNvPr id="4" name="reveal-1">
            <a:extLst>
              <a:ext uri="{FF2B5EF4-FFF2-40B4-BE49-F238E27FC236}">
                <ns3:creationId id="{C9BAD029-DD0B-44F0-A816-C954E98812F7}"/>
              </a:ext>
            </a:extLst>
          </p:cNvPr>
          <p:cNvSpPr>
            <a:spLocks noGrp="1"/>
          </p:cNvSpPr>
          <p:nvPr/>
        </p:nvSpPr>
        <p:spPr>
          <a:xfrm>
            <a:off x="609600" y="2095500"/>
            <a:ext cx="8858250" cy="600075"/>
          </a:xfrm>
          <a:prstGeom prst="rect">
            <a:avLst/>
          </a:prstGeom>
          <a:noFill/>
          <a:ln w="0">
            <a:noFill/>
          </a:ln>
        </p:spPr>
        <p:txBody>
          <a:bodyPr>
            <a:noAutofit/>
          </a:bodyPr>
          <a:lstStyle/>
          <a:p>
            <a:pPr algn="l">
              <a:defRPr sz="2925" b="1">
                <a:solidFill>
                  <a:srgbClr val="FFFFFF"/>
                </a:solidFill>
                <a:latin typeface="Times New Roman"/>
                <a:ea typeface="Times New Roman"/>
                <a:cs typeface="Times New Roman"/>
              </a:defRPr>
            </a:pPr>
            <a:r>
              <a:rPr sz="2925" b="1">
                <a:solidFill>
                  <a:srgbClr val="FFFFFF"/>
                </a:solidFill>
                <a:latin typeface="Times New Roman"/>
                <a:ea typeface="Times New Roman"/>
                <a:cs typeface="Times New Roman"/>
              </a:rPr>
              <a:t>01  Configure the examination</a:t>
            </a:r>
          </a:p>
        </p:txBody>
      </p:sp>
      <p:sp>
        <p:nvSpPr>
          <p:cNvPr id="5" name="reveal-2">
            <a:extLst>
              <a:ext uri="{FF2B5EF4-FFF2-40B4-BE49-F238E27FC236}">
                <ns3:creationId id="{9E7B38BC-8ABA-49F4-9F4C-C84018857B7C}"/>
              </a:ext>
            </a:extLst>
          </p:cNvPr>
          <p:cNvSpPr>
            <a:spLocks noGrp="1"/>
          </p:cNvSpPr>
          <p:nvPr/>
        </p:nvSpPr>
        <p:spPr>
          <a:xfrm>
            <a:off x="609600" y="2952750"/>
            <a:ext cx="9239250" cy="600075"/>
          </a:xfrm>
          <a:prstGeom prst="rect">
            <a:avLst/>
          </a:prstGeom>
          <a:noFill/>
          <a:ln w="0">
            <a:noFill/>
          </a:ln>
        </p:spPr>
        <p:txBody>
          <a:bodyPr>
            <a:noAutofit/>
          </a:bodyPr>
          <a:lstStyle/>
          <a:p>
            <a:pPr algn="l">
              <a:defRPr sz="2925" b="1">
                <a:solidFill>
                  <a:srgbClr val="FFFFFF"/>
                </a:solidFill>
                <a:latin typeface="Times New Roman"/>
                <a:ea typeface="Times New Roman"/>
                <a:cs typeface="Times New Roman"/>
              </a:defRPr>
            </a:pPr>
            <a:r>
              <a:rPr sz="2925" b="1">
                <a:solidFill>
                  <a:srgbClr val="FFFFFF"/>
                </a:solidFill>
                <a:latin typeface="Times New Roman"/>
                <a:ea typeface="Times New Roman"/>
                <a:cs typeface="Times New Roman"/>
              </a:rPr>
              <a:t>02  Complete candidate readiness</a:t>
            </a:r>
          </a:p>
        </p:txBody>
      </p:sp>
      <p:sp>
        <p:nvSpPr>
          <p:cNvPr id="6" name="reveal-3">
            <a:extLst>
              <a:ext uri="{FF2B5EF4-FFF2-40B4-BE49-F238E27FC236}">
                <ns3:creationId id="{0C9DBA51-E6EE-4D92-9984-9B4D196BE798}"/>
              </a:ext>
            </a:extLst>
          </p:cNvPr>
          <p:cNvSpPr>
            <a:spLocks noGrp="1"/>
          </p:cNvSpPr>
          <p:nvPr/>
        </p:nvSpPr>
        <p:spPr>
          <a:xfrm>
            <a:off x="609600" y="3810000"/>
            <a:ext cx="9239250" cy="600075"/>
          </a:xfrm>
          <a:prstGeom prst="rect">
            <a:avLst/>
          </a:prstGeom>
          <a:noFill/>
          <a:ln w="0">
            <a:noFill/>
          </a:ln>
        </p:spPr>
        <p:txBody>
          <a:bodyPr>
            <a:noAutofit/>
          </a:bodyPr>
          <a:lstStyle/>
          <a:p>
            <a:pPr algn="l">
              <a:defRPr sz="2925" b="1">
                <a:solidFill>
                  <a:srgbClr val="FFFFFF"/>
                </a:solidFill>
                <a:latin typeface="Times New Roman"/>
                <a:ea typeface="Times New Roman"/>
                <a:cs typeface="Times New Roman"/>
              </a:defRPr>
            </a:pPr>
            <a:r>
              <a:rPr sz="2925" b="1">
                <a:solidFill>
                  <a:srgbClr val="FFFFFF"/>
                </a:solidFill>
                <a:latin typeface="Times New Roman"/>
                <a:ea typeface="Times New Roman"/>
                <a:cs typeface="Times New Roman"/>
              </a:rPr>
              <a:t>03  Review alerts and evidence</a:t>
            </a:r>
          </a:p>
        </p:txBody>
      </p:sp>
      <p:sp>
        <p:nvSpPr>
          <p:cNvPr id="7" name="reveal-4">
            <a:extLst>
              <a:ext uri="{FF2B5EF4-FFF2-40B4-BE49-F238E27FC236}">
                <ns3:creationId id="{75921DD3-52F8-4409-AAED-A3A89E3EB9A5}"/>
              </a:ext>
            </a:extLst>
          </p:cNvPr>
          <p:cNvSpPr>
            <a:spLocks noGrp="1"/>
          </p:cNvSpPr>
          <p:nvPr/>
        </p:nvSpPr>
        <p:spPr>
          <a:xfrm>
            <a:off x="609600" y="4667250"/>
            <a:ext cx="10287000" cy="600075"/>
          </a:xfrm>
          <a:prstGeom prst="rect">
            <a:avLst/>
          </a:prstGeom>
          <a:noFill/>
          <a:ln w="0">
            <a:noFill/>
          </a:ln>
        </p:spPr>
        <p:txBody>
          <a:bodyPr>
            <a:noAutofit/>
          </a:bodyPr>
          <a:lstStyle/>
          <a:p>
            <a:pPr algn="l">
              <a:defRPr sz="2925" b="1">
                <a:solidFill>
                  <a:srgbClr val="FFFFFF"/>
                </a:solidFill>
                <a:latin typeface="Times New Roman"/>
                <a:ea typeface="Times New Roman"/>
                <a:cs typeface="Times New Roman"/>
              </a:defRPr>
            </a:pPr>
            <a:r>
              <a:rPr sz="2925" b="1">
                <a:solidFill>
                  <a:srgbClr val="FFFFFF"/>
                </a:solidFill>
                <a:latin typeface="Times New Roman"/>
                <a:ea typeface="Times New Roman"/>
                <a:cs typeface="Times New Roman"/>
              </a:rPr>
              <a:t>04  Submit the answer and open the report</a:t>
            </a:r>
          </a:p>
        </p:txBody>
      </p:sp>
      <p:sp>
        <p:nvSpPr>
          <p:cNvPr id="8" name="fixed">
            <a:extLst>
              <a:ext uri="{FF2B5EF4-FFF2-40B4-BE49-F238E27FC236}">
                <ns3:creationId id="{60EB0FF9-801E-4ED6-A274-DA81BB617995}"/>
              </a:ext>
            </a:extLst>
          </p:cNvPr>
          <p:cNvSpPr>
            <a:spLocks noGrp="1"/>
          </p:cNvSpPr>
          <p:nvPr/>
        </p:nvSpPr>
        <p:spPr>
          <a:xfrm>
            <a:off x="609600" y="5953125"/>
            <a:ext cx="10668000" cy="457200"/>
          </a:xfrm>
          <a:prstGeom prst="rect">
            <a:avLst/>
          </a:prstGeom>
          <a:noFill/>
          <a:ln w="0">
            <a:noFill/>
          </a:ln>
        </p:spPr>
        <p:txBody>
          <a:bodyPr>
            <a:noAutofit/>
          </a:bodyPr>
          <a:lstStyle/>
          <a:p>
            <a:pPr algn="l">
              <a:defRPr sz="1725" b="0">
                <a:solidFill>
                  <a:srgbClr val="BDD1D7"/>
                </a:solidFill>
                <a:latin typeface="Times New Roman"/>
                <a:ea typeface="Times New Roman"/>
                <a:cs typeface="Times New Roman"/>
              </a:defRPr>
            </a:pPr>
            <a:r>
              <a:rPr sz="1725" b="0">
                <a:solidFill>
                  <a:srgbClr val="BDD1D7"/>
                </a:solidFill>
                <a:latin typeface="Times New Roman"/>
                <a:ea typeface="Times New Roman"/>
                <a:cs typeface="Times New Roman"/>
              </a:rPr>
              <a:t>IntegrityFlow  /  Local monitoring with evidence for examiner decisions</a:t>
            </a:r>
          </a:p>
        </p:txBody>
      </p:sp>
    </p:spTree>
    <p:extLst>
      <p:ext uri="{BB962C8B-B14F-4D97-AF65-F5344CB8AC3E}">
        <ns4:creationId val="1025865218"/>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1" nodeType="clickEffect">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fade">
                                <p:cBhvr>
                                  <p:cTn id="6" dur="350"/>
                                  <p:tgtEl>
                                    <p:spTgt spid="4"/>
                                  </p:tgtEl>
                                </p:cBhvr>
                              </p:animEffect>
                            </p:childTnLst>
                          </p:cTn>
                        </p:par>
                      </p:childTnLst>
                    </p:cTn>
                  </p:par>
                  <p:par>
                    <p:cTn id="7" fill="hold">
                      <p:stCondLst>
                        <p:cond delay="indefinite"/>
                      </p:stCondLst>
                      <p:childTnLst>
                        <p:par>
                          <p:cTn id="8" presetID="10" presetClass="entr" presetSubtype="0" fill="hold" grpId="2" nodeType="click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350"/>
                                  <p:tgtEl>
                                    <p:spTgt spid="5"/>
                                  </p:tgtEl>
                                </p:cBhvr>
                              </p:animEffect>
                            </p:childTnLst>
                          </p:cTn>
                        </p:par>
                      </p:childTnLst>
                    </p:cTn>
                  </p:par>
                  <p:par>
                    <p:cTn id="11" fill="hold">
                      <p:stCondLst>
                        <p:cond delay="indefinite"/>
                      </p:stCondLst>
                      <p:childTnLst>
                        <p:par>
                          <p:cTn id="12" presetID="10" presetClass="entr" presetSubtype="0" fill="hold" grpId="3"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350"/>
                                  <p:tgtEl>
                                    <p:spTgt spid="6"/>
                                  </p:tgtEl>
                                </p:cBhvr>
                              </p:animEffect>
                            </p:childTnLst>
                          </p:cTn>
                        </p:par>
                      </p:childTnLst>
                    </p:cTn>
                  </p:par>
                  <p:par>
                    <p:cTn id="15" fill="hold">
                      <p:stCondLst>
                        <p:cond delay="indefinite"/>
                      </p:stCondLst>
                      <p:childTnLst>
                        <p:par>
                          <p:cTn id="16" presetID="10" presetClass="entr" presetSubtype="0" fill="hold" grpId="4" nodeType="click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350"/>
                                  <p:tgtEl>
                                    <p:spTgt spid="7"/>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4" grpId="1" uiExpand="1"/>
      <p:bldP spid="5" grpId="2" uiExpand="1"/>
      <p:bldP spid="6" grpId="3" uiExpand="1"/>
      <p:bldP spid="7" grpId="4" uiExpand="1"/>
    </p:bldLst>
  </p:timing>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2026-10-03T20:53:15.5980000Z</dcterms:created>
  <dcterms:modified xsi:type="dcterms:W3CDTF">2026-10-03T20:53:15.5990000Z</dcterms:modified>
</coreProperties>
</file>