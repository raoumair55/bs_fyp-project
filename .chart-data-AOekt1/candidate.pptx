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71dee00d3884a96" /><Relationship Type="http://schemas.openxmlformats.org/officeDocument/2006/relationships/extended-properties" Target="/docProps/app.xml" Id="R97ac28c3747b4e09" /><Relationship Type="http://schemas.openxmlformats.org/officeDocument/2006/relationships/officeDocument" Target="/ppt/presentation.xml" Id="R829dbc11114c4459" /></Relationships>
</file>

<file path=ppt/presentation.xml><?xml version="1.0" encoding="utf-8"?>
<p:presentation xmlns:p="http://schemas.openxmlformats.org/presentationml/2006/main">
  <p:sldMasterIdLst>
    <p:sldMasterId xmlns:r="http://schemas.openxmlformats.org/officeDocument/2006/relationships" id="2147483648" r:id="Rb594775ecfe845ad"/>
  </p:sldMasterIdLst>
  <p:notesMasterIdLst>
    <p:notesMasterId xmlns:r="http://schemas.openxmlformats.org/officeDocument/2006/relationships" r:id="Rbeef13a1e164453a"/>
  </p:notesMasterIdLst>
  <p:sldIdLst>
    <p:sldId xmlns:r="http://schemas.openxmlformats.org/officeDocument/2006/relationships" id="256" r:id="Re39d74bc4f304582"/>
    <p:sldId xmlns:r="http://schemas.openxmlformats.org/officeDocument/2006/relationships" id="257" r:id="R22ccbc5b38784bbd"/>
    <p:sldId xmlns:r="http://schemas.openxmlformats.org/officeDocument/2006/relationships" id="258" r:id="R3d6c58c957214401"/>
    <p:sldId xmlns:r="http://schemas.openxmlformats.org/officeDocument/2006/relationships" id="259" r:id="Ra08c77d70e43499c"/>
    <p:sldId xmlns:r="http://schemas.openxmlformats.org/officeDocument/2006/relationships" id="260" r:id="Re183293b1bca4f14"/>
    <p:sldId xmlns:r="http://schemas.openxmlformats.org/officeDocument/2006/relationships" id="261" r:id="R572e45d117654725"/>
    <p:sldId xmlns:r="http://schemas.openxmlformats.org/officeDocument/2006/relationships" id="262" r:id="Rfeaffe4a12874211"/>
    <p:sldId xmlns:r="http://schemas.openxmlformats.org/officeDocument/2006/relationships" id="263" r:id="R8773b70fc6f04c67"/>
    <p:sldId xmlns:r="http://schemas.openxmlformats.org/officeDocument/2006/relationships" id="264" r:id="Rc6cb401d781d4246"/>
    <p:sldId xmlns:r="http://schemas.openxmlformats.org/officeDocument/2006/relationships" id="265" r:id="R04896d787f604942"/>
    <p:sldId xmlns:r="http://schemas.openxmlformats.org/officeDocument/2006/relationships" id="266" r:id="Rda0ae0490f664990"/>
    <p:sldId xmlns:r="http://schemas.openxmlformats.org/officeDocument/2006/relationships" id="267" r:id="R5a707c2dad5e473b"/>
    <p:sldId xmlns:r="http://schemas.openxmlformats.org/officeDocument/2006/relationships" id="268" r:id="Rb9b0f39f893f4385"/>
    <p:sldId xmlns:r="http://schemas.openxmlformats.org/officeDocument/2006/relationships" id="269" r:id="R545063a9866e449b"/>
    <p:sldId xmlns:r="http://schemas.openxmlformats.org/officeDocument/2006/relationships" id="270" r:id="R9f1870c00a604bbb"/>
    <p:sldId xmlns:r="http://schemas.openxmlformats.org/officeDocument/2006/relationships" id="271" r:id="R77e6f2e3484e4900"/>
    <p:sldId xmlns:r="http://schemas.openxmlformats.org/officeDocument/2006/relationships" id="272" r:id="R5b1cdbc376274cbd"/>
    <p:sldId xmlns:r="http://schemas.openxmlformats.org/officeDocument/2006/relationships" id="273" r:id="R8c95139d56614f63"/>
    <p:sldId xmlns:r="http://schemas.openxmlformats.org/officeDocument/2006/relationships" id="274" r:id="R4d3774e685954318"/>
    <p:sldId xmlns:r="http://schemas.openxmlformats.org/officeDocument/2006/relationships" id="275" r:id="Re3c3965367474171"/>
    <p:sldId xmlns:r="http://schemas.openxmlformats.org/officeDocument/2006/relationships" id="276" r:id="Rda7baf7f5dcc437f"/>
    <p:sldId xmlns:r="http://schemas.openxmlformats.org/officeDocument/2006/relationships" id="277" r:id="R61ca22205c7547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e8d6d992ed4385" /><Relationship Type="http://schemas.openxmlformats.org/officeDocument/2006/relationships/slideMaster" Target="/ppt/slideMasters/slideMaster1.xml" Id="Rb594775ecfe845ad" /><Relationship Type="http://schemas.openxmlformats.org/officeDocument/2006/relationships/notesMaster" Target="/ppt/notesMasters/notesMaster1.xml" Id="Rbeef13a1e164453a" /><Relationship Type="http://schemas.openxmlformats.org/officeDocument/2006/relationships/presProps" Target="/ppt/presProps.xml" Id="R404098370e20419f" /><Relationship Type="http://schemas.openxmlformats.org/officeDocument/2006/relationships/tableStyles" Target="/ppt/tableStyles.xml" Id="R037933d1e89e4ec1" /><Relationship Type="http://schemas.openxmlformats.org/officeDocument/2006/relationships/slide" Target="/ppt/slides/slide1.xml" Id="Re39d74bc4f304582" /><Relationship Type="http://schemas.openxmlformats.org/officeDocument/2006/relationships/slide" Target="/ppt/slides/slide2.xml" Id="R22ccbc5b38784bbd" /><Relationship Type="http://schemas.openxmlformats.org/officeDocument/2006/relationships/slide" Target="/ppt/slides/slide3.xml" Id="R3d6c58c957214401" /><Relationship Type="http://schemas.openxmlformats.org/officeDocument/2006/relationships/slide" Target="/ppt/slides/slide4.xml" Id="Ra08c77d70e43499c" /><Relationship Type="http://schemas.openxmlformats.org/officeDocument/2006/relationships/slide" Target="/ppt/slides/slide5.xml" Id="Re183293b1bca4f14" /><Relationship Type="http://schemas.openxmlformats.org/officeDocument/2006/relationships/slide" Target="/ppt/slides/slide6.xml" Id="R572e45d117654725" /><Relationship Type="http://schemas.openxmlformats.org/officeDocument/2006/relationships/slide" Target="/ppt/slides/slide7.xml" Id="Rfeaffe4a12874211" /><Relationship Type="http://schemas.openxmlformats.org/officeDocument/2006/relationships/slide" Target="/ppt/slides/slide8.xml" Id="R8773b70fc6f04c67" /><Relationship Type="http://schemas.openxmlformats.org/officeDocument/2006/relationships/slide" Target="/ppt/slides/slide9.xml" Id="Rc6cb401d781d4246" /><Relationship Type="http://schemas.openxmlformats.org/officeDocument/2006/relationships/slide" Target="/ppt/slides/slide10.xml" Id="R04896d787f604942" /><Relationship Type="http://schemas.openxmlformats.org/officeDocument/2006/relationships/slide" Target="/ppt/slides/slide11.xml" Id="Rda0ae0490f664990" /><Relationship Type="http://schemas.openxmlformats.org/officeDocument/2006/relationships/slide" Target="/ppt/slides/slide12.xml" Id="R5a707c2dad5e473b" /><Relationship Type="http://schemas.openxmlformats.org/officeDocument/2006/relationships/slide" Target="/ppt/slides/slide13.xml" Id="Rb9b0f39f893f4385" /><Relationship Type="http://schemas.openxmlformats.org/officeDocument/2006/relationships/slide" Target="/ppt/slides/slide14.xml" Id="R545063a9866e449b" /><Relationship Type="http://schemas.openxmlformats.org/officeDocument/2006/relationships/slide" Target="/ppt/slides/slide15.xml" Id="R9f1870c00a604bbb" /><Relationship Type="http://schemas.openxmlformats.org/officeDocument/2006/relationships/slide" Target="/ppt/slides/slide16.xml" Id="R77e6f2e3484e4900" /><Relationship Type="http://schemas.openxmlformats.org/officeDocument/2006/relationships/slide" Target="/ppt/slides/slide17.xml" Id="R5b1cdbc376274cbd" /><Relationship Type="http://schemas.openxmlformats.org/officeDocument/2006/relationships/slide" Target="/ppt/slides/slide18.xml" Id="R8c95139d56614f63" /><Relationship Type="http://schemas.openxmlformats.org/officeDocument/2006/relationships/slide" Target="/ppt/slides/slide19.xml" Id="R4d3774e685954318" /><Relationship Type="http://schemas.openxmlformats.org/officeDocument/2006/relationships/slide" Target="/ppt/slides/slide20.xml" Id="Re3c3965367474171" /><Relationship Type="http://schemas.openxmlformats.org/officeDocument/2006/relationships/slide" Target="/ppt/slides/slide21.xml" Id="Rda7baf7f5dcc437f" /><Relationship Type="http://schemas.openxmlformats.org/officeDocument/2006/relationships/slide" Target="/ppt/slides/slide22.xml" Id="R61ca22205c7547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8ee10b3a4649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0e966476fc49c4" /><Relationship Type="http://schemas.openxmlformats.org/officeDocument/2006/relationships/notesMaster" Target="/ppt/notesMasters/notesMaster1.xml" Id="Ra0d1bf3b701f4a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c31f5439204818" /><Relationship Type="http://schemas.openxmlformats.org/officeDocument/2006/relationships/notesMaster" Target="/ppt/notesMasters/notesMaster1.xml" Id="R65a3cb151ee641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78370693774166" /><Relationship Type="http://schemas.openxmlformats.org/officeDocument/2006/relationships/notesMaster" Target="/ppt/notesMasters/notesMaster1.xml" Id="R6655f28e5e2a4f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844d3600364ff7" /><Relationship Type="http://schemas.openxmlformats.org/officeDocument/2006/relationships/notesMaster" Target="/ppt/notesMasters/notesMaster1.xml" Id="R2d4295a33fcb45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561d31fc614ced" /><Relationship Type="http://schemas.openxmlformats.org/officeDocument/2006/relationships/notesMaster" Target="/ppt/notesMasters/notesMaster1.xml" Id="Ra3f7dace140d4f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e66ff21e7f440c" /><Relationship Type="http://schemas.openxmlformats.org/officeDocument/2006/relationships/notesMaster" Target="/ppt/notesMasters/notesMaster1.xml" Id="R7b97f06216974a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ae30681b644cb3" /><Relationship Type="http://schemas.openxmlformats.org/officeDocument/2006/relationships/notesMaster" Target="/ppt/notesMasters/notesMaster1.xml" Id="R8a98c8e9e16f44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ef7e6be8044fc4" /><Relationship Type="http://schemas.openxmlformats.org/officeDocument/2006/relationships/notesMaster" Target="/ppt/notesMasters/notesMaster1.xml" Id="R355e301032da4a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45bc1ced694c2c" /><Relationship Type="http://schemas.openxmlformats.org/officeDocument/2006/relationships/notesMaster" Target="/ppt/notesMasters/notesMaster1.xml" Id="R55ca6b30584f40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a57613ae6046f8" /><Relationship Type="http://schemas.openxmlformats.org/officeDocument/2006/relationships/notesMaster" Target="/ppt/notesMasters/notesMaster1.xml" Id="R7a62c438652343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9eca18b0104872" /><Relationship Type="http://schemas.openxmlformats.org/officeDocument/2006/relationships/notesMaster" Target="/ppt/notesMasters/notesMaster1.xml" Id="R55568b107ca841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bce38f693e40f7" /><Relationship Type="http://schemas.openxmlformats.org/officeDocument/2006/relationships/notesMaster" Target="/ppt/notesMasters/notesMaster1.xml" Id="R8c84058c612244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f680e63cdd476d" /><Relationship Type="http://schemas.openxmlformats.org/officeDocument/2006/relationships/notesMaster" Target="/ppt/notesMasters/notesMaster1.xml" Id="R764738d9b64140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649eff71a44632" /><Relationship Type="http://schemas.openxmlformats.org/officeDocument/2006/relationships/notesMaster" Target="/ppt/notesMasters/notesMaster1.xml" Id="R9c38cf2226bb44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8e2f21a077476a" /><Relationship Type="http://schemas.openxmlformats.org/officeDocument/2006/relationships/notesMaster" Target="/ppt/notesMasters/notesMaster1.xml" Id="R8da96171bdcc42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00150340ce4e9d" /><Relationship Type="http://schemas.openxmlformats.org/officeDocument/2006/relationships/notesMaster" Target="/ppt/notesMasters/notesMaster1.xml" Id="R4d1e767826e842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c580aa10cc43ae" /><Relationship Type="http://schemas.openxmlformats.org/officeDocument/2006/relationships/notesMaster" Target="/ppt/notesMasters/notesMaster1.xml" Id="R5fbaa050539f4f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87206aec2f4ecc" /><Relationship Type="http://schemas.openxmlformats.org/officeDocument/2006/relationships/notesMaster" Target="/ppt/notesMasters/notesMaster1.xml" Id="R18f8281652b344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36e810c2a045f7" /><Relationship Type="http://schemas.openxmlformats.org/officeDocument/2006/relationships/notesMaster" Target="/ppt/notesMasters/notesMaster1.xml" Id="Rb8dfd1877cba4be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c9d57cc6ca4582" /><Relationship Type="http://schemas.openxmlformats.org/officeDocument/2006/relationships/notesMaster" Target="/ppt/notesMasters/notesMaster1.xml" Id="Rdd97846c99114a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c6b0fef14f4ef6" /><Relationship Type="http://schemas.openxmlformats.org/officeDocument/2006/relationships/notesMaster" Target="/ppt/notesMasters/notesMaster1.xml" Id="R6cc5b716251f46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e358a80ea642fe" /><Relationship Type="http://schemas.openxmlformats.org/officeDocument/2006/relationships/notesMaster" Target="/ppt/notesMasters/notesMaster1.xml" Id="Rdf1cf652f5f749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Introduce the team and project. Vision and voice inference run on the candidate device. The examiner reviews events centrally. Team metadata preserved from the previous project deck. Presentation date: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Explain the problem using concrete examples. An examiner needs evidence from the candidate environment and a way to act on it. Avoid claiming that other proctoring systems universally lose data or require a particular bandwidth.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Remote online exams use camera and voice monitoring plus system checks. Physical-lab mode deliberately bypasses camera/voice and retains environment monitoring. The project uses pretrained models, with integration and reliability engineering as our contribution. Do not claim measured FPS, CPU or AI accuracy. Code evidence: D:/BS_FYP Project/IntegrityFlow/candidate-app/electron/main.js</a:t>
            </a:r>
          </a:p>
          <a:p xmlns:a="http://schemas.openxmlformats.org/drawingml/2006/main">
            <a:r>
              <a:t>D:/BS_FYP Project/IntegrityFlow/candidate-app/ai-module/main.py</a:t>
            </a:r>
          </a:p>
          <a:p xmlns:a="http://schemas.openxmlformats.org/drawingml/2006/main">
            <a:r>
              <a:t>D:/BS_FYP Project/IntegrityFlow/candidate-app/ai-module/ai_monitor.py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Read left to right. Python performs local monitoring and durably queues events in SQLite. Electron persists accepted events in its disk queue and forwards them. Express commits metadata to MongoDB and saves media using the configured storage provider. Authorized Socket.IO recipients receive updates. The Python control API and Electron receiver use separate dynamic loopback ports. No fixed 8766 FastAPI claim. Code evidence: D:/BS_FYP Project/IntegrityFlow/candidate-app/ai-module/main.py</a:t>
            </a:r>
          </a:p>
          <a:p xmlns:a="http://schemas.openxmlformats.org/drawingml/2006/main">
            <a:r>
              <a:t>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a:p xmlns:a="http://schemas.openxmlformats.org/drawingml/2006/main">
            <a:r>
              <a:t>D:/BS_FYP Project/IntegrityFlow/server/src/sockets/violationSocket.js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Five core modules, two optional modules and one advanced reporting module. All have implementation paths, but that count is not an independently assessed completion percentage. Module categories come from Scope v3 and presentation/output/Scope_Progress_Verification.md. Current code corrects older backend descriptions.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Explain modules 1 and 4. Electron kiosk controls and psutil allowlists restrict the environment. Verified file ownership lets enforcement target the offending process. USB storage checks use Windows CIM, including USB bus type where available. Display count checks require one display. Self-check verifies actual hardware and voice enrollment before online exam entry. An allowlist is not a complete OS sandbox, and detection does not mean USB devices are disabled at driver level. Code evidence: D:/BS_FYP Project/IntegrityFlow/candidate-app/ai-module/whitelist_enforcer.py</a:t>
            </a:r>
          </a:p>
          <a:p xmlns:a="http://schemas.openxmlformats.org/drawingml/2006/main">
            <a:r>
              <a:t>D:/BS_FYP Project/IntegrityFlow/candidate-app/ai-module/usb_monitor.py</a:t>
            </a:r>
          </a:p>
          <a:p xmlns:a="http://schemas.openxmlformats.org/drawingml/2006/main">
            <a:r>
              <a:t>D:/BS_FYP Project/IntegrityFlow/candidate-app/renderer/selfCheck.js</a:t>
            </a:r>
          </a:p>
          <a:p xmlns:a="http://schemas.openxmlformats.org/drawingml/2006/main">
            <a:r>
              <a:t>D:/BS_FYP Project/IntegrityFlow/candidate-app/electron/main.js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Module 2. Modern MediaPipe Tasks supplies facial landmarks. OpenCV solves head pose using six selected landmark points. Sustained, calibrated head direction generates a signal, not measured eye gaze. YOLO26n runs through ONNX Runtime and targets phone/book classes. Face counts come from MediaPipe or OpenCV fallback, not YOLO phone inference. WebRTC VAD Mode 2 gates speech, then Resemblyzer compares it with the enrolled reference. Two valid mismatches trigger an event. False-positive and missed-detection rates remain to measure. Code evidence: D:/BS_FYP Project/IntegrityFlow/candidate-app/ai-module/ai_monitor.py</a:t>
            </a:r>
          </a:p>
          <a:p xmlns:a="http://schemas.openxmlformats.org/drawingml/2006/main">
            <a:r>
              <a:t>D:/BS_FYP Project/IntegrityFlow/candidate-app/ai-module/voice_monitor.py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Modules 3 and 5. Vision events save annotated webcam JPEGs, environment events capture screenshots, voice events save valid WAV clips. Durable queues preserve event identity for retry deduplication. Weighted severity and decay form the score, with dismissed events excluded and late evidence held outside normal scoring until examiner confirmation. Risk is review priority. Do not call it a cheating probability. Code evidence: D:/BS_FYP Project/IntegrityFlow/candidate-app/ai-module/services/capture</a:t>
            </a:r>
          </a:p>
          <a:p xmlns:a="http://schemas.openxmlformats.org/drawingml/2006/main">
            <a:r>
              <a:t>D:/BS_FYP Project/IntegrityFlow/candidate-app/ai-module/services/violation_delivery.py</a:t>
            </a:r>
          </a:p>
          <a:p xmlns:a="http://schemas.openxmlformats.org/drawingml/2006/main">
            <a:r>
              <a:t>D:/BS_FYP Project/IntegrityFlow/server/src/services/scoring/DecayScoringStrategy.js</a:t>
            </a:r>
          </a:p>
          <a:p xmlns:a="http://schemas.openxmlformats.org/drawingml/2006/main">
            <a:r>
              <a:t>D:/BS_FYP Project/IntegrityFlow/server/src/routes/violations.js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Modules 6 and 7. Live Monitoring prioritizes active-exam events and keeps evidence inside the selected exam. Exams defaults to Active, History exposes completed summaries, Account holds teacher controls. The teacher can review events, warn candidates or terminate sessions. Candidate workspace supports paper viewing, typed drafts and answer files. Rehearse actual submission and retrieval. Code evidence: D:/BS_FYP Project/IntegrityFlow/dashboard/src/pages/Dashboard.jsx</a:t>
            </a:r>
          </a:p>
          <a:p xmlns:a="http://schemas.openxmlformats.org/drawingml/2006/main">
            <a:r>
              <a:t>D:/BS_FYP Project/IntegrityFlow/dashboard/src/components/ExamManager.jsx</a:t>
            </a:r>
          </a:p>
          <a:p xmlns:a="http://schemas.openxmlformats.org/drawingml/2006/main">
            <a:r>
              <a:t>D:/BS_FYP Project/IntegrityFlow/candidate-app/renderer/examScreen.js</a:t>
            </a:r>
          </a:p>
          <a:p xmlns:a="http://schemas.openxmlformats.org/drawingml/2006/main">
            <a:r>
              <a:t>D:/BS_FYP Project/IntegrityFlow/server/src/routes/submissions.js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Reporting is already implemented. Module 8 provides historical summaries, risk distributions, violation breakdowns, CSV and browser Save PDF. Exporting every individual alert and screenshot in one consolidated report remains incomplete. Additions include speaker verification, physical-lab mode, two-way intervention, admin asset management, multiple-exam lifecycle, dark mode and more durable transport. Code evidence: D:/BS_FYP Project/IntegrityFlow/dashboard/src/components/ExamSummary.jsx</a:t>
            </a:r>
          </a:p>
          <a:p xmlns:a="http://schemas.openxmlformats.org/drawingml/2006/main">
            <a:r>
              <a:t>D:/BS_FYP Project/IntegrityFlow/dashboard/src/components/AdminDashboard/AdminDashboard.jsx</a:t>
            </a:r>
          </a:p>
          <a:p xmlns:a="http://schemas.openxmlformats.org/drawingml/2006/main">
            <a:r>
              <a:t>D:/BS_FYP Project/IntegrityFlow/server/src/routes/exams.js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Source: user-supplied before/after benchmark narrative on 3 October 2026. Reported after-run command: python scripts/load_test.py --students 50 --duration 20 --with-reads. Two simulated dashboard polling workers, synthetic violation HTTP traffic. Raw logs, hardware, database placement and repeat-run variation were not supplied. Overall request success includes endpoint responses, not verified socket delivery or evidence playback. Before throughput and request count imply about 24 seconds; after imply 20 seconds, so do not frame the throughput increase as proven capacity. No fresh benchmark was run for this deck. Code evidence: D:/BS_FYP Project/IntegrityFlow/scripts/load_test.py</a:t>
            </a:r>
          </a:p>
          <a:p xmlns:a="http://schemas.openxmlformats.org/drawingml/2006/main">
            <a:r>
              <a:t>D:/BS_FYP Project/IntegrityFlow/server/src/routes/violations.js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Code confirms res.status(201).json(savedViolation) after database commit and before setImmediate processing. This removes scoring from the response critical path. setImmediate defers execution but is not a worker thread or durable background job and does not make MongoDB queries free. Original awaited database calls were asynchronous, not synchronous CPU blockage. The reported benchmark supports HTTP latency improvement, not a less-than-25ms guarantee. Code evidence: D:/BS_FYP Project/IntegrityFlow/server/src/routes/violations.js:148</a:t>
            </a:r>
          </a:p>
          <a:p xmlns:a="http://schemas.openxmlformats.org/drawingml/2006/main">
            <a:r>
              <a:t>D:/BS_FYP Project/IntegrityFlow/server/src/scoring/severityEngine.js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All eight scope modules have code paths. Reporting is present. Exact AI scope coverage is partial because headphones are not detected and model/quantization differ from the proposal. We do not assign an invented 78% completion number. A supervisor-approved weighted rubric and live acceptance tests are needed for a defensible overall percentage. Controlled detector regression suite passed 25 checks in the preceding monitoring work. Code evidence: D:/BS_FYP Project/IntegrityFlow/presentation/output/Scope_Progress_Verification.md</a:t>
            </a:r>
          </a:p>
          <a:p xmlns:a="http://schemas.openxmlformats.org/drawingml/2006/main">
            <a:r>
              <a:t>D:/BS_FYP Project/IntegrityFlow/candidate-app/RELIABILITY.md</a:t>
            </a:r>
          </a:p>
          <a:p xmlns:a="http://schemas.openxmlformats.org/drawingml/2006/main">
            <a:r>
              <a:t>D:/BS_FYP Project/IntegrityFlow/candidate-app/ai-module/check_detection.py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Labelled device trials should include ordinary reading, head turns, multiple faces, visible/partial phones and quiet/noisy speech. Measure detection latency separately from HTTP response and socket/evidence arrival. Remaining scope issue is headphones or supervisor-approved scope alignment. Report content consolidation and automatic retention policy are still open. Repeated, longer load trials need environment details and raw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to hand off, then a separate 7–8 minute demo. 0–1 minute create/show exam and rules. 1–3 minutes candidate consent, hardware readiness and enrollment. 3–5 minutes trigger a visible phone/head turn and one safe environment event. 5–7 minutes examiner reviews evidence and sends warning; candidate submits answer. 7–8 minutes historical report or controlled offline recovery if rehearsed. Use a separate candidate laptop: HDMI can add a display and block self-check. Save open work before strict enforcement. A backup recording must be clearly identified as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main sequence here. The remaining slides support technical questions. Explain pretrained model use and the project contribution candidly. Do not interpret alerts as proof of misconduct.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Head direction uses MediaPipe Tasks landmarks plus cv2.solvePnP with six points. Stable single-face neutral calibration uses 20 observations, with wraparound-safe smoothing. Lateral alerts require relative and absolute yaw support, with 13-degree threshold and 0.5-second lateral dwell. Multiple faces suspend head-direction estimation. Phone detector uses 640x640 letterboxing, COCO class 67, same-class spatial overlap. After a candidate phone prediction, inference runs next frame. Two &gt;=0.60 confidence predictions confirm, weaker predictions require three. Misses and spatial jumps reset, repeat cooldown 2s. These are algorithm settings, not measured real-world latency or accuracy. Code evidence: D:/BS_FYP Project/IntegrityFlow/candidate-app/ai-module/ai_monitor.py</a:t>
            </a:r>
          </a:p>
          <a:p xmlns:a="http://schemas.openxmlformats.org/drawingml/2006/main">
            <a:r>
              <a:t>D:/BS_FYP Project/IntegrityFlow/candidate-app/ai-module/config/thresholds.json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16 kHz mono, 30ms frames, VAD Mode 2, configured speech gating 1.5s, verification segments3s, minimum RMS.003. Reference enrollment8s plus separate4s confirmation, processed speech minima3s/2s. Resemblyzer embedding256 dimensions, cosine threshold.75, two valid mismatches, cooldown60s. Reject too-short/clipped audio. This detects speaker mismatch, not reliable speaker count or all whispers. No real-room labelled evaluation validates the cutoff yet. Code evidence: D:/BS_FYP Project/IntegrityFlow/candidate-app/ai-module/voice_monitor.py</a:t>
            </a:r>
          </a:p>
          <a:p xmlns:a="http://schemas.openxmlformats.org/drawingml/2006/main">
            <a:r>
              <a:t>D:/BS_FYP Project/IntegrityFlow/candidate-app/ai-module/config/thresholds.json</a:t>
            </a:r>
          </a:p>
          <a:p xmlns:a="http://schemas.openxmlformats.org/drawingml/2006/main">
            <a:r>
              <a:t>D:/BS_FYP Project/IntegrityFlow/candidate-app/ai-module/evaluate_voice.py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Simplified sequence. Durable queues acknowledge locally before upstream delivery. HTTP201 follows database commit. Deferred event and score updates target authorized teacher/admin recipients. Teacher review can confirm or dismiss. No queue guarantees notification delivery through a server crash. Code evidence: 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a:p xmlns:a="http://schemas.openxmlformats.org/drawingml/2006/main">
            <a:r>
              <a:t>D:/BS_FYP Project/IntegrityFlow/server/src/sockets/violationSocket.js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An event originally generated during a valid session can arrive after completion. Server validates event identity and original timestamp, stores receivedLate and deduplicates retries. It retains evidence and does not automatically inflate final risk. Explicit examiner confirmation allows score contribution; dismissal excludes it. New activity after the valid session window is rejected. Controlled regression coverage exists but cloud/network recovery still needs rehearsal. Code evidence: D:/BS_FYP Project/IntegrityFlow/server/src/routes/violations.js</a:t>
            </a:r>
          </a:p>
          <a:p xmlns:a="http://schemas.openxmlformats.org/drawingml/2006/main">
            <a:r>
              <a:t>D:/BS_FYP Project/IntegrityFlow/server/check_late_evidence.js</a:t>
            </a:r>
          </a:p>
          <a:p xmlns:a="http://schemas.openxmlformats.org/drawingml/2006/main">
            <a:r>
              <a:t>D:/BS_FYP Project/IntegrityFlow/candidate-app/electron/ipc/violationBuffer.js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All figures supplied in the user message, not independently rerun. 158 total requests with17 failures produces89.2405% success, displayed89.2%. After189/189. Average ratio4142.10/408.76=10.13; median3923.40/333.25=11.77. Throughput6.58vs9.45 reflects measured report windows that appear unequal. P958000ms is supplied as the client timeout ceiling, not an independently reconstructed percentile. Request totals combine setup, writes and reads in load_test.py. Raw logs were not supplied. Code evidence: D:/BS_FYP Project/IntegrityFlow/scripts/load_test.py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Teacher sockets are scoped to owned exams, admin rights are broader. Voice consent discloses stored speaker reference vectors and audio clips, including local/uploaded evidence. Current removal is manual, with no automatic expiry. Local inference does not mean every part of the system works without central connectivity. Regression tests establish selected behavior, not production security or statistical accuracy. Code evidence: D:/BS_FYP Project/IntegrityFlow/server/src/sockets/violationSocket.js</a:t>
            </a:r>
          </a:p>
          <a:p xmlns:a="http://schemas.openxmlformats.org/drawingml/2006/main">
            <a:r>
              <a:t>D:/BS_FYP Project/IntegrityFlow/server/src/utils/examAccess.js</a:t>
            </a:r>
          </a:p>
          <a:p xmlns:a="http://schemas.openxmlformats.org/drawingml/2006/main">
            <a:r>
              <a:t>D:/BS_FYP Project/IntegrityFlow/candidate-app/renderer/identity.js</a:t>
            </a:r>
          </a:p>
          <a:p xmlns:a="http://schemas.openxmlformats.org/drawingml/2006/main">
            <a:r>
              <a:t>D:/BS_FYP Project/IntegrityFlow/candidate-app/electron/check_consent.js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d44cc2624147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cf7cbe1133429e" /><Relationship Type="http://schemas.openxmlformats.org/officeDocument/2006/relationships/slideLayout" Target="/ppt/slideLayouts/slideLayout1.xml" Id="R4d408cd372f243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408cd372f243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78b869a18a46d1" /><Relationship Type="http://schemas.openxmlformats.org/officeDocument/2006/relationships/image" Target="/ppt/media/image.png" Id="R43cda93b6ad1458d" /><Relationship Type="http://schemas.openxmlformats.org/officeDocument/2006/relationships/notesSlide" Target="/ppt/notesSlides/notesSlide1.xml" Id="R9395a8db7c6b45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c22aca6cd84ee6" /><Relationship Type="http://schemas.openxmlformats.org/officeDocument/2006/relationships/notesSlide" Target="/ppt/notesSlides/notesSlide2.xml" Id="Rcecbdc54eecd4b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aea1dfcbfa48de" /><Relationship Type="http://schemas.openxmlformats.org/officeDocument/2006/relationships/notesSlide" Target="/ppt/notesSlides/notesSlide3.xml" Id="R70f4c194d6ff47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a9aa414af44354" /><Relationship Type="http://schemas.openxmlformats.org/officeDocument/2006/relationships/notesSlide" Target="/ppt/notesSlides/notesSlide4.xml" Id="R5689e3186d4d4a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0dddaf7e274dde" /><Relationship Type="http://schemas.openxmlformats.org/officeDocument/2006/relationships/notesSlide" Target="/ppt/notesSlides/notesSlide5.xml" Id="R704e9b0a40084b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a64687638341fe" /><Relationship Type="http://schemas.openxmlformats.org/officeDocument/2006/relationships/notesSlide" Target="/ppt/notesSlides/notesSlide6.xml" Id="R96b43ff979414a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98a5199db14d4a" /><Relationship Type="http://schemas.openxmlformats.org/officeDocument/2006/relationships/notesSlide" Target="/ppt/notesSlides/notesSlide7.xml" Id="Rfb6c1877e38d43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d84e3c3d7141bd" /><Relationship Type="http://schemas.openxmlformats.org/officeDocument/2006/relationships/notesSlide" Target="/ppt/notesSlides/notesSlide8.xml" Id="R28863a11977c43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e9557b829c4372" /><Relationship Type="http://schemas.openxmlformats.org/officeDocument/2006/relationships/notesSlide" Target="/ppt/notesSlides/notesSlide9.xml" Id="R45c86d1479b642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f0060781de4432" /><Relationship Type="http://schemas.openxmlformats.org/officeDocument/2006/relationships/notesSlide" Target="/ppt/notesSlides/notesSlide10.xml" Id="R61e6dda140654b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e203b6d25e4baa" /><Relationship Type="http://schemas.openxmlformats.org/officeDocument/2006/relationships/chart" Target="/ppt/slides/charts/chart1.xml" Id="R0a55d9aa35fe4ef3" /><Relationship Type="http://schemas.openxmlformats.org/officeDocument/2006/relationships/notesSlide" Target="/ppt/notesSlides/notesSlide11.xml" Id="R4354f43c050942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e45ecb5ae54405" /><Relationship Type="http://schemas.openxmlformats.org/officeDocument/2006/relationships/notesSlide" Target="/ppt/notesSlides/notesSlide12.xml" Id="R55702dc66eea46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52ebaa24d14e70" /><Relationship Type="http://schemas.openxmlformats.org/officeDocument/2006/relationships/notesSlide" Target="/ppt/notesSlides/notesSlide13.xml" Id="Rf7ebf3b50f3942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0cf42c4395a4c81" /><Relationship Type="http://schemas.openxmlformats.org/officeDocument/2006/relationships/notesSlide" Target="/ppt/notesSlides/notesSlide14.xml" Id="R7ac91ccad5314e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c14e2c20c914039" /><Relationship Type="http://schemas.openxmlformats.org/officeDocument/2006/relationships/image" Target="/ppt/media/image2.png" Id="R6981fb2a828d4970" /><Relationship Type="http://schemas.openxmlformats.org/officeDocument/2006/relationships/notesSlide" Target="/ppt/notesSlides/notesSlide15.xml" Id="R5b8e30c3b79046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f9a0e37c4b45b1" /><Relationship Type="http://schemas.openxmlformats.org/officeDocument/2006/relationships/image" Target="/ppt/media/image3.png" Id="Re8a00ff5b4744de4" /><Relationship Type="http://schemas.openxmlformats.org/officeDocument/2006/relationships/notesSlide" Target="/ppt/notesSlides/notesSlide16.xml" Id="R62fcd4b6b98c40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8f1d487fe54122" /><Relationship Type="http://schemas.openxmlformats.org/officeDocument/2006/relationships/notesSlide" Target="/ppt/notesSlides/notesSlide17.xml" Id="R61d90100958645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2e8e9fb47744d5" /><Relationship Type="http://schemas.openxmlformats.org/officeDocument/2006/relationships/notesSlide" Target="/ppt/notesSlides/notesSlide18.xml" Id="R5f0bfb6dea9d4c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93cfbc66b6411b" /><Relationship Type="http://schemas.openxmlformats.org/officeDocument/2006/relationships/notesSlide" Target="/ppt/notesSlides/notesSlide19.xml" Id="Rc426502821254a4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d0c6a53f304b5e" /><Relationship Type="http://schemas.openxmlformats.org/officeDocument/2006/relationships/notesSlide" Target="/ppt/notesSlides/notesSlide20.xml" Id="R0454e444c7554a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127d5f1a3d4a51" /><Relationship Type="http://schemas.openxmlformats.org/officeDocument/2006/relationships/notesSlide" Target="/ppt/notesSlides/notesSlide21.xml" Id="R94e724721ea946b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53c2b689d364c47" /><Relationship Type="http://schemas.openxmlformats.org/officeDocument/2006/relationships/notesSlide" Target="/ppt/notesSlides/notesSlide22.xml" Id="R477854ce2339488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Latency (ms)</c:v>
          </c:tx>
          <c:spPr>
            <a:solidFill xmlns:a="http://schemas.openxmlformats.org/drawingml/2006/main">
              <a:srgbClr val="087F8C"/>
            </a:solidFill>
          </c:spPr>
          <c:cat>
            <c:strRef>
              <c:f>'Chart Data'!$A$2:$A$3</c:f>
              <c:strCache>
                <c:ptCount val="2"/>
                <c:pt idx="0">
                  <c:v>Before</c:v>
                </c:pt>
                <c:pt idx="1">
                  <c:v>After</c:v>
                </c:pt>
              </c:strCache>
            </c:strRef>
          </c:cat>
          <c:val>
            <c:numRef>
              <c:f>'Chart Data'!$B$2:$B$3</c:f>
              <c:numCache>
                <c:formatCode>0.00</c:formatCode>
                <c:ptCount val="2"/>
                <c:pt idx="0">
                  <c:v>4142.1</c:v>
                </c:pt>
                <c:pt idx="1">
                  <c:v>408.76</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32D3A"/>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9CD"/>
            </a:solidFill>
          </a:ln>
        </c:spPr>
        <c:txPr>
          <a:bodyPr xmlns:a="http://schemas.openxmlformats.org/drawingml/2006/main" anchorCtr="1"/>
          <a:lstStyle xmlns:a="http://schemas.openxmlformats.org/drawingml/2006/main"/>
          <a:p xmlns:a="http://schemas.openxmlformats.org/drawingml/2006/main">
            <a:pPr>
              <a:defRPr sz="1800">
                <a:solidFill>
                  <a:srgbClr val="132D3A"/>
                </a:solidFill>
                <a:latin typeface="Arial"/>
                <a:ea typeface="Arial"/>
                <a:cs typeface="Arial"/>
              </a:defRPr>
            </a:pPr>
          </a:p>
        </c:txPr>
        <c:crossAx val="48672768"/>
      </c:catAx>
      <c:valAx>
        <c:axId val="48672768"/>
        <c:scaling>
          <c:orientation val="minMax"/>
          <c:max val="5000"/>
          <c:min val="0"/>
        </c:scaling>
        <c:delete val="0"/>
        <c:axPos val="l"/>
        <c:majorGridlines>
          <c:spPr>
            <a:ln xmlns:a="http://schemas.openxmlformats.org/drawingml/2006/main" w="9525">
              <a:solidFill>
                <a:srgbClr val="D6E0DE"/>
              </a:solidFill>
            </a:ln>
          </c:spPr>
        </c:majorGridlines>
        <c:numFmt formatCode="0&quot; ms&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3"/>
                </a:solidFill>
                <a:latin typeface="Arial"/>
                <a:ea typeface="Arial"/>
                <a:cs typeface="Arial"/>
              </a:defRPr>
            </a:pPr>
          </a:p>
        </c:txPr>
        <c:crossAx val="48650112"/>
        <c:crossBetween val="between"/>
      </c:valAx>
      <c:spPr>
        <a:solidFill xmlns:a="http://schemas.openxmlformats.org/drawingml/2006/main">
          <a:srgbClr val="F5F7F5"/>
        </a:solidFill>
      </c:spPr>
    </c:plotArea>
    <c:plotVisOnly val="1"/>
  </c:chart>
  <c:spPr>
    <a:solidFill xmlns:a="http://schemas.openxmlformats.org/drawingml/2006/main">
      <a:srgbClr val="F5F7F5"/>
    </a:solidFill>
  </c:spPr>
  <c:externalData r:id="rIdChartSnapshot1">
    <c:autoUpdate val="0"/>
  </c:externalData>
</c:chartSpace>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7" name=""/>
          <p:cNvPicPr>
            <a:picLocks noChangeAspect="1"/>
          </p:cNvPicPr>
          <p:nvPr/>
        </p:nvPicPr>
        <p:blipFill>
          <a:blip r:embed="R43cda93b6ad1458d"/>
          <a:srcRect l="0" t="27" r="0" b="27"/>
          <a:stretch>
            <a:fillRect l="0" t="0" r="0" b="0"/>
          </a:stretch>
        </p:blipFill>
        <p:spPr>
          <a:xfrm>
            <a:off x="0" y="0"/>
            <a:ext cx="12192000" cy="6858000"/>
          </a:xfrm>
          <a:prstGeom prst="rect">
            <a:avLst/>
          </a:prstGeom>
        </p:spPr>
      </p:pic>
      <p:sp>
        <p:nvSpPr>
          <p:cNvPr id="2" name="fixed">
            <a:extLst>
              <a:ext uri="{FF2B5EF4-FFF2-40B4-BE49-F238E27FC236}">
                <ns3:creationId id="{E1098B5E-6707-4247-8DAF-C9AB23A03313}"/>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A1BDC5"/>
                </a:solidFill>
                <a:latin typeface="Arial"/>
                <a:ea typeface="Arial"/>
                <a:cs typeface="Arial"/>
              </a:defRPr>
            </a:pPr>
            <a:r>
              <a:rPr sz="1350" b="0">
                <a:solidFill>
                  <a:srgbClr val="A1BDC5"/>
                </a:solidFill>
                <a:latin typeface="Arial"/>
                <a:ea typeface="Arial"/>
                <a:cs typeface="Arial"/>
              </a:rPr>
              <a:t>01</a:t>
            </a:r>
          </a:p>
        </p:txBody>
      </p:sp>
      <p:sp>
        <p:nvSpPr>
          <p:cNvPr id="3" name="fixed">
            <a:extLst>
              <a:ext uri="{FF2B5EF4-FFF2-40B4-BE49-F238E27FC236}">
                <ns3:creationId id="{CE638686-74F3-493C-8699-2586ABF36103}"/>
              </a:ext>
            </a:extLst>
          </p:cNvPr>
          <p:cNvSpPr>
            <a:spLocks noGrp="1"/>
          </p:cNvSpPr>
          <p:nvPr/>
        </p:nvSpPr>
        <p:spPr>
          <a:xfrm>
            <a:off x="609600" y="1485900"/>
            <a:ext cx="8572500" cy="1028700"/>
          </a:xfrm>
          <a:prstGeom prst="rect">
            <a:avLst/>
          </a:prstGeom>
          <a:noFill/>
          <a:ln w="0">
            <a:noFill/>
          </a:ln>
        </p:spPr>
        <p:txBody>
          <a:bodyPr>
            <a:noAutofit/>
          </a:bodyPr>
          <a:lstStyle/>
          <a:p>
            <a:pPr>
              <a:defRPr sz="6000" b="1">
                <a:solidFill>
                  <a:srgbClr val="FFFFFF"/>
                </a:solidFill>
                <a:latin typeface="Arial"/>
                <a:ea typeface="Arial"/>
                <a:cs typeface="Arial"/>
              </a:defRPr>
            </a:pPr>
            <a:r>
              <a:rPr sz="6000" b="1">
                <a:solidFill>
                  <a:srgbClr val="FFFFFF"/>
                </a:solidFill>
                <a:latin typeface="Arial"/>
                <a:ea typeface="Arial"/>
                <a:cs typeface="Arial"/>
              </a:rPr>
              <a:t>IntegrityFlow</a:t>
            </a:r>
          </a:p>
        </p:txBody>
      </p:sp>
      <p:sp>
        <p:nvSpPr>
          <p:cNvPr id="4" name="reveal-1">
            <a:extLst>
              <a:ext uri="{FF2B5EF4-FFF2-40B4-BE49-F238E27FC236}">
                <ns3:creationId id="{B08BF1B2-806B-4339-B87D-6C3E0F54D6CE}"/>
              </a:ext>
            </a:extLst>
          </p:cNvPr>
          <p:cNvSpPr>
            <a:spLocks noGrp="1"/>
          </p:cNvSpPr>
          <p:nvPr/>
        </p:nvSpPr>
        <p:spPr>
          <a:xfrm>
            <a:off x="647700" y="2762250"/>
            <a:ext cx="7620000" cy="1238250"/>
          </a:xfrm>
          <a:prstGeom prst="rect">
            <a:avLst/>
          </a:prstGeom>
          <a:noFill/>
          <a:ln w="0">
            <a:noFill/>
          </a:ln>
        </p:spPr>
        <p:txBody>
          <a:bodyPr>
            <a:noAutofit/>
          </a:bodyPr>
          <a:lstStyle/>
          <a:p>
            <a:pPr>
              <a:defRPr sz="3000" b="0">
                <a:solidFill>
                  <a:srgbClr val="D8F2EC"/>
                </a:solidFill>
                <a:latin typeface="Arial"/>
                <a:ea typeface="Arial"/>
                <a:cs typeface="Arial"/>
              </a:defRPr>
            </a:pPr>
            <a:r>
              <a:rPr sz="3000" b="0">
                <a:solidFill>
                  <a:srgbClr val="D8F2EC"/>
                </a:solidFill>
                <a:latin typeface="Arial"/>
                <a:ea typeface="Arial"/>
                <a:cs typeface="Arial"/>
              </a:rPr>
              <a:t>Exam monitoring with local AI</a:t>
            </a:r>
          </a:p>
          <a:p>
            <a:pPr>
              <a:defRPr sz="3000" b="0">
                <a:solidFill>
                  <a:srgbClr val="D8F2EC"/>
                </a:solidFill>
                <a:latin typeface="Arial"/>
                <a:ea typeface="Arial"/>
                <a:cs typeface="Arial"/>
              </a:defRPr>
            </a:pPr>
            <a:r>
              <a:rPr sz="3000" b="0">
                <a:solidFill>
                  <a:srgbClr val="D8F2EC"/>
                </a:solidFill>
                <a:latin typeface="Arial"/>
                <a:ea typeface="Arial"/>
                <a:cs typeface="Arial"/>
              </a:rPr>
              <a:t>and system controls</a:t>
            </a:r>
          </a:p>
        </p:txBody>
      </p:sp>
      <p:sp>
        <p:nvSpPr>
          <p:cNvPr id="5" name="fixed">
            <a:extLst>
              <a:ext uri="{FF2B5EF4-FFF2-40B4-BE49-F238E27FC236}">
                <ns3:creationId id="{69E99800-7AAF-444E-8212-D4EA4FEDB99D}"/>
              </a:ext>
            </a:extLst>
          </p:cNvPr>
          <p:cNvSpPr>
            <a:spLocks noGrp="1"/>
          </p:cNvSpPr>
          <p:nvPr/>
        </p:nvSpPr>
        <p:spPr>
          <a:xfrm>
            <a:off x="647700" y="4286250"/>
            <a:ext cx="7810500" cy="714375"/>
          </a:xfrm>
          <a:prstGeom prst="rect">
            <a:avLst/>
          </a:prstGeom>
          <a:noFill/>
          <a:ln w="0">
            <a:noFill/>
          </a:ln>
        </p:spPr>
        <p:txBody>
          <a:bodyPr>
            <a:noAutofit/>
          </a:bodyPr>
          <a:lstStyle/>
          <a:p>
            <a:pPr>
              <a:defRPr sz="1875" b="0">
                <a:solidFill>
                  <a:srgbClr val="D0DEE5"/>
                </a:solidFill>
                <a:latin typeface="Arial"/>
                <a:ea typeface="Arial"/>
                <a:cs typeface="Arial"/>
              </a:defRPr>
            </a:pPr>
            <a:r>
              <a:rPr sz="1875" b="0">
                <a:solidFill>
                  <a:srgbClr val="D0DEE5"/>
                </a:solidFill>
                <a:latin typeface="Arial"/>
                <a:ea typeface="Arial"/>
                <a:cs typeface="Arial"/>
              </a:rPr>
              <a:t>BSCS Final Year Project</a:t>
            </a:r>
          </a:p>
          <a:p>
            <a:pPr>
              <a:defRPr sz="1875" b="0">
                <a:solidFill>
                  <a:srgbClr val="D0DEE5"/>
                </a:solidFill>
                <a:latin typeface="Arial"/>
                <a:ea typeface="Arial"/>
                <a:cs typeface="Arial"/>
              </a:defRPr>
            </a:pPr>
            <a:r>
              <a:rPr sz="1875" b="0">
                <a:solidFill>
                  <a:srgbClr val="D0DEE5"/>
                </a:solidFill>
                <a:latin typeface="Arial"/>
                <a:ea typeface="Arial"/>
                <a:cs typeface="Arial"/>
              </a:rPr>
              <a:t>Progress presentation  /  5 October 2026</a:t>
            </a:r>
          </a:p>
        </p:txBody>
      </p:sp>
      <p:sp>
        <p:nvSpPr>
          <p:cNvPr id="6" name="fixed">
            <a:extLst>
              <a:ext uri="{FF2B5EF4-FFF2-40B4-BE49-F238E27FC236}">
                <ns3:creationId id="{2A9A6E18-386D-45DE-9638-D24DA82FDDD3}"/>
              </a:ext>
            </a:extLst>
          </p:cNvPr>
          <p:cNvSpPr>
            <a:spLocks noGrp="1"/>
          </p:cNvSpPr>
          <p:nvPr/>
        </p:nvSpPr>
        <p:spPr>
          <a:xfrm>
            <a:off x="647700" y="5410200"/>
            <a:ext cx="8096250" cy="904875"/>
          </a:xfrm>
          <a:prstGeom prst="rect">
            <a:avLst/>
          </a:prstGeom>
          <a:noFill/>
          <a:ln w="0">
            <a:noFill/>
          </a:ln>
        </p:spPr>
        <p:txBody>
          <a:bodyPr>
            <a:noAutofit/>
          </a:bodyPr>
          <a:lstStyle/>
          <a:p>
            <a:pPr>
              <a:defRPr sz="1650" b="0">
                <a:solidFill>
                  <a:srgbClr val="C1D5DD"/>
                </a:solidFill>
                <a:latin typeface="Arial"/>
                <a:ea typeface="Arial"/>
                <a:cs typeface="Arial"/>
              </a:defRPr>
            </a:pPr>
            <a:r>
              <a:rPr sz="1650" b="0">
                <a:solidFill>
                  <a:srgbClr val="C1D5DD"/>
                </a:solidFill>
                <a:latin typeface="Arial"/>
                <a:ea typeface="Arial"/>
                <a:cs typeface="Arial"/>
              </a:rPr>
              <a:t>Rao Umair Ahmed   ·   Muhammad Usman</a:t>
            </a:r>
          </a:p>
          <a:p>
            <a:pPr>
              <a:defRPr sz="1650" b="0">
                <a:solidFill>
                  <a:srgbClr val="C1D5DD"/>
                </a:solidFill>
                <a:latin typeface="Arial"/>
                <a:ea typeface="Arial"/>
                <a:cs typeface="Arial"/>
              </a:defRPr>
            </a:pPr>
            <a:r>
              <a:rPr sz="1650" b="0">
                <a:solidFill>
                  <a:srgbClr val="C1D5DD"/>
                </a:solidFill>
                <a:latin typeface="Arial"/>
                <a:ea typeface="Arial"/>
                <a:cs typeface="Arial"/>
              </a:rPr>
              <a:t>Muhammad Abubakar Siddique</a:t>
            </a:r>
          </a:p>
          <a:p>
            <a:pPr>
              <a:defRPr sz="1650" b="0">
                <a:solidFill>
                  <a:srgbClr val="C1D5DD"/>
                </a:solidFill>
                <a:latin typeface="Arial"/>
                <a:ea typeface="Arial"/>
                <a:cs typeface="Arial"/>
              </a:defRPr>
            </a:pPr>
            <a:r>
              <a:rPr sz="1650" b="0">
                <a:solidFill>
                  <a:srgbClr val="C1D5DD"/>
                </a:solidFill>
                <a:latin typeface="Arial"/>
                <a:ea typeface="Arial"/>
                <a:cs typeface="Arial"/>
              </a:rPr>
              <a:t>Supervisor: Mr. Abdullah</a:t>
            </a:r>
          </a:p>
        </p:txBody>
      </p:sp>
    </p:spTree>
    <p:extLst>
      <p:ext uri="{BB962C8B-B14F-4D97-AF65-F5344CB8AC3E}">
        <ns4:creationId val="52404526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Lst>
  </p:timing>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0" name="fixed">
            <a:extLst>
              <a:ext uri="{FF2B5EF4-FFF2-40B4-BE49-F238E27FC236}">
                <ns2:creationId id="{15E75580-E25D-474B-861C-7787FAD1F06B}"/>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The examination environment needs more visibility</a:t>
            </a:r>
          </a:p>
        </p:txBody>
      </p:sp>
      <p:sp>
        <p:nvSpPr>
          <p:cNvPr id="2" name="fixed">
            <a:extLst>
              <a:ext uri="{FF2B5EF4-FFF2-40B4-BE49-F238E27FC236}">
                <ns2:creationId id="{98F7A1AD-5F61-4B22-9736-8618500026B6}"/>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02</a:t>
            </a:r>
          </a:p>
        </p:txBody>
      </p:sp>
      <p:sp>
        <p:nvSpPr>
          <p:cNvPr id="3" name="reveal-1">
            <a:extLst>
              <a:ext uri="{FF2B5EF4-FFF2-40B4-BE49-F238E27FC236}">
                <ns2:creationId id="{0781602B-B848-4960-BC7A-18D37E13251B}"/>
              </a:ext>
            </a:extLst>
          </p:cNvPr>
          <p:cNvSpPr>
            <a:spLocks noGrp="1"/>
          </p:cNvSpPr>
          <p:nvPr/>
        </p:nvSpPr>
        <p:spPr>
          <a:xfrm>
            <a:off x="609600" y="1952625"/>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01</a:t>
            </a:r>
          </a:p>
        </p:txBody>
      </p:sp>
      <p:sp>
        <p:nvSpPr>
          <p:cNvPr id="4" name="reveal-1">
            <a:extLst>
              <a:ext uri="{FF2B5EF4-FFF2-40B4-BE49-F238E27FC236}">
                <ns2:creationId id="{374E3409-82F4-4B69-A8BF-EE774E484867}"/>
              </a:ext>
            </a:extLst>
          </p:cNvPr>
          <p:cNvSpPr>
            <a:spLocks noGrp="1"/>
          </p:cNvSpPr>
          <p:nvPr/>
        </p:nvSpPr>
        <p:spPr>
          <a:xfrm>
            <a:off x="609600" y="2352675"/>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Beyond the camera</a:t>
            </a:r>
          </a:p>
        </p:txBody>
      </p:sp>
      <p:sp>
        <p:nvSpPr>
          <p:cNvPr id="5" name="reveal-1">
            <a:extLst>
              <a:ext uri="{FF2B5EF4-FFF2-40B4-BE49-F238E27FC236}">
                <ns2:creationId id="{3529D5AF-E825-41F2-97AD-895DB012A02C}"/>
              </a:ext>
            </a:extLst>
          </p:cNvPr>
          <p:cNvSpPr>
            <a:spLocks noGrp="1"/>
          </p:cNvSpPr>
          <p:nvPr/>
        </p:nvSpPr>
        <p:spPr>
          <a:xfrm>
            <a:off x="609600" y="3019425"/>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Unauthorized applications, pre-existing files, removable storage and extra displays can affect an exam.</a:t>
            </a:r>
          </a:p>
        </p:txBody>
      </p:sp>
      <p:sp>
        <p:nvSpPr>
          <p:cNvPr id="6" name="reveal-2">
            <a:extLst>
              <a:ext uri="{FF2B5EF4-FFF2-40B4-BE49-F238E27FC236}">
                <ns2:creationId id="{8B42F4EE-A077-4ABE-9120-325FD7410944}"/>
              </a:ext>
            </a:extLst>
          </p:cNvPr>
          <p:cNvSpPr>
            <a:spLocks noGrp="1"/>
          </p:cNvSpPr>
          <p:nvPr/>
        </p:nvSpPr>
        <p:spPr>
          <a:xfrm>
            <a:off x="6381750" y="1952625"/>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02</a:t>
            </a:r>
          </a:p>
        </p:txBody>
      </p:sp>
      <p:sp>
        <p:nvSpPr>
          <p:cNvPr id="7" name="reveal-2">
            <a:extLst>
              <a:ext uri="{FF2B5EF4-FFF2-40B4-BE49-F238E27FC236}">
                <ns2:creationId id="{2BE74598-5CC4-44E6-BF2B-F1D6FFCF1C81}"/>
              </a:ext>
            </a:extLst>
          </p:cNvPr>
          <p:cNvSpPr>
            <a:spLocks noGrp="1"/>
          </p:cNvSpPr>
          <p:nvPr/>
        </p:nvSpPr>
        <p:spPr>
          <a:xfrm>
            <a:off x="6381750" y="2352675"/>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Beyond a single alert</a:t>
            </a:r>
          </a:p>
        </p:txBody>
      </p:sp>
      <p:sp>
        <p:nvSpPr>
          <p:cNvPr id="8" name="reveal-2">
            <a:extLst>
              <a:ext uri="{FF2B5EF4-FFF2-40B4-BE49-F238E27FC236}">
                <ns2:creationId id="{0C48D667-BC7F-4538-95BB-438F2FBD0F11}"/>
              </a:ext>
            </a:extLst>
          </p:cNvPr>
          <p:cNvSpPr>
            <a:spLocks noGrp="1"/>
          </p:cNvSpPr>
          <p:nvPr/>
        </p:nvSpPr>
        <p:spPr>
          <a:xfrm>
            <a:off x="6381750" y="3019425"/>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Head movement and speech can be innocent. Examiners need context, evidence and control over the final decision.</a:t>
            </a:r>
          </a:p>
        </p:txBody>
      </p:sp>
      <p:sp>
        <p:nvSpPr>
          <p:cNvPr id="9" name="reveal-3">
            <a:extLst>
              <a:ext uri="{FF2B5EF4-FFF2-40B4-BE49-F238E27FC236}">
                <ns2:creationId id="{6B787C84-EE49-4933-B896-4516C6714B2E}"/>
              </a:ext>
            </a:extLst>
          </p:cNvPr>
          <p:cNvSpPr>
            <a:spLocks noGrp="1"/>
          </p:cNvSpPr>
          <p:nvPr/>
        </p:nvSpPr>
        <p:spPr>
          <a:xfrm>
            <a:off x="609600" y="5600700"/>
            <a:ext cx="10858500" cy="571500"/>
          </a:xfrm>
          <a:prstGeom prst="rect">
            <a:avLst/>
          </a:prstGeom>
          <a:noFill/>
          <a:ln w="0">
            <a:noFill/>
          </a:ln>
        </p:spPr>
        <p:txBody>
          <a:bodyPr>
            <a:noAutofit/>
          </a:bodyPr>
          <a:lstStyle/>
          <a:p>
            <a:pPr>
              <a:defRPr sz="2400" b="1">
                <a:solidFill>
                  <a:srgbClr val="087F8C"/>
                </a:solidFill>
                <a:latin typeface="Arial"/>
                <a:ea typeface="Arial"/>
                <a:cs typeface="Arial"/>
              </a:defRPr>
            </a:pPr>
            <a:r>
              <a:rPr sz="2400" b="1">
                <a:solidFill>
                  <a:srgbClr val="087F8C"/>
                </a:solidFill>
                <a:latin typeface="Arial"/>
                <a:ea typeface="Arial"/>
                <a:cs typeface="Arial"/>
              </a:rPr>
              <a:t>Project objective: preserve useful signals for examiner review</a:t>
            </a:r>
          </a:p>
        </p:txBody>
      </p:sp>
    </p:spTree>
    <p:extLst>
      <p:ext uri="{BB962C8B-B14F-4D97-AF65-F5344CB8AC3E}">
        <ns3:creationId val="98855380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Lst>
  </p:timing>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E2E41E7D-B54E-43FC-9310-05BDCB0EF26A}"/>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Scope and objectives</a:t>
            </a:r>
          </a:p>
        </p:txBody>
      </p:sp>
      <p:sp>
        <p:nvSpPr>
          <p:cNvPr id="2" name="fixed">
            <a:extLst>
              <a:ext uri="{FF2B5EF4-FFF2-40B4-BE49-F238E27FC236}">
                <ns2:creationId id="{4CB38F26-5D38-43E6-96CE-B8671E670606}"/>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03</a:t>
            </a:r>
          </a:p>
        </p:txBody>
      </p:sp>
      <p:sp>
        <p:nvSpPr>
          <p:cNvPr id="3" name="reveal-1">
            <a:extLst>
              <a:ext uri="{FF2B5EF4-FFF2-40B4-BE49-F238E27FC236}">
                <ns2:creationId id="{6E9491BD-7AA6-4D2A-A6AE-90155B5E6E8B}"/>
              </a:ext>
            </a:extLst>
          </p:cNvPr>
          <p:cNvSpPr>
            <a:spLocks noGrp="1"/>
          </p:cNvSpPr>
          <p:nvPr/>
        </p:nvSpPr>
        <p:spPr>
          <a:xfrm>
            <a:off x="609600" y="1857375"/>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SCOPE</a:t>
            </a:r>
          </a:p>
        </p:txBody>
      </p:sp>
      <p:sp>
        <p:nvSpPr>
          <p:cNvPr id="4" name="reveal-1">
            <a:extLst>
              <a:ext uri="{FF2B5EF4-FFF2-40B4-BE49-F238E27FC236}">
                <ns2:creationId id="{FBE5DAA7-84A8-4886-BDE2-F63C15248BE7}"/>
              </a:ext>
            </a:extLst>
          </p:cNvPr>
          <p:cNvSpPr>
            <a:spLocks noGrp="1"/>
          </p:cNvSpPr>
          <p:nvPr/>
        </p:nvSpPr>
        <p:spPr>
          <a:xfrm>
            <a:off x="609600" y="2257425"/>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Two examination modes</a:t>
            </a:r>
          </a:p>
        </p:txBody>
      </p:sp>
      <p:sp>
        <p:nvSpPr>
          <p:cNvPr id="5" name="reveal-1">
            <a:extLst>
              <a:ext uri="{FF2B5EF4-FFF2-40B4-BE49-F238E27FC236}">
                <ns2:creationId id="{CF1F8809-5AB8-41DC-AFD6-37CAA73A0EFC}"/>
              </a:ext>
            </a:extLst>
          </p:cNvPr>
          <p:cNvSpPr>
            <a:spLocks noGrp="1"/>
          </p:cNvSpPr>
          <p:nvPr/>
        </p:nvSpPr>
        <p:spPr>
          <a:xfrm>
            <a:off x="609600" y="2924175"/>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Online exams: local vision and voice monitoring</a:t>
            </a:r>
          </a:p>
          <a:p>
            <a:r>
              <a:t/>
            </a:r>
          </a:p>
          <a:p>
            <a:pPr>
              <a:defRPr sz="2025" b="0">
                <a:solidFill>
                  <a:srgbClr val="526573"/>
                </a:solidFill>
                <a:latin typeface="Arial"/>
                <a:ea typeface="Arial"/>
                <a:cs typeface="Arial"/>
              </a:defRPr>
            </a:pPr>
            <a:r>
              <a:rPr sz="2025" b="0">
                <a:solidFill>
                  <a:srgbClr val="526573"/>
                </a:solidFill>
                <a:latin typeface="Arial"/>
                <a:ea typeface="Arial"/>
                <a:cs typeface="Arial"/>
              </a:rPr>
              <a:t>Physical lab: system and peripheral controls</a:t>
            </a:r>
          </a:p>
        </p:txBody>
      </p:sp>
      <p:sp>
        <p:nvSpPr>
          <p:cNvPr id="6" name="reveal-2">
            <a:extLst>
              <a:ext uri="{FF2B5EF4-FFF2-40B4-BE49-F238E27FC236}">
                <ns2:creationId id="{C7809B45-CE5E-4FDB-B416-873686EECEFD}"/>
              </a:ext>
            </a:extLst>
          </p:cNvPr>
          <p:cNvSpPr>
            <a:spLocks noGrp="1"/>
          </p:cNvSpPr>
          <p:nvPr/>
        </p:nvSpPr>
        <p:spPr>
          <a:xfrm>
            <a:off x="6381750" y="1857375"/>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OBJECTIVES</a:t>
            </a:r>
          </a:p>
        </p:txBody>
      </p:sp>
      <p:sp>
        <p:nvSpPr>
          <p:cNvPr id="7" name="reveal-2">
            <a:extLst>
              <a:ext uri="{FF2B5EF4-FFF2-40B4-BE49-F238E27FC236}">
                <ns2:creationId id="{DE9EE71F-EDBF-4C55-BC14-4D98857C9EDD}"/>
              </a:ext>
            </a:extLst>
          </p:cNvPr>
          <p:cNvSpPr>
            <a:spLocks noGrp="1"/>
          </p:cNvSpPr>
          <p:nvPr/>
        </p:nvSpPr>
        <p:spPr>
          <a:xfrm>
            <a:off x="6381750" y="2257425"/>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A complete review workflow</a:t>
            </a:r>
          </a:p>
        </p:txBody>
      </p:sp>
      <p:sp>
        <p:nvSpPr>
          <p:cNvPr id="8" name="reveal-2">
            <a:extLst>
              <a:ext uri="{FF2B5EF4-FFF2-40B4-BE49-F238E27FC236}">
                <ns2:creationId id="{BEED44CD-DE7D-4166-8C1F-C0DF5098152A}"/>
              </a:ext>
            </a:extLst>
          </p:cNvPr>
          <p:cNvSpPr>
            <a:spLocks noGrp="1"/>
          </p:cNvSpPr>
          <p:nvPr/>
        </p:nvSpPr>
        <p:spPr>
          <a:xfrm>
            <a:off x="6381750" y="2924175"/>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Secure exam entry and answer submission</a:t>
            </a:r>
          </a:p>
          <a:p>
            <a:r>
              <a:t/>
            </a:r>
          </a:p>
          <a:p>
            <a:pPr>
              <a:defRPr sz="2025" b="0">
                <a:solidFill>
                  <a:srgbClr val="526573"/>
                </a:solidFill>
                <a:latin typeface="Arial"/>
                <a:ea typeface="Arial"/>
                <a:cs typeface="Arial"/>
              </a:defRPr>
            </a:pPr>
            <a:r>
              <a:rPr sz="2025" b="0">
                <a:solidFill>
                  <a:srgbClr val="526573"/>
                </a:solidFill>
                <a:latin typeface="Arial"/>
                <a:ea typeface="Arial"/>
                <a:cs typeface="Arial"/>
              </a:rPr>
              <a:t>Capture evidence and recover offline events</a:t>
            </a:r>
          </a:p>
          <a:p>
            <a:r>
              <a:t/>
            </a:r>
          </a:p>
          <a:p>
            <a:pPr>
              <a:defRPr sz="2025" b="0">
                <a:solidFill>
                  <a:srgbClr val="526573"/>
                </a:solidFill>
                <a:latin typeface="Arial"/>
                <a:ea typeface="Arial"/>
                <a:cs typeface="Arial"/>
              </a:defRPr>
            </a:pPr>
            <a:r>
              <a:rPr sz="2025" b="0">
                <a:solidFill>
                  <a:srgbClr val="526573"/>
                </a:solidFill>
                <a:latin typeface="Arial"/>
                <a:ea typeface="Arial"/>
                <a:cs typeface="Arial"/>
              </a:rPr>
              <a:t>Give examiners timely review tools</a:t>
            </a:r>
          </a:p>
        </p:txBody>
      </p:sp>
    </p:spTree>
    <p:extLst>
      <p:ext uri="{BB962C8B-B14F-4D97-AF65-F5344CB8AC3E}">
        <ns3:creationId val="197321411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7" name="fixed">
            <a:extLst>
              <a:ext uri="{FF2B5EF4-FFF2-40B4-BE49-F238E27FC236}">
                <ns2:creationId id="{1C6C3C8E-6E57-4161-8076-28432761E3E0}"/>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System architecture</a:t>
            </a:r>
          </a:p>
        </p:txBody>
      </p:sp>
      <p:sp>
        <p:nvSpPr>
          <p:cNvPr id="2" name="fixed">
            <a:extLst>
              <a:ext uri="{FF2B5EF4-FFF2-40B4-BE49-F238E27FC236}">
                <ns2:creationId id="{E60C0834-FE4F-44B6-8481-7EDD0AEB9A1C}"/>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04</a:t>
            </a:r>
          </a:p>
        </p:txBody>
      </p:sp>
      <p:sp>
        <p:nvSpPr>
          <p:cNvPr id="3" name="fixed">
            <a:extLst>
              <a:ext uri="{FF2B5EF4-FFF2-40B4-BE49-F238E27FC236}">
                <ns2:creationId id="{02A618F7-594F-4260-9B92-E7D0A2FD6153}"/>
              </a:ext>
            </a:extLst>
          </p:cNvPr>
          <p:cNvSpPr>
            <a:spLocks noGrp="1"/>
          </p:cNvSpPr>
          <p:nvPr/>
        </p:nvSpPr>
        <p:spPr>
          <a:xfrm>
            <a:off x="609600" y="1809750"/>
            <a:ext cx="5095875" cy="381000"/>
          </a:xfrm>
          <a:prstGeom prst="rect">
            <a:avLst/>
          </a:prstGeom>
          <a:noFill/>
          <a:ln w="0">
            <a:noFill/>
          </a:ln>
        </p:spPr>
        <p:txBody>
          <a:bodyPr>
            <a:noAutofit/>
          </a:bodyPr>
          <a:lstStyle/>
          <a:p>
            <a:pPr>
              <a:defRPr sz="2025" b="1">
                <a:solidFill>
                  <a:srgbClr val="087F8C"/>
                </a:solidFill>
                <a:latin typeface="Arial"/>
                <a:ea typeface="Arial"/>
                <a:cs typeface="Arial"/>
              </a:defRPr>
            </a:pPr>
            <a:r>
              <a:rPr sz="2025" b="1">
                <a:solidFill>
                  <a:srgbClr val="087F8C"/>
                </a:solidFill>
                <a:latin typeface="Arial"/>
                <a:ea typeface="Arial"/>
                <a:cs typeface="Arial"/>
              </a:rPr>
              <a:t>Candidate workstation</a:t>
            </a:r>
          </a:p>
        </p:txBody>
      </p:sp>
      <p:sp>
        <p:nvSpPr>
          <p:cNvPr id="4" name="fixed">
            <a:extLst>
              <a:ext uri="{FF2B5EF4-FFF2-40B4-BE49-F238E27FC236}">
                <ns2:creationId id="{CF2E365A-3E9B-447C-9957-C986C3A1D9D2}"/>
              </a:ext>
            </a:extLst>
          </p:cNvPr>
          <p:cNvSpPr>
            <a:spLocks noGrp="1"/>
          </p:cNvSpPr>
          <p:nvPr/>
        </p:nvSpPr>
        <p:spPr>
          <a:xfrm>
            <a:off x="6381750" y="1809750"/>
            <a:ext cx="5095875" cy="381000"/>
          </a:xfrm>
          <a:prstGeom prst="rect">
            <a:avLst/>
          </a:prstGeom>
          <a:noFill/>
          <a:ln w="0">
            <a:noFill/>
          </a:ln>
        </p:spPr>
        <p:txBody>
          <a:bodyPr>
            <a:noAutofit/>
          </a:bodyPr>
          <a:lstStyle/>
          <a:p>
            <a:pPr>
              <a:defRPr sz="2025" b="1">
                <a:solidFill>
                  <a:srgbClr val="087F8C"/>
                </a:solidFill>
                <a:latin typeface="Arial"/>
                <a:ea typeface="Arial"/>
                <a:cs typeface="Arial"/>
              </a:defRPr>
            </a:pPr>
            <a:r>
              <a:rPr sz="2025" b="1">
                <a:solidFill>
                  <a:srgbClr val="087F8C"/>
                </a:solidFill>
                <a:latin typeface="Arial"/>
                <a:ea typeface="Arial"/>
                <a:cs typeface="Arial"/>
              </a:rPr>
              <a:t>Central review</a:t>
            </a:r>
          </a:p>
        </p:txBody>
      </p:sp>
      <p:sp>
        <p:nvSpPr>
          <p:cNvPr id="5" name="reveal-1">
            <a:extLst>
              <a:ext uri="{FF2B5EF4-FFF2-40B4-BE49-F238E27FC236}">
                <ns2:creationId id="{35360B7A-1C66-4955-B761-CDA7B7F66454}"/>
              </a:ext>
            </a:extLst>
          </p:cNvPr>
          <p:cNvSpPr>
            <a:spLocks noGrp="1"/>
          </p:cNvSpPr>
          <p:nvPr/>
        </p:nvSpPr>
        <p:spPr>
          <a:xfrm>
            <a:off x="609600" y="2543175"/>
            <a:ext cx="2381250" cy="9525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Python monitors</a:t>
            </a:r>
          </a:p>
          <a:p>
            <a:pPr algn="ctr">
              <a:defRPr sz="1800" b="1">
                <a:solidFill>
                  <a:srgbClr val="132D3A"/>
                </a:solidFill>
                <a:latin typeface="Arial"/>
                <a:ea typeface="Arial"/>
                <a:cs typeface="Arial"/>
              </a:defRPr>
            </a:pPr>
            <a:r>
              <a:rPr sz="1800" b="1">
                <a:solidFill>
                  <a:srgbClr val="132D3A"/>
                </a:solidFill>
                <a:latin typeface="Arial"/>
                <a:ea typeface="Arial"/>
                <a:cs typeface="Arial"/>
              </a:rPr>
              <a:t>Vision / voice / OS</a:t>
            </a:r>
          </a:p>
        </p:txBody>
      </p:sp>
      <p:sp>
        <p:nvSpPr>
          <p:cNvPr id="6" name="reveal-2">
            <a:extLst>
              <a:ext uri="{FF2B5EF4-FFF2-40B4-BE49-F238E27FC236}">
                <ns2:creationId id="{962E0CFD-AAE3-4FC1-9A00-1514F5BC57FE}"/>
              </a:ext>
            </a:extLst>
          </p:cNvPr>
          <p:cNvSpPr>
            <a:spLocks noGrp="1"/>
          </p:cNvSpPr>
          <p:nvPr/>
        </p:nvSpPr>
        <p:spPr>
          <a:xfrm>
            <a:off x="3467100" y="2543175"/>
            <a:ext cx="2381250" cy="9525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Electron app</a:t>
            </a:r>
          </a:p>
          <a:p>
            <a:pPr algn="ctr">
              <a:defRPr sz="1800" b="1">
                <a:solidFill>
                  <a:srgbClr val="132D3A"/>
                </a:solidFill>
                <a:latin typeface="Arial"/>
                <a:ea typeface="Arial"/>
                <a:cs typeface="Arial"/>
              </a:defRPr>
            </a:pPr>
            <a:r>
              <a:rPr sz="1800" b="1">
                <a:solidFill>
                  <a:srgbClr val="132D3A"/>
                </a:solidFill>
                <a:latin typeface="Arial"/>
                <a:ea typeface="Arial"/>
                <a:cs typeface="Arial"/>
              </a:rPr>
              <a:t>Kiosk / IPC / queue</a:t>
            </a:r>
          </a:p>
        </p:txBody>
      </p:sp>
      <p:sp>
        <p:nvSpPr>
          <p:cNvPr id="7" name="reveal-3">
            <a:extLst>
              <a:ext uri="{FF2B5EF4-FFF2-40B4-BE49-F238E27FC236}">
                <ns2:creationId id="{B285E727-52D0-4399-9DDA-4854FCF0C916}"/>
              </a:ext>
            </a:extLst>
          </p:cNvPr>
          <p:cNvSpPr>
            <a:spLocks noGrp="1"/>
          </p:cNvSpPr>
          <p:nvPr/>
        </p:nvSpPr>
        <p:spPr>
          <a:xfrm>
            <a:off x="6324600" y="2543175"/>
            <a:ext cx="2381250" cy="9525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Express server</a:t>
            </a:r>
          </a:p>
          <a:p>
            <a:pPr algn="ctr">
              <a:defRPr sz="1800" b="1">
                <a:solidFill>
                  <a:srgbClr val="132D3A"/>
                </a:solidFill>
                <a:latin typeface="Arial"/>
                <a:ea typeface="Arial"/>
                <a:cs typeface="Arial"/>
              </a:defRPr>
            </a:pPr>
            <a:r>
              <a:rPr sz="1800" b="1">
                <a:solidFill>
                  <a:srgbClr val="132D3A"/>
                </a:solidFill>
                <a:latin typeface="Arial"/>
                <a:ea typeface="Arial"/>
                <a:cs typeface="Arial"/>
              </a:rPr>
              <a:t>Validation / scoring</a:t>
            </a:r>
          </a:p>
        </p:txBody>
      </p:sp>
      <p:sp>
        <p:nvSpPr>
          <p:cNvPr id="8" name="reveal-4">
            <a:extLst>
              <a:ext uri="{FF2B5EF4-FFF2-40B4-BE49-F238E27FC236}">
                <ns2:creationId id="{BDCF71B5-DA78-4E81-B8B7-151CA3A659AB}"/>
              </a:ext>
            </a:extLst>
          </p:cNvPr>
          <p:cNvSpPr>
            <a:spLocks noGrp="1"/>
          </p:cNvSpPr>
          <p:nvPr/>
        </p:nvSpPr>
        <p:spPr>
          <a:xfrm>
            <a:off x="9182100" y="2543175"/>
            <a:ext cx="2381250" cy="9525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React dashboard</a:t>
            </a:r>
          </a:p>
          <a:p>
            <a:pPr algn="ctr">
              <a:defRPr sz="1800" b="1">
                <a:solidFill>
                  <a:srgbClr val="132D3A"/>
                </a:solidFill>
                <a:latin typeface="Arial"/>
                <a:ea typeface="Arial"/>
                <a:cs typeface="Arial"/>
              </a:defRPr>
            </a:pPr>
            <a:r>
              <a:rPr sz="1800" b="1">
                <a:solidFill>
                  <a:srgbClr val="132D3A"/>
                </a:solidFill>
                <a:latin typeface="Arial"/>
                <a:ea typeface="Arial"/>
                <a:cs typeface="Arial"/>
              </a:rPr>
              <a:t>Examiner review</a:t>
            </a:r>
          </a:p>
        </p:txBody>
      </p:sp>
      <p:cxnSp>
        <p:nvCxnSpPr>
          <p:cNvPr id="25" name="reveal-2"/>
          <p:cNvCxnSpPr>
            <a:stCxn id="5" idx="3"/>
            <a:endCxn id="6" idx="1"/>
          </p:cNvCxnSpPr>
          <p:nvPr/>
        </p:nvCxnSpPr>
        <p:spPr>
          <a:xfrm>
            <a:off x="2990850" y="3019425"/>
            <a:ext cx="476250" cy="0"/>
          </a:xfrm>
          <a:prstGeom prst="straightConnector1">
            <a:avLst/>
          </a:prstGeom>
          <a:ln w="19050">
            <a:solidFill>
              <a:srgbClr val="087F8C"/>
            </a:solidFill>
            <a:tailEnd type="arrow" w="med" len="med"/>
          </a:ln>
        </p:spPr>
      </p:cxnSp>
      <p:cxnSp>
        <p:nvCxnSpPr>
          <p:cNvPr id="26" name="reveal-3"/>
          <p:cNvCxnSpPr>
            <a:stCxn id="6" idx="3"/>
            <a:endCxn id="7" idx="1"/>
          </p:cNvCxnSpPr>
          <p:nvPr/>
        </p:nvCxnSpPr>
        <p:spPr>
          <a:xfrm>
            <a:off x="5848350" y="3019425"/>
            <a:ext cx="476250" cy="0"/>
          </a:xfrm>
          <a:prstGeom prst="straightConnector1">
            <a:avLst/>
          </a:prstGeom>
          <a:ln w="19050">
            <a:solidFill>
              <a:srgbClr val="087F8C"/>
            </a:solidFill>
            <a:tailEnd type="arrow" w="med" len="med"/>
          </a:ln>
        </p:spPr>
      </p:cxnSp>
      <p:cxnSp>
        <p:nvCxnSpPr>
          <p:cNvPr id="27" name="reveal-4"/>
          <p:cNvCxnSpPr>
            <a:stCxn id="7" idx="3"/>
            <a:endCxn id="8" idx="1"/>
          </p:cNvCxnSpPr>
          <p:nvPr/>
        </p:nvCxnSpPr>
        <p:spPr>
          <a:xfrm>
            <a:off x="8705850" y="3019425"/>
            <a:ext cx="476250" cy="0"/>
          </a:xfrm>
          <a:prstGeom prst="straightConnector1">
            <a:avLst/>
          </a:prstGeom>
          <a:ln w="19050">
            <a:solidFill>
              <a:srgbClr val="087F8C"/>
            </a:solidFill>
            <a:tailEnd type="arrow" w="med" len="med"/>
          </a:ln>
        </p:spPr>
      </p:cxnSp>
      <p:sp>
        <p:nvSpPr>
          <p:cNvPr id="12" name="reveal-1">
            <a:extLst>
              <a:ext uri="{FF2B5EF4-FFF2-40B4-BE49-F238E27FC236}">
                <ns2:creationId id="{2B8526E8-A505-4D91-ADAD-2FDCDDBAF421}"/>
              </a:ext>
            </a:extLst>
          </p:cNvPr>
          <p:cNvSpPr>
            <a:spLocks noGrp="1"/>
          </p:cNvSpPr>
          <p:nvPr/>
        </p:nvSpPr>
        <p:spPr>
          <a:xfrm>
            <a:off x="609600" y="3733800"/>
            <a:ext cx="2381250" cy="571500"/>
          </a:xfrm>
          <a:prstGeom prst="rect">
            <a:avLst/>
          </a:prstGeom>
          <a:noFill/>
          <a:ln w="0">
            <a:noFill/>
          </a:ln>
        </p:spPr>
        <p:txBody>
          <a:bodyPr>
            <a:noAutofit/>
          </a:bodyPr>
          <a:lstStyle/>
          <a:p>
            <a:pPr>
              <a:defRPr sz="1725" b="0">
                <a:solidFill>
                  <a:srgbClr val="526573"/>
                </a:solidFill>
                <a:latin typeface="Arial"/>
                <a:ea typeface="Arial"/>
                <a:cs typeface="Arial"/>
              </a:defRPr>
            </a:pPr>
            <a:r>
              <a:rPr sz="1725" b="0">
                <a:solidFill>
                  <a:srgbClr val="526573"/>
                </a:solidFill>
                <a:latin typeface="Arial"/>
                <a:ea typeface="Arial"/>
                <a:cs typeface="Arial"/>
              </a:rPr>
              <a:t>SQLite event spool</a:t>
            </a:r>
          </a:p>
        </p:txBody>
      </p:sp>
      <p:sp>
        <p:nvSpPr>
          <p:cNvPr id="13" name="reveal-2">
            <a:extLst>
              <a:ext uri="{FF2B5EF4-FFF2-40B4-BE49-F238E27FC236}">
                <ns2:creationId id="{EA40B17A-C51B-4221-83AE-8E1E9494F8BE}"/>
              </a:ext>
            </a:extLst>
          </p:cNvPr>
          <p:cNvSpPr>
            <a:spLocks noGrp="1"/>
          </p:cNvSpPr>
          <p:nvPr/>
        </p:nvSpPr>
        <p:spPr>
          <a:xfrm>
            <a:off x="3467100" y="3733800"/>
            <a:ext cx="2476500" cy="571500"/>
          </a:xfrm>
          <a:prstGeom prst="rect">
            <a:avLst/>
          </a:prstGeom>
          <a:noFill/>
          <a:ln w="0">
            <a:noFill/>
          </a:ln>
        </p:spPr>
        <p:txBody>
          <a:bodyPr>
            <a:noAutofit/>
          </a:bodyPr>
          <a:lstStyle/>
          <a:p>
            <a:pPr>
              <a:defRPr sz="1725" b="0">
                <a:solidFill>
                  <a:srgbClr val="526573"/>
                </a:solidFill>
                <a:latin typeface="Arial"/>
                <a:ea typeface="Arial"/>
                <a:cs typeface="Arial"/>
              </a:defRPr>
            </a:pPr>
            <a:r>
              <a:rPr sz="1725" b="0">
                <a:solidFill>
                  <a:srgbClr val="526573"/>
                </a:solidFill>
                <a:latin typeface="Arial"/>
                <a:ea typeface="Arial"/>
                <a:cs typeface="Arial"/>
              </a:rPr>
              <a:t>Disk-backed retry queue</a:t>
            </a:r>
          </a:p>
        </p:txBody>
      </p:sp>
      <p:sp>
        <p:nvSpPr>
          <p:cNvPr id="14" name="reveal-3">
            <a:extLst>
              <a:ext uri="{FF2B5EF4-FFF2-40B4-BE49-F238E27FC236}">
                <ns2:creationId id="{EA3DD44C-5EDD-4958-BBE4-EE255090B181}"/>
              </a:ext>
            </a:extLst>
          </p:cNvPr>
          <p:cNvSpPr>
            <a:spLocks noGrp="1"/>
          </p:cNvSpPr>
          <p:nvPr/>
        </p:nvSpPr>
        <p:spPr>
          <a:xfrm>
            <a:off x="6324600" y="3733800"/>
            <a:ext cx="2857500" cy="571500"/>
          </a:xfrm>
          <a:prstGeom prst="rect">
            <a:avLst/>
          </a:prstGeom>
          <a:noFill/>
          <a:ln w="0">
            <a:noFill/>
          </a:ln>
        </p:spPr>
        <p:txBody>
          <a:bodyPr>
            <a:noAutofit/>
          </a:bodyPr>
          <a:lstStyle/>
          <a:p>
            <a:pPr>
              <a:defRPr sz="1725" b="0">
                <a:solidFill>
                  <a:srgbClr val="526573"/>
                </a:solidFill>
                <a:latin typeface="Arial"/>
                <a:ea typeface="Arial"/>
                <a:cs typeface="Arial"/>
              </a:defRPr>
            </a:pPr>
            <a:r>
              <a:rPr sz="1725" b="0">
                <a:solidFill>
                  <a:srgbClr val="526573"/>
                </a:solidFill>
                <a:latin typeface="Arial"/>
                <a:ea typeface="Arial"/>
                <a:cs typeface="Arial"/>
              </a:rPr>
              <a:t>MongoDB + media storage</a:t>
            </a:r>
          </a:p>
        </p:txBody>
      </p:sp>
      <p:sp>
        <p:nvSpPr>
          <p:cNvPr id="15" name="reveal-4">
            <a:extLst>
              <a:ext uri="{FF2B5EF4-FFF2-40B4-BE49-F238E27FC236}">
                <ns2:creationId id="{B5957A58-565F-420C-9CF9-BC3DF8194EF6}"/>
              </a:ext>
            </a:extLst>
          </p:cNvPr>
          <p:cNvSpPr>
            <a:spLocks noGrp="1"/>
          </p:cNvSpPr>
          <p:nvPr/>
        </p:nvSpPr>
        <p:spPr>
          <a:xfrm>
            <a:off x="9182100" y="3733800"/>
            <a:ext cx="2381250" cy="571500"/>
          </a:xfrm>
          <a:prstGeom prst="rect">
            <a:avLst/>
          </a:prstGeom>
          <a:noFill/>
          <a:ln w="0">
            <a:noFill/>
          </a:ln>
        </p:spPr>
        <p:txBody>
          <a:bodyPr>
            <a:noAutofit/>
          </a:bodyPr>
          <a:lstStyle/>
          <a:p>
            <a:pPr>
              <a:defRPr sz="1725" b="0">
                <a:solidFill>
                  <a:srgbClr val="526573"/>
                </a:solidFill>
                <a:latin typeface="Arial"/>
                <a:ea typeface="Arial"/>
                <a:cs typeface="Arial"/>
              </a:defRPr>
            </a:pPr>
            <a:r>
              <a:rPr sz="1725" b="0">
                <a:solidFill>
                  <a:srgbClr val="526573"/>
                </a:solidFill>
                <a:latin typeface="Arial"/>
                <a:ea typeface="Arial"/>
                <a:cs typeface="Arial"/>
              </a:rPr>
              <a:t>Owner / admin sockets</a:t>
            </a:r>
          </a:p>
        </p:txBody>
      </p:sp>
      <p:sp>
        <p:nvSpPr>
          <p:cNvPr id="16" name="fixed">
            <a:extLst>
              <a:ext uri="{FF2B5EF4-FFF2-40B4-BE49-F238E27FC236}">
                <ns2:creationId id="{9E66FCEC-78E4-40F2-9C40-00FFA70BA768}"/>
              </a:ext>
            </a:extLst>
          </p:cNvPr>
          <p:cNvSpPr>
            <a:spLocks noGrp="1"/>
          </p:cNvSpPr>
          <p:nvPr/>
        </p:nvSpPr>
        <p:spPr>
          <a:xfrm>
            <a:off x="609600" y="5381625"/>
            <a:ext cx="10953750" cy="685800"/>
          </a:xfrm>
          <a:prstGeom prst="rect">
            <a:avLst/>
          </a:prstGeom>
          <a:noFill/>
          <a:ln w="0">
            <a:noFill/>
          </a:ln>
        </p:spPr>
        <p:txBody>
          <a:bodyPr>
            <a:noAutofit/>
          </a:bodyPr>
          <a:lstStyle/>
          <a:p>
            <a:pPr>
              <a:defRPr sz="2400" b="1">
                <a:solidFill>
                  <a:srgbClr val="132D3A"/>
                </a:solidFill>
                <a:latin typeface="Arial"/>
                <a:ea typeface="Arial"/>
                <a:cs typeface="Arial"/>
              </a:defRPr>
            </a:pPr>
            <a:r>
              <a:rPr sz="2400" b="1">
                <a:solidFill>
                  <a:srgbClr val="132D3A"/>
                </a:solidFill>
                <a:latin typeface="Arial"/>
                <a:ea typeface="Arial"/>
                <a:cs typeface="Arial"/>
              </a:rPr>
              <a:t>Local inference. Event-triggered evidence. Central examiner decisions.</a:t>
            </a:r>
          </a:p>
        </p:txBody>
      </p:sp>
    </p:spTree>
    <p:extLst>
      <p:ext uri="{BB962C8B-B14F-4D97-AF65-F5344CB8AC3E}">
        <ns3:creationId val="150718366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50"/>
                                  <p:tgtEl>
                                    <p:spTgt spid="12"/>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50"/>
                                  <p:tgtEl>
                                    <p:spTgt spid="25"/>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childTnLst>
                    </p:cTn>
                  </p:par>
                  <p:par>
                    <p:cTn id="20" fill="hold">
                      <p:stCondLst>
                        <p:cond delay="indefinite"/>
                      </p:stCondLst>
                      <p:childTnLst>
                        <p:par>
                          <p:cTn id="21" presetID="10" presetClass="entr" presetSubtype="0" fill="hold" grpId="3"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50"/>
                                  <p:tgtEl>
                                    <p:spTgt spid="7"/>
                                  </p:tgtEl>
                                </p:cBhvr>
                              </p:animEffect>
                            </p:childTnLst>
                          </p:cTn>
                        </p:par>
                        <p:par>
                          <p:cTn id="24" presetID="10" presetClass="entr" presetSubtype="0" fill="hold" grpId="3"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50"/>
                                  <p:tgtEl>
                                    <p:spTgt spid="26"/>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50"/>
                                  <p:tgtEl>
                                    <p:spTgt spid="14"/>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50"/>
                                  <p:tgtEl>
                                    <p:spTgt spid="8"/>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450"/>
                                  <p:tgtEl>
                                    <p:spTgt spid="27"/>
                                  </p:tgtEl>
                                </p:cBhvr>
                              </p:animEffect>
                            </p:childTnLst>
                          </p:cTn>
                        </p:par>
                        <p:par>
                          <p:cTn id="37" presetID="10" presetClass="entr" presetSubtype="0" fill="hold" grpId="4"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uiExpand="1"/>
      <p:bldP spid="12" grpId="1" uiExpand="1"/>
      <p:bldP spid="6" grpId="2" uiExpand="1"/>
      <p:bldP spid="25" grpId="2" uiExpand="1"/>
      <p:bldP spid="13" grpId="2" uiExpand="1"/>
      <p:bldP spid="7" grpId="3" uiExpand="1"/>
      <p:bldP spid="26" grpId="3" uiExpand="1"/>
      <p:bldP spid="14" grpId="3" uiExpand="1"/>
      <p:bldP spid="8" grpId="4" uiExpand="1"/>
      <p:bldP spid="27" grpId="4" uiExpand="1"/>
      <p:bldP spid="15" grpId="4" uiExpand="1"/>
    </p:bld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4" name="fixed">
            <a:extLst>
              <a:ext uri="{FF2B5EF4-FFF2-40B4-BE49-F238E27FC236}">
                <ns2:creationId id="{25890214-9B5B-4BD5-990A-5ED6FAAF47EF}"/>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Eight modules in the project scope</a:t>
            </a:r>
          </a:p>
        </p:txBody>
      </p:sp>
      <p:sp>
        <p:nvSpPr>
          <p:cNvPr id="2" name="fixed">
            <a:extLst>
              <a:ext uri="{FF2B5EF4-FFF2-40B4-BE49-F238E27FC236}">
                <ns2:creationId id="{674865AD-1089-4D15-9959-7BB253A0F540}"/>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05</a:t>
            </a:r>
          </a:p>
        </p:txBody>
      </p:sp>
      <p:graphicFrame>
        <p:nvGraphicFramePr>
          <p:cNvPr id="6" name=""/>
          <p:cNvGraphicFramePr/>
          <p:nvPr/>
        </p:nvGraphicFramePr>
        <p:xfrm>
          <a:off x="609600" y="1714500"/>
          <a:ext cx="10953750" cy="4286250"/>
        </p:xfrm>
        <a:graphic>
          <a:graphicData uri="http://schemas.openxmlformats.org/drawingml/2006/table">
            <a:tbl>
              <a:tblPr/>
              <a:tblGrid>
                <a:gridCol w="7620000"/>
                <a:gridCol w="3333750"/>
              </a:tblGrid>
              <a:tr h="476250">
                <a:tc>
                  <a:txBody>
                    <a:bodyPr/>
                    <a:lstStyle/>
                    <a:p>
                      <a:r>
                        <a:rPr sz="1875" b="1">
                          <a:solidFill>
                            <a:srgbClr val="FFFFFF"/>
                          </a:solidFill>
                          <a:latin typeface="Arial"/>
                          <a:ea typeface="Arial"/>
                          <a:cs typeface="Arial"/>
                        </a:rPr>
                        <a:t>MODULE</a:t>
                      </a:r>
                    </a:p>
                  </a:txBody>
                  <a:tcPr marL="91440" marR="91440" marT="45720" marB="45720">
                    <a:solidFill>
                      <a:srgbClr val="132D3A"/>
                    </a:solidFill>
                  </a:tcPr>
                </a:tc>
                <a:tc>
                  <a:txBody>
                    <a:bodyPr/>
                    <a:lstStyle/>
                    <a:p>
                      <a:r>
                        <a:rPr sz="1875" b="1">
                          <a:solidFill>
                            <a:srgbClr val="FFFFFF"/>
                          </a:solidFill>
                          <a:latin typeface="Arial"/>
                          <a:ea typeface="Arial"/>
                          <a:cs typeface="Arial"/>
                        </a:rPr>
                        <a:t>SCOPE CATEGORY</a:t>
                      </a:r>
                    </a:p>
                  </a:txBody>
                  <a:tcPr marL="91440" marR="91440" marT="45720" marB="45720">
                    <a:solidFill>
                      <a:srgbClr val="132D3A"/>
                    </a:solidFill>
                  </a:tcPr>
                </a:tc>
              </a:tr>
              <a:tr h="476250">
                <a:tc>
                  <a:txBody>
                    <a:bodyPr/>
                    <a:lstStyle/>
                    <a:p>
                      <a:r>
                        <a:rPr sz="1875" b="0">
                          <a:solidFill>
                            <a:srgbClr val="132D3A"/>
                          </a:solidFill>
                          <a:latin typeface="Arial"/>
                          <a:ea typeface="Arial"/>
                          <a:cs typeface="Arial"/>
                        </a:rPr>
                        <a:t>1  Secure environment</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2  AI monitoring</a:t>
                      </a:r>
                    </a:p>
                  </a:txBody>
                  <a:tcPr marL="91440" marR="91440" marT="45720" marB="45720">
                    <a:solidFill>
                      <a:srgbClr val="F5F7F5"/>
                    </a:solidFill>
                  </a:tcPr>
                </a:tc>
                <a:tc>
                  <a:txBody>
                    <a:bodyPr/>
                    <a:lstStyle/>
                    <a:p>
                      <a:r>
                        <a:rPr sz="1875" b="0">
                          <a:solidFill>
                            <a:srgbClr val="132D3A"/>
                          </a:solidFill>
                          <a:latin typeface="Arial"/>
                          <a:ea typeface="Arial"/>
                          <a:cs typeface="Arial"/>
                        </a:rPr>
                        <a:t>Core</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3  Evidence capture</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4  System self-check</a:t>
                      </a:r>
                    </a:p>
                  </a:txBody>
                  <a:tcPr marL="91440" marR="91440" marT="45720" marB="45720">
                    <a:solidFill>
                      <a:srgbClr val="F5F7F5"/>
                    </a:solidFill>
                  </a:tcPr>
                </a:tc>
                <a:tc>
                  <a:txBody>
                    <a:bodyPr/>
                    <a:lstStyle/>
                    <a:p>
                      <a:r>
                        <a:rPr sz="1875" b="0">
                          <a:solidFill>
                            <a:srgbClr val="132D3A"/>
                          </a:solidFill>
                          <a:latin typeface="Arial"/>
                          <a:ea typeface="Arial"/>
                          <a:cs typeface="Arial"/>
                        </a:rPr>
                        <a:t>Optional</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5  Severity scoring</a:t>
                      </a:r>
                    </a:p>
                  </a:txBody>
                  <a:tcPr marL="91440" marR="91440" marT="45720" marB="45720">
                    <a:solidFill>
                      <a:srgbClr val="E5EEEC"/>
                    </a:solidFill>
                  </a:tcPr>
                </a:tc>
                <a:tc>
                  <a:txBody>
                    <a:bodyPr/>
                    <a:lstStyle/>
                    <a:p>
                      <a:r>
                        <a:rPr sz="1875" b="0">
                          <a:solidFill>
                            <a:srgbClr val="132D3A"/>
                          </a:solidFill>
                          <a:latin typeface="Arial"/>
                          <a:ea typeface="Arial"/>
                          <a:cs typeface="Arial"/>
                        </a:rPr>
                        <a:t>Optional</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6  Examiner dashboard</a:t>
                      </a:r>
                    </a:p>
                  </a:txBody>
                  <a:tcPr marL="91440" marR="91440" marT="45720" marB="45720">
                    <a:solidFill>
                      <a:srgbClr val="F5F7F5"/>
                    </a:solidFill>
                  </a:tcPr>
                </a:tc>
                <a:tc>
                  <a:txBody>
                    <a:bodyPr/>
                    <a:lstStyle/>
                    <a:p>
                      <a:r>
                        <a:rPr sz="1875" b="0">
                          <a:solidFill>
                            <a:srgbClr val="132D3A"/>
                          </a:solidFill>
                          <a:latin typeface="Arial"/>
                          <a:ea typeface="Arial"/>
                          <a:cs typeface="Arial"/>
                        </a:rPr>
                        <a:t>Core</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7  Answer submission</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8  Audit reporting</a:t>
                      </a:r>
                    </a:p>
                  </a:txBody>
                  <a:tcPr marL="91440" marR="91440" marT="45720" marB="45720">
                    <a:solidFill>
                      <a:srgbClr val="F5F7F5"/>
                    </a:solidFill>
                  </a:tcPr>
                </a:tc>
                <a:tc>
                  <a:txBody>
                    <a:bodyPr/>
                    <a:lstStyle/>
                    <a:p>
                      <a:r>
                        <a:rPr sz="1875" b="0">
                          <a:solidFill>
                            <a:srgbClr val="132D3A"/>
                          </a:solidFill>
                          <a:latin typeface="Arial"/>
                          <a:ea typeface="Arial"/>
                          <a:cs typeface="Arial"/>
                        </a:rPr>
                        <a:t>Advanced</a:t>
                      </a:r>
                    </a:p>
                  </a:txBody>
                  <a:tcPr marL="91440" marR="91440" marT="45720" marB="45720">
                    <a:solidFill>
                      <a:srgbClr val="F5F7F5"/>
                    </a:solidFill>
                  </a:tcPr>
                </a:tc>
              </a:tr>
            </a:tbl>
          </a:graphicData>
        </a:graphic>
      </p:graphicFrame>
    </p:spTree>
    <p:extLst>
      <p:ext uri="{BB962C8B-B14F-4D97-AF65-F5344CB8AC3E}">
        <ns3:creationId val="97568083"/>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4" name="fixed">
            <a:extLst>
              <a:ext uri="{FF2B5EF4-FFF2-40B4-BE49-F238E27FC236}">
                <ns2:creationId id="{CCA23016-A481-424F-B914-E0A5B672F8CF}"/>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Exam entry and environment controls</a:t>
            </a:r>
          </a:p>
        </p:txBody>
      </p:sp>
      <p:sp>
        <p:nvSpPr>
          <p:cNvPr id="2" name="fixed">
            <a:extLst>
              <a:ext uri="{FF2B5EF4-FFF2-40B4-BE49-F238E27FC236}">
                <ns2:creationId id="{FBFDE04B-B189-4C8F-8044-D7B74927A367}"/>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06</a:t>
            </a:r>
          </a:p>
        </p:txBody>
      </p:sp>
      <p:sp>
        <p:nvSpPr>
          <p:cNvPr id="3" name="reveal-1">
            <a:extLst>
              <a:ext uri="{FF2B5EF4-FFF2-40B4-BE49-F238E27FC236}">
                <ns2:creationId id="{D9DD23F2-8293-40E2-8E22-627104A33A73}"/>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1 / CORE</a:t>
            </a:r>
          </a:p>
        </p:txBody>
      </p:sp>
      <p:sp>
        <p:nvSpPr>
          <p:cNvPr id="4" name="reveal-1">
            <a:extLst>
              <a:ext uri="{FF2B5EF4-FFF2-40B4-BE49-F238E27FC236}">
                <ns2:creationId id="{029F1598-F910-4EED-9E9A-F65BFC164762}"/>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Secure environment</a:t>
            </a:r>
          </a:p>
        </p:txBody>
      </p:sp>
      <p:sp>
        <p:nvSpPr>
          <p:cNvPr id="5" name="reveal-1">
            <a:extLst>
              <a:ext uri="{FF2B5EF4-FFF2-40B4-BE49-F238E27FC236}">
                <ns2:creationId id="{90852E6E-92EA-435A-98D2-D0D67A52538B}"/>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Electron kiosk and shortcut controls</a:t>
            </a:r>
          </a:p>
          <a:p>
            <a:pPr>
              <a:defRPr sz="2025" b="0">
                <a:solidFill>
                  <a:srgbClr val="526573"/>
                </a:solidFill>
                <a:latin typeface="Arial"/>
                <a:ea typeface="Arial"/>
                <a:cs typeface="Arial"/>
              </a:defRPr>
            </a:pPr>
            <a:r>
              <a:rPr sz="2025" b="0">
                <a:solidFill>
                  <a:srgbClr val="526573"/>
                </a:solidFill>
                <a:latin typeface="Arial"/>
                <a:ea typeface="Arial"/>
                <a:cs typeface="Arial"/>
              </a:rPr>
              <a:t>psutil application and file checks</a:t>
            </a:r>
          </a:p>
          <a:p>
            <a:pPr>
              <a:defRPr sz="2025" b="0">
                <a:solidFill>
                  <a:srgbClr val="526573"/>
                </a:solidFill>
                <a:latin typeface="Arial"/>
                <a:ea typeface="Arial"/>
                <a:cs typeface="Arial"/>
              </a:defRPr>
            </a:pPr>
            <a:r>
              <a:rPr sz="2025" b="0">
                <a:solidFill>
                  <a:srgbClr val="526573"/>
                </a:solidFill>
                <a:latin typeface="Arial"/>
                <a:ea typeface="Arial"/>
                <a:cs typeface="Arial"/>
              </a:rPr>
              <a:t>Windows CIM USB storage checks</a:t>
            </a:r>
          </a:p>
          <a:p>
            <a:pPr>
              <a:defRPr sz="2025" b="0">
                <a:solidFill>
                  <a:srgbClr val="526573"/>
                </a:solidFill>
                <a:latin typeface="Arial"/>
                <a:ea typeface="Arial"/>
                <a:cs typeface="Arial"/>
              </a:defRPr>
            </a:pPr>
            <a:r>
              <a:rPr sz="2025" b="0">
                <a:solidFill>
                  <a:srgbClr val="526573"/>
                </a:solidFill>
                <a:latin typeface="Arial"/>
                <a:ea typeface="Arial"/>
                <a:cs typeface="Arial"/>
              </a:rPr>
              <a:t>Single-display entry requirement</a:t>
            </a:r>
          </a:p>
        </p:txBody>
      </p:sp>
      <p:sp>
        <p:nvSpPr>
          <p:cNvPr id="6" name="reveal-2">
            <a:extLst>
              <a:ext uri="{FF2B5EF4-FFF2-40B4-BE49-F238E27FC236}">
                <ns2:creationId id="{5233617F-F8E3-40C7-8E9B-0AAEE0A9006D}"/>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4 / OPTIONAL</a:t>
            </a:r>
          </a:p>
        </p:txBody>
      </p:sp>
      <p:sp>
        <p:nvSpPr>
          <p:cNvPr id="7" name="reveal-2">
            <a:extLst>
              <a:ext uri="{FF2B5EF4-FFF2-40B4-BE49-F238E27FC236}">
                <ns2:creationId id="{FF0F9EBE-CBD1-414A-A6BA-A6FCB3A86F78}"/>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System self-check</a:t>
            </a:r>
          </a:p>
        </p:txBody>
      </p:sp>
      <p:sp>
        <p:nvSpPr>
          <p:cNvPr id="8" name="reveal-2">
            <a:extLst>
              <a:ext uri="{FF2B5EF4-FFF2-40B4-BE49-F238E27FC236}">
                <ns2:creationId id="{4F76FA99-C3F3-4F7B-9F43-EF0B318DAFDC}"/>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Camera, microphone and face readiness</a:t>
            </a:r>
          </a:p>
          <a:p>
            <a:pPr>
              <a:defRPr sz="2025" b="0">
                <a:solidFill>
                  <a:srgbClr val="526573"/>
                </a:solidFill>
                <a:latin typeface="Arial"/>
                <a:ea typeface="Arial"/>
                <a:cs typeface="Arial"/>
              </a:defRPr>
            </a:pPr>
            <a:r>
              <a:rPr sz="2025" b="0">
                <a:solidFill>
                  <a:srgbClr val="526573"/>
                </a:solidFill>
                <a:latin typeface="Arial"/>
                <a:ea typeface="Arial"/>
                <a:cs typeface="Arial"/>
              </a:rPr>
              <a:t>Enrollment plus voice confirmation</a:t>
            </a:r>
          </a:p>
          <a:p>
            <a:pPr>
              <a:defRPr sz="2025" b="0">
                <a:solidFill>
                  <a:srgbClr val="526573"/>
                </a:solidFill>
                <a:latin typeface="Arial"/>
                <a:ea typeface="Arial"/>
                <a:cs typeface="Arial"/>
              </a:defRPr>
            </a:pPr>
            <a:r>
              <a:rPr sz="2025" b="0">
                <a:solidFill>
                  <a:srgbClr val="526573"/>
                </a:solidFill>
                <a:latin typeface="Arial"/>
                <a:ea typeface="Arial"/>
                <a:cs typeface="Arial"/>
              </a:rPr>
              <a:t>Exam rules and permitted applications</a:t>
            </a:r>
          </a:p>
          <a:p>
            <a:pPr>
              <a:defRPr sz="2025" b="0">
                <a:solidFill>
                  <a:srgbClr val="526573"/>
                </a:solidFill>
                <a:latin typeface="Arial"/>
                <a:ea typeface="Arial"/>
                <a:cs typeface="Arial"/>
              </a:defRPr>
            </a:pPr>
            <a:r>
              <a:rPr sz="2025" b="0">
                <a:solidFill>
                  <a:srgbClr val="526573"/>
                </a:solidFill>
                <a:latin typeface="Arial"/>
                <a:ea typeface="Arial"/>
                <a:cs typeface="Arial"/>
              </a:rPr>
              <a:t>Health diagnostics before entry</a:t>
            </a:r>
          </a:p>
        </p:txBody>
      </p:sp>
      <p:sp>
        <p:nvSpPr>
          <p:cNvPr id="9" name="reveal-3">
            <a:extLst>
              <a:ext uri="{FF2B5EF4-FFF2-40B4-BE49-F238E27FC236}">
                <ns2:creationId id="{6488F3C9-D7DD-416D-9465-D7E18A78DBAF}"/>
              </a:ext>
            </a:extLst>
          </p:cNvPr>
          <p:cNvSpPr>
            <a:spLocks noGrp="1"/>
          </p:cNvSpPr>
          <p:nvPr/>
        </p:nvSpPr>
        <p:spPr>
          <a:xfrm>
            <a:off x="60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Exam rules</a:t>
            </a:r>
          </a:p>
        </p:txBody>
      </p:sp>
      <p:sp>
        <p:nvSpPr>
          <p:cNvPr id="10" name="reveal-3">
            <a:extLst>
              <a:ext uri="{FF2B5EF4-FFF2-40B4-BE49-F238E27FC236}">
                <ns2:creationId id="{13CABF74-9B91-42C1-A16D-16FF9A681471}"/>
              </a:ext>
            </a:extLst>
          </p:cNvPr>
          <p:cNvSpPr>
            <a:spLocks noGrp="1"/>
          </p:cNvSpPr>
          <p:nvPr/>
        </p:nvSpPr>
        <p:spPr>
          <a:xfrm>
            <a:off x="441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Local readiness checks</a:t>
            </a:r>
          </a:p>
        </p:txBody>
      </p:sp>
      <p:sp>
        <p:nvSpPr>
          <p:cNvPr id="11" name="reveal-3">
            <a:extLst>
              <a:ext uri="{FF2B5EF4-FFF2-40B4-BE49-F238E27FC236}">
                <ns2:creationId id="{7DBA0FA4-EC8B-4170-A89D-4B2934D3D56E}"/>
              </a:ext>
            </a:extLst>
          </p:cNvPr>
          <p:cNvSpPr>
            <a:spLocks noGrp="1"/>
          </p:cNvSpPr>
          <p:nvPr/>
        </p:nvSpPr>
        <p:spPr>
          <a:xfrm>
            <a:off x="822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Entry and enforcement</a:t>
            </a:r>
          </a:p>
        </p:txBody>
      </p:sp>
      <p:cxnSp>
        <p:nvCxnSpPr>
          <p:cNvPr id="25" name="reveal-3"/>
          <p:cNvCxnSpPr>
            <a:stCxn id="9" idx="3"/>
            <a:endCxn id="10" idx="1"/>
          </p:cNvCxnSpPr>
          <p:nvPr/>
        </p:nvCxnSpPr>
        <p:spPr>
          <a:xfrm>
            <a:off x="3943350" y="5400675"/>
            <a:ext cx="476250" cy="0"/>
          </a:xfrm>
          <a:prstGeom prst="straightConnector1">
            <a:avLst/>
          </a:prstGeom>
          <a:ln w="19050">
            <a:solidFill>
              <a:srgbClr val="087F8C"/>
            </a:solidFill>
            <a:tailEnd type="arrow" w="med" len="med"/>
          </a:ln>
        </p:spPr>
      </p:cxnSp>
      <p:cxnSp>
        <p:nvCxnSpPr>
          <p:cNvPr id="26" name="reveal-3"/>
          <p:cNvCxnSpPr>
            <a:stCxn id="10" idx="3"/>
            <a:endCxn id="11" idx="1"/>
          </p:cNvCxnSpPr>
          <p:nvPr/>
        </p:nvCxnSpPr>
        <p:spPr>
          <a:xfrm>
            <a:off x="7753350" y="5400675"/>
            <a:ext cx="476250" cy="0"/>
          </a:xfrm>
          <a:prstGeom prst="straightConnector1">
            <a:avLst/>
          </a:prstGeom>
          <a:ln w="19050">
            <a:solidFill>
              <a:srgbClr val="087F8C"/>
            </a:solidFill>
            <a:tailEnd type="arrow" w="med" len="med"/>
          </a:ln>
        </p:spPr>
      </p:cxnSp>
    </p:spTree>
    <p:extLst>
      <p:ext uri="{BB962C8B-B14F-4D97-AF65-F5344CB8AC3E}">
        <ns3:creationId val="131402704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3"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P spid="10" grpId="3" uiExpand="1"/>
      <p:bldP spid="11" grpId="3" uiExpand="1"/>
      <p:bldP spid="25" grpId="3" uiExpand="1"/>
      <p:bldP spid="26" grpId="3" uiExpand="1"/>
    </p:bld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321"/>
        </a:solidFill>
      </p:bgPr>
    </p:bg>
    <p:spTree>
      <p:nvGrpSpPr>
        <p:cNvPr id="1" name=""/>
        <p:cNvGrpSpPr/>
        <p:nvPr/>
      </p:nvGrpSpPr>
      <p:grpSpPr>
        <a:xfrm/>
      </p:grpSpPr>
      <p:sp>
        <p:nvSpPr>
          <p:cNvPr id="15" name="fixed">
            <a:extLst>
              <a:ext uri="{FF2B5EF4-FFF2-40B4-BE49-F238E27FC236}">
                <ns2:creationId id="{0CE6EEE3-2439-48FF-A373-F8E25FEC3550}"/>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Local vision and voice monitoring</a:t>
            </a:r>
          </a:p>
        </p:txBody>
      </p:sp>
      <p:sp>
        <p:nvSpPr>
          <p:cNvPr id="2" name="fixed">
            <a:extLst>
              <a:ext uri="{FF2B5EF4-FFF2-40B4-BE49-F238E27FC236}">
                <ns2:creationId id="{05C5D155-3740-4F14-BB62-69CFA1AD3400}"/>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A1BDC5"/>
                </a:solidFill>
                <a:latin typeface="Arial"/>
                <a:ea typeface="Arial"/>
                <a:cs typeface="Arial"/>
              </a:defRPr>
            </a:pPr>
            <a:r>
              <a:rPr sz="1350" b="0">
                <a:solidFill>
                  <a:srgbClr val="A1BDC5"/>
                </a:solidFill>
                <a:latin typeface="Arial"/>
                <a:ea typeface="Arial"/>
                <a:cs typeface="Arial"/>
              </a:rPr>
              <a:t>07</a:t>
            </a:r>
          </a:p>
        </p:txBody>
      </p:sp>
      <p:sp>
        <p:nvSpPr>
          <p:cNvPr id="3" name="fixed">
            <a:extLst>
              <a:ext uri="{FF2B5EF4-FFF2-40B4-BE49-F238E27FC236}">
                <ns2:creationId id="{21A59DDE-CA68-4977-B73C-E9E1581A5453}"/>
              </a:ext>
            </a:extLst>
          </p:cNvPr>
          <p:cNvSpPr>
            <a:spLocks noGrp="1"/>
          </p:cNvSpPr>
          <p:nvPr/>
        </p:nvSpPr>
        <p:spPr>
          <a:xfrm>
            <a:off x="609600" y="1571625"/>
            <a:ext cx="6191250" cy="333375"/>
          </a:xfrm>
          <a:prstGeom prst="rect">
            <a:avLst/>
          </a:prstGeom>
          <a:noFill/>
          <a:ln w="0">
            <a:noFill/>
          </a:ln>
        </p:spPr>
        <p:txBody>
          <a:bodyPr>
            <a:noAutofit/>
          </a:bodyPr>
          <a:lstStyle/>
          <a:p>
            <a:pPr>
              <a:defRPr sz="1725" b="1">
                <a:solidFill>
                  <a:srgbClr val="5DE2CD"/>
                </a:solidFill>
                <a:latin typeface="Arial"/>
                <a:ea typeface="Arial"/>
                <a:cs typeface="Arial"/>
              </a:defRPr>
            </a:pPr>
            <a:r>
              <a:rPr sz="1725" b="1">
                <a:solidFill>
                  <a:srgbClr val="5DE2CD"/>
                </a:solidFill>
                <a:latin typeface="Arial"/>
                <a:ea typeface="Arial"/>
                <a:cs typeface="Arial"/>
              </a:rPr>
              <a:t>MODULE 2 / CORE</a:t>
            </a:r>
          </a:p>
        </p:txBody>
      </p:sp>
      <p:sp>
        <p:nvSpPr>
          <p:cNvPr id="4" name="reveal-1">
            <a:extLst>
              <a:ext uri="{FF2B5EF4-FFF2-40B4-BE49-F238E27FC236}">
                <ns2:creationId id="{D2459FA3-016A-428C-A8EC-4DA28E3406A7}"/>
              </a:ext>
            </a:extLst>
          </p:cNvPr>
          <p:cNvSpPr>
            <a:spLocks noGrp="1"/>
          </p:cNvSpPr>
          <p:nvPr/>
        </p:nvSpPr>
        <p:spPr>
          <a:xfrm>
            <a:off x="609600" y="2286000"/>
            <a:ext cx="23812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Webcam frames</a:t>
            </a:r>
          </a:p>
        </p:txBody>
      </p:sp>
      <p:sp>
        <p:nvSpPr>
          <p:cNvPr id="5" name="reveal-1">
            <a:extLst>
              <a:ext uri="{FF2B5EF4-FFF2-40B4-BE49-F238E27FC236}">
                <ns2:creationId id="{EF1FF5D3-1331-4BAB-802D-25D1030DF94B}"/>
              </a:ext>
            </a:extLst>
          </p:cNvPr>
          <p:cNvSpPr>
            <a:spLocks noGrp="1"/>
          </p:cNvSpPr>
          <p:nvPr/>
        </p:nvSpPr>
        <p:spPr>
          <a:xfrm>
            <a:off x="3524250" y="2286000"/>
            <a:ext cx="33337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MediaPipe + OpenCV</a:t>
            </a:r>
          </a:p>
          <a:p>
            <a:pPr algn="ctr">
              <a:defRPr sz="1800" b="1">
                <a:solidFill>
                  <a:srgbClr val="FFFFFF"/>
                </a:solidFill>
                <a:latin typeface="Arial"/>
                <a:ea typeface="Arial"/>
                <a:cs typeface="Arial"/>
              </a:defRPr>
            </a:pPr>
            <a:r>
              <a:rPr sz="1800" b="1">
                <a:solidFill>
                  <a:srgbClr val="FFFFFF"/>
                </a:solidFill>
                <a:latin typeface="Arial"/>
                <a:ea typeface="Arial"/>
                <a:cs typeface="Arial"/>
              </a:rPr>
              <a:t>Head pose / face count</a:t>
            </a:r>
          </a:p>
        </p:txBody>
      </p:sp>
      <p:sp>
        <p:nvSpPr>
          <p:cNvPr id="6" name="reveal-1">
            <a:extLst>
              <a:ext uri="{FF2B5EF4-FFF2-40B4-BE49-F238E27FC236}">
                <ns2:creationId id="{9B0DA8FF-EE58-43C9-9EEF-F7D6939E5875}"/>
              </a:ext>
            </a:extLst>
          </p:cNvPr>
          <p:cNvSpPr>
            <a:spLocks noGrp="1"/>
          </p:cNvSpPr>
          <p:nvPr/>
        </p:nvSpPr>
        <p:spPr>
          <a:xfrm>
            <a:off x="7400925" y="2286000"/>
            <a:ext cx="40957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YOLO26n + ONNX</a:t>
            </a:r>
          </a:p>
          <a:p>
            <a:pPr algn="ctr">
              <a:defRPr sz="1800" b="1">
                <a:solidFill>
                  <a:srgbClr val="FFFFFF"/>
                </a:solidFill>
                <a:latin typeface="Arial"/>
                <a:ea typeface="Arial"/>
                <a:cs typeface="Arial"/>
              </a:defRPr>
            </a:pPr>
            <a:r>
              <a:rPr sz="1800" b="1">
                <a:solidFill>
                  <a:srgbClr val="FFFFFF"/>
                </a:solidFill>
                <a:latin typeface="Arial"/>
                <a:ea typeface="Arial"/>
                <a:cs typeface="Arial"/>
              </a:rPr>
              <a:t>Phone / book</a:t>
            </a:r>
          </a:p>
        </p:txBody>
      </p:sp>
      <p:cxnSp>
        <p:nvCxnSpPr>
          <p:cNvPr id="21" name="reveal-1"/>
          <p:cNvCxnSpPr>
            <a:stCxn id="4" idx="3"/>
            <a:endCxn id="5" idx="1"/>
          </p:cNvCxnSpPr>
          <p:nvPr/>
        </p:nvCxnSpPr>
        <p:spPr>
          <a:xfrm>
            <a:off x="2990850" y="2714625"/>
            <a:ext cx="533400" cy="0"/>
          </a:xfrm>
          <a:prstGeom prst="straightConnector1">
            <a:avLst/>
          </a:prstGeom>
          <a:ln w="19050">
            <a:solidFill>
              <a:srgbClr val="087F8C"/>
            </a:solidFill>
            <a:tailEnd type="arrow" w="med" len="med"/>
          </a:ln>
        </p:spPr>
      </p:cxnSp>
      <p:cxnSp>
        <p:nvCxnSpPr>
          <p:cNvPr id="22" name="reveal-1"/>
          <p:cNvCxnSpPr>
            <a:stCxn id="5" idx="3"/>
            <a:endCxn id="6" idx="1"/>
          </p:cNvCxnSpPr>
          <p:nvPr/>
        </p:nvCxnSpPr>
        <p:spPr>
          <a:xfrm>
            <a:off x="6858000" y="2714625"/>
            <a:ext cx="542925" cy="0"/>
          </a:xfrm>
          <a:prstGeom prst="straightConnector1">
            <a:avLst/>
          </a:prstGeom>
          <a:ln w="19050">
            <a:solidFill>
              <a:srgbClr val="087F8C"/>
            </a:solidFill>
            <a:tailEnd type="arrow" w="med" len="med"/>
          </a:ln>
        </p:spPr>
      </p:cxnSp>
      <p:sp>
        <p:nvSpPr>
          <p:cNvPr id="9" name="reveal-2">
            <a:extLst>
              <a:ext uri="{FF2B5EF4-FFF2-40B4-BE49-F238E27FC236}">
                <ns2:creationId id="{879FC965-D95D-4B51-9BF3-38E29A8D85BE}"/>
              </a:ext>
            </a:extLst>
          </p:cNvPr>
          <p:cNvSpPr>
            <a:spLocks noGrp="1"/>
          </p:cNvSpPr>
          <p:nvPr/>
        </p:nvSpPr>
        <p:spPr>
          <a:xfrm>
            <a:off x="609600" y="3857625"/>
            <a:ext cx="23812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Microphone audio</a:t>
            </a:r>
          </a:p>
        </p:txBody>
      </p:sp>
      <p:sp>
        <p:nvSpPr>
          <p:cNvPr id="10" name="reveal-2">
            <a:extLst>
              <a:ext uri="{FF2B5EF4-FFF2-40B4-BE49-F238E27FC236}">
                <ns2:creationId id="{E98B378A-6292-4D1C-9110-B79A7A16FEA4}"/>
              </a:ext>
            </a:extLst>
          </p:cNvPr>
          <p:cNvSpPr>
            <a:spLocks noGrp="1"/>
          </p:cNvSpPr>
          <p:nvPr/>
        </p:nvSpPr>
        <p:spPr>
          <a:xfrm>
            <a:off x="3524250" y="3857625"/>
            <a:ext cx="33337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WebRTC VAD</a:t>
            </a:r>
          </a:p>
          <a:p>
            <a:pPr algn="ctr">
              <a:defRPr sz="1800" b="1">
                <a:solidFill>
                  <a:srgbClr val="FFFFFF"/>
                </a:solidFill>
                <a:latin typeface="Arial"/>
                <a:ea typeface="Arial"/>
                <a:cs typeface="Arial"/>
              </a:defRPr>
            </a:pPr>
            <a:r>
              <a:rPr sz="1800" b="1">
                <a:solidFill>
                  <a:srgbClr val="FFFFFF"/>
                </a:solidFill>
                <a:latin typeface="Arial"/>
                <a:ea typeface="Arial"/>
                <a:cs typeface="Arial"/>
              </a:rPr>
              <a:t>Speech gating</a:t>
            </a:r>
          </a:p>
        </p:txBody>
      </p:sp>
      <p:sp>
        <p:nvSpPr>
          <p:cNvPr id="11" name="reveal-2">
            <a:extLst>
              <a:ext uri="{FF2B5EF4-FFF2-40B4-BE49-F238E27FC236}">
                <ns2:creationId id="{E889335A-05AC-4BDA-B2A4-140C825086DA}"/>
              </a:ext>
            </a:extLst>
          </p:cNvPr>
          <p:cNvSpPr>
            <a:spLocks noGrp="1"/>
          </p:cNvSpPr>
          <p:nvPr/>
        </p:nvSpPr>
        <p:spPr>
          <a:xfrm>
            <a:off x="7400925" y="3857625"/>
            <a:ext cx="40957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Resemblyzer</a:t>
            </a:r>
          </a:p>
          <a:p>
            <a:pPr algn="ctr">
              <a:defRPr sz="1800" b="1">
                <a:solidFill>
                  <a:srgbClr val="FFFFFF"/>
                </a:solidFill>
                <a:latin typeface="Arial"/>
                <a:ea typeface="Arial"/>
                <a:cs typeface="Arial"/>
              </a:defRPr>
            </a:pPr>
            <a:r>
              <a:rPr sz="1800" b="1">
                <a:solidFill>
                  <a:srgbClr val="FFFFFF"/>
                </a:solidFill>
                <a:latin typeface="Arial"/>
                <a:ea typeface="Arial"/>
                <a:cs typeface="Arial"/>
              </a:rPr>
              <a:t>Reference similarity</a:t>
            </a:r>
          </a:p>
        </p:txBody>
      </p:sp>
      <p:cxnSp>
        <p:nvCxnSpPr>
          <p:cNvPr id="26" name="reveal-2"/>
          <p:cNvCxnSpPr>
            <a:stCxn id="9" idx="3"/>
            <a:endCxn id="10" idx="1"/>
          </p:cNvCxnSpPr>
          <p:nvPr/>
        </p:nvCxnSpPr>
        <p:spPr>
          <a:xfrm>
            <a:off x="2990850" y="4286250"/>
            <a:ext cx="533400" cy="0"/>
          </a:xfrm>
          <a:prstGeom prst="straightConnector1">
            <a:avLst/>
          </a:prstGeom>
          <a:ln w="19050">
            <a:solidFill>
              <a:srgbClr val="087F8C"/>
            </a:solidFill>
            <a:tailEnd type="arrow" w="med" len="med"/>
          </a:ln>
        </p:spPr>
      </p:cxnSp>
      <p:cxnSp>
        <p:nvCxnSpPr>
          <p:cNvPr id="27" name="reveal-2"/>
          <p:cNvCxnSpPr>
            <a:stCxn id="10" idx="3"/>
            <a:endCxn id="11" idx="1"/>
          </p:cNvCxnSpPr>
          <p:nvPr/>
        </p:nvCxnSpPr>
        <p:spPr>
          <a:xfrm>
            <a:off x="6858000" y="4286250"/>
            <a:ext cx="542925" cy="0"/>
          </a:xfrm>
          <a:prstGeom prst="straightConnector1">
            <a:avLst/>
          </a:prstGeom>
          <a:ln w="19050">
            <a:solidFill>
              <a:srgbClr val="087F8C"/>
            </a:solidFill>
            <a:tailEnd type="arrow" w="med" len="med"/>
          </a:ln>
        </p:spPr>
      </p:cxnSp>
      <p:sp>
        <p:nvSpPr>
          <p:cNvPr id="14" name="reveal-3">
            <a:extLst>
              <a:ext uri="{FF2B5EF4-FFF2-40B4-BE49-F238E27FC236}">
                <ns2:creationId id="{89BCA3D5-A624-4841-BEF6-E4CF58D402AC}"/>
              </a:ext>
            </a:extLst>
          </p:cNvPr>
          <p:cNvSpPr>
            <a:spLocks noGrp="1"/>
          </p:cNvSpPr>
          <p:nvPr/>
        </p:nvSpPr>
        <p:spPr>
          <a:xfrm>
            <a:off x="609600" y="5476875"/>
            <a:ext cx="10953750" cy="714375"/>
          </a:xfrm>
          <a:prstGeom prst="rect">
            <a:avLst/>
          </a:prstGeom>
          <a:noFill/>
          <a:ln w="0">
            <a:noFill/>
          </a:ln>
        </p:spPr>
        <p:txBody>
          <a:bodyPr>
            <a:noAutofit/>
          </a:bodyPr>
          <a:lstStyle/>
          <a:p>
            <a:pPr>
              <a:defRPr sz="2250" b="1">
                <a:solidFill>
                  <a:srgbClr val="FFFFFF"/>
                </a:solidFill>
                <a:latin typeface="Arial"/>
                <a:ea typeface="Arial"/>
                <a:cs typeface="Arial"/>
              </a:defRPr>
            </a:pPr>
            <a:r>
              <a:rPr sz="2250" b="1">
                <a:solidFill>
                  <a:srgbClr val="FFFFFF"/>
                </a:solidFill>
                <a:latin typeface="Arial"/>
                <a:ea typeface="Arial"/>
                <a:cs typeface="Arial"/>
              </a:rPr>
              <a:t>Temporal checks reduce brief alerts. Examiners review the evidence.</a:t>
            </a:r>
          </a:p>
        </p:txBody>
      </p:sp>
    </p:spTree>
    <p:extLst>
      <p:ext uri="{BB962C8B-B14F-4D97-AF65-F5344CB8AC3E}">
        <ns3:creationId val="16196518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50"/>
                                  <p:tgtEl>
                                    <p:spTgt spid="21"/>
                                  </p:tgtEl>
                                </p:cBhvr>
                              </p:animEffect>
                            </p:childTnLst>
                          </p:cTn>
                        </p:par>
                        <p:par>
                          <p:cTn id="16" presetID="10" presetClass="entr" presetSubtype="0" fill="hold" grpId="1"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50"/>
                                  <p:tgtEl>
                                    <p:spTgt spid="22"/>
                                  </p:tgtEl>
                                </p:cBhvr>
                              </p:animEffect>
                            </p:childTnLst>
                          </p:cTn>
                        </p:par>
                      </p:childTnLst>
                    </p:cTn>
                  </p:par>
                  <p:par>
                    <p:cTn id="19" fill="hold">
                      <p:stCondLst>
                        <p:cond delay="indefinite"/>
                      </p:stCondLst>
                      <p:childTnLst>
                        <p:par>
                          <p:cTn id="20" presetID="10" presetClass="entr" presetSubtype="0" fill="hold" grpId="2"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2"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2"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2"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50"/>
                                  <p:tgtEl>
                                    <p:spTgt spid="26"/>
                                  </p:tgtEl>
                                </p:cBhvr>
                              </p:animEffect>
                            </p:childTnLst>
                          </p:cTn>
                        </p:par>
                        <p:par>
                          <p:cTn id="32" presetID="10" presetClass="entr" presetSubtype="0" fill="hold" grpId="2"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50"/>
                                  <p:tgtEl>
                                    <p:spTgt spid="27"/>
                                  </p:tgtEl>
                                </p:cBhvr>
                              </p:animEffect>
                            </p:childTnLst>
                          </p:cTn>
                        </p:par>
                      </p:childTnLst>
                    </p:cTn>
                  </p:par>
                  <p:par>
                    <p:cTn id="35" fill="hold">
                      <p:stCondLst>
                        <p:cond delay="indefinite"/>
                      </p:stCondLst>
                      <p:childTnLst>
                        <p:par>
                          <p:cTn id="36" presetID="10" presetClass="entr" presetSubtype="0" fill="hold" grpId="3"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P spid="5" grpId="1" uiExpand="1"/>
      <p:bldP spid="6" grpId="1" uiExpand="1"/>
      <p:bldP spid="21" grpId="1" uiExpand="1"/>
      <p:bldP spid="22" grpId="1" uiExpand="1"/>
      <p:bldP spid="9" grpId="2" uiExpand="1"/>
      <p:bldP spid="10" grpId="2" uiExpand="1"/>
      <p:bldP spid="11" grpId="2" uiExpand="1"/>
      <p:bldP spid="26" grpId="2" uiExpand="1"/>
      <p:bldP spid="27" grpId="2" uiExpand="1"/>
      <p:bldP spid="14" grpId="3" uiExpand="1"/>
    </p:bld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4" name="fixed">
            <a:extLst>
              <a:ext uri="{FF2B5EF4-FFF2-40B4-BE49-F238E27FC236}">
                <ns2:creationId id="{105FA4DC-1FE1-4CA9-A166-7205EFBEBD45}"/>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Evidence and review priority</a:t>
            </a:r>
          </a:p>
        </p:txBody>
      </p:sp>
      <p:sp>
        <p:nvSpPr>
          <p:cNvPr id="2" name="fixed">
            <a:extLst>
              <a:ext uri="{FF2B5EF4-FFF2-40B4-BE49-F238E27FC236}">
                <ns2:creationId id="{F50266D9-3B3F-4CAB-A347-F1600967F52C}"/>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08</a:t>
            </a:r>
          </a:p>
        </p:txBody>
      </p:sp>
      <p:sp>
        <p:nvSpPr>
          <p:cNvPr id="3" name="reveal-1">
            <a:extLst>
              <a:ext uri="{FF2B5EF4-FFF2-40B4-BE49-F238E27FC236}">
                <ns2:creationId id="{762E9AE5-D4FB-46D5-9786-4B1476F945EC}"/>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3 / CORE</a:t>
            </a:r>
          </a:p>
        </p:txBody>
      </p:sp>
      <p:sp>
        <p:nvSpPr>
          <p:cNvPr id="4" name="reveal-1">
            <a:extLst>
              <a:ext uri="{FF2B5EF4-FFF2-40B4-BE49-F238E27FC236}">
                <ns2:creationId id="{E2D4C346-BFF5-4B78-84F2-179C343B4199}"/>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Evidence capture</a:t>
            </a:r>
          </a:p>
        </p:txBody>
      </p:sp>
      <p:sp>
        <p:nvSpPr>
          <p:cNvPr id="5" name="reveal-1">
            <a:extLst>
              <a:ext uri="{FF2B5EF4-FFF2-40B4-BE49-F238E27FC236}">
                <ns2:creationId id="{72490C2E-3A39-4F9E-93F8-AB6F495F0354}"/>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Annotated webcam stills</a:t>
            </a:r>
          </a:p>
          <a:p>
            <a:pPr>
              <a:defRPr sz="2025" b="0">
                <a:solidFill>
                  <a:srgbClr val="526573"/>
                </a:solidFill>
                <a:latin typeface="Arial"/>
                <a:ea typeface="Arial"/>
                <a:cs typeface="Arial"/>
              </a:defRPr>
            </a:pPr>
            <a:r>
              <a:rPr sz="2025" b="0">
                <a:solidFill>
                  <a:srgbClr val="526573"/>
                </a:solidFill>
                <a:latin typeface="Arial"/>
                <a:ea typeface="Arial"/>
                <a:cs typeface="Arial"/>
              </a:rPr>
              <a:t>Environment screenshots</a:t>
            </a:r>
          </a:p>
          <a:p>
            <a:pPr>
              <a:defRPr sz="2025" b="0">
                <a:solidFill>
                  <a:srgbClr val="526573"/>
                </a:solidFill>
                <a:latin typeface="Arial"/>
                <a:ea typeface="Arial"/>
                <a:cs typeface="Arial"/>
              </a:defRPr>
            </a:pPr>
            <a:r>
              <a:rPr sz="2025" b="0">
                <a:solidFill>
                  <a:srgbClr val="526573"/>
                </a:solidFill>
                <a:latin typeface="Arial"/>
                <a:ea typeface="Arial"/>
                <a:cs typeface="Arial"/>
              </a:rPr>
              <a:t>Suspicious audio clips</a:t>
            </a:r>
          </a:p>
          <a:p>
            <a:pPr>
              <a:defRPr sz="2025" b="0">
                <a:solidFill>
                  <a:srgbClr val="526573"/>
                </a:solidFill>
                <a:latin typeface="Arial"/>
                <a:ea typeface="Arial"/>
                <a:cs typeface="Arial"/>
              </a:defRPr>
            </a:pPr>
            <a:r>
              <a:rPr sz="2025" b="0">
                <a:solidFill>
                  <a:srgbClr val="526573"/>
                </a:solidFill>
                <a:latin typeface="Arial"/>
                <a:ea typeface="Arial"/>
                <a:cs typeface="Arial"/>
              </a:rPr>
              <a:t>Durable event IDs and retry queues</a:t>
            </a:r>
          </a:p>
        </p:txBody>
      </p:sp>
      <p:sp>
        <p:nvSpPr>
          <p:cNvPr id="6" name="reveal-2">
            <a:extLst>
              <a:ext uri="{FF2B5EF4-FFF2-40B4-BE49-F238E27FC236}">
                <ns2:creationId id="{1CEC8A22-F117-4C04-ADD8-766FF0EEFA73}"/>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5 / OPTIONAL</a:t>
            </a:r>
          </a:p>
        </p:txBody>
      </p:sp>
      <p:sp>
        <p:nvSpPr>
          <p:cNvPr id="7" name="reveal-2">
            <a:extLst>
              <a:ext uri="{FF2B5EF4-FFF2-40B4-BE49-F238E27FC236}">
                <ns2:creationId id="{2537A6D6-5130-450D-BC36-F01B46606205}"/>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Severity scoring</a:t>
            </a:r>
          </a:p>
        </p:txBody>
      </p:sp>
      <p:sp>
        <p:nvSpPr>
          <p:cNvPr id="8" name="reveal-2">
            <a:extLst>
              <a:ext uri="{FF2B5EF4-FFF2-40B4-BE49-F238E27FC236}">
                <ns2:creationId id="{FD861FD9-FC6A-43F1-97E4-74C826D9B08F}"/>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Severity weights and recency decay</a:t>
            </a:r>
          </a:p>
          <a:p>
            <a:pPr>
              <a:defRPr sz="2025" b="0">
                <a:solidFill>
                  <a:srgbClr val="526573"/>
                </a:solidFill>
                <a:latin typeface="Arial"/>
                <a:ea typeface="Arial"/>
                <a:cs typeface="Arial"/>
              </a:defRPr>
            </a:pPr>
            <a:r>
              <a:rPr sz="2025" b="0">
                <a:solidFill>
                  <a:srgbClr val="526573"/>
                </a:solidFill>
                <a:latin typeface="Arial"/>
                <a:ea typeface="Arial"/>
                <a:cs typeface="Arial"/>
              </a:rPr>
              <a:t>Exam-scoped review priority</a:t>
            </a:r>
          </a:p>
          <a:p>
            <a:pPr>
              <a:defRPr sz="2025" b="0">
                <a:solidFill>
                  <a:srgbClr val="526573"/>
                </a:solidFill>
                <a:latin typeface="Arial"/>
                <a:ea typeface="Arial"/>
                <a:cs typeface="Arial"/>
              </a:defRPr>
            </a:pPr>
            <a:r>
              <a:rPr sz="2025" b="0">
                <a:solidFill>
                  <a:srgbClr val="526573"/>
                </a:solidFill>
                <a:latin typeface="Arial"/>
                <a:ea typeface="Arial"/>
                <a:cs typeface="Arial"/>
              </a:rPr>
              <a:t>Dismissed events excluded</a:t>
            </a:r>
          </a:p>
          <a:p>
            <a:pPr>
              <a:defRPr sz="2025" b="0">
                <a:solidFill>
                  <a:srgbClr val="526573"/>
                </a:solidFill>
                <a:latin typeface="Arial"/>
                <a:ea typeface="Arial"/>
                <a:cs typeface="Arial"/>
              </a:defRPr>
            </a:pPr>
            <a:r>
              <a:rPr sz="2025" b="0">
                <a:solidFill>
                  <a:srgbClr val="526573"/>
                </a:solidFill>
                <a:latin typeface="Arial"/>
                <a:ea typeface="Arial"/>
                <a:cs typeface="Arial"/>
              </a:rPr>
              <a:t>Late evidence needs confirmation</a:t>
            </a:r>
          </a:p>
        </p:txBody>
      </p:sp>
      <p:sp>
        <p:nvSpPr>
          <p:cNvPr id="9" name="reveal-3">
            <a:extLst>
              <a:ext uri="{FF2B5EF4-FFF2-40B4-BE49-F238E27FC236}">
                <ns2:creationId id="{0F0E8755-CE7D-4AAB-A5F4-F21919F871ED}"/>
              </a:ext>
            </a:extLst>
          </p:cNvPr>
          <p:cNvSpPr>
            <a:spLocks noGrp="1"/>
          </p:cNvSpPr>
          <p:nvPr/>
        </p:nvSpPr>
        <p:spPr>
          <a:xfrm>
            <a:off x="60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Monitoring event</a:t>
            </a:r>
          </a:p>
        </p:txBody>
      </p:sp>
      <p:sp>
        <p:nvSpPr>
          <p:cNvPr id="10" name="reveal-3">
            <a:extLst>
              <a:ext uri="{FF2B5EF4-FFF2-40B4-BE49-F238E27FC236}">
                <ns2:creationId id="{BD371800-5B6F-4D54-A1F8-DF907124224B}"/>
              </a:ext>
            </a:extLst>
          </p:cNvPr>
          <p:cNvSpPr>
            <a:spLocks noGrp="1"/>
          </p:cNvSpPr>
          <p:nvPr/>
        </p:nvSpPr>
        <p:spPr>
          <a:xfrm>
            <a:off x="441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Evidence and priority</a:t>
            </a:r>
          </a:p>
        </p:txBody>
      </p:sp>
      <p:sp>
        <p:nvSpPr>
          <p:cNvPr id="11" name="reveal-3">
            <a:extLst>
              <a:ext uri="{FF2B5EF4-FFF2-40B4-BE49-F238E27FC236}">
                <ns2:creationId id="{7AC33409-07D7-4D78-89E1-97B5CFAE246B}"/>
              </a:ext>
            </a:extLst>
          </p:cNvPr>
          <p:cNvSpPr>
            <a:spLocks noGrp="1"/>
          </p:cNvSpPr>
          <p:nvPr/>
        </p:nvSpPr>
        <p:spPr>
          <a:xfrm>
            <a:off x="822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Examiner decision</a:t>
            </a:r>
          </a:p>
        </p:txBody>
      </p:sp>
      <p:cxnSp>
        <p:nvCxnSpPr>
          <p:cNvPr id="25" name="reveal-3"/>
          <p:cNvCxnSpPr>
            <a:stCxn id="9" idx="3"/>
            <a:endCxn id="10" idx="1"/>
          </p:cNvCxnSpPr>
          <p:nvPr/>
        </p:nvCxnSpPr>
        <p:spPr>
          <a:xfrm>
            <a:off x="3943350" y="5400675"/>
            <a:ext cx="476250" cy="0"/>
          </a:xfrm>
          <a:prstGeom prst="straightConnector1">
            <a:avLst/>
          </a:prstGeom>
          <a:ln w="19050">
            <a:solidFill>
              <a:srgbClr val="087F8C"/>
            </a:solidFill>
            <a:tailEnd type="arrow" w="med" len="med"/>
          </a:ln>
        </p:spPr>
      </p:cxnSp>
      <p:cxnSp>
        <p:nvCxnSpPr>
          <p:cNvPr id="26" name="reveal-3"/>
          <p:cNvCxnSpPr>
            <a:stCxn id="10" idx="3"/>
            <a:endCxn id="11" idx="1"/>
          </p:cNvCxnSpPr>
          <p:nvPr/>
        </p:nvCxnSpPr>
        <p:spPr>
          <a:xfrm>
            <a:off x="7753350" y="5400675"/>
            <a:ext cx="476250" cy="0"/>
          </a:xfrm>
          <a:prstGeom prst="straightConnector1">
            <a:avLst/>
          </a:prstGeom>
          <a:ln w="19050">
            <a:solidFill>
              <a:srgbClr val="087F8C"/>
            </a:solidFill>
            <a:tailEnd type="arrow" w="med" len="med"/>
          </a:ln>
        </p:spPr>
      </p:cxnSp>
    </p:spTree>
    <p:extLst>
      <p:ext uri="{BB962C8B-B14F-4D97-AF65-F5344CB8AC3E}">
        <ns3:creationId val="48871237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3"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P spid="10" grpId="3" uiExpand="1"/>
      <p:bldP spid="11" grpId="3" uiExpand="1"/>
      <p:bldP spid="25" grpId="3" uiExpand="1"/>
      <p:bldP spid="26" grpId="3" uiExpand="1"/>
    </p:bld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4" name="fixed">
            <a:extLst>
              <a:ext uri="{FF2B5EF4-FFF2-40B4-BE49-F238E27FC236}">
                <ns2:creationId id="{99B25B2C-FC50-41AE-BE65-AFE7F06C85BE}"/>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Examiner review and answer submission</a:t>
            </a:r>
          </a:p>
        </p:txBody>
      </p:sp>
      <p:sp>
        <p:nvSpPr>
          <p:cNvPr id="2" name="fixed">
            <a:extLst>
              <a:ext uri="{FF2B5EF4-FFF2-40B4-BE49-F238E27FC236}">
                <ns2:creationId id="{D2940066-2715-44F3-9D2D-8EC7279DBB57}"/>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09</a:t>
            </a:r>
          </a:p>
        </p:txBody>
      </p:sp>
      <p:sp>
        <p:nvSpPr>
          <p:cNvPr id="3" name="reveal-1">
            <a:extLst>
              <a:ext uri="{FF2B5EF4-FFF2-40B4-BE49-F238E27FC236}">
                <ns2:creationId id="{48FFAD03-025C-4103-A136-E9C100C6764C}"/>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6 / CORE</a:t>
            </a:r>
          </a:p>
        </p:txBody>
      </p:sp>
      <p:sp>
        <p:nvSpPr>
          <p:cNvPr id="4" name="reveal-1">
            <a:extLst>
              <a:ext uri="{FF2B5EF4-FFF2-40B4-BE49-F238E27FC236}">
                <ns2:creationId id="{CD5E39FD-50C6-43EA-8629-070CFFDDB017}"/>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Examiner dashboard</a:t>
            </a:r>
          </a:p>
        </p:txBody>
      </p:sp>
      <p:sp>
        <p:nvSpPr>
          <p:cNvPr id="5" name="reveal-1">
            <a:extLst>
              <a:ext uri="{FF2B5EF4-FFF2-40B4-BE49-F238E27FC236}">
                <ns2:creationId id="{F44CECF9-8997-44D7-853B-D58526BC7520}"/>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Live Monitoring and priority queue</a:t>
            </a:r>
          </a:p>
          <a:p>
            <a:pPr>
              <a:defRPr sz="2025" b="0">
                <a:solidFill>
                  <a:srgbClr val="526573"/>
                </a:solidFill>
                <a:latin typeface="Arial"/>
                <a:ea typeface="Arial"/>
                <a:cs typeface="Arial"/>
              </a:defRPr>
            </a:pPr>
            <a:r>
              <a:rPr sz="2025" b="0">
                <a:solidFill>
                  <a:srgbClr val="526573"/>
                </a:solidFill>
                <a:latin typeface="Arial"/>
                <a:ea typeface="Arial"/>
                <a:cs typeface="Arial"/>
              </a:rPr>
              <a:t>Evidence review and risk badges</a:t>
            </a:r>
          </a:p>
          <a:p>
            <a:pPr>
              <a:defRPr sz="2025" b="0">
                <a:solidFill>
                  <a:srgbClr val="526573"/>
                </a:solidFill>
                <a:latin typeface="Arial"/>
                <a:ea typeface="Arial"/>
                <a:cs typeface="Arial"/>
              </a:defRPr>
            </a:pPr>
            <a:r>
              <a:rPr sz="2025" b="0">
                <a:solidFill>
                  <a:srgbClr val="526573"/>
                </a:solidFill>
                <a:latin typeface="Arial"/>
                <a:ea typeface="Arial"/>
                <a:cs typeface="Arial"/>
              </a:rPr>
              <a:t>Exam management and history</a:t>
            </a:r>
          </a:p>
          <a:p>
            <a:pPr>
              <a:defRPr sz="2025" b="0">
                <a:solidFill>
                  <a:srgbClr val="526573"/>
                </a:solidFill>
                <a:latin typeface="Arial"/>
                <a:ea typeface="Arial"/>
                <a:cs typeface="Arial"/>
              </a:defRPr>
            </a:pPr>
            <a:r>
              <a:rPr sz="2025" b="0">
                <a:solidFill>
                  <a:srgbClr val="526573"/>
                </a:solidFill>
                <a:latin typeface="Arial"/>
                <a:ea typeface="Arial"/>
                <a:cs typeface="Arial"/>
              </a:rPr>
              <a:t>Warnings, chat and termination</a:t>
            </a:r>
          </a:p>
        </p:txBody>
      </p:sp>
      <p:sp>
        <p:nvSpPr>
          <p:cNvPr id="6" name="reveal-2">
            <a:extLst>
              <a:ext uri="{FF2B5EF4-FFF2-40B4-BE49-F238E27FC236}">
                <ns2:creationId id="{D8783D95-54AC-4FB0-8427-4FB6689F8131}"/>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7 / CORE</a:t>
            </a:r>
          </a:p>
        </p:txBody>
      </p:sp>
      <p:sp>
        <p:nvSpPr>
          <p:cNvPr id="7" name="reveal-2">
            <a:extLst>
              <a:ext uri="{FF2B5EF4-FFF2-40B4-BE49-F238E27FC236}">
                <ns2:creationId id="{31333C9B-B38C-434D-934C-F0B48A32104C}"/>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Answer submission</a:t>
            </a:r>
          </a:p>
        </p:txBody>
      </p:sp>
      <p:sp>
        <p:nvSpPr>
          <p:cNvPr id="8" name="reveal-2">
            <a:extLst>
              <a:ext uri="{FF2B5EF4-FFF2-40B4-BE49-F238E27FC236}">
                <ns2:creationId id="{12051E69-F2D4-4F90-A8B8-6D6B66443A39}"/>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Integrated exam paper workspace</a:t>
            </a:r>
          </a:p>
          <a:p>
            <a:pPr>
              <a:defRPr sz="2025" b="0">
                <a:solidFill>
                  <a:srgbClr val="526573"/>
                </a:solidFill>
                <a:latin typeface="Arial"/>
                <a:ea typeface="Arial"/>
                <a:cs typeface="Arial"/>
              </a:defRPr>
            </a:pPr>
            <a:r>
              <a:rPr sz="2025" b="0">
                <a:solidFill>
                  <a:srgbClr val="526573"/>
                </a:solidFill>
                <a:latin typeface="Arial"/>
                <a:ea typeface="Arial"/>
                <a:cs typeface="Arial"/>
              </a:rPr>
              <a:t>Typed answers with local drafts</a:t>
            </a:r>
          </a:p>
          <a:p>
            <a:pPr>
              <a:defRPr sz="2025" b="0">
                <a:solidFill>
                  <a:srgbClr val="526573"/>
                </a:solidFill>
                <a:latin typeface="Arial"/>
                <a:ea typeface="Arial"/>
                <a:cs typeface="Arial"/>
              </a:defRPr>
            </a:pPr>
            <a:r>
              <a:rPr sz="2025" b="0">
                <a:solidFill>
                  <a:srgbClr val="526573"/>
                </a:solidFill>
                <a:latin typeface="Arial"/>
                <a:ea typeface="Arial"/>
                <a:cs typeface="Arial"/>
              </a:rPr>
              <a:t>Session-linked file upload</a:t>
            </a:r>
          </a:p>
          <a:p>
            <a:pPr>
              <a:defRPr sz="2025" b="0">
                <a:solidFill>
                  <a:srgbClr val="526573"/>
                </a:solidFill>
                <a:latin typeface="Arial"/>
                <a:ea typeface="Arial"/>
                <a:cs typeface="Arial"/>
              </a:defRPr>
            </a:pPr>
            <a:r>
              <a:rPr sz="2025" b="0">
                <a:solidFill>
                  <a:srgbClr val="526573"/>
                </a:solidFill>
                <a:latin typeface="Arial"/>
                <a:ea typeface="Arial"/>
                <a:cs typeface="Arial"/>
              </a:rPr>
              <a:t>Teacher viewing and download</a:t>
            </a:r>
          </a:p>
        </p:txBody>
      </p:sp>
      <p:sp>
        <p:nvSpPr>
          <p:cNvPr id="9" name="reveal-3">
            <a:extLst>
              <a:ext uri="{FF2B5EF4-FFF2-40B4-BE49-F238E27FC236}">
                <ns2:creationId id="{A118508B-45F7-4559-9D57-C916A1C1F174}"/>
              </a:ext>
            </a:extLst>
          </p:cNvPr>
          <p:cNvSpPr>
            <a:spLocks noGrp="1"/>
          </p:cNvSpPr>
          <p:nvPr/>
        </p:nvSpPr>
        <p:spPr>
          <a:xfrm>
            <a:off x="60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Configured exam</a:t>
            </a:r>
          </a:p>
        </p:txBody>
      </p:sp>
      <p:sp>
        <p:nvSpPr>
          <p:cNvPr id="10" name="reveal-3">
            <a:extLst>
              <a:ext uri="{FF2B5EF4-FFF2-40B4-BE49-F238E27FC236}">
                <ns2:creationId id="{0DCB5A89-8BED-458B-AE63-2D52A32AA968}"/>
              </a:ext>
            </a:extLst>
          </p:cNvPr>
          <p:cNvSpPr>
            <a:spLocks noGrp="1"/>
          </p:cNvSpPr>
          <p:nvPr/>
        </p:nvSpPr>
        <p:spPr>
          <a:xfrm>
            <a:off x="441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Candidate workspace</a:t>
            </a:r>
          </a:p>
        </p:txBody>
      </p:sp>
      <p:sp>
        <p:nvSpPr>
          <p:cNvPr id="11" name="reveal-3">
            <a:extLst>
              <a:ext uri="{FF2B5EF4-FFF2-40B4-BE49-F238E27FC236}">
                <ns2:creationId id="{47850414-59A5-45C2-B7E5-BC01EFDEBBE0}"/>
              </a:ext>
            </a:extLst>
          </p:cNvPr>
          <p:cNvSpPr>
            <a:spLocks noGrp="1"/>
          </p:cNvSpPr>
          <p:nvPr/>
        </p:nvSpPr>
        <p:spPr>
          <a:xfrm>
            <a:off x="822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Submission and review</a:t>
            </a:r>
          </a:p>
        </p:txBody>
      </p:sp>
      <p:cxnSp>
        <p:nvCxnSpPr>
          <p:cNvPr id="25" name="reveal-3"/>
          <p:cNvCxnSpPr>
            <a:stCxn id="9" idx="3"/>
            <a:endCxn id="10" idx="1"/>
          </p:cNvCxnSpPr>
          <p:nvPr/>
        </p:nvCxnSpPr>
        <p:spPr>
          <a:xfrm>
            <a:off x="3943350" y="5400675"/>
            <a:ext cx="476250" cy="0"/>
          </a:xfrm>
          <a:prstGeom prst="straightConnector1">
            <a:avLst/>
          </a:prstGeom>
          <a:ln w="19050">
            <a:solidFill>
              <a:srgbClr val="087F8C"/>
            </a:solidFill>
            <a:tailEnd type="arrow" w="med" len="med"/>
          </a:ln>
        </p:spPr>
      </p:cxnSp>
      <p:cxnSp>
        <p:nvCxnSpPr>
          <p:cNvPr id="26" name="reveal-3"/>
          <p:cNvCxnSpPr>
            <a:stCxn id="10" idx="3"/>
            <a:endCxn id="11" idx="1"/>
          </p:cNvCxnSpPr>
          <p:nvPr/>
        </p:nvCxnSpPr>
        <p:spPr>
          <a:xfrm>
            <a:off x="7753350" y="5400675"/>
            <a:ext cx="476250" cy="0"/>
          </a:xfrm>
          <a:prstGeom prst="straightConnector1">
            <a:avLst/>
          </a:prstGeom>
          <a:ln w="19050">
            <a:solidFill>
              <a:srgbClr val="087F8C"/>
            </a:solidFill>
            <a:tailEnd type="arrow" w="med" len="med"/>
          </a:ln>
        </p:spPr>
      </p:cxnSp>
    </p:spTree>
    <p:extLst>
      <p:ext uri="{BB962C8B-B14F-4D97-AF65-F5344CB8AC3E}">
        <ns3:creationId val="191830164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3"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P spid="10" grpId="3" uiExpand="1"/>
      <p:bldP spid="11" grpId="3" uiExpand="1"/>
      <p:bldP spid="25" grpId="3" uiExpand="1"/>
      <p:bldP spid="26" grpId="3" uiExpand="1"/>
    </p:bldLst>
  </p:timing>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4" name="fixed">
            <a:extLst>
              <a:ext uri="{FF2B5EF4-FFF2-40B4-BE49-F238E27FC236}">
                <ns2:creationId id="{8915003F-2A83-4479-8606-898A8912971A}"/>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Reporting and additions beyond the scope</a:t>
            </a:r>
          </a:p>
        </p:txBody>
      </p:sp>
      <p:sp>
        <p:nvSpPr>
          <p:cNvPr id="2" name="fixed">
            <a:extLst>
              <a:ext uri="{FF2B5EF4-FFF2-40B4-BE49-F238E27FC236}">
                <ns2:creationId id="{ED93F530-0636-4073-98FC-4C0F8C55529A}"/>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10</a:t>
            </a:r>
          </a:p>
        </p:txBody>
      </p:sp>
      <p:sp>
        <p:nvSpPr>
          <p:cNvPr id="3" name="reveal-1">
            <a:extLst>
              <a:ext uri="{FF2B5EF4-FFF2-40B4-BE49-F238E27FC236}">
                <ns2:creationId id="{DBE7E177-67DD-4C4D-9A0E-8FB7EE6C7907}"/>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8 / ADVANCED</a:t>
            </a:r>
          </a:p>
        </p:txBody>
      </p:sp>
      <p:sp>
        <p:nvSpPr>
          <p:cNvPr id="4" name="reveal-1">
            <a:extLst>
              <a:ext uri="{FF2B5EF4-FFF2-40B4-BE49-F238E27FC236}">
                <ns2:creationId id="{54C10044-347B-4DB6-BCE2-877F290ED895}"/>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Audit reporting</a:t>
            </a:r>
          </a:p>
        </p:txBody>
      </p:sp>
      <p:sp>
        <p:nvSpPr>
          <p:cNvPr id="5" name="reveal-1">
            <a:extLst>
              <a:ext uri="{FF2B5EF4-FFF2-40B4-BE49-F238E27FC236}">
                <ns2:creationId id="{88670FE8-684A-4459-80CE-F908F659C15C}"/>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Historical exam summaries</a:t>
            </a:r>
          </a:p>
          <a:p>
            <a:pPr>
              <a:defRPr sz="2025" b="0">
                <a:solidFill>
                  <a:srgbClr val="526573"/>
                </a:solidFill>
                <a:latin typeface="Arial"/>
                <a:ea typeface="Arial"/>
                <a:cs typeface="Arial"/>
              </a:defRPr>
            </a:pPr>
            <a:r>
              <a:rPr sz="2025" b="0">
                <a:solidFill>
                  <a:srgbClr val="526573"/>
                </a:solidFill>
                <a:latin typeface="Arial"/>
                <a:ea typeface="Arial"/>
                <a:cs typeface="Arial"/>
              </a:rPr>
              <a:t>Risk and violation breakdowns</a:t>
            </a:r>
          </a:p>
          <a:p>
            <a:pPr>
              <a:defRPr sz="2025" b="0">
                <a:solidFill>
                  <a:srgbClr val="526573"/>
                </a:solidFill>
                <a:latin typeface="Arial"/>
                <a:ea typeface="Arial"/>
                <a:cs typeface="Arial"/>
              </a:defRPr>
            </a:pPr>
            <a:r>
              <a:rPr sz="2025" b="0">
                <a:solidFill>
                  <a:srgbClr val="526573"/>
                </a:solidFill>
                <a:latin typeface="Arial"/>
                <a:ea typeface="Arial"/>
                <a:cs typeface="Arial"/>
              </a:rPr>
              <a:t>CSV export and browser Save PDF</a:t>
            </a:r>
          </a:p>
          <a:p>
            <a:pPr>
              <a:defRPr sz="2025" b="0">
                <a:solidFill>
                  <a:srgbClr val="526573"/>
                </a:solidFill>
                <a:latin typeface="Arial"/>
                <a:ea typeface="Arial"/>
                <a:cs typeface="Arial"/>
              </a:defRPr>
            </a:pPr>
            <a:r>
              <a:rPr sz="2025" b="0">
                <a:solidFill>
                  <a:srgbClr val="526573"/>
                </a:solidFill>
                <a:latin typeface="Arial"/>
                <a:ea typeface="Arial"/>
                <a:cs typeface="Arial"/>
              </a:rPr>
              <a:t>Detailed evidence opens separately</a:t>
            </a:r>
          </a:p>
        </p:txBody>
      </p:sp>
      <p:sp>
        <p:nvSpPr>
          <p:cNvPr id="6" name="reveal-2">
            <a:extLst>
              <a:ext uri="{FF2B5EF4-FFF2-40B4-BE49-F238E27FC236}">
                <ns2:creationId id="{840FBFE1-5FC2-4AC1-8E79-ADFA82B6D2CA}"/>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ADDITIONAL WORK</a:t>
            </a:r>
          </a:p>
        </p:txBody>
      </p:sp>
      <p:sp>
        <p:nvSpPr>
          <p:cNvPr id="7" name="reveal-2">
            <a:extLst>
              <a:ext uri="{FF2B5EF4-FFF2-40B4-BE49-F238E27FC236}">
                <ns2:creationId id="{8316371E-CC71-471F-AB17-8272171CDF6C}"/>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Beyond the original baseline</a:t>
            </a:r>
          </a:p>
        </p:txBody>
      </p:sp>
      <p:sp>
        <p:nvSpPr>
          <p:cNvPr id="8" name="reveal-2">
            <a:extLst>
              <a:ext uri="{FF2B5EF4-FFF2-40B4-BE49-F238E27FC236}">
                <ns2:creationId id="{2263F0CA-9D97-4754-BE8F-80DCB5DEC84F}"/>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Voice verification and consent</a:t>
            </a:r>
          </a:p>
          <a:p>
            <a:pPr>
              <a:defRPr sz="2025" b="0">
                <a:solidFill>
                  <a:srgbClr val="526573"/>
                </a:solidFill>
                <a:latin typeface="Arial"/>
                <a:ea typeface="Arial"/>
                <a:cs typeface="Arial"/>
              </a:defRPr>
            </a:pPr>
            <a:r>
              <a:rPr sz="2025" b="0">
                <a:solidFill>
                  <a:srgbClr val="526573"/>
                </a:solidFill>
                <a:latin typeface="Arial"/>
                <a:ea typeface="Arial"/>
                <a:cs typeface="Arial"/>
              </a:rPr>
              <a:t>Physical-lab mode and chat</a:t>
            </a:r>
          </a:p>
          <a:p>
            <a:pPr>
              <a:defRPr sz="2025" b="0">
                <a:solidFill>
                  <a:srgbClr val="526573"/>
                </a:solidFill>
                <a:latin typeface="Arial"/>
                <a:ea typeface="Arial"/>
                <a:cs typeface="Arial"/>
              </a:defRPr>
            </a:pPr>
            <a:r>
              <a:rPr sz="2025" b="0">
                <a:solidFill>
                  <a:srgbClr val="526573"/>
                </a:solidFill>
                <a:latin typeface="Arial"/>
                <a:ea typeface="Arial"/>
                <a:cs typeface="Arial"/>
              </a:rPr>
              <a:t>Admin accounts and asset management</a:t>
            </a:r>
          </a:p>
          <a:p>
            <a:pPr>
              <a:defRPr sz="2025" b="0">
                <a:solidFill>
                  <a:srgbClr val="526573"/>
                </a:solidFill>
                <a:latin typeface="Arial"/>
                <a:ea typeface="Arial"/>
                <a:cs typeface="Arial"/>
              </a:defRPr>
            </a:pPr>
            <a:r>
              <a:rPr sz="2025" b="0">
                <a:solidFill>
                  <a:srgbClr val="526573"/>
                </a:solidFill>
                <a:latin typeface="Arial"/>
                <a:ea typeface="Arial"/>
                <a:cs typeface="Arial"/>
              </a:rPr>
              <a:t>Multiple exams, dark mode and recovery</a:t>
            </a:r>
          </a:p>
        </p:txBody>
      </p:sp>
      <p:sp>
        <p:nvSpPr>
          <p:cNvPr id="9" name="reveal-3">
            <a:extLst>
              <a:ext uri="{FF2B5EF4-FFF2-40B4-BE49-F238E27FC236}">
                <ns2:creationId id="{71AB5102-EF4E-400D-AE0F-63434B974FA8}"/>
              </a:ext>
            </a:extLst>
          </p:cNvPr>
          <p:cNvSpPr>
            <a:spLocks noGrp="1"/>
          </p:cNvSpPr>
          <p:nvPr/>
        </p:nvSpPr>
        <p:spPr>
          <a:xfrm>
            <a:off x="60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Completed exam</a:t>
            </a:r>
          </a:p>
        </p:txBody>
      </p:sp>
      <p:sp>
        <p:nvSpPr>
          <p:cNvPr id="10" name="reveal-3">
            <a:extLst>
              <a:ext uri="{FF2B5EF4-FFF2-40B4-BE49-F238E27FC236}">
                <ns2:creationId id="{F72A6CD8-FAE2-462F-97C5-D4D7CF3864A6}"/>
              </a:ext>
            </a:extLst>
          </p:cNvPr>
          <p:cNvSpPr>
            <a:spLocks noGrp="1"/>
          </p:cNvSpPr>
          <p:nvPr/>
        </p:nvSpPr>
        <p:spPr>
          <a:xfrm>
            <a:off x="441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Summary and exports</a:t>
            </a:r>
          </a:p>
        </p:txBody>
      </p:sp>
      <p:sp>
        <p:nvSpPr>
          <p:cNvPr id="11" name="reveal-3">
            <a:extLst>
              <a:ext uri="{FF2B5EF4-FFF2-40B4-BE49-F238E27FC236}">
                <ns2:creationId id="{F9C2C2D2-6A8E-4D86-B3E5-CB1DA8C48FC6}"/>
              </a:ext>
            </a:extLst>
          </p:cNvPr>
          <p:cNvSpPr>
            <a:spLocks noGrp="1"/>
          </p:cNvSpPr>
          <p:nvPr/>
        </p:nvSpPr>
        <p:spPr>
          <a:xfrm>
            <a:off x="822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Institutional review</a:t>
            </a:r>
          </a:p>
        </p:txBody>
      </p:sp>
      <p:cxnSp>
        <p:nvCxnSpPr>
          <p:cNvPr id="25" name="reveal-3"/>
          <p:cNvCxnSpPr>
            <a:stCxn id="9" idx="3"/>
            <a:endCxn id="10" idx="1"/>
          </p:cNvCxnSpPr>
          <p:nvPr/>
        </p:nvCxnSpPr>
        <p:spPr>
          <a:xfrm>
            <a:off x="3943350" y="5400675"/>
            <a:ext cx="476250" cy="0"/>
          </a:xfrm>
          <a:prstGeom prst="straightConnector1">
            <a:avLst/>
          </a:prstGeom>
          <a:ln w="19050">
            <a:solidFill>
              <a:srgbClr val="087F8C"/>
            </a:solidFill>
            <a:tailEnd type="arrow" w="med" len="med"/>
          </a:ln>
        </p:spPr>
      </p:cxnSp>
      <p:cxnSp>
        <p:nvCxnSpPr>
          <p:cNvPr id="26" name="reveal-3"/>
          <p:cNvCxnSpPr>
            <a:stCxn id="10" idx="3"/>
            <a:endCxn id="11" idx="1"/>
          </p:cNvCxnSpPr>
          <p:nvPr/>
        </p:nvCxnSpPr>
        <p:spPr>
          <a:xfrm>
            <a:off x="7753350" y="5400675"/>
            <a:ext cx="476250" cy="0"/>
          </a:xfrm>
          <a:prstGeom prst="straightConnector1">
            <a:avLst/>
          </a:prstGeom>
          <a:ln w="19050">
            <a:solidFill>
              <a:srgbClr val="087F8C"/>
            </a:solidFill>
            <a:tailEnd type="arrow" w="med" len="med"/>
          </a:ln>
        </p:spPr>
      </p:cxnSp>
    </p:spTree>
    <p:extLst>
      <p:ext uri="{BB962C8B-B14F-4D97-AF65-F5344CB8AC3E}">
        <ns3:creationId val="46786404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3"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P spid="10" grpId="3" uiExpand="1"/>
      <p:bldP spid="11" grpId="3" uiExpand="1"/>
      <p:bldP spid="25" grpId="3" uiExpand="1"/>
      <p:bldP spid="26" grpId="3" uiExpand="1"/>
    </p:bldLst>
  </p:timing>
</p:sld>
</file>

<file path=ppt/slides/slide11.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5F7F5"/>
        </a:solidFill>
      </p:bgPr>
    </p:bg>
    <p:spTree>
      <p:nvGrpSpPr>
        <p:cNvPr id="1" name=""/>
        <p:cNvGrpSpPr/>
        <p:nvPr/>
      </p:nvGrpSpPr>
      <p:grpSpPr>
        <a:xfrm/>
      </p:grpSpPr>
      <p:sp>
        <p:nvSpPr>
          <p:cNvPr id="10" name="fixed">
            <a:extLst>
              <a:ext uri="{FF2B5EF4-FFF2-40B4-BE49-F238E27FC236}">
                <ns2:creationId id="{0E259AB0-D0FE-4B3E-9754-C547645B7027}"/>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Reported load test: 50 simulated candidates</a:t>
            </a:r>
          </a:p>
        </p:txBody>
      </p:sp>
      <p:sp>
        <p:nvSpPr>
          <p:cNvPr id="2" name="fixed">
            <a:extLst>
              <a:ext uri="{FF2B5EF4-FFF2-40B4-BE49-F238E27FC236}">
                <ns2:creationId id="{09D571F7-6B17-4CD9-9BEB-B202C4BFF826}"/>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11</a:t>
            </a:r>
          </a:p>
        </p:txBody>
      </p:sp>
      <p:sp>
        <p:nvSpPr>
          <p:cNvPr id="3" name="fixed">
            <a:extLst>
              <a:ext uri="{FF2B5EF4-FFF2-40B4-BE49-F238E27FC236}">
                <ns2:creationId id="{4ABE7F90-87C4-478B-8B36-CD5F05272400}"/>
              </a:ext>
            </a:extLst>
          </p:cNvPr>
          <p:cNvSpPr>
            <a:spLocks noGrp="1"/>
          </p:cNvSpPr>
          <p:nvPr/>
        </p:nvSpPr>
        <p:spPr>
          <a:xfrm>
            <a:off x="609600" y="1657350"/>
            <a:ext cx="6762750" cy="381000"/>
          </a:xfrm>
          <a:prstGeom prst="rect">
            <a:avLst/>
          </a:prstGeom>
          <a:noFill/>
          <a:ln w="0">
            <a:noFill/>
          </a:ln>
        </p:spPr>
        <p:txBody>
          <a:bodyPr>
            <a:noAutofit/>
          </a:bodyPr>
          <a:lstStyle/>
          <a:p>
            <a:pPr>
              <a:defRPr sz="1950" b="0">
                <a:solidFill>
                  <a:srgbClr val="526573"/>
                </a:solidFill>
                <a:latin typeface="Arial"/>
                <a:ea typeface="Arial"/>
                <a:cs typeface="Arial"/>
              </a:defRPr>
            </a:pPr>
            <a:r>
              <a:rPr sz="1950" b="0">
                <a:solidFill>
                  <a:srgbClr val="526573"/>
                </a:solidFill>
                <a:latin typeface="Arial"/>
                <a:ea typeface="Arial"/>
                <a:cs typeface="Arial"/>
              </a:rPr>
              <a:t>Average HTTP latency</a:t>
            </a:r>
          </a:p>
        </p:txBody>
      </p:sp>
      <p:graphicFrame>
        <p:nvGraphicFramePr>
          <p:cNvPr id="13" name="Chart"/>
          <p:cNvGraphicFramePr/>
          <p:nvPr/>
        </p:nvGraphicFramePr>
        <p:xfrm>
          <a:off x="514350" y="2209800"/>
          <a:ext cx="7239000" cy="3429000"/>
        </p:xfrm>
        <a:graphic>
          <a:graphicData uri="http://schemas.openxmlformats.org/drawingml/2006/chart">
            <ns3:chart r:id="R0a55d9aa35fe4ef3"/>
          </a:graphicData>
        </a:graphic>
      </p:graphicFrame>
      <p:sp>
        <p:nvSpPr>
          <p:cNvPr id="5" name="reveal-1">
            <a:extLst>
              <a:ext uri="{FF2B5EF4-FFF2-40B4-BE49-F238E27FC236}">
                <ns2:creationId id="{4A3876F7-6AB7-40E1-AB39-4272E241365E}"/>
              </a:ext>
            </a:extLst>
          </p:cNvPr>
          <p:cNvSpPr>
            <a:spLocks noGrp="1"/>
          </p:cNvSpPr>
          <p:nvPr/>
        </p:nvSpPr>
        <p:spPr>
          <a:xfrm>
            <a:off x="8267700" y="2257425"/>
            <a:ext cx="3190875" cy="1047750"/>
          </a:xfrm>
          <a:prstGeom prst="rect">
            <a:avLst/>
          </a:prstGeom>
          <a:noFill/>
          <a:ln w="0">
            <a:noFill/>
          </a:ln>
        </p:spPr>
        <p:txBody>
          <a:bodyPr>
            <a:noAutofit/>
          </a:bodyPr>
          <a:lstStyle/>
          <a:p>
            <a:pPr>
              <a:defRPr sz="5550" b="1">
                <a:solidFill>
                  <a:srgbClr val="087F8C"/>
                </a:solidFill>
                <a:latin typeface="Arial"/>
                <a:ea typeface="Arial"/>
                <a:cs typeface="Arial"/>
              </a:defRPr>
            </a:pPr>
            <a:r>
              <a:rPr sz="5550" b="1">
                <a:solidFill>
                  <a:srgbClr val="087F8C"/>
                </a:solidFill>
                <a:latin typeface="Arial"/>
                <a:ea typeface="Arial"/>
                <a:cs typeface="Arial"/>
              </a:rPr>
              <a:t>10.1×</a:t>
            </a:r>
          </a:p>
        </p:txBody>
      </p:sp>
      <p:sp>
        <p:nvSpPr>
          <p:cNvPr id="6" name="reveal-1">
            <a:extLst>
              <a:ext uri="{FF2B5EF4-FFF2-40B4-BE49-F238E27FC236}">
                <ns2:creationId id="{C1910058-FA82-42CB-838D-D3ABD4CE6B1E}"/>
              </a:ext>
            </a:extLst>
          </p:cNvPr>
          <p:cNvSpPr>
            <a:spLocks noGrp="1"/>
          </p:cNvSpPr>
          <p:nvPr/>
        </p:nvSpPr>
        <p:spPr>
          <a:xfrm>
            <a:off x="8267700" y="3286125"/>
            <a:ext cx="3190875" cy="571500"/>
          </a:xfrm>
          <a:prstGeom prst="rect">
            <a:avLst/>
          </a:prstGeom>
          <a:noFill/>
          <a:ln w="0">
            <a:noFill/>
          </a:ln>
        </p:spPr>
        <p:txBody>
          <a:bodyPr>
            <a:noAutofit/>
          </a:bodyPr>
          <a:lstStyle/>
          <a:p>
            <a:pPr>
              <a:defRPr sz="1950" b="0">
                <a:solidFill>
                  <a:srgbClr val="526573"/>
                </a:solidFill>
                <a:latin typeface="Arial"/>
                <a:ea typeface="Arial"/>
                <a:cs typeface="Arial"/>
              </a:defRPr>
            </a:pPr>
            <a:r>
              <a:rPr sz="1950" b="0">
                <a:solidFill>
                  <a:srgbClr val="526573"/>
                </a:solidFill>
                <a:latin typeface="Arial"/>
                <a:ea typeface="Arial"/>
                <a:cs typeface="Arial"/>
              </a:rPr>
              <a:t>lower average latency</a:t>
            </a:r>
          </a:p>
        </p:txBody>
      </p:sp>
      <p:sp>
        <p:nvSpPr>
          <p:cNvPr id="7" name="reveal-2">
            <a:extLst>
              <a:ext uri="{FF2B5EF4-FFF2-40B4-BE49-F238E27FC236}">
                <ns2:creationId id="{59FE668B-C136-4D57-939E-C7F4827A6A4E}"/>
              </a:ext>
            </a:extLst>
          </p:cNvPr>
          <p:cNvSpPr>
            <a:spLocks noGrp="1"/>
          </p:cNvSpPr>
          <p:nvPr/>
        </p:nvSpPr>
        <p:spPr>
          <a:xfrm>
            <a:off x="8267700" y="4257675"/>
            <a:ext cx="3190875" cy="904875"/>
          </a:xfrm>
          <a:prstGeom prst="rect">
            <a:avLst/>
          </a:prstGeom>
          <a:noFill/>
          <a:ln w="0">
            <a:noFill/>
          </a:ln>
        </p:spPr>
        <p:txBody>
          <a:bodyPr>
            <a:noAutofit/>
          </a:bodyPr>
          <a:lstStyle/>
          <a:p>
            <a:pPr>
              <a:defRPr sz="4800" b="1">
                <a:solidFill>
                  <a:srgbClr val="132D3A"/>
                </a:solidFill>
                <a:latin typeface="Arial"/>
                <a:ea typeface="Arial"/>
                <a:cs typeface="Arial"/>
              </a:defRPr>
            </a:pPr>
            <a:r>
              <a:rPr sz="4800" b="1">
                <a:solidFill>
                  <a:srgbClr val="132D3A"/>
                </a:solidFill>
                <a:latin typeface="Arial"/>
                <a:ea typeface="Arial"/>
                <a:cs typeface="Arial"/>
              </a:rPr>
              <a:t>100%</a:t>
            </a:r>
          </a:p>
        </p:txBody>
      </p:sp>
      <p:sp>
        <p:nvSpPr>
          <p:cNvPr id="8" name="reveal-2">
            <a:extLst>
              <a:ext uri="{FF2B5EF4-FFF2-40B4-BE49-F238E27FC236}">
                <ns2:creationId id="{4B0C5B7C-87D9-4923-B485-E5133233881F}"/>
              </a:ext>
            </a:extLst>
          </p:cNvPr>
          <p:cNvSpPr>
            <a:spLocks noGrp="1"/>
          </p:cNvSpPr>
          <p:nvPr/>
        </p:nvSpPr>
        <p:spPr>
          <a:xfrm>
            <a:off x="8267700" y="5095875"/>
            <a:ext cx="3190875" cy="714375"/>
          </a:xfrm>
          <a:prstGeom prst="rect">
            <a:avLst/>
          </a:prstGeom>
          <a:noFill/>
          <a:ln w="0">
            <a:noFill/>
          </a:ln>
        </p:spPr>
        <p:txBody>
          <a:bodyPr>
            <a:noAutofit/>
          </a:bodyPr>
          <a:lstStyle/>
          <a:p>
            <a:pPr>
              <a:defRPr sz="1800" b="0">
                <a:solidFill>
                  <a:srgbClr val="526573"/>
                </a:solidFill>
                <a:latin typeface="Arial"/>
                <a:ea typeface="Arial"/>
                <a:cs typeface="Arial"/>
              </a:defRPr>
            </a:pPr>
            <a:r>
              <a:rPr sz="1800" b="0">
                <a:solidFill>
                  <a:srgbClr val="526573"/>
                </a:solidFill>
                <a:latin typeface="Arial"/>
                <a:ea typeface="Arial"/>
                <a:cs typeface="Arial"/>
              </a:rPr>
              <a:t>request success in the</a:t>
            </a:r>
          </a:p>
          <a:p>
            <a:pPr>
              <a:defRPr sz="1800" b="0">
                <a:solidFill>
                  <a:srgbClr val="526573"/>
                </a:solidFill>
                <a:latin typeface="Arial"/>
                <a:ea typeface="Arial"/>
                <a:cs typeface="Arial"/>
              </a:defRPr>
            </a:pPr>
            <a:r>
              <a:rPr sz="1800" b="0">
                <a:solidFill>
                  <a:srgbClr val="526573"/>
                </a:solidFill>
                <a:latin typeface="Arial"/>
                <a:ea typeface="Arial"/>
                <a:cs typeface="Arial"/>
              </a:rPr>
              <a:t>reported after-run</a:t>
            </a:r>
          </a:p>
        </p:txBody>
      </p:sp>
      <p:sp>
        <p:nvSpPr>
          <p:cNvPr id="9" name="fixed">
            <a:extLst>
              <a:ext uri="{FF2B5EF4-FFF2-40B4-BE49-F238E27FC236}">
                <ns2:creationId id="{9CD6A07C-F3B3-427F-830C-74D68A545C1D}"/>
              </a:ext>
            </a:extLst>
          </p:cNvPr>
          <p:cNvSpPr>
            <a:spLocks noGrp="1"/>
          </p:cNvSpPr>
          <p:nvPr/>
        </p:nvSpPr>
        <p:spPr>
          <a:xfrm>
            <a:off x="609600" y="6057900"/>
            <a:ext cx="10668000" cy="428625"/>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Short synthetic HTTP benchmark supplied by the team. AI accuracy and end-to-end delivery were not measured.</a:t>
            </a:r>
          </a:p>
        </p:txBody>
      </p:sp>
    </p:spTree>
    <p:extLst>
      <p:ext uri="{BB962C8B-B14F-4D97-AF65-F5344CB8AC3E}">
        <ns5:creationId val="15913716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uiExpand="1"/>
      <p:bldP spid="6" grpId="1" uiExpand="1"/>
      <p:bldP spid="7" grpId="2" uiExpand="1"/>
      <p:bldP spid="8" grpId="2" uiExpand="1"/>
    </p:bld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6" name="fixed">
            <a:extLst>
              <a:ext uri="{FF2B5EF4-FFF2-40B4-BE49-F238E27FC236}">
                <ns2:creationId id="{99631EE6-9C22-483D-8AA8-9E296114F20B}"/>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The ingestion pipeline now acknowledges before scoring</a:t>
            </a:r>
          </a:p>
        </p:txBody>
      </p:sp>
      <p:sp>
        <p:nvSpPr>
          <p:cNvPr id="2" name="fixed">
            <a:extLst>
              <a:ext uri="{FF2B5EF4-FFF2-40B4-BE49-F238E27FC236}">
                <ns2:creationId id="{952ACAA7-B286-4A03-B46B-CA5D18026025}"/>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12</a:t>
            </a:r>
          </a:p>
        </p:txBody>
      </p:sp>
      <p:sp>
        <p:nvSpPr>
          <p:cNvPr id="3" name="reveal-1">
            <a:extLst>
              <a:ext uri="{FF2B5EF4-FFF2-40B4-BE49-F238E27FC236}">
                <ns2:creationId id="{A76A7B66-AA22-474D-9952-C5221CA9F734}"/>
              </a:ext>
            </a:extLst>
          </p:cNvPr>
          <p:cNvSpPr>
            <a:spLocks noGrp="1"/>
          </p:cNvSpPr>
          <p:nvPr/>
        </p:nvSpPr>
        <p:spPr>
          <a:xfrm>
            <a:off x="609600" y="1752600"/>
            <a:ext cx="10477500" cy="381000"/>
          </a:xfrm>
          <a:prstGeom prst="rect">
            <a:avLst/>
          </a:prstGeom>
          <a:noFill/>
          <a:ln w="0">
            <a:noFill/>
          </a:ln>
        </p:spPr>
        <p:txBody>
          <a:bodyPr>
            <a:noAutofit/>
          </a:bodyPr>
          <a:lstStyle/>
          <a:p>
            <a:pPr>
              <a:defRPr sz="2025" b="1">
                <a:solidFill>
                  <a:srgbClr val="526573"/>
                </a:solidFill>
                <a:latin typeface="Arial"/>
                <a:ea typeface="Arial"/>
                <a:cs typeface="Arial"/>
              </a:defRPr>
            </a:pPr>
            <a:r>
              <a:rPr sz="2025" b="1">
                <a:solidFill>
                  <a:srgbClr val="526573"/>
                </a:solidFill>
                <a:latin typeface="Arial"/>
                <a:ea typeface="Arial"/>
                <a:cs typeface="Arial"/>
              </a:rPr>
              <a:t>Before: response waits for analytics</a:t>
            </a:r>
          </a:p>
        </p:txBody>
      </p:sp>
      <p:sp>
        <p:nvSpPr>
          <p:cNvPr id="4" name="reveal-1">
            <a:extLst>
              <a:ext uri="{FF2B5EF4-FFF2-40B4-BE49-F238E27FC236}">
                <ns2:creationId id="{2B7C0224-B5FF-464E-AA9B-B117BBC3D6CF}"/>
              </a:ext>
            </a:extLst>
          </p:cNvPr>
          <p:cNvSpPr>
            <a:spLocks noGrp="1"/>
          </p:cNvSpPr>
          <p:nvPr/>
        </p:nvSpPr>
        <p:spPr>
          <a:xfrm>
            <a:off x="609600" y="2352675"/>
            <a:ext cx="2333625"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Save violation</a:t>
            </a:r>
          </a:p>
        </p:txBody>
      </p:sp>
      <p:sp>
        <p:nvSpPr>
          <p:cNvPr id="5" name="reveal-1">
            <a:extLst>
              <a:ext uri="{FF2B5EF4-FFF2-40B4-BE49-F238E27FC236}">
                <ns2:creationId id="{FA269475-EC50-4374-A630-F755FE406652}"/>
              </a:ext>
            </a:extLst>
          </p:cNvPr>
          <p:cNvSpPr>
            <a:spLocks noGrp="1"/>
          </p:cNvSpPr>
          <p:nvPr/>
        </p:nvSpPr>
        <p:spPr>
          <a:xfrm>
            <a:off x="3467100" y="2352675"/>
            <a:ext cx="2333625"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Calculate risk</a:t>
            </a:r>
          </a:p>
        </p:txBody>
      </p:sp>
      <p:sp>
        <p:nvSpPr>
          <p:cNvPr id="6" name="reveal-1">
            <a:extLst>
              <a:ext uri="{FF2B5EF4-FFF2-40B4-BE49-F238E27FC236}">
                <ns2:creationId id="{CA0FA5C6-636E-45F6-8479-597B65DEF2E8}"/>
              </a:ext>
            </a:extLst>
          </p:cNvPr>
          <p:cNvSpPr>
            <a:spLocks noGrp="1"/>
          </p:cNvSpPr>
          <p:nvPr/>
        </p:nvSpPr>
        <p:spPr>
          <a:xfrm>
            <a:off x="6324600" y="2352675"/>
            <a:ext cx="3333750"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Broadcast + respond</a:t>
            </a:r>
          </a:p>
        </p:txBody>
      </p:sp>
      <p:cxnSp>
        <p:nvCxnSpPr>
          <p:cNvPr id="22" name="reveal-1"/>
          <p:cNvCxnSpPr>
            <a:stCxn id="4" idx="3"/>
            <a:endCxn id="5" idx="1"/>
          </p:cNvCxnSpPr>
          <p:nvPr/>
        </p:nvCxnSpPr>
        <p:spPr>
          <a:xfrm>
            <a:off x="2943225" y="2733675"/>
            <a:ext cx="523875" cy="0"/>
          </a:xfrm>
          <a:prstGeom prst="straightConnector1">
            <a:avLst/>
          </a:prstGeom>
          <a:ln w="19050">
            <a:solidFill>
              <a:srgbClr val="087F8C"/>
            </a:solidFill>
            <a:tailEnd type="arrow" w="med" len="med"/>
          </a:ln>
        </p:spPr>
      </p:cxnSp>
      <p:cxnSp>
        <p:nvCxnSpPr>
          <p:cNvPr id="23" name="reveal-1"/>
          <p:cNvCxnSpPr>
            <a:stCxn id="5" idx="3"/>
            <a:endCxn id="6" idx="1"/>
          </p:cNvCxnSpPr>
          <p:nvPr/>
        </p:nvCxnSpPr>
        <p:spPr>
          <a:xfrm>
            <a:off x="5800725" y="2733675"/>
            <a:ext cx="523875" cy="0"/>
          </a:xfrm>
          <a:prstGeom prst="straightConnector1">
            <a:avLst/>
          </a:prstGeom>
          <a:ln w="19050">
            <a:solidFill>
              <a:srgbClr val="087F8C"/>
            </a:solidFill>
            <a:tailEnd type="arrow" w="med" len="med"/>
          </a:ln>
        </p:spPr>
      </p:cxnSp>
      <p:sp>
        <p:nvSpPr>
          <p:cNvPr id="9" name="reveal-2">
            <a:extLst>
              <a:ext uri="{FF2B5EF4-FFF2-40B4-BE49-F238E27FC236}">
                <ns2:creationId id="{61FFA6CD-FFB5-434B-9FBC-1E7F5D238DF8}"/>
              </a:ext>
            </a:extLst>
          </p:cNvPr>
          <p:cNvSpPr>
            <a:spLocks noGrp="1"/>
          </p:cNvSpPr>
          <p:nvPr/>
        </p:nvSpPr>
        <p:spPr>
          <a:xfrm>
            <a:off x="609600" y="3667125"/>
            <a:ext cx="10477500" cy="400050"/>
          </a:xfrm>
          <a:prstGeom prst="rect">
            <a:avLst/>
          </a:prstGeom>
          <a:noFill/>
          <a:ln w="0">
            <a:noFill/>
          </a:ln>
        </p:spPr>
        <p:txBody>
          <a:bodyPr>
            <a:noAutofit/>
          </a:bodyPr>
          <a:lstStyle/>
          <a:p>
            <a:pPr>
              <a:defRPr sz="2025" b="1">
                <a:solidFill>
                  <a:srgbClr val="087F8C"/>
                </a:solidFill>
                <a:latin typeface="Arial"/>
                <a:ea typeface="Arial"/>
                <a:cs typeface="Arial"/>
              </a:defRPr>
            </a:pPr>
            <a:r>
              <a:rPr sz="2025" b="1">
                <a:solidFill>
                  <a:srgbClr val="087F8C"/>
                </a:solidFill>
                <a:latin typeface="Arial"/>
                <a:ea typeface="Arial"/>
                <a:cs typeface="Arial"/>
              </a:rPr>
              <a:t>Current: respond after a successful commit</a:t>
            </a:r>
          </a:p>
        </p:txBody>
      </p:sp>
      <p:sp>
        <p:nvSpPr>
          <p:cNvPr id="10" name="reveal-2">
            <a:extLst>
              <a:ext uri="{FF2B5EF4-FFF2-40B4-BE49-F238E27FC236}">
                <ns2:creationId id="{3618C3A6-EE8F-4D26-B0AA-AF3F04335C24}"/>
              </a:ext>
            </a:extLst>
          </p:cNvPr>
          <p:cNvSpPr>
            <a:spLocks noGrp="1"/>
          </p:cNvSpPr>
          <p:nvPr/>
        </p:nvSpPr>
        <p:spPr>
          <a:xfrm>
            <a:off x="609600" y="4267200"/>
            <a:ext cx="2333625"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Save violation</a:t>
            </a:r>
          </a:p>
        </p:txBody>
      </p:sp>
      <p:sp>
        <p:nvSpPr>
          <p:cNvPr id="11" name="reveal-2">
            <a:extLst>
              <a:ext uri="{FF2B5EF4-FFF2-40B4-BE49-F238E27FC236}">
                <ns2:creationId id="{FD2D94A1-29D4-4981-BE0C-1C2C496A407A}"/>
              </a:ext>
            </a:extLst>
          </p:cNvPr>
          <p:cNvSpPr>
            <a:spLocks noGrp="1"/>
          </p:cNvSpPr>
          <p:nvPr/>
        </p:nvSpPr>
        <p:spPr>
          <a:xfrm>
            <a:off x="3467100" y="4267200"/>
            <a:ext cx="2333625"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HTTP 201</a:t>
            </a:r>
          </a:p>
        </p:txBody>
      </p:sp>
      <p:sp>
        <p:nvSpPr>
          <p:cNvPr id="12" name="reveal-3">
            <a:extLst>
              <a:ext uri="{FF2B5EF4-FFF2-40B4-BE49-F238E27FC236}">
                <ns2:creationId id="{78AFF5A8-5BF4-4C78-9D0A-109532218DE6}"/>
              </a:ext>
            </a:extLst>
          </p:cNvPr>
          <p:cNvSpPr>
            <a:spLocks noGrp="1"/>
          </p:cNvSpPr>
          <p:nvPr/>
        </p:nvSpPr>
        <p:spPr>
          <a:xfrm>
            <a:off x="6324600" y="4267200"/>
            <a:ext cx="3333750"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Deferred broadcast</a:t>
            </a:r>
          </a:p>
          <a:p>
            <a:pPr algn="ctr">
              <a:defRPr sz="1800" b="1">
                <a:solidFill>
                  <a:srgbClr val="132D3A"/>
                </a:solidFill>
                <a:latin typeface="Arial"/>
                <a:ea typeface="Arial"/>
                <a:cs typeface="Arial"/>
              </a:defRPr>
            </a:pPr>
            <a:r>
              <a:rPr sz="1800" b="1">
                <a:solidFill>
                  <a:srgbClr val="132D3A"/>
                </a:solidFill>
                <a:latin typeface="Arial"/>
                <a:ea typeface="Arial"/>
                <a:cs typeface="Arial"/>
              </a:rPr>
              <a:t>and risk update</a:t>
            </a:r>
          </a:p>
        </p:txBody>
      </p:sp>
      <p:cxnSp>
        <p:nvCxnSpPr>
          <p:cNvPr id="28" name="reveal-2"/>
          <p:cNvCxnSpPr>
            <a:stCxn id="10" idx="3"/>
            <a:endCxn id="11" idx="1"/>
          </p:cNvCxnSpPr>
          <p:nvPr/>
        </p:nvCxnSpPr>
        <p:spPr>
          <a:xfrm>
            <a:off x="2943225" y="4648200"/>
            <a:ext cx="523875" cy="0"/>
          </a:xfrm>
          <a:prstGeom prst="straightConnector1">
            <a:avLst/>
          </a:prstGeom>
          <a:ln w="19050">
            <a:solidFill>
              <a:srgbClr val="087F8C"/>
            </a:solidFill>
            <a:tailEnd type="arrow" w="med" len="med"/>
          </a:ln>
        </p:spPr>
      </p:cxnSp>
      <p:cxnSp>
        <p:nvCxnSpPr>
          <p:cNvPr id="29" name="reveal-3"/>
          <p:cNvCxnSpPr>
            <a:stCxn id="11" idx="3"/>
            <a:endCxn id="12" idx="1"/>
          </p:cNvCxnSpPr>
          <p:nvPr/>
        </p:nvCxnSpPr>
        <p:spPr>
          <a:xfrm>
            <a:off x="5800725" y="4648200"/>
            <a:ext cx="523875" cy="0"/>
          </a:xfrm>
          <a:prstGeom prst="straightConnector1">
            <a:avLst/>
          </a:prstGeom>
          <a:ln w="19050">
            <a:solidFill>
              <a:srgbClr val="087F8C"/>
            </a:solidFill>
            <a:tailEnd type="arrow" w="med" len="med"/>
          </a:ln>
        </p:spPr>
      </p:cxnSp>
      <p:sp>
        <p:nvSpPr>
          <p:cNvPr id="15" name="fixed">
            <a:extLst>
              <a:ext uri="{FF2B5EF4-FFF2-40B4-BE49-F238E27FC236}">
                <ns2:creationId id="{0C28257C-A7CE-42AC-9382-46A542CCB9F2}"/>
              </a:ext>
            </a:extLst>
          </p:cNvPr>
          <p:cNvSpPr>
            <a:spLocks noGrp="1"/>
          </p:cNvSpPr>
          <p:nvPr/>
        </p:nvSpPr>
        <p:spPr>
          <a:xfrm>
            <a:off x="609600" y="5676900"/>
            <a:ext cx="10858500" cy="523875"/>
          </a:xfrm>
          <a:prstGeom prst="rect">
            <a:avLst/>
          </a:prstGeom>
          <a:noFill/>
          <a:ln w="0">
            <a:noFill/>
          </a:ln>
        </p:spPr>
        <p:txBody>
          <a:bodyPr>
            <a:noAutofit/>
          </a:bodyPr>
          <a:lstStyle/>
          <a:p>
            <a:pPr>
              <a:defRPr sz="2100" b="1">
                <a:solidFill>
                  <a:srgbClr val="132D3A"/>
                </a:solidFill>
                <a:latin typeface="Arial"/>
                <a:ea typeface="Arial"/>
                <a:cs typeface="Arial"/>
              </a:defRPr>
            </a:pPr>
            <a:r>
              <a:rPr sz="2100" b="1">
                <a:solidFill>
                  <a:srgbClr val="132D3A"/>
                </a:solidFill>
                <a:latin typeface="Arial"/>
                <a:ea typeface="Arial"/>
                <a:cs typeface="Arial"/>
              </a:rPr>
              <a:t>Faster acknowledgement does not guarantee faster examiner delivery</a:t>
            </a:r>
          </a:p>
        </p:txBody>
      </p:sp>
    </p:spTree>
    <p:extLst>
      <p:ext uri="{BB962C8B-B14F-4D97-AF65-F5344CB8AC3E}">
        <ns3:creationId val="203652696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1"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50"/>
                                  <p:tgtEl>
                                    <p:spTgt spid="22"/>
                                  </p:tgtEl>
                                </p:cBhvr>
                              </p:animEffect>
                            </p:childTnLst>
                          </p:cTn>
                        </p:par>
                        <p:par>
                          <p:cTn id="19" presetID="10" presetClass="entr" presetSubtype="0" fill="hold" grpId="1"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50"/>
                                  <p:tgtEl>
                                    <p:spTgt spid="23"/>
                                  </p:tgtEl>
                                </p:cBhvr>
                              </p:animEffect>
                            </p:childTnLst>
                          </p:cTn>
                        </p:par>
                      </p:childTnLst>
                    </p:cTn>
                  </p:par>
                  <p:par>
                    <p:cTn id="22" fill="hold">
                      <p:stCondLst>
                        <p:cond delay="indefinite"/>
                      </p:stCondLst>
                      <p:childTnLst>
                        <p:par>
                          <p:cTn id="23" presetID="10" presetClass="entr" presetSubtype="0" fill="hold" grpId="2"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2"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2"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2"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50"/>
                                  <p:tgtEl>
                                    <p:spTgt spid="28"/>
                                  </p:tgtEl>
                                </p:cBhvr>
                              </p:animEffect>
                            </p:childTnLst>
                          </p:cTn>
                        </p:par>
                      </p:childTnLst>
                    </p:cTn>
                  </p:par>
                  <p:par>
                    <p:cTn id="35" fill="hold">
                      <p:stCondLst>
                        <p:cond delay="indefinite"/>
                      </p:stCondLst>
                      <p:childTnLst>
                        <p:par>
                          <p:cTn id="36" presetID="10" presetClass="entr" presetSubtype="0" fill="hold" grpId="3"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childTnLst>
                          </p:cTn>
                        </p:par>
                        <p:par>
                          <p:cTn id="39" presetID="10" presetClass="entr" presetSubtype="0" fill="hold" grpId="3"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4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1" uiExpand="1"/>
      <p:bldP spid="22" grpId="1" uiExpand="1"/>
      <p:bldP spid="23" grpId="1" uiExpand="1"/>
      <p:bldP spid="9" grpId="2" uiExpand="1"/>
      <p:bldP spid="10" grpId="2" uiExpand="1"/>
      <p:bldP spid="11" grpId="2" uiExpand="1"/>
      <p:bldP spid="28" grpId="2" uiExpand="1"/>
      <p:bldP spid="12" grpId="3" uiExpand="1"/>
      <p:bldP spid="29" grpId="3" uiExpand="1"/>
    </p:bldLst>
  </p:timing>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5" name="fixed">
            <a:extLst>
              <a:ext uri="{FF2B5EF4-FFF2-40B4-BE49-F238E27FC236}">
                <ns2:creationId id="{19807482-59A4-4ABF-8CE6-208CE5E93963}"/>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Current implementation progress</a:t>
            </a:r>
          </a:p>
        </p:txBody>
      </p:sp>
      <p:sp>
        <p:nvSpPr>
          <p:cNvPr id="2" name="fixed">
            <a:extLst>
              <a:ext uri="{FF2B5EF4-FFF2-40B4-BE49-F238E27FC236}">
                <ns2:creationId id="{07EB8737-8032-4987-90DF-28CEB1044A48}"/>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13</a:t>
            </a:r>
          </a:p>
        </p:txBody>
      </p:sp>
      <p:graphicFrame>
        <p:nvGraphicFramePr>
          <p:cNvPr id="7" name=""/>
          <p:cNvGraphicFramePr/>
          <p:nvPr/>
        </p:nvGraphicFramePr>
        <p:xfrm>
          <a:off x="609600" y="1885950"/>
          <a:ext cx="10953750" cy="3429000"/>
        </p:xfrm>
        <a:graphic>
          <a:graphicData uri="http://schemas.openxmlformats.org/drawingml/2006/table">
            <a:tbl>
              <a:tblPr/>
              <a:tblGrid>
                <a:gridCol w="2381250"/>
                <a:gridCol w="4286250"/>
                <a:gridCol w="4286250"/>
              </a:tblGrid>
              <a:tr h="685800">
                <a:tc>
                  <a:txBody>
                    <a:bodyPr/>
                    <a:lstStyle/>
                    <a:p>
                      <a:r>
                        <a:rPr sz="1725" b="1">
                          <a:solidFill>
                            <a:srgbClr val="FFFFFF"/>
                          </a:solidFill>
                          <a:latin typeface="Arial"/>
                          <a:ea typeface="Arial"/>
                          <a:cs typeface="Arial"/>
                        </a:rPr>
                        <a:t>AREA</a:t>
                      </a:r>
                    </a:p>
                  </a:txBody>
                  <a:tcPr marL="91440" marR="91440" marT="45720" marB="45720">
                    <a:solidFill>
                      <a:srgbClr val="132D3A"/>
                    </a:solidFill>
                  </a:tcPr>
                </a:tc>
                <a:tc>
                  <a:txBody>
                    <a:bodyPr/>
                    <a:lstStyle/>
                    <a:p>
                      <a:r>
                        <a:rPr sz="1725" b="1">
                          <a:solidFill>
                            <a:srgbClr val="FFFFFF"/>
                          </a:solidFill>
                          <a:latin typeface="Arial"/>
                          <a:ea typeface="Arial"/>
                          <a:cs typeface="Arial"/>
                        </a:rPr>
                        <a:t>IMPLEMENTED</a:t>
                      </a:r>
                    </a:p>
                  </a:txBody>
                  <a:tcPr marL="91440" marR="91440" marT="45720" marB="45720">
                    <a:solidFill>
                      <a:srgbClr val="132D3A"/>
                    </a:solidFill>
                  </a:tcPr>
                </a:tc>
                <a:tc>
                  <a:txBody>
                    <a:bodyPr/>
                    <a:lstStyle/>
                    <a:p>
                      <a:r>
                        <a:rPr sz="1725" b="1">
                          <a:solidFill>
                            <a:srgbClr val="FFFFFF"/>
                          </a:solidFill>
                          <a:latin typeface="Arial"/>
                          <a:ea typeface="Arial"/>
                          <a:cs typeface="Arial"/>
                        </a:rPr>
                        <a:t>REMAINING ACCEPTANCE</a:t>
                      </a:r>
                    </a:p>
                  </a:txBody>
                  <a:tcPr marL="91440" marR="91440" marT="45720" marB="45720">
                    <a:solidFill>
                      <a:srgbClr val="132D3A"/>
                    </a:solidFill>
                  </a:tcPr>
                </a:tc>
              </a:tr>
              <a:tr h="685800">
                <a:tc>
                  <a:txBody>
                    <a:bodyPr/>
                    <a:lstStyle/>
                    <a:p>
                      <a:r>
                        <a:rPr sz="1725" b="0">
                          <a:solidFill>
                            <a:srgbClr val="132D3A"/>
                          </a:solidFill>
                          <a:latin typeface="Arial"/>
                          <a:ea typeface="Arial"/>
                          <a:cs typeface="Arial"/>
                        </a:rPr>
                        <a:t>Core workflow</a:t>
                      </a:r>
                    </a:p>
                  </a:txBody>
                  <a:tcPr marL="91440" marR="91440" marT="45720" marB="45720">
                    <a:solidFill>
                      <a:srgbClr val="E5EEEC"/>
                    </a:solidFill>
                  </a:tcPr>
                </a:tc>
                <a:tc>
                  <a:txBody>
                    <a:bodyPr/>
                    <a:lstStyle/>
                    <a:p>
                      <a:r>
                        <a:rPr sz="1725" b="0">
                          <a:solidFill>
                            <a:srgbClr val="132D3A"/>
                          </a:solidFill>
                          <a:latin typeface="Arial"/>
                          <a:ea typeface="Arial"/>
                          <a:cs typeface="Arial"/>
                        </a:rPr>
                        <a:t>Entry, monitoring, review, submission</a:t>
                      </a:r>
                    </a:p>
                  </a:txBody>
                  <a:tcPr marL="91440" marR="91440" marT="45720" marB="45720">
                    <a:solidFill>
                      <a:srgbClr val="E5EEEC"/>
                    </a:solidFill>
                  </a:tcPr>
                </a:tc>
                <a:tc>
                  <a:txBody>
                    <a:bodyPr/>
                    <a:lstStyle/>
                    <a:p>
                      <a:r>
                        <a:rPr sz="1725" b="0">
                          <a:solidFill>
                            <a:srgbClr val="132D3A"/>
                          </a:solidFill>
                          <a:latin typeface="Arial"/>
                          <a:ea typeface="Arial"/>
                          <a:cs typeface="Arial"/>
                        </a:rPr>
                        <a:t>Full laptop / network rehearsal</a:t>
                      </a:r>
                    </a:p>
                  </a:txBody>
                  <a:tcPr marL="91440" marR="91440" marT="45720" marB="45720">
                    <a:solidFill>
                      <a:srgbClr val="E5EEEC"/>
                    </a:solidFill>
                  </a:tcPr>
                </a:tc>
              </a:tr>
              <a:tr h="685800">
                <a:tc>
                  <a:txBody>
                    <a:bodyPr/>
                    <a:lstStyle/>
                    <a:p>
                      <a:r>
                        <a:rPr sz="1725" b="0">
                          <a:solidFill>
                            <a:srgbClr val="132D3A"/>
                          </a:solidFill>
                          <a:latin typeface="Arial"/>
                          <a:ea typeface="Arial"/>
                          <a:cs typeface="Arial"/>
                        </a:rPr>
                        <a:t>AI monitoring</a:t>
                      </a:r>
                    </a:p>
                  </a:txBody>
                  <a:tcPr marL="91440" marR="91440" marT="45720" marB="45720">
                    <a:solidFill>
                      <a:srgbClr val="F5F7F5"/>
                    </a:solidFill>
                  </a:tcPr>
                </a:tc>
                <a:tc>
                  <a:txBody>
                    <a:bodyPr/>
                    <a:lstStyle/>
                    <a:p>
                      <a:r>
                        <a:rPr sz="1725" b="0">
                          <a:solidFill>
                            <a:srgbClr val="132D3A"/>
                          </a:solidFill>
                          <a:latin typeface="Arial"/>
                          <a:ea typeface="Arial"/>
                          <a:cs typeface="Arial"/>
                        </a:rPr>
                        <a:t>Face, head pose, phone/book, voice</a:t>
                      </a:r>
                    </a:p>
                  </a:txBody>
                  <a:tcPr marL="91440" marR="91440" marT="45720" marB="45720">
                    <a:solidFill>
                      <a:srgbClr val="F5F7F5"/>
                    </a:solidFill>
                  </a:tcPr>
                </a:tc>
                <a:tc>
                  <a:txBody>
                    <a:bodyPr/>
                    <a:lstStyle/>
                    <a:p>
                      <a:r>
                        <a:rPr sz="1725" b="0">
                          <a:solidFill>
                            <a:srgbClr val="132D3A"/>
                          </a:solidFill>
                          <a:latin typeface="Arial"/>
                          <a:ea typeface="Arial"/>
                          <a:cs typeface="Arial"/>
                        </a:rPr>
                        <a:t>False alerts / missed detections</a:t>
                      </a:r>
                    </a:p>
                  </a:txBody>
                  <a:tcPr marL="91440" marR="91440" marT="45720" marB="45720">
                    <a:solidFill>
                      <a:srgbClr val="F5F7F5"/>
                    </a:solidFill>
                  </a:tcPr>
                </a:tc>
              </a:tr>
              <a:tr h="685800">
                <a:tc>
                  <a:txBody>
                    <a:bodyPr/>
                    <a:lstStyle/>
                    <a:p>
                      <a:r>
                        <a:rPr sz="1725" b="0">
                          <a:solidFill>
                            <a:srgbClr val="132D3A"/>
                          </a:solidFill>
                          <a:latin typeface="Arial"/>
                          <a:ea typeface="Arial"/>
                          <a:cs typeface="Arial"/>
                        </a:rPr>
                        <a:t>Reliability</a:t>
                      </a:r>
                    </a:p>
                  </a:txBody>
                  <a:tcPr marL="91440" marR="91440" marT="45720" marB="45720">
                    <a:solidFill>
                      <a:srgbClr val="E5EEEC"/>
                    </a:solidFill>
                  </a:tcPr>
                </a:tc>
                <a:tc>
                  <a:txBody>
                    <a:bodyPr/>
                    <a:lstStyle/>
                    <a:p>
                      <a:r>
                        <a:rPr sz="1725" b="0">
                          <a:solidFill>
                            <a:srgbClr val="132D3A"/>
                          </a:solidFill>
                          <a:latin typeface="Arial"/>
                          <a:ea typeface="Arial"/>
                          <a:cs typeface="Arial"/>
                        </a:rPr>
                        <a:t>Durable retries and late evidence</a:t>
                      </a:r>
                    </a:p>
                  </a:txBody>
                  <a:tcPr marL="91440" marR="91440" marT="45720" marB="45720">
                    <a:solidFill>
                      <a:srgbClr val="E5EEEC"/>
                    </a:solidFill>
                  </a:tcPr>
                </a:tc>
                <a:tc>
                  <a:txBody>
                    <a:bodyPr/>
                    <a:lstStyle/>
                    <a:p>
                      <a:r>
                        <a:rPr sz="1725" b="0">
                          <a:solidFill>
                            <a:srgbClr val="132D3A"/>
                          </a:solidFill>
                          <a:latin typeface="Arial"/>
                          <a:ea typeface="Arial"/>
                          <a:cs typeface="Arial"/>
                        </a:rPr>
                        <a:t>Hardware / network interruption tests</a:t>
                      </a:r>
                    </a:p>
                  </a:txBody>
                  <a:tcPr marL="91440" marR="91440" marT="45720" marB="45720">
                    <a:solidFill>
                      <a:srgbClr val="E5EEEC"/>
                    </a:solidFill>
                  </a:tcPr>
                </a:tc>
              </a:tr>
              <a:tr h="685800">
                <a:tc>
                  <a:txBody>
                    <a:bodyPr/>
                    <a:lstStyle/>
                    <a:p>
                      <a:r>
                        <a:rPr sz="1725" b="0">
                          <a:solidFill>
                            <a:srgbClr val="132D3A"/>
                          </a:solidFill>
                          <a:latin typeface="Arial"/>
                          <a:ea typeface="Arial"/>
                          <a:cs typeface="Arial"/>
                        </a:rPr>
                        <a:t>Reporting</a:t>
                      </a:r>
                    </a:p>
                  </a:txBody>
                  <a:tcPr marL="91440" marR="91440" marT="45720" marB="45720">
                    <a:solidFill>
                      <a:srgbClr val="F5F7F5"/>
                    </a:solidFill>
                  </a:tcPr>
                </a:tc>
                <a:tc>
                  <a:txBody>
                    <a:bodyPr/>
                    <a:lstStyle/>
                    <a:p>
                      <a:r>
                        <a:rPr sz="1725" b="0">
                          <a:solidFill>
                            <a:srgbClr val="132D3A"/>
                          </a:solidFill>
                          <a:latin typeface="Arial"/>
                          <a:ea typeface="Arial"/>
                          <a:cs typeface="Arial"/>
                        </a:rPr>
                        <a:t>Summary, CSV and browser Save PDF</a:t>
                      </a:r>
                    </a:p>
                  </a:txBody>
                  <a:tcPr marL="91440" marR="91440" marT="45720" marB="45720">
                    <a:solidFill>
                      <a:srgbClr val="F5F7F5"/>
                    </a:solidFill>
                  </a:tcPr>
                </a:tc>
                <a:tc>
                  <a:txBody>
                    <a:bodyPr/>
                    <a:lstStyle/>
                    <a:p>
                      <a:r>
                        <a:rPr sz="1725" b="0">
                          <a:solidFill>
                            <a:srgbClr val="132D3A"/>
                          </a:solidFill>
                          <a:latin typeface="Arial"/>
                          <a:ea typeface="Arial"/>
                          <a:cs typeface="Arial"/>
                        </a:rPr>
                        <a:t>Combined logs and evidence export</a:t>
                      </a:r>
                    </a:p>
                  </a:txBody>
                  <a:tcPr marL="91440" marR="91440" marT="45720" marB="45720">
                    <a:solidFill>
                      <a:srgbClr val="F5F7F5"/>
                    </a:solidFill>
                  </a:tcPr>
                </a:tc>
              </a:tr>
            </a:tbl>
          </a:graphicData>
        </a:graphic>
      </p:graphicFrame>
      <p:sp>
        <p:nvSpPr>
          <p:cNvPr id="4" name="reveal-1">
            <a:extLst>
              <a:ext uri="{FF2B5EF4-FFF2-40B4-BE49-F238E27FC236}">
                <ns2:creationId id="{6408C766-6EC2-411E-97CF-1E3272DC62D0}"/>
              </a:ext>
            </a:extLst>
          </p:cNvPr>
          <p:cNvSpPr>
            <a:spLocks noGrp="1"/>
          </p:cNvSpPr>
          <p:nvPr/>
        </p:nvSpPr>
        <p:spPr>
          <a:xfrm>
            <a:off x="609600" y="5715000"/>
            <a:ext cx="10477500" cy="476250"/>
          </a:xfrm>
          <a:prstGeom prst="rect">
            <a:avLst/>
          </a:prstGeom>
          <a:noFill/>
          <a:ln w="0">
            <a:noFill/>
          </a:ln>
        </p:spPr>
        <p:txBody>
          <a:bodyPr>
            <a:noAutofit/>
          </a:bodyPr>
          <a:lstStyle/>
          <a:p>
            <a:pPr>
              <a:defRPr sz="2400" b="1">
                <a:solidFill>
                  <a:srgbClr val="087F8C"/>
                </a:solidFill>
                <a:latin typeface="Arial"/>
                <a:ea typeface="Arial"/>
                <a:cs typeface="Arial"/>
              </a:defRPr>
            </a:pPr>
            <a:r>
              <a:rPr sz="2400" b="1">
                <a:solidFill>
                  <a:srgbClr val="087F8C"/>
                </a:solidFill>
                <a:latin typeface="Arial"/>
                <a:ea typeface="Arial"/>
                <a:cs typeface="Arial"/>
              </a:rPr>
              <a:t>25 detector regression checks passed</a:t>
            </a:r>
          </a:p>
        </p:txBody>
      </p:sp>
    </p:spTree>
    <p:extLst>
      <p:ext uri="{BB962C8B-B14F-4D97-AF65-F5344CB8AC3E}">
        <ns3:creationId val="115195078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Lst>
  </p:timing>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A41C05E6-8227-4B22-9AFC-8F826CFD5EE0}"/>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Remaining work before final evaluation</a:t>
            </a:r>
          </a:p>
        </p:txBody>
      </p:sp>
      <p:sp>
        <p:nvSpPr>
          <p:cNvPr id="2" name="fixed">
            <a:extLst>
              <a:ext uri="{FF2B5EF4-FFF2-40B4-BE49-F238E27FC236}">
                <ns2:creationId id="{D8FB8B74-5767-40A2-99C3-C3F9AEFD2330}"/>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14</a:t>
            </a:r>
          </a:p>
        </p:txBody>
      </p:sp>
      <p:sp>
        <p:nvSpPr>
          <p:cNvPr id="3" name="reveal-1">
            <a:extLst>
              <a:ext uri="{FF2B5EF4-FFF2-40B4-BE49-F238E27FC236}">
                <ns2:creationId id="{7A7DC0D4-6393-4A8F-8349-B62469437B25}"/>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VALIDATION</a:t>
            </a:r>
          </a:p>
        </p:txBody>
      </p:sp>
      <p:sp>
        <p:nvSpPr>
          <p:cNvPr id="4" name="reveal-1">
            <a:extLst>
              <a:ext uri="{FF2B5EF4-FFF2-40B4-BE49-F238E27FC236}">
                <ns2:creationId id="{49862E35-3ABE-410D-9161-762A13F6E30E}"/>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Measured real-device results</a:t>
            </a:r>
          </a:p>
        </p:txBody>
      </p:sp>
      <p:sp>
        <p:nvSpPr>
          <p:cNvPr id="5" name="reveal-1">
            <a:extLst>
              <a:ext uri="{FF2B5EF4-FFF2-40B4-BE49-F238E27FC236}">
                <ns2:creationId id="{D62BF557-2CC1-4459-8195-418499F61DE6}"/>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False positives and missed detections</a:t>
            </a:r>
          </a:p>
          <a:p>
            <a:pPr>
              <a:defRPr sz="2025" b="0">
                <a:solidFill>
                  <a:srgbClr val="526573"/>
                </a:solidFill>
                <a:latin typeface="Arial"/>
                <a:ea typeface="Arial"/>
                <a:cs typeface="Arial"/>
              </a:defRPr>
            </a:pPr>
            <a:r>
              <a:rPr sz="2025" b="0">
                <a:solidFill>
                  <a:srgbClr val="526573"/>
                </a:solidFill>
                <a:latin typeface="Arial"/>
                <a:ea typeface="Arial"/>
                <a:cs typeface="Arial"/>
              </a:rPr>
              <a:t>Detection-to-dashboard latency</a:t>
            </a:r>
          </a:p>
          <a:p>
            <a:pPr>
              <a:defRPr sz="2025" b="0">
                <a:solidFill>
                  <a:srgbClr val="526573"/>
                </a:solidFill>
                <a:latin typeface="Arial"/>
                <a:ea typeface="Arial"/>
                <a:cs typeface="Arial"/>
              </a:defRPr>
            </a:pPr>
            <a:r>
              <a:rPr sz="2025" b="0">
                <a:solidFill>
                  <a:srgbClr val="526573"/>
                </a:solidFill>
                <a:latin typeface="Arial"/>
                <a:ea typeface="Arial"/>
                <a:cs typeface="Arial"/>
              </a:rPr>
              <a:t>Longer, repeated load tests</a:t>
            </a:r>
          </a:p>
          <a:p>
            <a:pPr>
              <a:defRPr sz="2025" b="0">
                <a:solidFill>
                  <a:srgbClr val="526573"/>
                </a:solidFill>
                <a:latin typeface="Arial"/>
                <a:ea typeface="Arial"/>
                <a:cs typeface="Arial"/>
              </a:defRPr>
            </a:pPr>
            <a:r>
              <a:rPr sz="2025" b="0">
                <a:solidFill>
                  <a:srgbClr val="526573"/>
                </a:solidFill>
                <a:latin typeface="Arial"/>
                <a:ea typeface="Arial"/>
                <a:cs typeface="Arial"/>
              </a:rPr>
              <a:t>Lighting and microphone variation</a:t>
            </a:r>
          </a:p>
        </p:txBody>
      </p:sp>
      <p:sp>
        <p:nvSpPr>
          <p:cNvPr id="6" name="reveal-2">
            <a:extLst>
              <a:ext uri="{FF2B5EF4-FFF2-40B4-BE49-F238E27FC236}">
                <ns2:creationId id="{D0523A8C-F6A9-4D17-8745-572E3626DCDB}"/>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SCOPE &amp; READINESS</a:t>
            </a:r>
          </a:p>
        </p:txBody>
      </p:sp>
      <p:sp>
        <p:nvSpPr>
          <p:cNvPr id="7" name="reveal-2">
            <a:extLst>
              <a:ext uri="{FF2B5EF4-FFF2-40B4-BE49-F238E27FC236}">
                <ns2:creationId id="{A47356AF-0839-4906-8A29-E7DB6C63841A}"/>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Clear remaining deliverables</a:t>
            </a:r>
          </a:p>
        </p:txBody>
      </p:sp>
      <p:sp>
        <p:nvSpPr>
          <p:cNvPr id="8" name="reveal-2">
            <a:extLst>
              <a:ext uri="{FF2B5EF4-FFF2-40B4-BE49-F238E27FC236}">
                <ns2:creationId id="{9172DF21-8B33-4023-9D31-29598CC41186}"/>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Headphone detection or scope alignment</a:t>
            </a:r>
          </a:p>
          <a:p>
            <a:pPr>
              <a:defRPr sz="2025" b="0">
                <a:solidFill>
                  <a:srgbClr val="526573"/>
                </a:solidFill>
                <a:latin typeface="Arial"/>
                <a:ea typeface="Arial"/>
                <a:cs typeface="Arial"/>
              </a:defRPr>
            </a:pPr>
            <a:r>
              <a:rPr sz="2025" b="0">
                <a:solidFill>
                  <a:srgbClr val="526573"/>
                </a:solidFill>
                <a:latin typeface="Arial"/>
                <a:ea typeface="Arial"/>
                <a:cs typeface="Arial"/>
              </a:rPr>
              <a:t>Combined evidence report export</a:t>
            </a:r>
          </a:p>
          <a:p>
            <a:pPr>
              <a:defRPr sz="2025" b="0">
                <a:solidFill>
                  <a:srgbClr val="526573"/>
                </a:solidFill>
                <a:latin typeface="Arial"/>
                <a:ea typeface="Arial"/>
                <a:cs typeface="Arial"/>
              </a:defRPr>
            </a:pPr>
            <a:r>
              <a:rPr sz="2025" b="0">
                <a:solidFill>
                  <a:srgbClr val="526573"/>
                </a:solidFill>
                <a:latin typeface="Arial"/>
                <a:ea typeface="Arial"/>
                <a:cs typeface="Arial"/>
              </a:rPr>
              <a:t>Retention policy and expiry decisions</a:t>
            </a:r>
          </a:p>
          <a:p>
            <a:pPr>
              <a:defRPr sz="2025" b="0">
                <a:solidFill>
                  <a:srgbClr val="526573"/>
                </a:solidFill>
                <a:latin typeface="Arial"/>
                <a:ea typeface="Arial"/>
                <a:cs typeface="Arial"/>
              </a:defRPr>
            </a:pPr>
            <a:r>
              <a:rPr sz="2025" b="0">
                <a:solidFill>
                  <a:srgbClr val="526573"/>
                </a:solidFill>
                <a:latin typeface="Arial"/>
                <a:ea typeface="Arial"/>
                <a:cs typeface="Arial"/>
              </a:rPr>
              <a:t>Full HDMI and recovery rehearsal</a:t>
            </a:r>
          </a:p>
        </p:txBody>
      </p:sp>
    </p:spTree>
    <p:extLst>
      <p:ext uri="{BB962C8B-B14F-4D97-AF65-F5344CB8AC3E}">
        <ns3:creationId val="4475495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slides/slide1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9" name=""/>
          <p:cNvPicPr>
            <a:picLocks noChangeAspect="1"/>
          </p:cNvPicPr>
          <p:nvPr/>
        </p:nvPicPr>
        <p:blipFill>
          <a:blip r:embed="R6981fb2a828d4970"/>
          <a:srcRect l="0" t="27" r="0" b="27"/>
          <a:stretch>
            <a:fillRect l="0" t="0" r="0" b="0"/>
          </a:stretch>
        </p:blipFill>
        <p:spPr>
          <a:xfrm>
            <a:off x="0" y="0"/>
            <a:ext cx="12192000" cy="6858000"/>
          </a:xfrm>
          <a:prstGeom prst="rect">
            <a:avLst/>
          </a:prstGeom>
        </p:spPr>
      </p:pic>
      <p:sp>
        <p:nvSpPr>
          <p:cNvPr id="2" name="fixed">
            <a:extLst>
              <a:ext uri="{FF2B5EF4-FFF2-40B4-BE49-F238E27FC236}">
                <ns3:creationId id="{C81A405F-5039-4504-9056-A73EE4E82185}"/>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Live demonstration</a:t>
            </a:r>
          </a:p>
        </p:txBody>
      </p:sp>
      <p:sp>
        <p:nvSpPr>
          <p:cNvPr id="3" name="fixed">
            <a:extLst>
              <a:ext uri="{FF2B5EF4-FFF2-40B4-BE49-F238E27FC236}">
                <ns3:creationId id="{C4584AB4-B617-4AC8-BABD-2AE6E9053AD0}"/>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A1BDC5"/>
                </a:solidFill>
                <a:latin typeface="Arial"/>
                <a:ea typeface="Arial"/>
                <a:cs typeface="Arial"/>
              </a:defRPr>
            </a:pPr>
            <a:r>
              <a:rPr sz="1350" b="0">
                <a:solidFill>
                  <a:srgbClr val="A1BDC5"/>
                </a:solidFill>
                <a:latin typeface="Arial"/>
                <a:ea typeface="Arial"/>
                <a:cs typeface="Arial"/>
              </a:rPr>
              <a:t>15</a:t>
            </a:r>
          </a:p>
        </p:txBody>
      </p:sp>
      <p:sp>
        <p:nvSpPr>
          <p:cNvPr id="4" name="reveal-1">
            <a:extLst>
              <a:ext uri="{FF2B5EF4-FFF2-40B4-BE49-F238E27FC236}">
                <ns3:creationId id="{1DF5A4A4-4EB8-4777-A351-F402A970CCEA}"/>
              </a:ext>
            </a:extLst>
          </p:cNvPr>
          <p:cNvSpPr>
            <a:spLocks noGrp="1"/>
          </p:cNvSpPr>
          <p:nvPr/>
        </p:nvSpPr>
        <p:spPr>
          <a:xfrm>
            <a:off x="609600" y="2000250"/>
            <a:ext cx="7715250" cy="571500"/>
          </a:xfrm>
          <a:prstGeom prst="rect">
            <a:avLst/>
          </a:prstGeom>
          <a:noFill/>
          <a:ln w="0">
            <a:noFill/>
          </a:ln>
        </p:spPr>
        <p:txBody>
          <a:bodyPr>
            <a:noAutofit/>
          </a:bodyPr>
          <a:lstStyle/>
          <a:p>
            <a:pPr>
              <a:defRPr sz="2550" b="1">
                <a:solidFill>
                  <a:srgbClr val="FFFFFF"/>
                </a:solidFill>
                <a:latin typeface="Arial"/>
                <a:ea typeface="Arial"/>
                <a:cs typeface="Arial"/>
              </a:defRPr>
            </a:pPr>
            <a:r>
              <a:rPr sz="2550" b="1">
                <a:solidFill>
                  <a:srgbClr val="FFFFFF"/>
                </a:solidFill>
                <a:latin typeface="Arial"/>
                <a:ea typeface="Arial"/>
                <a:cs typeface="Arial"/>
              </a:rPr>
              <a:t>01  Exam setup</a:t>
            </a:r>
          </a:p>
        </p:txBody>
      </p:sp>
      <p:sp>
        <p:nvSpPr>
          <p:cNvPr id="5" name="reveal-2">
            <a:extLst>
              <a:ext uri="{FF2B5EF4-FFF2-40B4-BE49-F238E27FC236}">
                <ns3:creationId id="{877CE389-55E7-453E-96C4-2CF0CD8A92D3}"/>
              </a:ext>
            </a:extLst>
          </p:cNvPr>
          <p:cNvSpPr>
            <a:spLocks noGrp="1"/>
          </p:cNvSpPr>
          <p:nvPr/>
        </p:nvSpPr>
        <p:spPr>
          <a:xfrm>
            <a:off x="609600" y="2809875"/>
            <a:ext cx="8572500" cy="571500"/>
          </a:xfrm>
          <a:prstGeom prst="rect">
            <a:avLst/>
          </a:prstGeom>
          <a:noFill/>
          <a:ln w="0">
            <a:noFill/>
          </a:ln>
        </p:spPr>
        <p:txBody>
          <a:bodyPr>
            <a:noAutofit/>
          </a:bodyPr>
          <a:lstStyle/>
          <a:p>
            <a:pPr>
              <a:defRPr sz="2550" b="1">
                <a:solidFill>
                  <a:srgbClr val="FFFFFF"/>
                </a:solidFill>
                <a:latin typeface="Arial"/>
                <a:ea typeface="Arial"/>
                <a:cs typeface="Arial"/>
              </a:defRPr>
            </a:pPr>
            <a:r>
              <a:rPr sz="2550" b="1">
                <a:solidFill>
                  <a:srgbClr val="FFFFFF"/>
                </a:solidFill>
                <a:latin typeface="Arial"/>
                <a:ea typeface="Arial"/>
                <a:cs typeface="Arial"/>
              </a:rPr>
              <a:t>02  Candidate consent and self-check</a:t>
            </a:r>
          </a:p>
        </p:txBody>
      </p:sp>
      <p:sp>
        <p:nvSpPr>
          <p:cNvPr id="6" name="reveal-3">
            <a:extLst>
              <a:ext uri="{FF2B5EF4-FFF2-40B4-BE49-F238E27FC236}">
                <ns3:creationId id="{7F62D36E-ABA4-44DB-B0E9-8EED30F2B6BD}"/>
              </a:ext>
            </a:extLst>
          </p:cNvPr>
          <p:cNvSpPr>
            <a:spLocks noGrp="1"/>
          </p:cNvSpPr>
          <p:nvPr/>
        </p:nvSpPr>
        <p:spPr>
          <a:xfrm>
            <a:off x="609600" y="3619500"/>
            <a:ext cx="8572500" cy="571500"/>
          </a:xfrm>
          <a:prstGeom prst="rect">
            <a:avLst/>
          </a:prstGeom>
          <a:noFill/>
          <a:ln w="0">
            <a:noFill/>
          </a:ln>
        </p:spPr>
        <p:txBody>
          <a:bodyPr>
            <a:noAutofit/>
          </a:bodyPr>
          <a:lstStyle/>
          <a:p>
            <a:pPr>
              <a:defRPr sz="2550" b="1">
                <a:solidFill>
                  <a:srgbClr val="FFFFFF"/>
                </a:solidFill>
                <a:latin typeface="Arial"/>
                <a:ea typeface="Arial"/>
                <a:cs typeface="Arial"/>
              </a:defRPr>
            </a:pPr>
            <a:r>
              <a:rPr sz="2550" b="1">
                <a:solidFill>
                  <a:srgbClr val="FFFFFF"/>
                </a:solidFill>
                <a:latin typeface="Arial"/>
                <a:ea typeface="Arial"/>
                <a:cs typeface="Arial"/>
              </a:rPr>
              <a:t>03  Monitoring and evidence review</a:t>
            </a:r>
          </a:p>
        </p:txBody>
      </p:sp>
      <p:sp>
        <p:nvSpPr>
          <p:cNvPr id="7" name="reveal-4">
            <a:extLst>
              <a:ext uri="{FF2B5EF4-FFF2-40B4-BE49-F238E27FC236}">
                <ns3:creationId id="{49E7A45E-84CB-43EE-BC63-ACE799D08115}"/>
              </a:ext>
            </a:extLst>
          </p:cNvPr>
          <p:cNvSpPr>
            <a:spLocks noGrp="1"/>
          </p:cNvSpPr>
          <p:nvPr/>
        </p:nvSpPr>
        <p:spPr>
          <a:xfrm>
            <a:off x="609600" y="4429125"/>
            <a:ext cx="8858250" cy="571500"/>
          </a:xfrm>
          <a:prstGeom prst="rect">
            <a:avLst/>
          </a:prstGeom>
          <a:noFill/>
          <a:ln w="0">
            <a:noFill/>
          </a:ln>
        </p:spPr>
        <p:txBody>
          <a:bodyPr>
            <a:noAutofit/>
          </a:bodyPr>
          <a:lstStyle/>
          <a:p>
            <a:pPr>
              <a:defRPr sz="2550" b="1">
                <a:solidFill>
                  <a:srgbClr val="FFFFFF"/>
                </a:solidFill>
                <a:latin typeface="Arial"/>
                <a:ea typeface="Arial"/>
                <a:cs typeface="Arial"/>
              </a:defRPr>
            </a:pPr>
            <a:r>
              <a:rPr sz="2550" b="1">
                <a:solidFill>
                  <a:srgbClr val="FFFFFF"/>
                </a:solidFill>
                <a:latin typeface="Arial"/>
                <a:ea typeface="Arial"/>
                <a:cs typeface="Arial"/>
              </a:rPr>
              <a:t>04  Warning, submission and summary</a:t>
            </a:r>
          </a:p>
        </p:txBody>
      </p:sp>
      <p:sp>
        <p:nvSpPr>
          <p:cNvPr id="8" name="fixed">
            <a:extLst>
              <a:ext uri="{FF2B5EF4-FFF2-40B4-BE49-F238E27FC236}">
                <ns3:creationId id="{14275104-C39D-487B-AE5D-863DD9164806}"/>
              </a:ext>
            </a:extLst>
          </p:cNvPr>
          <p:cNvSpPr>
            <a:spLocks noGrp="1"/>
          </p:cNvSpPr>
          <p:nvPr/>
        </p:nvSpPr>
        <p:spPr>
          <a:xfrm>
            <a:off x="609600" y="5715000"/>
            <a:ext cx="10096500" cy="476250"/>
          </a:xfrm>
          <a:prstGeom prst="rect">
            <a:avLst/>
          </a:prstGeom>
          <a:noFill/>
          <a:ln w="0">
            <a:noFill/>
          </a:ln>
        </p:spPr>
        <p:txBody>
          <a:bodyPr>
            <a:noAutofit/>
          </a:bodyPr>
          <a:lstStyle/>
          <a:p>
            <a:pPr>
              <a:defRPr sz="1875" b="0">
                <a:solidFill>
                  <a:srgbClr val="C1D5DD"/>
                </a:solidFill>
                <a:latin typeface="Arial"/>
                <a:ea typeface="Arial"/>
                <a:cs typeface="Arial"/>
              </a:defRPr>
            </a:pPr>
            <a:r>
              <a:rPr sz="1875" b="0">
                <a:solidFill>
                  <a:srgbClr val="C1D5DD"/>
                </a:solidFill>
                <a:latin typeface="Arial"/>
                <a:ea typeface="Arial"/>
                <a:cs typeface="Arial"/>
              </a:rPr>
              <a:t>7–8 minutes  /  one rehearsed end-to-end examination</a:t>
            </a:r>
          </a:p>
        </p:txBody>
      </p:sp>
    </p:spTree>
    <p:extLst>
      <p:ext uri="{BB962C8B-B14F-4D97-AF65-F5344CB8AC3E}">
        <ns4:creationId val="42058433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par>
                    <p:cTn id="11" fill="hold">
                      <p:stCondLst>
                        <p:cond delay="indefinite"/>
                      </p:stCondLst>
                      <p:childTnLst>
                        <p:par>
                          <p:cTn id="12" presetID="10" presetClass="entr" presetSubtype="0" fill="hold" grpId="3"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childTnLst>
                    </p:cTn>
                  </p:par>
                  <p:par>
                    <p:cTn id="15" fill="hold">
                      <p:stCondLst>
                        <p:cond delay="indefinite"/>
                      </p:stCondLst>
                      <p:childTnLst>
                        <p:par>
                          <p:cTn id="16" presetID="10" presetClass="entr" presetSubtype="0" fill="hold" grpId="4"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P spid="5" grpId="2" uiExpand="1"/>
      <p:bldP spid="6" grpId="3" uiExpand="1"/>
      <p:bldP spid="7" grpId="4" uiExpand="1"/>
    </p:bldLst>
  </p:timing>
</p:sld>
</file>

<file path=ppt/slides/slide16.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7" name=""/>
          <p:cNvPicPr>
            <a:picLocks noChangeAspect="1"/>
          </p:cNvPicPr>
          <p:nvPr/>
        </p:nvPicPr>
        <p:blipFill>
          <a:blip r:embed="Re8a00ff5b4744de4"/>
          <a:srcRect l="0" t="27" r="0" b="27"/>
          <a:stretch>
            <a:fillRect l="0" t="0" r="0" b="0"/>
          </a:stretch>
        </p:blipFill>
        <p:spPr>
          <a:xfrm>
            <a:off x="0" y="0"/>
            <a:ext cx="12192000" cy="6858000"/>
          </a:xfrm>
          <a:prstGeom prst="rect">
            <a:avLst/>
          </a:prstGeom>
        </p:spPr>
      </p:pic>
      <p:sp>
        <p:nvSpPr>
          <p:cNvPr id="2" name="fixed">
            <a:extLst>
              <a:ext uri="{FF2B5EF4-FFF2-40B4-BE49-F238E27FC236}">
                <ns3:creationId id="{E278E402-3AC4-4732-8868-6F58E0282F7E}"/>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Questions and technical detail</a:t>
            </a:r>
          </a:p>
        </p:txBody>
      </p:sp>
      <p:sp>
        <p:nvSpPr>
          <p:cNvPr id="3" name="fixed">
            <a:extLst>
              <a:ext uri="{FF2B5EF4-FFF2-40B4-BE49-F238E27FC236}">
                <ns3:creationId id="{5CEC870E-0F65-4ABF-9A7E-48FA89D38ED8}"/>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A1BDC5"/>
                </a:solidFill>
                <a:latin typeface="Arial"/>
                <a:ea typeface="Arial"/>
                <a:cs typeface="Arial"/>
              </a:defRPr>
            </a:pPr>
            <a:r>
              <a:rPr sz="1350" b="0">
                <a:solidFill>
                  <a:srgbClr val="A1BDC5"/>
                </a:solidFill>
                <a:latin typeface="Arial"/>
                <a:ea typeface="Arial"/>
                <a:cs typeface="Arial"/>
              </a:rPr>
              <a:t>16</a:t>
            </a:r>
          </a:p>
        </p:txBody>
      </p:sp>
      <p:sp>
        <p:nvSpPr>
          <p:cNvPr id="4" name="fixed">
            <a:extLst>
              <a:ext uri="{FF2B5EF4-FFF2-40B4-BE49-F238E27FC236}">
                <ns3:creationId id="{32BA2D2A-4136-48F4-9F02-5C9CFBDCC103}"/>
              </a:ext>
            </a:extLst>
          </p:cNvPr>
          <p:cNvSpPr>
            <a:spLocks noGrp="1"/>
          </p:cNvSpPr>
          <p:nvPr/>
        </p:nvSpPr>
        <p:spPr>
          <a:xfrm>
            <a:off x="609600" y="2381250"/>
            <a:ext cx="8096250" cy="952500"/>
          </a:xfrm>
          <a:prstGeom prst="rect">
            <a:avLst/>
          </a:prstGeom>
          <a:noFill/>
          <a:ln w="0">
            <a:noFill/>
          </a:ln>
        </p:spPr>
        <p:txBody>
          <a:bodyPr>
            <a:noAutofit/>
          </a:bodyPr>
          <a:lstStyle/>
          <a:p>
            <a:pPr>
              <a:defRPr sz="5100" b="1">
                <a:solidFill>
                  <a:srgbClr val="FFFFFF"/>
                </a:solidFill>
                <a:latin typeface="Arial"/>
                <a:ea typeface="Arial"/>
                <a:cs typeface="Arial"/>
              </a:defRPr>
            </a:pPr>
            <a:r>
              <a:rPr sz="5100" b="1">
                <a:solidFill>
                  <a:srgbClr val="FFFFFF"/>
                </a:solidFill>
                <a:latin typeface="Arial"/>
                <a:ea typeface="Arial"/>
                <a:cs typeface="Arial"/>
              </a:rPr>
              <a:t>IntegrityFlow</a:t>
            </a:r>
          </a:p>
        </p:txBody>
      </p:sp>
      <p:sp>
        <p:nvSpPr>
          <p:cNvPr id="5" name="fixed">
            <a:extLst>
              <a:ext uri="{FF2B5EF4-FFF2-40B4-BE49-F238E27FC236}">
                <ns3:creationId id="{20C90741-6D32-468F-A0BC-222BE266DC4C}"/>
              </a:ext>
            </a:extLst>
          </p:cNvPr>
          <p:cNvSpPr>
            <a:spLocks noGrp="1"/>
          </p:cNvSpPr>
          <p:nvPr/>
        </p:nvSpPr>
        <p:spPr>
          <a:xfrm>
            <a:off x="609600" y="3619500"/>
            <a:ext cx="8001000" cy="1333500"/>
          </a:xfrm>
          <a:prstGeom prst="rect">
            <a:avLst/>
          </a:prstGeom>
          <a:noFill/>
          <a:ln w="0">
            <a:noFill/>
          </a:ln>
        </p:spPr>
        <p:txBody>
          <a:bodyPr>
            <a:noAutofit/>
          </a:bodyPr>
          <a:lstStyle/>
          <a:p>
            <a:pPr>
              <a:defRPr sz="2850" b="0">
                <a:solidFill>
                  <a:srgbClr val="D8F2EC"/>
                </a:solidFill>
                <a:latin typeface="Arial"/>
                <a:ea typeface="Arial"/>
                <a:cs typeface="Arial"/>
              </a:defRPr>
            </a:pPr>
            <a:r>
              <a:rPr sz="2850" b="0">
                <a:solidFill>
                  <a:srgbClr val="D8F2EC"/>
                </a:solidFill>
                <a:latin typeface="Arial"/>
                <a:ea typeface="Arial"/>
                <a:cs typeface="Arial"/>
              </a:rPr>
              <a:t>Local monitoring with evidence</a:t>
            </a:r>
          </a:p>
          <a:p>
            <a:pPr>
              <a:defRPr sz="2850" b="0">
                <a:solidFill>
                  <a:srgbClr val="D8F2EC"/>
                </a:solidFill>
                <a:latin typeface="Arial"/>
                <a:ea typeface="Arial"/>
                <a:cs typeface="Arial"/>
              </a:defRPr>
            </a:pPr>
            <a:r>
              <a:rPr sz="2850" b="0">
                <a:solidFill>
                  <a:srgbClr val="D8F2EC"/>
                </a:solidFill>
                <a:latin typeface="Arial"/>
                <a:ea typeface="Arial"/>
                <a:cs typeface="Arial"/>
              </a:rPr>
              <a:t>for examiner decisions</a:t>
            </a:r>
          </a:p>
        </p:txBody>
      </p:sp>
      <p:sp>
        <p:nvSpPr>
          <p:cNvPr id="6" name="fixed">
            <a:extLst>
              <a:ext uri="{FF2B5EF4-FFF2-40B4-BE49-F238E27FC236}">
                <ns3:creationId id="{2A5F2BB1-463B-4B12-926D-288AB890F625}"/>
              </a:ext>
            </a:extLst>
          </p:cNvPr>
          <p:cNvSpPr>
            <a:spLocks noGrp="1"/>
          </p:cNvSpPr>
          <p:nvPr/>
        </p:nvSpPr>
        <p:spPr>
          <a:xfrm>
            <a:off x="609600" y="5657850"/>
            <a:ext cx="6667500" cy="428625"/>
          </a:xfrm>
          <a:prstGeom prst="rect">
            <a:avLst/>
          </a:prstGeom>
          <a:noFill/>
          <a:ln w="0">
            <a:noFill/>
          </a:ln>
        </p:spPr>
        <p:txBody>
          <a:bodyPr>
            <a:noAutofit/>
          </a:bodyPr>
          <a:lstStyle/>
          <a:p>
            <a:pPr>
              <a:defRPr sz="1800" b="0">
                <a:solidFill>
                  <a:srgbClr val="C1D5DD"/>
                </a:solidFill>
                <a:latin typeface="Arial"/>
                <a:ea typeface="Arial"/>
                <a:cs typeface="Arial"/>
              </a:defRPr>
            </a:pPr>
            <a:r>
              <a:rPr sz="1800" b="0">
                <a:solidFill>
                  <a:srgbClr val="C1D5DD"/>
                </a:solidFill>
                <a:latin typeface="Arial"/>
                <a:ea typeface="Arial"/>
                <a:cs typeface="Arial"/>
              </a:rPr>
              <a:t>Technical appendix follows</a:t>
            </a:r>
          </a:p>
        </p:txBody>
      </p:sp>
    </p:spTree>
    <p:extLst>
      <p:ext uri="{BB962C8B-B14F-4D97-AF65-F5344CB8AC3E}">
        <ns4:creationId val="1424867577"/>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1EBDB5D5-69B3-47B1-B8D8-B7D78781C95A}"/>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Vision: calibration and phone confirmation</a:t>
            </a:r>
          </a:p>
        </p:txBody>
      </p:sp>
      <p:sp>
        <p:nvSpPr>
          <p:cNvPr id="2" name="fixed">
            <a:extLst>
              <a:ext uri="{FF2B5EF4-FFF2-40B4-BE49-F238E27FC236}">
                <ns2:creationId id="{180FC57A-26AF-4D77-A85D-BCA1DB6B3F2F}"/>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17</a:t>
            </a:r>
          </a:p>
        </p:txBody>
      </p:sp>
      <p:sp>
        <p:nvSpPr>
          <p:cNvPr id="3" name="reveal-1">
            <a:extLst>
              <a:ext uri="{FF2B5EF4-FFF2-40B4-BE49-F238E27FC236}">
                <ns2:creationId id="{2A8B8AF7-5009-4997-A532-BF0D70FA592B}"/>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HEAD DIRECTION</a:t>
            </a:r>
          </a:p>
        </p:txBody>
      </p:sp>
      <p:sp>
        <p:nvSpPr>
          <p:cNvPr id="4" name="reveal-1">
            <a:extLst>
              <a:ext uri="{FF2B5EF4-FFF2-40B4-BE49-F238E27FC236}">
                <ns2:creationId id="{71A16621-2EA4-479B-B737-134245DA20B5}"/>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Calibrated temporal checks</a:t>
            </a:r>
          </a:p>
        </p:txBody>
      </p:sp>
      <p:sp>
        <p:nvSpPr>
          <p:cNvPr id="5" name="reveal-1">
            <a:extLst>
              <a:ext uri="{FF2B5EF4-FFF2-40B4-BE49-F238E27FC236}">
                <ns2:creationId id="{EF3FFF43-1969-4C72-9A54-E70ACD2C0E06}"/>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MediaPipe Tasks facial landmarks</a:t>
            </a:r>
          </a:p>
          <a:p>
            <a:pPr>
              <a:defRPr sz="2025" b="0">
                <a:solidFill>
                  <a:srgbClr val="526573"/>
                </a:solidFill>
                <a:latin typeface="Arial"/>
                <a:ea typeface="Arial"/>
                <a:cs typeface="Arial"/>
              </a:defRPr>
            </a:pPr>
            <a:r>
              <a:rPr sz="2025" b="0">
                <a:solidFill>
                  <a:srgbClr val="526573"/>
                </a:solidFill>
                <a:latin typeface="Arial"/>
                <a:ea typeface="Arial"/>
                <a:cs typeface="Arial"/>
              </a:rPr>
              <a:t>OpenCV PnP head-pose estimate</a:t>
            </a:r>
          </a:p>
          <a:p>
            <a:pPr>
              <a:defRPr sz="2025" b="0">
                <a:solidFill>
                  <a:srgbClr val="526573"/>
                </a:solidFill>
                <a:latin typeface="Arial"/>
                <a:ea typeface="Arial"/>
                <a:cs typeface="Arial"/>
              </a:defRPr>
            </a:pPr>
            <a:r>
              <a:rPr sz="2025" b="0">
                <a:solidFill>
                  <a:srgbClr val="526573"/>
                </a:solidFill>
                <a:latin typeface="Arial"/>
                <a:ea typeface="Arial"/>
                <a:cs typeface="Arial"/>
              </a:rPr>
              <a:t>Stable neutral pose and smoothing</a:t>
            </a:r>
          </a:p>
          <a:p>
            <a:pPr>
              <a:defRPr sz="2025" b="0">
                <a:solidFill>
                  <a:srgbClr val="526573"/>
                </a:solidFill>
                <a:latin typeface="Arial"/>
                <a:ea typeface="Arial"/>
                <a:cs typeface="Arial"/>
              </a:defRPr>
            </a:pPr>
            <a:r>
              <a:rPr sz="2025" b="0">
                <a:solidFill>
                  <a:srgbClr val="526573"/>
                </a:solidFill>
                <a:latin typeface="Arial"/>
                <a:ea typeface="Arial"/>
                <a:cs typeface="Arial"/>
              </a:rPr>
              <a:t>Absolute-yaw guard against biased baseline</a:t>
            </a:r>
          </a:p>
        </p:txBody>
      </p:sp>
      <p:sp>
        <p:nvSpPr>
          <p:cNvPr id="6" name="reveal-2">
            <a:extLst>
              <a:ext uri="{FF2B5EF4-FFF2-40B4-BE49-F238E27FC236}">
                <ns2:creationId id="{C784D43C-6403-4DC8-ACF6-FB8B67063306}"/>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PHONE / BOOK</a:t>
            </a:r>
          </a:p>
        </p:txBody>
      </p:sp>
      <p:sp>
        <p:nvSpPr>
          <p:cNvPr id="7" name="reveal-2">
            <a:extLst>
              <a:ext uri="{FF2B5EF4-FFF2-40B4-BE49-F238E27FC236}">
                <ns2:creationId id="{C6826426-3DAA-47FC-A05A-5462F4CC2702}"/>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Class and spatial continuity</a:t>
            </a:r>
          </a:p>
        </p:txBody>
      </p:sp>
      <p:sp>
        <p:nvSpPr>
          <p:cNvPr id="8" name="reveal-2">
            <a:extLst>
              <a:ext uri="{FF2B5EF4-FFF2-40B4-BE49-F238E27FC236}">
                <ns2:creationId id="{A494E854-B419-42EC-82E8-B4BD0625DF56}"/>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YOLO26n through ONNX Runtime</a:t>
            </a:r>
          </a:p>
          <a:p>
            <a:pPr>
              <a:defRPr sz="2025" b="0">
                <a:solidFill>
                  <a:srgbClr val="526573"/>
                </a:solidFill>
                <a:latin typeface="Arial"/>
                <a:ea typeface="Arial"/>
                <a:cs typeface="Arial"/>
              </a:defRPr>
            </a:pPr>
            <a:r>
              <a:rPr sz="2025" b="0">
                <a:solidFill>
                  <a:srgbClr val="526573"/>
                </a:solidFill>
                <a:latin typeface="Arial"/>
                <a:ea typeface="Arial"/>
                <a:cs typeface="Arial"/>
              </a:rPr>
              <a:t>640 × 640 letterboxed input</a:t>
            </a:r>
          </a:p>
          <a:p>
            <a:pPr>
              <a:defRPr sz="2025" b="0">
                <a:solidFill>
                  <a:srgbClr val="526573"/>
                </a:solidFill>
                <a:latin typeface="Arial"/>
                <a:ea typeface="Arial"/>
                <a:cs typeface="Arial"/>
              </a:defRPr>
            </a:pPr>
            <a:r>
              <a:rPr sz="2025" b="0">
                <a:solidFill>
                  <a:srgbClr val="526573"/>
                </a:solidFill>
                <a:latin typeface="Arial"/>
                <a:ea typeface="Arial"/>
                <a:cs typeface="Arial"/>
              </a:rPr>
              <a:t>Phone: two strong matching detections</a:t>
            </a:r>
          </a:p>
          <a:p>
            <a:pPr>
              <a:defRPr sz="2025" b="0">
                <a:solidFill>
                  <a:srgbClr val="526573"/>
                </a:solidFill>
                <a:latin typeface="Arial"/>
                <a:ea typeface="Arial"/>
                <a:cs typeface="Arial"/>
              </a:defRPr>
            </a:pPr>
            <a:r>
              <a:rPr sz="2025" b="0">
                <a:solidFill>
                  <a:srgbClr val="526573"/>
                </a:solidFill>
                <a:latin typeface="Arial"/>
                <a:ea typeface="Arial"/>
                <a:cs typeface="Arial"/>
              </a:rPr>
              <a:t>Weak phone / book: three matching checks</a:t>
            </a:r>
          </a:p>
        </p:txBody>
      </p:sp>
    </p:spTree>
    <p:extLst>
      <p:ext uri="{BB962C8B-B14F-4D97-AF65-F5344CB8AC3E}">
        <ns3:creationId val="97749022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2" name="fixed">
            <a:extLst>
              <a:ext uri="{FF2B5EF4-FFF2-40B4-BE49-F238E27FC236}">
                <ns2:creationId id="{81AB81CA-1AE6-4138-98BA-8EF21647A6CB}"/>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Voice: speech gating and reference comparison</a:t>
            </a:r>
          </a:p>
        </p:txBody>
      </p:sp>
      <p:sp>
        <p:nvSpPr>
          <p:cNvPr id="2" name="fixed">
            <a:extLst>
              <a:ext uri="{FF2B5EF4-FFF2-40B4-BE49-F238E27FC236}">
                <ns2:creationId id="{3AA123A6-B4FF-43FD-8640-94FC0DC62D0A}"/>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18</a:t>
            </a:r>
          </a:p>
        </p:txBody>
      </p:sp>
      <p:sp>
        <p:nvSpPr>
          <p:cNvPr id="3" name="reveal-1">
            <a:extLst>
              <a:ext uri="{FF2B5EF4-FFF2-40B4-BE49-F238E27FC236}">
                <ns2:creationId id="{151E20DC-67D5-40DA-B172-118D91F3CB4C}"/>
              </a:ext>
            </a:extLst>
          </p:cNvPr>
          <p:cNvSpPr>
            <a:spLocks noGrp="1"/>
          </p:cNvSpPr>
          <p:nvPr/>
        </p:nvSpPr>
        <p:spPr>
          <a:xfrm>
            <a:off x="609600" y="2133600"/>
            <a:ext cx="2381250" cy="1047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Microphone</a:t>
            </a:r>
          </a:p>
          <a:p>
            <a:pPr algn="ctr">
              <a:defRPr sz="1800" b="1">
                <a:solidFill>
                  <a:srgbClr val="132D3A"/>
                </a:solidFill>
                <a:latin typeface="Arial"/>
                <a:ea typeface="Arial"/>
                <a:cs typeface="Arial"/>
              </a:defRPr>
            </a:pPr>
            <a:r>
              <a:rPr sz="1800" b="1">
                <a:solidFill>
                  <a:srgbClr val="132D3A"/>
                </a:solidFill>
                <a:latin typeface="Arial"/>
                <a:ea typeface="Arial"/>
                <a:cs typeface="Arial"/>
              </a:rPr>
              <a:t>16 kHz mono</a:t>
            </a:r>
          </a:p>
        </p:txBody>
      </p:sp>
      <p:sp>
        <p:nvSpPr>
          <p:cNvPr id="4" name="reveal-2">
            <a:extLst>
              <a:ext uri="{FF2B5EF4-FFF2-40B4-BE49-F238E27FC236}">
                <ns2:creationId id="{C80B80EE-C916-4FD2-A960-42C1669587AE}"/>
              </a:ext>
            </a:extLst>
          </p:cNvPr>
          <p:cNvSpPr>
            <a:spLocks noGrp="1"/>
          </p:cNvSpPr>
          <p:nvPr/>
        </p:nvSpPr>
        <p:spPr>
          <a:xfrm>
            <a:off x="3467100" y="2133600"/>
            <a:ext cx="2381250" cy="1047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WebRTC VAD</a:t>
            </a:r>
          </a:p>
          <a:p>
            <a:pPr algn="ctr">
              <a:defRPr sz="1800" b="1">
                <a:solidFill>
                  <a:srgbClr val="132D3A"/>
                </a:solidFill>
                <a:latin typeface="Arial"/>
                <a:ea typeface="Arial"/>
                <a:cs typeface="Arial"/>
              </a:defRPr>
            </a:pPr>
            <a:r>
              <a:rPr sz="1800" b="1">
                <a:solidFill>
                  <a:srgbClr val="132D3A"/>
                </a:solidFill>
                <a:latin typeface="Arial"/>
                <a:ea typeface="Arial"/>
                <a:cs typeface="Arial"/>
              </a:rPr>
              <a:t>Speech frames</a:t>
            </a:r>
          </a:p>
        </p:txBody>
      </p:sp>
      <p:sp>
        <p:nvSpPr>
          <p:cNvPr id="5" name="reveal-3">
            <a:extLst>
              <a:ext uri="{FF2B5EF4-FFF2-40B4-BE49-F238E27FC236}">
                <ns2:creationId id="{FAAFE5A0-773D-47B3-94EF-3EAE7613A982}"/>
              </a:ext>
            </a:extLst>
          </p:cNvPr>
          <p:cNvSpPr>
            <a:spLocks noGrp="1"/>
          </p:cNvSpPr>
          <p:nvPr/>
        </p:nvSpPr>
        <p:spPr>
          <a:xfrm>
            <a:off x="6324600" y="2133600"/>
            <a:ext cx="2381250" cy="1047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Resemblyzer</a:t>
            </a:r>
          </a:p>
          <a:p>
            <a:pPr algn="ctr">
              <a:defRPr sz="1800" b="1">
                <a:solidFill>
                  <a:srgbClr val="132D3A"/>
                </a:solidFill>
                <a:latin typeface="Arial"/>
                <a:ea typeface="Arial"/>
                <a:cs typeface="Arial"/>
              </a:defRPr>
            </a:pPr>
            <a:r>
              <a:rPr sz="1800" b="1">
                <a:solidFill>
                  <a:srgbClr val="132D3A"/>
                </a:solidFill>
                <a:latin typeface="Arial"/>
                <a:ea typeface="Arial"/>
                <a:cs typeface="Arial"/>
              </a:rPr>
              <a:t>256-d embedding</a:t>
            </a:r>
          </a:p>
        </p:txBody>
      </p:sp>
      <p:sp>
        <p:nvSpPr>
          <p:cNvPr id="6" name="reveal-4">
            <a:extLst>
              <a:ext uri="{FF2B5EF4-FFF2-40B4-BE49-F238E27FC236}">
                <ns2:creationId id="{93956954-7C9D-48B9-8F91-9F30ABBDD642}"/>
              </a:ext>
            </a:extLst>
          </p:cNvPr>
          <p:cNvSpPr>
            <a:spLocks noGrp="1"/>
          </p:cNvSpPr>
          <p:nvPr/>
        </p:nvSpPr>
        <p:spPr>
          <a:xfrm>
            <a:off x="9182100" y="2133600"/>
            <a:ext cx="2381250" cy="1047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Reference check</a:t>
            </a:r>
          </a:p>
          <a:p>
            <a:pPr algn="ctr">
              <a:defRPr sz="1800" b="1">
                <a:solidFill>
                  <a:srgbClr val="132D3A"/>
                </a:solidFill>
                <a:latin typeface="Arial"/>
                <a:ea typeface="Arial"/>
                <a:cs typeface="Arial"/>
              </a:defRPr>
            </a:pPr>
            <a:r>
              <a:rPr sz="1800" b="1">
                <a:solidFill>
                  <a:srgbClr val="132D3A"/>
                </a:solidFill>
                <a:latin typeface="Arial"/>
                <a:ea typeface="Arial"/>
                <a:cs typeface="Arial"/>
              </a:rPr>
              <a:t>Cosine similarity</a:t>
            </a:r>
          </a:p>
        </p:txBody>
      </p:sp>
      <p:cxnSp>
        <p:nvCxnSpPr>
          <p:cNvPr id="18" name="reveal-2"/>
          <p:cNvCxnSpPr>
            <a:stCxn id="3" idx="3"/>
            <a:endCxn id="4" idx="1"/>
          </p:cNvCxnSpPr>
          <p:nvPr/>
        </p:nvCxnSpPr>
        <p:spPr>
          <a:xfrm>
            <a:off x="2990850" y="2657475"/>
            <a:ext cx="476250" cy="0"/>
          </a:xfrm>
          <a:prstGeom prst="straightConnector1">
            <a:avLst/>
          </a:prstGeom>
          <a:ln w="19050">
            <a:solidFill>
              <a:srgbClr val="087F8C"/>
            </a:solidFill>
            <a:tailEnd type="arrow" w="med" len="med"/>
          </a:ln>
        </p:spPr>
      </p:cxnSp>
      <p:cxnSp>
        <p:nvCxnSpPr>
          <p:cNvPr id="19" name="reveal-3"/>
          <p:cNvCxnSpPr>
            <a:stCxn id="4" idx="3"/>
            <a:endCxn id="5" idx="1"/>
          </p:cNvCxnSpPr>
          <p:nvPr/>
        </p:nvCxnSpPr>
        <p:spPr>
          <a:xfrm>
            <a:off x="5848350" y="2657475"/>
            <a:ext cx="476250" cy="0"/>
          </a:xfrm>
          <a:prstGeom prst="straightConnector1">
            <a:avLst/>
          </a:prstGeom>
          <a:ln w="19050">
            <a:solidFill>
              <a:srgbClr val="087F8C"/>
            </a:solidFill>
            <a:tailEnd type="arrow" w="med" len="med"/>
          </a:ln>
        </p:spPr>
      </p:cxnSp>
      <p:cxnSp>
        <p:nvCxnSpPr>
          <p:cNvPr id="20" name="reveal-4"/>
          <p:cNvCxnSpPr>
            <a:stCxn id="5" idx="3"/>
            <a:endCxn id="6" idx="1"/>
          </p:cNvCxnSpPr>
          <p:nvPr/>
        </p:nvCxnSpPr>
        <p:spPr>
          <a:xfrm>
            <a:off x="8705850" y="2657475"/>
            <a:ext cx="476250" cy="0"/>
          </a:xfrm>
          <a:prstGeom prst="straightConnector1">
            <a:avLst/>
          </a:prstGeom>
          <a:ln w="19050">
            <a:solidFill>
              <a:srgbClr val="087F8C"/>
            </a:solidFill>
            <a:tailEnd type="arrow" w="med" len="med"/>
          </a:ln>
        </p:spPr>
      </p:cxnSp>
      <p:sp>
        <p:nvSpPr>
          <p:cNvPr id="10" name="reveal-5">
            <a:extLst>
              <a:ext uri="{FF2B5EF4-FFF2-40B4-BE49-F238E27FC236}">
                <ns2:creationId id="{CD9751C9-C73E-4047-8A46-B166FCB23DB1}"/>
              </a:ext>
            </a:extLst>
          </p:cNvPr>
          <p:cNvSpPr>
            <a:spLocks noGrp="1"/>
          </p:cNvSpPr>
          <p:nvPr/>
        </p:nvSpPr>
        <p:spPr>
          <a:xfrm>
            <a:off x="609600" y="3952875"/>
            <a:ext cx="10810875" cy="571500"/>
          </a:xfrm>
          <a:prstGeom prst="rect">
            <a:avLst/>
          </a:prstGeom>
          <a:noFill/>
          <a:ln w="0">
            <a:noFill/>
          </a:ln>
        </p:spPr>
        <p:txBody>
          <a:bodyPr>
            <a:noAutofit/>
          </a:bodyPr>
          <a:lstStyle/>
          <a:p>
            <a:pPr>
              <a:defRPr sz="2550" b="1">
                <a:solidFill>
                  <a:srgbClr val="087F8C"/>
                </a:solidFill>
                <a:latin typeface="Arial"/>
                <a:ea typeface="Arial"/>
                <a:cs typeface="Arial"/>
              </a:defRPr>
            </a:pPr>
            <a:r>
              <a:rPr sz="2550" b="1">
                <a:solidFill>
                  <a:srgbClr val="087F8C"/>
                </a:solidFill>
                <a:latin typeface="Arial"/>
                <a:ea typeface="Arial"/>
                <a:cs typeface="Arial"/>
              </a:rPr>
              <a:t>Two valid mismatches before an alert</a:t>
            </a:r>
          </a:p>
        </p:txBody>
      </p:sp>
      <p:sp>
        <p:nvSpPr>
          <p:cNvPr id="11" name="reveal-5">
            <a:extLst>
              <a:ext uri="{FF2B5EF4-FFF2-40B4-BE49-F238E27FC236}">
                <ns2:creationId id="{CC2D6755-2081-40B3-A5CF-4291AB719429}"/>
              </a:ext>
            </a:extLst>
          </p:cNvPr>
          <p:cNvSpPr>
            <a:spLocks noGrp="1"/>
          </p:cNvSpPr>
          <p:nvPr/>
        </p:nvSpPr>
        <p:spPr>
          <a:xfrm>
            <a:off x="609600" y="4810125"/>
            <a:ext cx="10668000" cy="1009650"/>
          </a:xfrm>
          <a:prstGeom prst="rect">
            <a:avLst/>
          </a:prstGeom>
          <a:noFill/>
          <a:ln w="0">
            <a:noFill/>
          </a:ln>
        </p:spPr>
        <p:txBody>
          <a:bodyPr>
            <a:noAutofit/>
          </a:bodyPr>
          <a:lstStyle/>
          <a:p>
            <a:pPr>
              <a:defRPr sz="2175" b="0">
                <a:solidFill>
                  <a:srgbClr val="526573"/>
                </a:solidFill>
                <a:latin typeface="Arial"/>
                <a:ea typeface="Arial"/>
                <a:cs typeface="Arial"/>
              </a:defRPr>
            </a:pPr>
            <a:r>
              <a:rPr sz="2175" b="0">
                <a:solidFill>
                  <a:srgbClr val="526573"/>
                </a:solidFill>
                <a:latin typeface="Arial"/>
                <a:ea typeface="Arial"/>
                <a:cs typeface="Arial"/>
              </a:rPr>
              <a:t>Short or clipped audio does not accumulate mismatches.</a:t>
            </a:r>
          </a:p>
          <a:p>
            <a:pPr>
              <a:defRPr sz="2175" b="0">
                <a:solidFill>
                  <a:srgbClr val="526573"/>
                </a:solidFill>
                <a:latin typeface="Arial"/>
                <a:ea typeface="Arial"/>
                <a:cs typeface="Arial"/>
              </a:defRPr>
            </a:pPr>
            <a:r>
              <a:rPr sz="2175" b="0">
                <a:solidFill>
                  <a:srgbClr val="526573"/>
                </a:solidFill>
                <a:latin typeface="Arial"/>
                <a:ea typeface="Arial"/>
                <a:cs typeface="Arial"/>
              </a:rPr>
              <a:t>Real-room testing must establish false alerts and missed speakers.</a:t>
            </a:r>
          </a:p>
        </p:txBody>
      </p:sp>
    </p:spTree>
    <p:extLst>
      <p:ext uri="{BB962C8B-B14F-4D97-AF65-F5344CB8AC3E}">
        <ns3:creationId val="196124753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50"/>
                                  <p:tgtEl>
                                    <p:spTgt spid="18"/>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50"/>
                                  <p:tgtEl>
                                    <p:spTgt spid="5"/>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50"/>
                                  <p:tgtEl>
                                    <p:spTgt spid="19"/>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2" uiExpand="1"/>
      <p:bldP spid="18" grpId="2" uiExpand="1"/>
      <p:bldP spid="5" grpId="3" uiExpand="1"/>
      <p:bldP spid="19" grpId="3" uiExpand="1"/>
      <p:bldP spid="6" grpId="4" uiExpand="1"/>
      <p:bldP spid="20" grpId="4" uiExpand="1"/>
      <p:bldP spid="10" grpId="5" uiExpand="1"/>
      <p:bldP spid="11" grpId="5" uiExpand="1"/>
    </p:bldLst>
  </p:timing>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21" name="fixed">
            <a:extLst>
              <a:ext uri="{FF2B5EF4-FFF2-40B4-BE49-F238E27FC236}">
                <ns2:creationId id="{FAB92A0F-E3D8-4AF0-B2AE-A4D3DEFDD6F1}"/>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UML sequence: live event and examiner review</a:t>
            </a:r>
          </a:p>
        </p:txBody>
      </p:sp>
      <p:sp>
        <p:nvSpPr>
          <p:cNvPr id="2" name="fixed">
            <a:extLst>
              <a:ext uri="{FF2B5EF4-FFF2-40B4-BE49-F238E27FC236}">
                <ns2:creationId id="{102FB3F4-7383-4DC3-BFF7-4890DC08735C}"/>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19</a:t>
            </a:r>
          </a:p>
        </p:txBody>
      </p:sp>
      <p:sp>
        <p:nvSpPr>
          <p:cNvPr id="3" name="reveal-1">
            <a:extLst>
              <a:ext uri="{FF2B5EF4-FFF2-40B4-BE49-F238E27FC236}">
                <ns2:creationId id="{5064DDC5-54D1-47AD-B7A6-2BF3FC8DC2B9}"/>
              </a:ext>
            </a:extLst>
          </p:cNvPr>
          <p:cNvSpPr>
            <a:spLocks noGrp="1"/>
          </p:cNvSpPr>
          <p:nvPr/>
        </p:nvSpPr>
        <p:spPr>
          <a:xfrm>
            <a:off x="609600" y="1714500"/>
            <a:ext cx="2381250" cy="619125"/>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Python</a:t>
            </a:r>
          </a:p>
        </p:txBody>
      </p:sp>
      <p:sp>
        <p:nvSpPr>
          <p:cNvPr id="4" name="reveal-1">
            <a:extLst>
              <a:ext uri="{FF2B5EF4-FFF2-40B4-BE49-F238E27FC236}">
                <ns2:creationId id="{6CEDFAE9-5344-405F-810D-6D881B695034}"/>
              </a:ext>
            </a:extLst>
          </p:cNvPr>
          <p:cNvSpPr>
            <a:spLocks noGrp="1"/>
          </p:cNvSpPr>
          <p:nvPr/>
        </p:nvSpPr>
        <p:spPr>
          <a:xfrm>
            <a:off x="3467100" y="1714500"/>
            <a:ext cx="2381250" cy="619125"/>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Electron</a:t>
            </a:r>
          </a:p>
        </p:txBody>
      </p:sp>
      <p:sp>
        <p:nvSpPr>
          <p:cNvPr id="5" name="reveal-1">
            <a:extLst>
              <a:ext uri="{FF2B5EF4-FFF2-40B4-BE49-F238E27FC236}">
                <ns2:creationId id="{E7E20525-5D8D-446A-9B9A-5DDD95E75AF8}"/>
              </a:ext>
            </a:extLst>
          </p:cNvPr>
          <p:cNvSpPr>
            <a:spLocks noGrp="1"/>
          </p:cNvSpPr>
          <p:nvPr/>
        </p:nvSpPr>
        <p:spPr>
          <a:xfrm>
            <a:off x="6324600" y="1714500"/>
            <a:ext cx="2381250" cy="619125"/>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Express / MongoDB</a:t>
            </a:r>
          </a:p>
        </p:txBody>
      </p:sp>
      <p:sp>
        <p:nvSpPr>
          <p:cNvPr id="6" name="reveal-1">
            <a:extLst>
              <a:ext uri="{FF2B5EF4-FFF2-40B4-BE49-F238E27FC236}">
                <ns2:creationId id="{FAB1AD81-EE3D-4B70-9A32-332CEFA8A679}"/>
              </a:ext>
            </a:extLst>
          </p:cNvPr>
          <p:cNvSpPr>
            <a:spLocks noGrp="1"/>
          </p:cNvSpPr>
          <p:nvPr/>
        </p:nvSpPr>
        <p:spPr>
          <a:xfrm>
            <a:off x="9182100" y="1714500"/>
            <a:ext cx="2381250" cy="619125"/>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Examiner</a:t>
            </a:r>
          </a:p>
        </p:txBody>
      </p:sp>
      <p:sp>
        <p:nvSpPr>
          <p:cNvPr id="7" name="fixed">
            <a:extLst>
              <a:ext uri="{FF2B5EF4-FFF2-40B4-BE49-F238E27FC236}">
                <ns2:creationId id="{4103357D-7153-4A0A-A7AF-D4664049E455}"/>
              </a:ext>
            </a:extLst>
          </p:cNvPr>
          <p:cNvSpPr>
            <a:spLocks noGrp="1"/>
          </p:cNvSpPr>
          <p:nvPr/>
        </p:nvSpPr>
        <p:spPr>
          <a:xfrm>
            <a:off x="1800225" y="2381250"/>
            <a:ext cx="0" cy="3619500"/>
          </a:xfrm>
          <a:prstGeom prst="line">
            <a:avLst/>
          </a:prstGeom>
          <a:noFill/>
          <a:ln w="9525">
            <a:solidFill>
              <a:srgbClr val="B8C9CD"/>
            </a:solidFill>
            <a:prstDash val="dash"/>
          </a:ln>
        </p:spPr>
      </p:sp>
      <p:sp>
        <p:nvSpPr>
          <p:cNvPr id="8" name="fixed">
            <a:extLst>
              <a:ext uri="{FF2B5EF4-FFF2-40B4-BE49-F238E27FC236}">
                <ns2:creationId id="{C69B2F5F-7707-44EE-889B-86EBD31FBF32}"/>
              </a:ext>
            </a:extLst>
          </p:cNvPr>
          <p:cNvSpPr>
            <a:spLocks noGrp="1"/>
          </p:cNvSpPr>
          <p:nvPr/>
        </p:nvSpPr>
        <p:spPr>
          <a:xfrm>
            <a:off x="4657725" y="2381250"/>
            <a:ext cx="0" cy="3619500"/>
          </a:xfrm>
          <a:prstGeom prst="line">
            <a:avLst/>
          </a:prstGeom>
          <a:noFill/>
          <a:ln w="9525">
            <a:solidFill>
              <a:srgbClr val="B8C9CD"/>
            </a:solidFill>
            <a:prstDash val="dash"/>
          </a:ln>
        </p:spPr>
      </p:sp>
      <p:sp>
        <p:nvSpPr>
          <p:cNvPr id="9" name="fixed">
            <a:extLst>
              <a:ext uri="{FF2B5EF4-FFF2-40B4-BE49-F238E27FC236}">
                <ns2:creationId id="{210CCA07-8112-4B18-9ECE-F3A8B8CC7DBA}"/>
              </a:ext>
            </a:extLst>
          </p:cNvPr>
          <p:cNvSpPr>
            <a:spLocks noGrp="1"/>
          </p:cNvSpPr>
          <p:nvPr/>
        </p:nvSpPr>
        <p:spPr>
          <a:xfrm>
            <a:off x="7515225" y="2381250"/>
            <a:ext cx="0" cy="3619500"/>
          </a:xfrm>
          <a:prstGeom prst="line">
            <a:avLst/>
          </a:prstGeom>
          <a:noFill/>
          <a:ln w="9525">
            <a:solidFill>
              <a:srgbClr val="B8C9CD"/>
            </a:solidFill>
            <a:prstDash val="dash"/>
          </a:ln>
        </p:spPr>
      </p:sp>
      <p:sp>
        <p:nvSpPr>
          <p:cNvPr id="10" name="fixed">
            <a:extLst>
              <a:ext uri="{FF2B5EF4-FFF2-40B4-BE49-F238E27FC236}">
                <ns2:creationId id="{E2BEA51C-F5B4-48E0-AD0C-9F0C0717EF6F}"/>
              </a:ext>
            </a:extLst>
          </p:cNvPr>
          <p:cNvSpPr>
            <a:spLocks noGrp="1"/>
          </p:cNvSpPr>
          <p:nvPr/>
        </p:nvSpPr>
        <p:spPr>
          <a:xfrm>
            <a:off x="10372725" y="2381250"/>
            <a:ext cx="0" cy="3619500"/>
          </a:xfrm>
          <a:prstGeom prst="line">
            <a:avLst/>
          </a:prstGeom>
          <a:noFill/>
          <a:ln w="9525">
            <a:solidFill>
              <a:srgbClr val="B8C9CD"/>
            </a:solidFill>
            <a:prstDash val="dash"/>
          </a:ln>
        </p:spPr>
      </p:sp>
      <p:sp>
        <p:nvSpPr>
          <p:cNvPr id="11" name="reveal-2">
            <a:extLst>
              <a:ext uri="{FF2B5EF4-FFF2-40B4-BE49-F238E27FC236}">
                <ns2:creationId id="{1C827ACD-0BD2-482D-A1D0-54D2F1FEE5B4}"/>
              </a:ext>
            </a:extLst>
          </p:cNvPr>
          <p:cNvSpPr>
            <a:spLocks noGrp="1"/>
          </p:cNvSpPr>
          <p:nvPr/>
        </p:nvSpPr>
        <p:spPr>
          <a:xfrm>
            <a:off x="1800225" y="3028950"/>
            <a:ext cx="2857500" cy="114300"/>
          </a:xfrm>
          <a:prstGeom prst="rightArrow">
            <a:avLst/>
          </a:prstGeom>
          <a:solidFill>
            <a:srgbClr val="087F8C"/>
          </a:solidFill>
          <a:ln w="0">
            <a:noFill/>
          </a:ln>
        </p:spPr>
      </p:sp>
      <p:sp>
        <p:nvSpPr>
          <p:cNvPr id="12" name="reveal-2">
            <a:extLst>
              <a:ext uri="{FF2B5EF4-FFF2-40B4-BE49-F238E27FC236}">
                <ns2:creationId id="{A550479E-8D22-488A-8A6E-FE4E24114385}"/>
              </a:ext>
            </a:extLst>
          </p:cNvPr>
          <p:cNvSpPr>
            <a:spLocks noGrp="1"/>
          </p:cNvSpPr>
          <p:nvPr/>
        </p:nvSpPr>
        <p:spPr>
          <a:xfrm>
            <a:off x="1800225" y="2647950"/>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Persist and deliver event</a:t>
            </a:r>
          </a:p>
        </p:txBody>
      </p:sp>
      <p:sp>
        <p:nvSpPr>
          <p:cNvPr id="13" name="reveal-3">
            <a:extLst>
              <a:ext uri="{FF2B5EF4-FFF2-40B4-BE49-F238E27FC236}">
                <ns2:creationId id="{DBA28AB3-0D8E-48F9-AEE0-6DD22C6C9A86}"/>
              </a:ext>
            </a:extLst>
          </p:cNvPr>
          <p:cNvSpPr>
            <a:spLocks noGrp="1"/>
          </p:cNvSpPr>
          <p:nvPr/>
        </p:nvSpPr>
        <p:spPr>
          <a:xfrm>
            <a:off x="4657725" y="3743325"/>
            <a:ext cx="2857500" cy="114300"/>
          </a:xfrm>
          <a:prstGeom prst="rightArrow">
            <a:avLst/>
          </a:prstGeom>
          <a:solidFill>
            <a:srgbClr val="087F8C"/>
          </a:solidFill>
          <a:ln w="0">
            <a:noFill/>
          </a:ln>
        </p:spPr>
      </p:sp>
      <p:sp>
        <p:nvSpPr>
          <p:cNvPr id="14" name="reveal-3">
            <a:extLst>
              <a:ext uri="{FF2B5EF4-FFF2-40B4-BE49-F238E27FC236}">
                <ns2:creationId id="{DA765FB2-22C1-4A8F-931F-CB00CB61CDC6}"/>
              </a:ext>
            </a:extLst>
          </p:cNvPr>
          <p:cNvSpPr>
            <a:spLocks noGrp="1"/>
          </p:cNvSpPr>
          <p:nvPr/>
        </p:nvSpPr>
        <p:spPr>
          <a:xfrm>
            <a:off x="4657725" y="3362325"/>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Persist and POST event</a:t>
            </a:r>
          </a:p>
        </p:txBody>
      </p:sp>
      <p:sp>
        <p:nvSpPr>
          <p:cNvPr id="15" name="reveal-4">
            <a:extLst>
              <a:ext uri="{FF2B5EF4-FFF2-40B4-BE49-F238E27FC236}">
                <ns2:creationId id="{42B2EF3D-D47C-4C19-BD4B-B32CA4208446}"/>
              </a:ext>
            </a:extLst>
          </p:cNvPr>
          <p:cNvSpPr>
            <a:spLocks noGrp="1"/>
          </p:cNvSpPr>
          <p:nvPr/>
        </p:nvSpPr>
        <p:spPr>
          <a:xfrm>
            <a:off x="4657725" y="4457700"/>
            <a:ext cx="2857500" cy="114300"/>
          </a:xfrm>
          <a:prstGeom prst="leftArrow">
            <a:avLst/>
          </a:prstGeom>
          <a:solidFill>
            <a:srgbClr val="087F8C"/>
          </a:solidFill>
          <a:ln w="0">
            <a:noFill/>
          </a:ln>
        </p:spPr>
      </p:sp>
      <p:sp>
        <p:nvSpPr>
          <p:cNvPr id="16" name="reveal-4">
            <a:extLst>
              <a:ext uri="{FF2B5EF4-FFF2-40B4-BE49-F238E27FC236}">
                <ns2:creationId id="{6F863DC5-8F2E-4653-966C-0208DCB6DA44}"/>
              </a:ext>
            </a:extLst>
          </p:cNvPr>
          <p:cNvSpPr>
            <a:spLocks noGrp="1"/>
          </p:cNvSpPr>
          <p:nvPr/>
        </p:nvSpPr>
        <p:spPr>
          <a:xfrm>
            <a:off x="4657725" y="4076700"/>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Commit, then HTTP 201</a:t>
            </a:r>
          </a:p>
        </p:txBody>
      </p:sp>
      <p:sp>
        <p:nvSpPr>
          <p:cNvPr id="17" name="reveal-5">
            <a:extLst>
              <a:ext uri="{FF2B5EF4-FFF2-40B4-BE49-F238E27FC236}">
                <ns2:creationId id="{852EC0E7-9D17-43E5-A994-F6DF73F82335}"/>
              </a:ext>
            </a:extLst>
          </p:cNvPr>
          <p:cNvSpPr>
            <a:spLocks noGrp="1"/>
          </p:cNvSpPr>
          <p:nvPr/>
        </p:nvSpPr>
        <p:spPr>
          <a:xfrm>
            <a:off x="7515225" y="5172075"/>
            <a:ext cx="2857500" cy="114300"/>
          </a:xfrm>
          <a:prstGeom prst="rightArrow">
            <a:avLst/>
          </a:prstGeom>
          <a:solidFill>
            <a:srgbClr val="087F8C"/>
          </a:solidFill>
          <a:ln w="0">
            <a:noFill/>
          </a:ln>
        </p:spPr>
      </p:sp>
      <p:sp>
        <p:nvSpPr>
          <p:cNvPr id="18" name="reveal-5">
            <a:extLst>
              <a:ext uri="{FF2B5EF4-FFF2-40B4-BE49-F238E27FC236}">
                <ns2:creationId id="{48B34FBF-8E87-400F-A3AF-C82AA398E65B}"/>
              </a:ext>
            </a:extLst>
          </p:cNvPr>
          <p:cNvSpPr>
            <a:spLocks noGrp="1"/>
          </p:cNvSpPr>
          <p:nvPr/>
        </p:nvSpPr>
        <p:spPr>
          <a:xfrm>
            <a:off x="7515225" y="4791075"/>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Authorized live update</a:t>
            </a:r>
          </a:p>
        </p:txBody>
      </p:sp>
      <p:sp>
        <p:nvSpPr>
          <p:cNvPr id="19" name="reveal-6">
            <a:extLst>
              <a:ext uri="{FF2B5EF4-FFF2-40B4-BE49-F238E27FC236}">
                <ns2:creationId id="{24488EBD-60D7-4CA4-B90F-8A961B9D0037}"/>
              </a:ext>
            </a:extLst>
          </p:cNvPr>
          <p:cNvSpPr>
            <a:spLocks noGrp="1"/>
          </p:cNvSpPr>
          <p:nvPr/>
        </p:nvSpPr>
        <p:spPr>
          <a:xfrm>
            <a:off x="7515225" y="5886450"/>
            <a:ext cx="2857500" cy="114300"/>
          </a:xfrm>
          <a:prstGeom prst="leftArrow">
            <a:avLst/>
          </a:prstGeom>
          <a:solidFill>
            <a:srgbClr val="087F8C"/>
          </a:solidFill>
          <a:ln w="0">
            <a:noFill/>
          </a:ln>
        </p:spPr>
      </p:sp>
      <p:sp>
        <p:nvSpPr>
          <p:cNvPr id="20" name="reveal-6">
            <a:extLst>
              <a:ext uri="{FF2B5EF4-FFF2-40B4-BE49-F238E27FC236}">
                <ns2:creationId id="{101B2102-5BCC-41F6-B8EA-B5BA073A2A48}"/>
              </a:ext>
            </a:extLst>
          </p:cNvPr>
          <p:cNvSpPr>
            <a:spLocks noGrp="1"/>
          </p:cNvSpPr>
          <p:nvPr/>
        </p:nvSpPr>
        <p:spPr>
          <a:xfrm>
            <a:off x="7515225" y="5505450"/>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Confirm / dismiss evidence</a:t>
            </a:r>
          </a:p>
        </p:txBody>
      </p:sp>
    </p:spTree>
    <p:extLst>
      <p:ext uri="{BB962C8B-B14F-4D97-AF65-F5344CB8AC3E}">
        <ns3:creationId val="148416567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childTnLst>
                    </p:cTn>
                  </p:par>
                  <p:par>
                    <p:cTn id="16" fill="hold">
                      <p:stCondLst>
                        <p:cond delay="indefinite"/>
                      </p:stCondLst>
                      <p:childTnLst>
                        <p:par>
                          <p:cTn id="17" presetID="10" presetClass="entr" presetSubtype="0" fill="hold" grpId="2"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50"/>
                                  <p:tgtEl>
                                    <p:spTgt spid="14"/>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childTnLst>
                          </p:cTn>
                        </p:par>
                      </p:childTnLst>
                    </p:cTn>
                  </p:par>
                  <p:par>
                    <p:cTn id="37" fill="hold">
                      <p:stCondLst>
                        <p:cond delay="indefinite"/>
                      </p:stCondLst>
                      <p:childTnLst>
                        <p:par>
                          <p:cTn id="38" presetID="10" presetClass="entr" presetSubtype="0" fill="hold" grpId="5"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par>
                          <p:cTn id="41" presetID="10" presetClass="entr" presetSubtype="0" fill="hold" grpId="5"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50"/>
                                  <p:tgtEl>
                                    <p:spTgt spid="18"/>
                                  </p:tgtEl>
                                </p:cBhvr>
                              </p:animEffect>
                            </p:childTnLst>
                          </p:cTn>
                        </p:par>
                      </p:childTnLst>
                    </p:cTn>
                  </p:par>
                  <p:par>
                    <p:cTn id="44" fill="hold">
                      <p:stCondLst>
                        <p:cond delay="indefinite"/>
                      </p:stCondLst>
                      <p:childTnLst>
                        <p:par>
                          <p:cTn id="45" presetID="10" presetClass="entr" presetSubtype="0" fill="hold" grpId="6"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6"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1" uiExpand="1"/>
      <p:bldP spid="11" grpId="2" uiExpand="1"/>
      <p:bldP spid="12" grpId="2" uiExpand="1"/>
      <p:bldP spid="13" grpId="3" uiExpand="1"/>
      <p:bldP spid="14" grpId="3" uiExpand="1"/>
      <p:bldP spid="15" grpId="4" uiExpand="1"/>
      <p:bldP spid="16" grpId="4" uiExpand="1"/>
      <p:bldP spid="17" grpId="5" uiExpand="1"/>
      <p:bldP spid="18" grpId="5" uiExpand="1"/>
      <p:bldP spid="19" grpId="6" uiExpand="1"/>
      <p:bldP spid="20" grpId="6" uiExpand="1"/>
    </p:bldLst>
  </p:timing>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12ABB5CE-AA9A-49B6-BE5D-5C15E1DB7401}"/>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Delayed evidence after exam completion</a:t>
            </a:r>
          </a:p>
        </p:txBody>
      </p:sp>
      <p:sp>
        <p:nvSpPr>
          <p:cNvPr id="2" name="fixed">
            <a:extLst>
              <a:ext uri="{FF2B5EF4-FFF2-40B4-BE49-F238E27FC236}">
                <ns2:creationId id="{594B2AB4-A880-474B-B177-33F80A881727}"/>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20</a:t>
            </a:r>
          </a:p>
        </p:txBody>
      </p:sp>
      <p:sp>
        <p:nvSpPr>
          <p:cNvPr id="3" name="reveal-1">
            <a:extLst>
              <a:ext uri="{FF2B5EF4-FFF2-40B4-BE49-F238E27FC236}">
                <ns2:creationId id="{F3B11BE5-3913-4C10-AC91-B5829E4D005C}"/>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RECOVERY</a:t>
            </a:r>
          </a:p>
        </p:txBody>
      </p:sp>
      <p:sp>
        <p:nvSpPr>
          <p:cNvPr id="4" name="reveal-1">
            <a:extLst>
              <a:ext uri="{FF2B5EF4-FFF2-40B4-BE49-F238E27FC236}">
                <ns2:creationId id="{8258B2AB-3EBA-4CE6-A069-99C984C1C151}"/>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Original event identity survives</a:t>
            </a:r>
          </a:p>
        </p:txBody>
      </p:sp>
      <p:sp>
        <p:nvSpPr>
          <p:cNvPr id="5" name="reveal-1">
            <a:extLst>
              <a:ext uri="{FF2B5EF4-FFF2-40B4-BE49-F238E27FC236}">
                <ns2:creationId id="{CB589FA4-D799-4436-B4A2-25C9AFAC69BE}"/>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Candidate records an event during exam</a:t>
            </a:r>
          </a:p>
          <a:p>
            <a:pPr>
              <a:defRPr sz="2025" b="0">
                <a:solidFill>
                  <a:srgbClr val="526573"/>
                </a:solidFill>
                <a:latin typeface="Arial"/>
                <a:ea typeface="Arial"/>
                <a:cs typeface="Arial"/>
              </a:defRPr>
            </a:pPr>
            <a:r>
              <a:rPr sz="2025" b="0">
                <a:solidFill>
                  <a:srgbClr val="526573"/>
                </a:solidFill>
                <a:latin typeface="Arial"/>
                <a:ea typeface="Arial"/>
                <a:cs typeface="Arial"/>
              </a:rPr>
              <a:t>Connectivity drops before upload</a:t>
            </a:r>
          </a:p>
          <a:p>
            <a:pPr>
              <a:defRPr sz="2025" b="0">
                <a:solidFill>
                  <a:srgbClr val="526573"/>
                </a:solidFill>
                <a:latin typeface="Arial"/>
                <a:ea typeface="Arial"/>
                <a:cs typeface="Arial"/>
              </a:defRPr>
            </a:pPr>
            <a:r>
              <a:rPr sz="2025" b="0">
                <a:solidFill>
                  <a:srgbClr val="526573"/>
                </a:solidFill>
                <a:latin typeface="Arial"/>
                <a:ea typeface="Arial"/>
                <a:cs typeface="Arial"/>
              </a:rPr>
              <a:t>Durable queues retry after reconnection</a:t>
            </a:r>
          </a:p>
          <a:p>
            <a:pPr>
              <a:defRPr sz="2025" b="0">
                <a:solidFill>
                  <a:srgbClr val="526573"/>
                </a:solidFill>
                <a:latin typeface="Arial"/>
                <a:ea typeface="Arial"/>
                <a:cs typeface="Arial"/>
              </a:defRPr>
            </a:pPr>
            <a:r>
              <a:rPr sz="2025" b="0">
                <a:solidFill>
                  <a:srgbClr val="526573"/>
                </a:solidFill>
                <a:latin typeface="Arial"/>
                <a:ea typeface="Arial"/>
                <a:cs typeface="Arial"/>
              </a:rPr>
              <a:t>Server retains valid delayed evidence</a:t>
            </a:r>
          </a:p>
        </p:txBody>
      </p:sp>
      <p:sp>
        <p:nvSpPr>
          <p:cNvPr id="6" name="reveal-2">
            <a:extLst>
              <a:ext uri="{FF2B5EF4-FFF2-40B4-BE49-F238E27FC236}">
                <ns2:creationId id="{07F32607-E653-40FE-9108-A66FBC477224}"/>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EXAMINER CONTROL</a:t>
            </a:r>
          </a:p>
        </p:txBody>
      </p:sp>
      <p:sp>
        <p:nvSpPr>
          <p:cNvPr id="7" name="reveal-2">
            <a:extLst>
              <a:ext uri="{FF2B5EF4-FFF2-40B4-BE49-F238E27FC236}">
                <ns2:creationId id="{E879D796-9B2D-49DD-904C-D892AF9DBBA6}"/>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Final score remains reviewable</a:t>
            </a:r>
          </a:p>
        </p:txBody>
      </p:sp>
      <p:sp>
        <p:nvSpPr>
          <p:cNvPr id="8" name="reveal-2">
            <a:extLst>
              <a:ext uri="{FF2B5EF4-FFF2-40B4-BE49-F238E27FC236}">
                <ns2:creationId id="{94D550FD-E8FF-48CD-9B03-9C8A1DFF14C9}"/>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Late evidence is visibly marked</a:t>
            </a:r>
          </a:p>
          <a:p>
            <a:pPr>
              <a:defRPr sz="2025" b="0">
                <a:solidFill>
                  <a:srgbClr val="526573"/>
                </a:solidFill>
                <a:latin typeface="Arial"/>
                <a:ea typeface="Arial"/>
                <a:cs typeface="Arial"/>
              </a:defRPr>
            </a:pPr>
            <a:r>
              <a:rPr sz="2025" b="0">
                <a:solidFill>
                  <a:srgbClr val="526573"/>
                </a:solidFill>
                <a:latin typeface="Arial"/>
                <a:ea typeface="Arial"/>
                <a:cs typeface="Arial"/>
              </a:rPr>
              <a:t>Retries do not create duplicate events</a:t>
            </a:r>
          </a:p>
          <a:p>
            <a:pPr>
              <a:defRPr sz="2025" b="0">
                <a:solidFill>
                  <a:srgbClr val="526573"/>
                </a:solidFill>
                <a:latin typeface="Arial"/>
                <a:ea typeface="Arial"/>
                <a:cs typeface="Arial"/>
              </a:defRPr>
            </a:pPr>
            <a:r>
              <a:rPr sz="2025" b="0">
                <a:solidFill>
                  <a:srgbClr val="526573"/>
                </a:solidFill>
                <a:latin typeface="Arial"/>
                <a:ea typeface="Arial"/>
                <a:cs typeface="Arial"/>
              </a:rPr>
              <a:t>Review confirms or dismisses the event</a:t>
            </a:r>
          </a:p>
          <a:p>
            <a:pPr>
              <a:defRPr sz="2025" b="0">
                <a:solidFill>
                  <a:srgbClr val="526573"/>
                </a:solidFill>
                <a:latin typeface="Arial"/>
                <a:ea typeface="Arial"/>
                <a:cs typeface="Arial"/>
              </a:defRPr>
            </a:pPr>
            <a:r>
              <a:rPr sz="2025" b="0">
                <a:solidFill>
                  <a:srgbClr val="526573"/>
                </a:solidFill>
                <a:latin typeface="Arial"/>
                <a:ea typeface="Arial"/>
                <a:cs typeface="Arial"/>
              </a:rPr>
              <a:t>Invalid post-session activity is rejected</a:t>
            </a:r>
          </a:p>
        </p:txBody>
      </p:sp>
    </p:spTree>
    <p:extLst>
      <p:ext uri="{BB962C8B-B14F-4D97-AF65-F5344CB8AC3E}">
        <ns3:creationId val="63719989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6" name="fixed">
            <a:extLst>
              <a:ext uri="{FF2B5EF4-FFF2-40B4-BE49-F238E27FC236}">
                <ns2:creationId id="{450B7909-0A84-4FC9-97B3-3C08AB3BDB36}"/>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Reported benchmark details</a:t>
            </a:r>
          </a:p>
        </p:txBody>
      </p:sp>
      <p:sp>
        <p:nvSpPr>
          <p:cNvPr id="2" name="fixed">
            <a:extLst>
              <a:ext uri="{FF2B5EF4-FFF2-40B4-BE49-F238E27FC236}">
                <ns2:creationId id="{6ABB2ABE-ECF5-4D3A-8E6A-C8B733D3006A}"/>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21</a:t>
            </a:r>
          </a:p>
        </p:txBody>
      </p:sp>
      <p:graphicFrame>
        <p:nvGraphicFramePr>
          <p:cNvPr id="8" name=""/>
          <p:cNvGraphicFramePr/>
          <p:nvPr/>
        </p:nvGraphicFramePr>
        <p:xfrm>
          <a:off x="609600" y="1762125"/>
          <a:ext cx="10953750" cy="3714750"/>
        </p:xfrm>
        <a:graphic>
          <a:graphicData uri="http://schemas.openxmlformats.org/drawingml/2006/table">
            <a:tbl>
              <a:tblPr/>
              <a:tblGrid>
                <a:gridCol w="4619625"/>
                <a:gridCol w="3171825"/>
                <a:gridCol w="3162300"/>
              </a:tblGrid>
              <a:tr h="530679">
                <a:tc>
                  <a:txBody>
                    <a:bodyPr/>
                    <a:lstStyle/>
                    <a:p>
                      <a:r>
                        <a:rPr sz="1800" b="1">
                          <a:solidFill>
                            <a:srgbClr val="FFFFFF"/>
                          </a:solidFill>
                          <a:latin typeface="Arial"/>
                          <a:ea typeface="Arial"/>
                          <a:cs typeface="Arial"/>
                        </a:rPr>
                        <a:t>METRIC</a:t>
                      </a:r>
                    </a:p>
                  </a:txBody>
                  <a:tcPr marL="91440" marR="91440" marT="45720" marB="45720">
                    <a:solidFill>
                      <a:srgbClr val="132D3A"/>
                    </a:solidFill>
                  </a:tcPr>
                </a:tc>
                <a:tc>
                  <a:txBody>
                    <a:bodyPr/>
                    <a:lstStyle/>
                    <a:p>
                      <a:r>
                        <a:rPr sz="1800" b="1">
                          <a:solidFill>
                            <a:srgbClr val="FFFFFF"/>
                          </a:solidFill>
                          <a:latin typeface="Arial"/>
                          <a:ea typeface="Arial"/>
                          <a:cs typeface="Arial"/>
                        </a:rPr>
                        <a:t>BEFORE</a:t>
                      </a:r>
                    </a:p>
                  </a:txBody>
                  <a:tcPr marL="91440" marR="91440" marT="45720" marB="45720">
                    <a:solidFill>
                      <a:srgbClr val="132D3A"/>
                    </a:solidFill>
                  </a:tcPr>
                </a:tc>
                <a:tc>
                  <a:txBody>
                    <a:bodyPr/>
                    <a:lstStyle/>
                    <a:p>
                      <a:r>
                        <a:rPr sz="1800" b="1">
                          <a:solidFill>
                            <a:srgbClr val="FFFFFF"/>
                          </a:solidFill>
                          <a:latin typeface="Arial"/>
                          <a:ea typeface="Arial"/>
                          <a:cs typeface="Arial"/>
                        </a:rPr>
                        <a:t>AFTER</a:t>
                      </a:r>
                    </a:p>
                  </a:txBody>
                  <a:tcPr marL="91440" marR="91440" marT="45720" marB="45720">
                    <a:solidFill>
                      <a:srgbClr val="132D3A"/>
                    </a:solidFill>
                  </a:tcPr>
                </a:tc>
              </a:tr>
              <a:tr h="530679">
                <a:tc>
                  <a:txBody>
                    <a:bodyPr/>
                    <a:lstStyle/>
                    <a:p>
                      <a:r>
                        <a:rPr sz="1800" b="0">
                          <a:solidFill>
                            <a:srgbClr val="132D3A"/>
                          </a:solidFill>
                          <a:latin typeface="Arial"/>
                          <a:ea typeface="Arial"/>
                          <a:cs typeface="Arial"/>
                        </a:rPr>
                        <a:t>HTTP request success</a:t>
                      </a:r>
                    </a:p>
                  </a:txBody>
                  <a:tcPr marL="91440" marR="91440" marT="45720" marB="45720">
                    <a:solidFill>
                      <a:srgbClr val="E5EEEC"/>
                    </a:solidFill>
                  </a:tcPr>
                </a:tc>
                <a:tc>
                  <a:txBody>
                    <a:bodyPr/>
                    <a:lstStyle/>
                    <a:p>
                      <a:r>
                        <a:rPr sz="1800" b="0">
                          <a:solidFill>
                            <a:srgbClr val="132D3A"/>
                          </a:solidFill>
                          <a:latin typeface="Arial"/>
                          <a:ea typeface="Arial"/>
                          <a:cs typeface="Arial"/>
                        </a:rPr>
                        <a:t>89.2%</a:t>
                      </a:r>
                    </a:p>
                  </a:txBody>
                  <a:tcPr marL="91440" marR="91440" marT="45720" marB="45720">
                    <a:solidFill>
                      <a:srgbClr val="E5EEEC"/>
                    </a:solidFill>
                  </a:tcPr>
                </a:tc>
                <a:tc>
                  <a:txBody>
                    <a:bodyPr/>
                    <a:lstStyle/>
                    <a:p>
                      <a:r>
                        <a:rPr sz="1800" b="0">
                          <a:solidFill>
                            <a:srgbClr val="132D3A"/>
                          </a:solidFill>
                          <a:latin typeface="Arial"/>
                          <a:ea typeface="Arial"/>
                          <a:cs typeface="Arial"/>
                        </a:rPr>
                        <a:t>100.0%</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Requests / timeouts</a:t>
                      </a:r>
                    </a:p>
                  </a:txBody>
                  <a:tcPr marL="91440" marR="91440" marT="45720" marB="45720">
                    <a:solidFill>
                      <a:srgbClr val="F5F7F5"/>
                    </a:solidFill>
                  </a:tcPr>
                </a:tc>
                <a:tc>
                  <a:txBody>
                    <a:bodyPr/>
                    <a:lstStyle/>
                    <a:p>
                      <a:r>
                        <a:rPr sz="1800" b="0">
                          <a:solidFill>
                            <a:srgbClr val="132D3A"/>
                          </a:solidFill>
                          <a:latin typeface="Arial"/>
                          <a:ea typeface="Arial"/>
                          <a:cs typeface="Arial"/>
                        </a:rPr>
                        <a:t>158 / 17</a:t>
                      </a:r>
                    </a:p>
                  </a:txBody>
                  <a:tcPr marL="91440" marR="91440" marT="45720" marB="45720">
                    <a:solidFill>
                      <a:srgbClr val="F5F7F5"/>
                    </a:solidFill>
                  </a:tcPr>
                </a:tc>
                <a:tc>
                  <a:txBody>
                    <a:bodyPr/>
                    <a:lstStyle/>
                    <a:p>
                      <a:r>
                        <a:rPr sz="1800" b="0">
                          <a:solidFill>
                            <a:srgbClr val="132D3A"/>
                          </a:solidFill>
                          <a:latin typeface="Arial"/>
                          <a:ea typeface="Arial"/>
                          <a:cs typeface="Arial"/>
                        </a:rPr>
                        <a:t>189 / 0</a:t>
                      </a:r>
                    </a:p>
                  </a:txBody>
                  <a:tcPr marL="91440" marR="91440" marT="45720" marB="45720">
                    <a:solidFill>
                      <a:srgbClr val="F5F7F5"/>
                    </a:solidFill>
                  </a:tcPr>
                </a:tc>
              </a:tr>
              <a:tr h="530679">
                <a:tc>
                  <a:txBody>
                    <a:bodyPr/>
                    <a:lstStyle/>
                    <a:p>
                      <a:r>
                        <a:rPr sz="1800" b="0">
                          <a:solidFill>
                            <a:srgbClr val="132D3A"/>
                          </a:solidFill>
                          <a:latin typeface="Arial"/>
                          <a:ea typeface="Arial"/>
                          <a:cs typeface="Arial"/>
                        </a:rPr>
                        <a:t>Mean latency</a:t>
                      </a:r>
                    </a:p>
                  </a:txBody>
                  <a:tcPr marL="91440" marR="91440" marT="45720" marB="45720">
                    <a:solidFill>
                      <a:srgbClr val="E5EEEC"/>
                    </a:solidFill>
                  </a:tcPr>
                </a:tc>
                <a:tc>
                  <a:txBody>
                    <a:bodyPr/>
                    <a:lstStyle/>
                    <a:p>
                      <a:r>
                        <a:rPr sz="1800" b="0">
                          <a:solidFill>
                            <a:srgbClr val="132D3A"/>
                          </a:solidFill>
                          <a:latin typeface="Arial"/>
                          <a:ea typeface="Arial"/>
                          <a:cs typeface="Arial"/>
                        </a:rPr>
                        <a:t>4,142.10 ms</a:t>
                      </a:r>
                    </a:p>
                  </a:txBody>
                  <a:tcPr marL="91440" marR="91440" marT="45720" marB="45720">
                    <a:solidFill>
                      <a:srgbClr val="E5EEEC"/>
                    </a:solidFill>
                  </a:tcPr>
                </a:tc>
                <a:tc>
                  <a:txBody>
                    <a:bodyPr/>
                    <a:lstStyle/>
                    <a:p>
                      <a:r>
                        <a:rPr sz="1800" b="0">
                          <a:solidFill>
                            <a:srgbClr val="132D3A"/>
                          </a:solidFill>
                          <a:latin typeface="Arial"/>
                          <a:ea typeface="Arial"/>
                          <a:cs typeface="Arial"/>
                        </a:rPr>
                        <a:t>408.76 ms</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Median latency</a:t>
                      </a:r>
                    </a:p>
                  </a:txBody>
                  <a:tcPr marL="91440" marR="91440" marT="45720" marB="45720">
                    <a:solidFill>
                      <a:srgbClr val="F5F7F5"/>
                    </a:solidFill>
                  </a:tcPr>
                </a:tc>
                <a:tc>
                  <a:txBody>
                    <a:bodyPr/>
                    <a:lstStyle/>
                    <a:p>
                      <a:r>
                        <a:rPr sz="1800" b="0">
                          <a:solidFill>
                            <a:srgbClr val="132D3A"/>
                          </a:solidFill>
                          <a:latin typeface="Arial"/>
                          <a:ea typeface="Arial"/>
                          <a:cs typeface="Arial"/>
                        </a:rPr>
                        <a:t>3,923.40 ms</a:t>
                      </a:r>
                    </a:p>
                  </a:txBody>
                  <a:tcPr marL="91440" marR="91440" marT="45720" marB="45720">
                    <a:solidFill>
                      <a:srgbClr val="F5F7F5"/>
                    </a:solidFill>
                  </a:tcPr>
                </a:tc>
                <a:tc>
                  <a:txBody>
                    <a:bodyPr/>
                    <a:lstStyle/>
                    <a:p>
                      <a:r>
                        <a:rPr sz="1800" b="0">
                          <a:solidFill>
                            <a:srgbClr val="132D3A"/>
                          </a:solidFill>
                          <a:latin typeface="Arial"/>
                          <a:ea typeface="Arial"/>
                          <a:cs typeface="Arial"/>
                        </a:rPr>
                        <a:t>333.25 ms</a:t>
                      </a:r>
                    </a:p>
                  </a:txBody>
                  <a:tcPr marL="91440" marR="91440" marT="45720" marB="45720">
                    <a:solidFill>
                      <a:srgbClr val="F5F7F5"/>
                    </a:solidFill>
                  </a:tcPr>
                </a:tc>
              </a:tr>
              <a:tr h="530679">
                <a:tc>
                  <a:txBody>
                    <a:bodyPr/>
                    <a:lstStyle/>
                    <a:p>
                      <a:r>
                        <a:rPr sz="1800" b="0">
                          <a:solidFill>
                            <a:srgbClr val="132D3A"/>
                          </a:solidFill>
                          <a:latin typeface="Arial"/>
                          <a:ea typeface="Arial"/>
                          <a:cs typeface="Arial"/>
                        </a:rPr>
                        <a:t>Reported P95</a:t>
                      </a:r>
                    </a:p>
                  </a:txBody>
                  <a:tcPr marL="91440" marR="91440" marT="45720" marB="45720">
                    <a:solidFill>
                      <a:srgbClr val="E5EEEC"/>
                    </a:solidFill>
                  </a:tcPr>
                </a:tc>
                <a:tc>
                  <a:txBody>
                    <a:bodyPr/>
                    <a:lstStyle/>
                    <a:p>
                      <a:r>
                        <a:rPr sz="1800" b="0">
                          <a:solidFill>
                            <a:srgbClr val="132D3A"/>
                          </a:solidFill>
                          <a:latin typeface="Arial"/>
                          <a:ea typeface="Arial"/>
                          <a:cs typeface="Arial"/>
                        </a:rPr>
                        <a:t>8,000 ms (timeout ceiling)</a:t>
                      </a:r>
                    </a:p>
                  </a:txBody>
                  <a:tcPr marL="91440" marR="91440" marT="45720" marB="45720">
                    <a:solidFill>
                      <a:srgbClr val="E5EEEC"/>
                    </a:solidFill>
                  </a:tcPr>
                </a:tc>
                <a:tc>
                  <a:txBody>
                    <a:bodyPr/>
                    <a:lstStyle/>
                    <a:p>
                      <a:r>
                        <a:rPr sz="1800" b="0">
                          <a:solidFill>
                            <a:srgbClr val="132D3A"/>
                          </a:solidFill>
                          <a:latin typeface="Arial"/>
                          <a:ea typeface="Arial"/>
                          <a:cs typeface="Arial"/>
                        </a:rPr>
                        <a:t>856.43 ms</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Reported throughput</a:t>
                      </a:r>
                    </a:p>
                  </a:txBody>
                  <a:tcPr marL="91440" marR="91440" marT="45720" marB="45720">
                    <a:solidFill>
                      <a:srgbClr val="F5F7F5"/>
                    </a:solidFill>
                  </a:tcPr>
                </a:tc>
                <a:tc>
                  <a:txBody>
                    <a:bodyPr/>
                    <a:lstStyle/>
                    <a:p>
                      <a:r>
                        <a:rPr sz="1800" b="0">
                          <a:solidFill>
                            <a:srgbClr val="132D3A"/>
                          </a:solidFill>
                          <a:latin typeface="Arial"/>
                          <a:ea typeface="Arial"/>
                          <a:cs typeface="Arial"/>
                        </a:rPr>
                        <a:t>6.58 requests/s</a:t>
                      </a:r>
                    </a:p>
                  </a:txBody>
                  <a:tcPr marL="91440" marR="91440" marT="45720" marB="45720">
                    <a:solidFill>
                      <a:srgbClr val="F5F7F5"/>
                    </a:solidFill>
                  </a:tcPr>
                </a:tc>
                <a:tc>
                  <a:txBody>
                    <a:bodyPr/>
                    <a:lstStyle/>
                    <a:p>
                      <a:r>
                        <a:rPr sz="1800" b="0">
                          <a:solidFill>
                            <a:srgbClr val="132D3A"/>
                          </a:solidFill>
                          <a:latin typeface="Arial"/>
                          <a:ea typeface="Arial"/>
                          <a:cs typeface="Arial"/>
                        </a:rPr>
                        <a:t>9.45 requests/s</a:t>
                      </a:r>
                    </a:p>
                  </a:txBody>
                  <a:tcPr marL="91440" marR="91440" marT="45720" marB="45720">
                    <a:solidFill>
                      <a:srgbClr val="F5F7F5"/>
                    </a:solidFill>
                  </a:tcPr>
                </a:tc>
              </a:tr>
            </a:tbl>
          </a:graphicData>
        </a:graphic>
      </p:graphicFrame>
      <p:sp>
        <p:nvSpPr>
          <p:cNvPr id="4" name="fixed">
            <a:extLst>
              <a:ext uri="{FF2B5EF4-FFF2-40B4-BE49-F238E27FC236}">
                <ns2:creationId id="{79BCBD90-F4A8-4E25-993E-5E41BDD9DB58}"/>
              </a:ext>
            </a:extLst>
          </p:cNvPr>
          <p:cNvSpPr>
            <a:spLocks noGrp="1"/>
          </p:cNvSpPr>
          <p:nvPr/>
        </p:nvSpPr>
        <p:spPr>
          <a:xfrm>
            <a:off x="609600" y="5667375"/>
            <a:ext cx="10763250" cy="400050"/>
          </a:xfrm>
          <a:prstGeom prst="rect">
            <a:avLst/>
          </a:prstGeom>
          <a:noFill/>
          <a:ln w="0">
            <a:noFill/>
          </a:ln>
        </p:spPr>
        <p:txBody>
          <a:bodyPr>
            <a:noAutofit/>
          </a:bodyPr>
          <a:lstStyle/>
          <a:p>
            <a:pPr>
              <a:defRPr sz="1800" b="1">
                <a:solidFill>
                  <a:srgbClr val="087F8C"/>
                </a:solidFill>
                <a:latin typeface="Arial"/>
                <a:ea typeface="Arial"/>
                <a:cs typeface="Arial"/>
              </a:defRPr>
            </a:pPr>
            <a:r>
              <a:rPr sz="1800" b="1">
                <a:solidFill>
                  <a:srgbClr val="087F8C"/>
                </a:solidFill>
                <a:latin typeface="Arial"/>
                <a:ea typeface="Arial"/>
                <a:cs typeface="Arial"/>
              </a:rPr>
              <a:t>After command: 50 candidates, 20 seconds, dashboard reads enabled</a:t>
            </a:r>
          </a:p>
        </p:txBody>
      </p:sp>
      <p:sp>
        <p:nvSpPr>
          <p:cNvPr id="5" name="fixed">
            <a:extLst>
              <a:ext uri="{FF2B5EF4-FFF2-40B4-BE49-F238E27FC236}">
                <ns2:creationId id="{186D468A-1125-4085-98B9-59F82DD6F586}"/>
              </a:ext>
            </a:extLst>
          </p:cNvPr>
          <p:cNvSpPr>
            <a:spLocks noGrp="1"/>
          </p:cNvSpPr>
          <p:nvPr/>
        </p:nvSpPr>
        <p:spPr>
          <a:xfrm>
            <a:off x="609600" y="6115050"/>
            <a:ext cx="10763250" cy="38100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Raw logs and test environment were not supplied. Repeat longer matched runs before claiming capacity.</a:t>
            </a:r>
          </a:p>
        </p:txBody>
      </p:sp>
    </p:spTree>
    <p:extLst>
      <p:ext uri="{BB962C8B-B14F-4D97-AF65-F5344CB8AC3E}">
        <ns3:creationId val="2031635464"/>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141E62F1-9DAC-4BDA-B1EE-EC798CAB15C5}"/>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Access boundaries, consent and evaluation limits</a:t>
            </a:r>
          </a:p>
        </p:txBody>
      </p:sp>
      <p:sp>
        <p:nvSpPr>
          <p:cNvPr id="2" name="fixed">
            <a:extLst>
              <a:ext uri="{FF2B5EF4-FFF2-40B4-BE49-F238E27FC236}">
                <ns2:creationId id="{C4A28900-3943-470A-A806-DBC8367EA262}"/>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22</a:t>
            </a:r>
          </a:p>
        </p:txBody>
      </p:sp>
      <p:sp>
        <p:nvSpPr>
          <p:cNvPr id="3" name="reveal-1">
            <a:extLst>
              <a:ext uri="{FF2B5EF4-FFF2-40B4-BE49-F238E27FC236}">
                <ns2:creationId id="{96E156B5-85EA-4F57-958A-927FC44AA9F2}"/>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ACCESS &amp; PRIVACY</a:t>
            </a:r>
          </a:p>
        </p:txBody>
      </p:sp>
      <p:sp>
        <p:nvSpPr>
          <p:cNvPr id="4" name="reveal-1">
            <a:extLst>
              <a:ext uri="{FF2B5EF4-FFF2-40B4-BE49-F238E27FC236}">
                <ns2:creationId id="{0B8DB3B2-0084-47B2-B619-14D4EA8062F7}"/>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Explicit boundaries</a:t>
            </a:r>
          </a:p>
        </p:txBody>
      </p:sp>
      <p:sp>
        <p:nvSpPr>
          <p:cNvPr id="5" name="reveal-1">
            <a:extLst>
              <a:ext uri="{FF2B5EF4-FFF2-40B4-BE49-F238E27FC236}">
                <ns2:creationId id="{07077514-7204-45B6-BC60-420E0C0658F7}"/>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Teacher events scoped to owned exams</a:t>
            </a:r>
          </a:p>
          <a:p>
            <a:pPr>
              <a:defRPr sz="2025" b="0">
                <a:solidFill>
                  <a:srgbClr val="526573"/>
                </a:solidFill>
                <a:latin typeface="Arial"/>
                <a:ea typeface="Arial"/>
                <a:cs typeface="Arial"/>
              </a:defRPr>
            </a:pPr>
            <a:r>
              <a:rPr sz="2025" b="0">
                <a:solidFill>
                  <a:srgbClr val="526573"/>
                </a:solidFill>
                <a:latin typeface="Arial"/>
                <a:ea typeface="Arial"/>
                <a:cs typeface="Arial"/>
              </a:rPr>
              <a:t>Administrators have broader access</a:t>
            </a:r>
          </a:p>
          <a:p>
            <a:pPr>
              <a:defRPr sz="2025" b="0">
                <a:solidFill>
                  <a:srgbClr val="526573"/>
                </a:solidFill>
                <a:latin typeface="Arial"/>
                <a:ea typeface="Arial"/>
                <a:cs typeface="Arial"/>
              </a:defRPr>
            </a:pPr>
            <a:r>
              <a:rPr sz="2025" b="0">
                <a:solidFill>
                  <a:srgbClr val="526573"/>
                </a:solidFill>
                <a:latin typeface="Arial"/>
                <a:ea typeface="Arial"/>
                <a:cs typeface="Arial"/>
              </a:rPr>
              <a:t>Consent covers voice profiles and clips</a:t>
            </a:r>
          </a:p>
          <a:p>
            <a:pPr>
              <a:defRPr sz="2025" b="0">
                <a:solidFill>
                  <a:srgbClr val="526573"/>
                </a:solidFill>
                <a:latin typeface="Arial"/>
                <a:ea typeface="Arial"/>
                <a:cs typeface="Arial"/>
              </a:defRPr>
            </a:pPr>
            <a:r>
              <a:rPr sz="2025" b="0">
                <a:solidFill>
                  <a:srgbClr val="526573"/>
                </a:solidFill>
                <a:latin typeface="Arial"/>
                <a:ea typeface="Arial"/>
                <a:cs typeface="Arial"/>
              </a:rPr>
              <a:t>Retention currently requires manual removal</a:t>
            </a:r>
          </a:p>
        </p:txBody>
      </p:sp>
      <p:sp>
        <p:nvSpPr>
          <p:cNvPr id="6" name="reveal-2">
            <a:extLst>
              <a:ext uri="{FF2B5EF4-FFF2-40B4-BE49-F238E27FC236}">
                <ns2:creationId id="{7984C5A6-A9ED-4C57-A058-C3880228C0B6}"/>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EVALUATION</a:t>
            </a:r>
          </a:p>
        </p:txBody>
      </p:sp>
      <p:sp>
        <p:nvSpPr>
          <p:cNvPr id="7" name="reveal-2">
            <a:extLst>
              <a:ext uri="{FF2B5EF4-FFF2-40B4-BE49-F238E27FC236}">
                <ns2:creationId id="{5E3D1938-2F90-429B-9257-7F5867542503}"/>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Evidence behind each claim</a:t>
            </a:r>
          </a:p>
        </p:txBody>
      </p:sp>
      <p:sp>
        <p:nvSpPr>
          <p:cNvPr id="8" name="reveal-2">
            <a:extLst>
              <a:ext uri="{FF2B5EF4-FFF2-40B4-BE49-F238E27FC236}">
                <ns2:creationId id="{5367DC97-CC66-4697-895D-F77330D79B6D}"/>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Pretrained models, integrated locally</a:t>
            </a:r>
          </a:p>
          <a:p>
            <a:pPr>
              <a:defRPr sz="2025" b="0">
                <a:solidFill>
                  <a:srgbClr val="526573"/>
                </a:solidFill>
                <a:latin typeface="Arial"/>
                <a:ea typeface="Arial"/>
                <a:cs typeface="Arial"/>
              </a:defRPr>
            </a:pPr>
            <a:r>
              <a:rPr sz="2025" b="0">
                <a:solidFill>
                  <a:srgbClr val="526573"/>
                </a:solidFill>
                <a:latin typeface="Arial"/>
                <a:ea typeface="Arial"/>
                <a:cs typeface="Arial"/>
              </a:rPr>
              <a:t>Controlled regression checks completed</a:t>
            </a:r>
          </a:p>
          <a:p>
            <a:pPr>
              <a:defRPr sz="2025" b="0">
                <a:solidFill>
                  <a:srgbClr val="526573"/>
                </a:solidFill>
                <a:latin typeface="Arial"/>
                <a:ea typeface="Arial"/>
                <a:cs typeface="Arial"/>
              </a:defRPr>
            </a:pPr>
            <a:r>
              <a:rPr sz="2025" b="0">
                <a:solidFill>
                  <a:srgbClr val="526573"/>
                </a:solidFill>
                <a:latin typeface="Arial"/>
                <a:ea typeface="Arial"/>
                <a:cs typeface="Arial"/>
              </a:rPr>
              <a:t>HTTP benchmark supplied by the team</a:t>
            </a:r>
          </a:p>
          <a:p>
            <a:pPr>
              <a:defRPr sz="2025" b="0">
                <a:solidFill>
                  <a:srgbClr val="526573"/>
                </a:solidFill>
                <a:latin typeface="Arial"/>
                <a:ea typeface="Arial"/>
                <a:cs typeface="Arial"/>
              </a:defRPr>
            </a:pPr>
            <a:r>
              <a:rPr sz="2025" b="0">
                <a:solidFill>
                  <a:srgbClr val="526573"/>
                </a:solidFill>
                <a:latin typeface="Arial"/>
                <a:ea typeface="Arial"/>
                <a:cs typeface="Arial"/>
              </a:rPr>
              <a:t>Accuracy and long-run capacity still open</a:t>
            </a:r>
          </a:p>
        </p:txBody>
      </p:sp>
    </p:spTree>
    <p:extLst>
      <p:ext uri="{BB962C8B-B14F-4D97-AF65-F5344CB8AC3E}">
        <ns3:creationId val="18674461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2026-10-03T17:38:39.9360000Z</dcterms:created>
  <dcterms:modified xsi:type="dcterms:W3CDTF">2026-10-03T17:38:39.9360000Z</dcterms:modified>
</coreProperties>
</file>